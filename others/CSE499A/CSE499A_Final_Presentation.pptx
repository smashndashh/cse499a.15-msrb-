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915900" cy="7264400"/>
  <p:notesSz cx="12915900" cy="7264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736" autoAdjust="0"/>
  </p:normalViewPr>
  <p:slideViewPr>
    <p:cSldViewPr>
      <p:cViewPr>
        <p:scale>
          <a:sx n="75" d="100"/>
          <a:sy n="75" d="100"/>
        </p:scale>
        <p:origin x="1746" y="84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597525" cy="363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7316788" y="0"/>
            <a:ext cx="5595937" cy="363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082562-698F-4DA9-ADE2-68B93DA09C45}" type="datetimeFigureOut">
              <a:rPr lang="en-US" smtClean="0"/>
              <a:t>29-Aug-26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78313" y="908050"/>
            <a:ext cx="4359275" cy="245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92225" y="3495675"/>
            <a:ext cx="10331450" cy="28606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00863"/>
            <a:ext cx="5597525" cy="3635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7316788" y="6900863"/>
            <a:ext cx="5595937" cy="3635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1297E2-D0E3-4179-BB96-CD4E8B091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513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297E2-D0E3-4179-BB96-CD4E8B0917D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44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69168" y="2251964"/>
            <a:ext cx="10983913" cy="15255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E7D5B6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38337" y="4068064"/>
            <a:ext cx="9045575" cy="1816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29-Aug-26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E7D5B6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29-Aug-26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E7D5B6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46112" y="1670812"/>
            <a:ext cx="5621179" cy="4794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54958" y="1670812"/>
            <a:ext cx="5621179" cy="4794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29-Aug-26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E7D5B6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29-Aug-26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29-Aug-26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6"/>
            <a:ext cx="12915900" cy="7258050"/>
          </a:xfrm>
          <a:custGeom>
            <a:avLst/>
            <a:gdLst/>
            <a:ahLst/>
            <a:cxnLst/>
            <a:rect l="l" t="t" r="r" b="b"/>
            <a:pathLst>
              <a:path w="12915900" h="7258050">
                <a:moveTo>
                  <a:pt x="12915898" y="7258049"/>
                </a:moveTo>
                <a:lnTo>
                  <a:pt x="0" y="7258049"/>
                </a:lnTo>
                <a:lnTo>
                  <a:pt x="0" y="0"/>
                </a:lnTo>
                <a:lnTo>
                  <a:pt x="12915898" y="0"/>
                </a:lnTo>
                <a:lnTo>
                  <a:pt x="12915898" y="7258049"/>
                </a:lnTo>
                <a:close/>
              </a:path>
            </a:pathLst>
          </a:custGeom>
          <a:solidFill>
            <a:srgbClr val="1A1A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55754" y="1160780"/>
            <a:ext cx="5610740" cy="876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E7D5B6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3849" y="2705093"/>
            <a:ext cx="12268200" cy="2037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393565" y="6755892"/>
            <a:ext cx="4135120" cy="36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46112" y="6755892"/>
            <a:ext cx="2972117" cy="36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29-Aug-26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7149" y="6684677"/>
            <a:ext cx="17843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AbrarAlam/disasterm3-unet-checkpoints-2" TargetMode="External"/><Relationship Id="rId2" Type="http://schemas.openxmlformats.org/officeDocument/2006/relationships/hyperlink" Target="https://huggingface.co/AbrarAlam/disasterm3-qwen2.5vl7b-mergedF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F34012F-36A1-AC7B-39DB-C7EC07A8E81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69" t="47273" r="3049" b="6223"/>
          <a:stretch>
            <a:fillRect/>
          </a:stretch>
        </p:blipFill>
        <p:spPr>
          <a:xfrm>
            <a:off x="0" y="0"/>
            <a:ext cx="12915900" cy="7264400"/>
          </a:xfrm>
          <a:prstGeom prst="rect">
            <a:avLst/>
          </a:prstGeom>
          <a:noFill/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43659" y="1978025"/>
            <a:ext cx="6440805" cy="145796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065" marR="5080" algn="ctr">
              <a:lnSpc>
                <a:spcPts val="3750"/>
              </a:lnSpc>
              <a:spcBef>
                <a:spcPts val="229"/>
              </a:spcBef>
            </a:pPr>
            <a:r>
              <a:rPr sz="3150" spc="-125" dirty="0"/>
              <a:t>Resource-</a:t>
            </a:r>
            <a:r>
              <a:rPr sz="3150" spc="-95" dirty="0"/>
              <a:t>Efficient</a:t>
            </a:r>
            <a:r>
              <a:rPr sz="3150" spc="-135" dirty="0"/>
              <a:t> </a:t>
            </a:r>
            <a:r>
              <a:rPr sz="3150" spc="-95" dirty="0"/>
              <a:t>Neural</a:t>
            </a:r>
            <a:r>
              <a:rPr sz="3150" spc="-130" dirty="0"/>
              <a:t> </a:t>
            </a:r>
            <a:r>
              <a:rPr sz="3150" spc="-80" dirty="0"/>
              <a:t>Architectures </a:t>
            </a:r>
            <a:r>
              <a:rPr sz="3150" spc="-85" dirty="0"/>
              <a:t>for</a:t>
            </a:r>
            <a:r>
              <a:rPr sz="3150" spc="-155" dirty="0"/>
              <a:t> </a:t>
            </a:r>
            <a:r>
              <a:rPr sz="3150" spc="-135" dirty="0"/>
              <a:t>Post-</a:t>
            </a:r>
            <a:r>
              <a:rPr sz="3150" spc="-95" dirty="0"/>
              <a:t>Disaster</a:t>
            </a:r>
            <a:r>
              <a:rPr sz="3150" spc="-155" dirty="0"/>
              <a:t> </a:t>
            </a:r>
            <a:r>
              <a:rPr sz="3150" spc="-90" dirty="0"/>
              <a:t>Damage</a:t>
            </a:r>
            <a:r>
              <a:rPr sz="3150" spc="-155" dirty="0"/>
              <a:t> </a:t>
            </a:r>
            <a:r>
              <a:rPr sz="3150" spc="-10" dirty="0"/>
              <a:t>Assessment </a:t>
            </a:r>
            <a:r>
              <a:rPr sz="3150" spc="-70" dirty="0"/>
              <a:t>and</a:t>
            </a:r>
            <a:r>
              <a:rPr sz="3150" spc="-190" dirty="0"/>
              <a:t> </a:t>
            </a:r>
            <a:r>
              <a:rPr sz="3150" spc="-110" dirty="0"/>
              <a:t>Rescue</a:t>
            </a:r>
            <a:r>
              <a:rPr sz="3150" spc="-185" dirty="0"/>
              <a:t> </a:t>
            </a:r>
            <a:r>
              <a:rPr sz="3150" spc="-10" dirty="0"/>
              <a:t>Guidance</a:t>
            </a:r>
            <a:endParaRPr sz="3150"/>
          </a:p>
        </p:txBody>
      </p:sp>
      <p:sp>
        <p:nvSpPr>
          <p:cNvPr id="3" name="object 3"/>
          <p:cNvSpPr txBox="1"/>
          <p:nvPr/>
        </p:nvSpPr>
        <p:spPr>
          <a:xfrm>
            <a:off x="4249142" y="3612515"/>
            <a:ext cx="4417695" cy="1484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105"/>
              </a:spcBef>
            </a:pPr>
            <a:r>
              <a:rPr sz="2200" spc="-70" dirty="0">
                <a:solidFill>
                  <a:srgbClr val="B0BEC4"/>
                </a:solidFill>
                <a:latin typeface="Segoe UI"/>
                <a:cs typeface="Segoe UI"/>
              </a:rPr>
              <a:t>CSE499A</a:t>
            </a:r>
            <a:r>
              <a:rPr sz="2200" spc="-1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2200" dirty="0">
                <a:solidFill>
                  <a:srgbClr val="B0BEC4"/>
                </a:solidFill>
                <a:latin typeface="Segoe UI"/>
                <a:cs typeface="Segoe UI"/>
              </a:rPr>
              <a:t>·</a:t>
            </a:r>
            <a:r>
              <a:rPr sz="2200" spc="-114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2200" spc="-70" dirty="0">
                <a:solidFill>
                  <a:srgbClr val="B0BEC4"/>
                </a:solidFill>
                <a:latin typeface="Segoe UI"/>
                <a:cs typeface="Segoe UI"/>
              </a:rPr>
              <a:t>Section</a:t>
            </a:r>
            <a:r>
              <a:rPr sz="2200" spc="-1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2200" spc="-35" dirty="0">
                <a:solidFill>
                  <a:srgbClr val="B0BEC4"/>
                </a:solidFill>
                <a:latin typeface="Segoe UI"/>
                <a:cs typeface="Segoe UI"/>
              </a:rPr>
              <a:t>15</a:t>
            </a:r>
            <a:r>
              <a:rPr sz="2200" spc="-114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2200" dirty="0">
                <a:solidFill>
                  <a:srgbClr val="B0BEC4"/>
                </a:solidFill>
                <a:latin typeface="Segoe UI"/>
                <a:cs typeface="Segoe UI"/>
              </a:rPr>
              <a:t>·</a:t>
            </a:r>
            <a:r>
              <a:rPr sz="2200" spc="-114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2200" spc="-65" dirty="0">
                <a:solidFill>
                  <a:srgbClr val="B0BEC4"/>
                </a:solidFill>
                <a:latin typeface="Segoe UI"/>
                <a:cs typeface="Segoe UI"/>
              </a:rPr>
              <a:t>Group</a:t>
            </a:r>
            <a:r>
              <a:rPr sz="2200" spc="-1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2200" spc="-50" dirty="0">
                <a:solidFill>
                  <a:srgbClr val="B0BEC4"/>
                </a:solidFill>
                <a:latin typeface="Segoe UI"/>
                <a:cs typeface="Segoe UI"/>
              </a:rPr>
              <a:t>5</a:t>
            </a:r>
            <a:endParaRPr sz="2200" dirty="0">
              <a:latin typeface="Segoe UI"/>
              <a:cs typeface="Segoe UI"/>
            </a:endParaRPr>
          </a:p>
          <a:p>
            <a:pPr marL="12065" marR="5080" algn="ctr">
              <a:lnSpc>
                <a:spcPct val="110000"/>
              </a:lnSpc>
              <a:spcBef>
                <a:spcPts val="1310"/>
              </a:spcBef>
            </a:pP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Abrar</a:t>
            </a:r>
            <a:r>
              <a:rPr sz="1250" spc="-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Mohammed</a:t>
            </a:r>
            <a:r>
              <a:rPr sz="1250" spc="-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spc="-10" dirty="0">
                <a:solidFill>
                  <a:srgbClr val="B0BEC4"/>
                </a:solidFill>
                <a:latin typeface="Segoe UI"/>
                <a:cs typeface="Segoe UI"/>
              </a:rPr>
              <a:t>Tanzim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Alam</a:t>
            </a:r>
            <a:r>
              <a:rPr sz="1250" spc="-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·</a:t>
            </a:r>
            <a:r>
              <a:rPr sz="1250" spc="-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Aryan</a:t>
            </a:r>
            <a:r>
              <a:rPr sz="1250" spc="-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Sami</a:t>
            </a:r>
            <a:r>
              <a:rPr sz="1250" spc="-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·</a:t>
            </a:r>
            <a:r>
              <a:rPr sz="1250" spc="-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Ridita</a:t>
            </a:r>
            <a:r>
              <a:rPr sz="1250" spc="-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Afrin</a:t>
            </a:r>
            <a:r>
              <a:rPr sz="1250" spc="-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spc="-20" dirty="0">
                <a:solidFill>
                  <a:srgbClr val="B0BEC4"/>
                </a:solidFill>
                <a:latin typeface="Segoe UI"/>
                <a:cs typeface="Segoe UI"/>
              </a:rPr>
              <a:t>Riya </a:t>
            </a:r>
            <a:r>
              <a:rPr sz="1250" spc="-10" dirty="0">
                <a:solidFill>
                  <a:srgbClr val="B0BEC4"/>
                </a:solidFill>
                <a:latin typeface="Segoe UI"/>
                <a:cs typeface="Segoe UI"/>
              </a:rPr>
              <a:t>Tamanna</a:t>
            </a:r>
            <a:r>
              <a:rPr sz="1250" spc="-1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Akter</a:t>
            </a:r>
            <a:r>
              <a:rPr sz="1250" spc="-1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Mou</a:t>
            </a:r>
            <a:r>
              <a:rPr sz="1250" spc="-1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·</a:t>
            </a:r>
            <a:r>
              <a:rPr sz="1250" spc="-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Abdullah</a:t>
            </a:r>
            <a:r>
              <a:rPr sz="1250" spc="-1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Al</a:t>
            </a:r>
            <a:r>
              <a:rPr sz="1250" spc="-1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spc="-20" dirty="0">
                <a:solidFill>
                  <a:srgbClr val="B0BEC4"/>
                </a:solidFill>
                <a:latin typeface="Segoe UI"/>
                <a:cs typeface="Segoe UI"/>
              </a:rPr>
              <a:t>Noman</a:t>
            </a:r>
            <a:endParaRPr sz="1250" dirty="0">
              <a:latin typeface="Segoe UI"/>
              <a:cs typeface="Segoe UI"/>
            </a:endParaRPr>
          </a:p>
          <a:p>
            <a:pPr marL="688975" marR="680720" algn="ctr">
              <a:lnSpc>
                <a:spcPct val="107100"/>
              </a:lnSpc>
              <a:spcBef>
                <a:spcPts val="1535"/>
              </a:spcBef>
            </a:pP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Department</a:t>
            </a:r>
            <a:r>
              <a:rPr sz="1050" spc="-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of</a:t>
            </a:r>
            <a:r>
              <a:rPr sz="1050" spc="-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Electrical</a:t>
            </a:r>
            <a:r>
              <a:rPr sz="1050" spc="-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and Computer</a:t>
            </a:r>
            <a:r>
              <a:rPr sz="1050" spc="-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Engineering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North</a:t>
            </a:r>
            <a:r>
              <a:rPr sz="1050" spc="-1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South</a:t>
            </a:r>
            <a:r>
              <a:rPr sz="1050" spc="-1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University,</a:t>
            </a:r>
            <a:r>
              <a:rPr sz="1050" spc="-1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Dhaka,</a:t>
            </a:r>
            <a:r>
              <a:rPr sz="1050" spc="-1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Bangladesh</a:t>
            </a:r>
            <a:endParaRPr sz="1050" dirty="0">
              <a:latin typeface="Segoe UI"/>
              <a:cs typeface="Segoe U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629399"/>
            <a:ext cx="257175" cy="266700"/>
          </a:xfrm>
          <a:custGeom>
            <a:avLst/>
            <a:gdLst/>
            <a:ahLst/>
            <a:cxnLst/>
            <a:rect l="l" t="t" r="r" b="b"/>
            <a:pathLst>
              <a:path w="257175" h="266700">
                <a:moveTo>
                  <a:pt x="257174" y="266699"/>
                </a:moveTo>
                <a:lnTo>
                  <a:pt x="0" y="266699"/>
                </a:lnTo>
                <a:lnTo>
                  <a:pt x="0" y="0"/>
                </a:lnTo>
                <a:lnTo>
                  <a:pt x="257174" y="0"/>
                </a:lnTo>
                <a:lnTo>
                  <a:pt x="25717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528170" y="2189480"/>
            <a:ext cx="1870710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7527" y="2791059"/>
            <a:ext cx="12160885" cy="44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50815" marR="5080" indent="-5238750">
              <a:lnSpc>
                <a:spcPct val="110000"/>
              </a:lnSpc>
              <a:spcBef>
                <a:spcPts val="95"/>
              </a:spcBef>
            </a:pP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2023</a:t>
            </a:r>
            <a:r>
              <a:rPr sz="1250" spc="-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Turkey–Syria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earthquake: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50,000+</a:t>
            </a:r>
            <a:r>
              <a:rPr sz="12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dead.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Rescue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teams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spent</a:t>
            </a:r>
            <a:r>
              <a:rPr sz="12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critical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hours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manually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scanning</a:t>
            </a:r>
            <a:r>
              <a:rPr sz="12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satellite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imagery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while</a:t>
            </a:r>
            <a:r>
              <a:rPr sz="12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survivors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perished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under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rubble</a:t>
            </a:r>
            <a:r>
              <a:rPr sz="12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that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AI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could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spc="-20" dirty="0">
                <a:solidFill>
                  <a:srgbClr val="B0BEC4"/>
                </a:solidFill>
                <a:latin typeface="Segoe UI"/>
                <a:cs typeface="Segoe UI"/>
              </a:rPr>
              <a:t>have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flagged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within</a:t>
            </a:r>
            <a:r>
              <a:rPr sz="1250" spc="1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spc="-10" dirty="0">
                <a:solidFill>
                  <a:srgbClr val="B0BEC4"/>
                </a:solidFill>
                <a:latin typeface="Segoe UI"/>
                <a:cs typeface="Segoe UI"/>
              </a:rPr>
              <a:t>seconds.</a:t>
            </a:r>
            <a:endParaRPr sz="1250">
              <a:latin typeface="Segoe UI"/>
              <a:cs typeface="Segoe U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1949" y="3371849"/>
            <a:ext cx="3962400" cy="1952625"/>
          </a:xfrm>
          <a:custGeom>
            <a:avLst/>
            <a:gdLst/>
            <a:ahLst/>
            <a:cxnLst/>
            <a:rect l="l" t="t" r="r" b="b"/>
            <a:pathLst>
              <a:path w="3962400" h="1952625">
                <a:moveTo>
                  <a:pt x="3873403" y="1952624"/>
                </a:moveTo>
                <a:lnTo>
                  <a:pt x="88995" y="1952624"/>
                </a:lnTo>
                <a:lnTo>
                  <a:pt x="82801" y="1952014"/>
                </a:lnTo>
                <a:lnTo>
                  <a:pt x="37131" y="1933095"/>
                </a:lnTo>
                <a:lnTo>
                  <a:pt x="9643" y="1899602"/>
                </a:lnTo>
                <a:lnTo>
                  <a:pt x="0" y="1863629"/>
                </a:lnTo>
                <a:lnTo>
                  <a:pt x="0" y="1857374"/>
                </a:lnTo>
                <a:lnTo>
                  <a:pt x="0" y="88995"/>
                </a:lnTo>
                <a:lnTo>
                  <a:pt x="12577" y="47530"/>
                </a:lnTo>
                <a:lnTo>
                  <a:pt x="47532" y="12577"/>
                </a:lnTo>
                <a:lnTo>
                  <a:pt x="88995" y="0"/>
                </a:lnTo>
                <a:lnTo>
                  <a:pt x="3873403" y="0"/>
                </a:lnTo>
                <a:lnTo>
                  <a:pt x="3914866" y="12577"/>
                </a:lnTo>
                <a:lnTo>
                  <a:pt x="3949821" y="47531"/>
                </a:lnTo>
                <a:lnTo>
                  <a:pt x="3962399" y="88995"/>
                </a:lnTo>
                <a:lnTo>
                  <a:pt x="3962399" y="1863629"/>
                </a:lnTo>
                <a:lnTo>
                  <a:pt x="3949821" y="1905091"/>
                </a:lnTo>
                <a:lnTo>
                  <a:pt x="3914866" y="1940045"/>
                </a:lnTo>
                <a:lnTo>
                  <a:pt x="3879597" y="1952014"/>
                </a:lnTo>
                <a:lnTo>
                  <a:pt x="3873403" y="1952624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01650" y="3407449"/>
            <a:ext cx="3540760" cy="147891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750" spc="-20" dirty="0">
                <a:solidFill>
                  <a:srgbClr val="E7D5B6"/>
                </a:solidFill>
                <a:latin typeface="Segoe UI"/>
                <a:cs typeface="Segoe UI"/>
              </a:rPr>
              <a:t>The</a:t>
            </a:r>
            <a:r>
              <a:rPr sz="1750" spc="-95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25" dirty="0">
                <a:solidFill>
                  <a:srgbClr val="E7D5B6"/>
                </a:solidFill>
                <a:latin typeface="Segoe UI"/>
                <a:cs typeface="Segoe UI"/>
              </a:rPr>
              <a:t>Gap</a:t>
            </a:r>
            <a:endParaRPr sz="1750">
              <a:latin typeface="Segoe UI"/>
              <a:cs typeface="Segoe UI"/>
            </a:endParaRPr>
          </a:p>
          <a:p>
            <a:pPr marL="12700" marR="5080">
              <a:lnSpc>
                <a:spcPct val="121900"/>
              </a:lnSpc>
              <a:spcBef>
                <a:spcPts val="420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Between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the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availability</a:t>
            </a:r>
            <a:r>
              <a:rPr sz="1350" b="1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of</a:t>
            </a:r>
            <a:r>
              <a:rPr sz="1350" b="1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spc="-10" dirty="0">
                <a:solidFill>
                  <a:srgbClr val="CCCCCC"/>
                </a:solidFill>
                <a:latin typeface="Segoe UI"/>
                <a:cs typeface="Segoe UI"/>
              </a:rPr>
              <a:t>post-disaster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imagery</a:t>
            </a:r>
            <a:r>
              <a:rPr sz="1350" b="1" spc="3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and</a:t>
            </a:r>
            <a:r>
              <a:rPr sz="1350" spc="3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the</a:t>
            </a:r>
            <a:r>
              <a:rPr sz="1350" spc="3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delivery</a:t>
            </a:r>
            <a:r>
              <a:rPr sz="1350" b="1" spc="3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of</a:t>
            </a:r>
            <a:r>
              <a:rPr sz="1350" b="1" spc="3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spc="-10" dirty="0">
                <a:solidFill>
                  <a:srgbClr val="CCCCCC"/>
                </a:solidFill>
                <a:latin typeface="Segoe UI"/>
                <a:cs typeface="Segoe UI"/>
              </a:rPr>
              <a:t>actionable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intelligence</a:t>
            </a:r>
            <a:r>
              <a:rPr sz="1350" b="1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to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the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people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who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need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it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—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20" dirty="0">
                <a:solidFill>
                  <a:srgbClr val="CCCCCC"/>
                </a:solidFill>
                <a:latin typeface="Segoe UI"/>
                <a:cs typeface="Segoe UI"/>
              </a:rPr>
              <a:t>this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is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the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problem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we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set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out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to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solve.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476749" y="3371849"/>
            <a:ext cx="3962400" cy="1952625"/>
          </a:xfrm>
          <a:custGeom>
            <a:avLst/>
            <a:gdLst/>
            <a:ahLst/>
            <a:cxnLst/>
            <a:rect l="l" t="t" r="r" b="b"/>
            <a:pathLst>
              <a:path w="3962400" h="1952625">
                <a:moveTo>
                  <a:pt x="3873403" y="1952624"/>
                </a:moveTo>
                <a:lnTo>
                  <a:pt x="88995" y="1952624"/>
                </a:lnTo>
                <a:lnTo>
                  <a:pt x="82801" y="1952014"/>
                </a:lnTo>
                <a:lnTo>
                  <a:pt x="37132" y="1933095"/>
                </a:lnTo>
                <a:lnTo>
                  <a:pt x="9643" y="1899602"/>
                </a:lnTo>
                <a:lnTo>
                  <a:pt x="0" y="1863629"/>
                </a:lnTo>
                <a:lnTo>
                  <a:pt x="0" y="1857374"/>
                </a:lnTo>
                <a:lnTo>
                  <a:pt x="0" y="88995"/>
                </a:lnTo>
                <a:lnTo>
                  <a:pt x="12578" y="47530"/>
                </a:lnTo>
                <a:lnTo>
                  <a:pt x="47531" y="12577"/>
                </a:lnTo>
                <a:lnTo>
                  <a:pt x="88995" y="0"/>
                </a:lnTo>
                <a:lnTo>
                  <a:pt x="3873403" y="0"/>
                </a:lnTo>
                <a:lnTo>
                  <a:pt x="3914866" y="12577"/>
                </a:lnTo>
                <a:lnTo>
                  <a:pt x="3949821" y="47531"/>
                </a:lnTo>
                <a:lnTo>
                  <a:pt x="3962399" y="88995"/>
                </a:lnTo>
                <a:lnTo>
                  <a:pt x="3962399" y="1863629"/>
                </a:lnTo>
                <a:lnTo>
                  <a:pt x="3949821" y="1905091"/>
                </a:lnTo>
                <a:lnTo>
                  <a:pt x="3914866" y="1940045"/>
                </a:lnTo>
                <a:lnTo>
                  <a:pt x="3879597" y="1952014"/>
                </a:lnTo>
                <a:lnTo>
                  <a:pt x="3873403" y="1952624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616450" y="3407449"/>
            <a:ext cx="3568065" cy="147891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750" spc="-25" dirty="0">
                <a:solidFill>
                  <a:srgbClr val="E7D5B6"/>
                </a:solidFill>
                <a:latin typeface="Segoe UI"/>
                <a:cs typeface="Segoe UI"/>
              </a:rPr>
              <a:t>Our</a:t>
            </a:r>
            <a:r>
              <a:rPr sz="1750" spc="-100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20" dirty="0">
                <a:solidFill>
                  <a:srgbClr val="E7D5B6"/>
                </a:solidFill>
                <a:latin typeface="Segoe UI"/>
                <a:cs typeface="Segoe UI"/>
              </a:rPr>
              <a:t>Goal</a:t>
            </a:r>
            <a:endParaRPr sz="1750">
              <a:latin typeface="Segoe UI"/>
              <a:cs typeface="Segoe UI"/>
            </a:endParaRPr>
          </a:p>
          <a:p>
            <a:pPr marL="12700" marR="5080">
              <a:lnSpc>
                <a:spcPct val="121900"/>
              </a:lnSpc>
              <a:spcBef>
                <a:spcPts val="420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Build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deployable</a:t>
            </a:r>
            <a:r>
              <a:rPr sz="1350" b="1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disaster</a:t>
            </a:r>
            <a:r>
              <a:rPr sz="1350" b="1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response</a:t>
            </a:r>
            <a:r>
              <a:rPr sz="1350" b="1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spc="-10" dirty="0">
                <a:solidFill>
                  <a:srgbClr val="CCCCCC"/>
                </a:solidFill>
                <a:latin typeface="Segoe UI"/>
                <a:cs typeface="Segoe UI"/>
              </a:rPr>
              <a:t>system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that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works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on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hardware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available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to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actual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responders: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free-tier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cloud</a:t>
            </a:r>
            <a:r>
              <a:rPr sz="1350" spc="3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GPUs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today,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rescue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laptops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and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edge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devices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tomorrow.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591548" y="3371849"/>
            <a:ext cx="3962400" cy="1952625"/>
          </a:xfrm>
          <a:custGeom>
            <a:avLst/>
            <a:gdLst/>
            <a:ahLst/>
            <a:cxnLst/>
            <a:rect l="l" t="t" r="r" b="b"/>
            <a:pathLst>
              <a:path w="3962400" h="1952625">
                <a:moveTo>
                  <a:pt x="3873403" y="1952624"/>
                </a:moveTo>
                <a:lnTo>
                  <a:pt x="88995" y="1952624"/>
                </a:lnTo>
                <a:lnTo>
                  <a:pt x="82801" y="1952014"/>
                </a:lnTo>
                <a:lnTo>
                  <a:pt x="37130" y="1933095"/>
                </a:lnTo>
                <a:lnTo>
                  <a:pt x="9643" y="1899602"/>
                </a:lnTo>
                <a:lnTo>
                  <a:pt x="0" y="1863629"/>
                </a:lnTo>
                <a:lnTo>
                  <a:pt x="0" y="1857374"/>
                </a:lnTo>
                <a:lnTo>
                  <a:pt x="0" y="88995"/>
                </a:lnTo>
                <a:lnTo>
                  <a:pt x="12577" y="47530"/>
                </a:lnTo>
                <a:lnTo>
                  <a:pt x="47531" y="12577"/>
                </a:lnTo>
                <a:lnTo>
                  <a:pt x="88995" y="0"/>
                </a:lnTo>
                <a:lnTo>
                  <a:pt x="3873403" y="0"/>
                </a:lnTo>
                <a:lnTo>
                  <a:pt x="3914867" y="12577"/>
                </a:lnTo>
                <a:lnTo>
                  <a:pt x="3949820" y="47531"/>
                </a:lnTo>
                <a:lnTo>
                  <a:pt x="3962400" y="88995"/>
                </a:lnTo>
                <a:lnTo>
                  <a:pt x="3962400" y="1863629"/>
                </a:lnTo>
                <a:lnTo>
                  <a:pt x="3949820" y="1905091"/>
                </a:lnTo>
                <a:lnTo>
                  <a:pt x="3914867" y="1940045"/>
                </a:lnTo>
                <a:lnTo>
                  <a:pt x="3879597" y="1952014"/>
                </a:lnTo>
                <a:lnTo>
                  <a:pt x="3873403" y="1952624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731250" y="3407449"/>
            <a:ext cx="3463925" cy="1726564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750" spc="-25" dirty="0">
                <a:solidFill>
                  <a:srgbClr val="E7D5B6"/>
                </a:solidFill>
                <a:latin typeface="Segoe UI"/>
                <a:cs typeface="Segoe UI"/>
              </a:rPr>
              <a:t>Why</a:t>
            </a:r>
            <a:r>
              <a:rPr sz="1750" spc="-95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20" dirty="0">
                <a:solidFill>
                  <a:srgbClr val="E7D5B6"/>
                </a:solidFill>
                <a:latin typeface="Segoe UI"/>
                <a:cs typeface="Segoe UI"/>
              </a:rPr>
              <a:t>It</a:t>
            </a:r>
            <a:r>
              <a:rPr sz="1750" spc="-90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10" dirty="0">
                <a:solidFill>
                  <a:srgbClr val="E7D5B6"/>
                </a:solidFill>
                <a:latin typeface="Segoe UI"/>
                <a:cs typeface="Segoe UI"/>
              </a:rPr>
              <a:t>Matters</a:t>
            </a:r>
            <a:endParaRPr sz="1750" dirty="0">
              <a:latin typeface="Segoe UI"/>
              <a:cs typeface="Segoe UI"/>
            </a:endParaRPr>
          </a:p>
          <a:p>
            <a:pPr marL="12700" marR="5080">
              <a:lnSpc>
                <a:spcPct val="121500"/>
              </a:lnSpc>
              <a:spcBef>
                <a:spcPts val="425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post-disaster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image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enters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the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system,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25" dirty="0">
                <a:solidFill>
                  <a:srgbClr val="CCCCCC"/>
                </a:solidFill>
                <a:latin typeface="Segoe UI"/>
                <a:cs typeface="Segoe UI"/>
              </a:rPr>
              <a:t>and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actionable</a:t>
            </a:r>
            <a:r>
              <a:rPr sz="1350" b="1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rescue</a:t>
            </a:r>
            <a:r>
              <a:rPr sz="1350" b="1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guidance</a:t>
            </a:r>
            <a:r>
              <a:rPr sz="1350" b="1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lang="en-US" sz="1350" dirty="0">
                <a:solidFill>
                  <a:srgbClr val="CCCCCC"/>
                </a:solidFill>
                <a:latin typeface="Segoe UI"/>
                <a:cs typeface="Segoe UI"/>
              </a:rPr>
              <a:t>exits: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damage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classifications,</a:t>
            </a:r>
            <a:r>
              <a:rPr sz="1350" spc="3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building</a:t>
            </a:r>
            <a:r>
              <a:rPr sz="1350" spc="3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counts,</a:t>
            </a:r>
            <a:r>
              <a:rPr sz="1350" spc="3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structural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assessments,</a:t>
            </a:r>
            <a:r>
              <a:rPr sz="1350" spc="3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and</a:t>
            </a:r>
            <a:r>
              <a:rPr sz="1350" spc="3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coordinated</a:t>
            </a:r>
            <a:r>
              <a:rPr sz="1350" spc="3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response reports.</a:t>
            </a:r>
            <a:endParaRPr sz="1350" dirty="0">
              <a:latin typeface="Segoe UI"/>
              <a:cs typeface="Segoe U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6629399"/>
            <a:ext cx="257175" cy="266700"/>
          </a:xfrm>
          <a:custGeom>
            <a:avLst/>
            <a:gdLst/>
            <a:ahLst/>
            <a:cxnLst/>
            <a:rect l="l" t="t" r="r" b="b"/>
            <a:pathLst>
              <a:path w="257175" h="266700">
                <a:moveTo>
                  <a:pt x="257174" y="266699"/>
                </a:moveTo>
                <a:lnTo>
                  <a:pt x="0" y="266699"/>
                </a:lnTo>
                <a:lnTo>
                  <a:pt x="0" y="0"/>
                </a:lnTo>
                <a:lnTo>
                  <a:pt x="257174" y="0"/>
                </a:lnTo>
                <a:lnTo>
                  <a:pt x="25717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3ACC38A-61A9-0BE8-9421-76A95A02CB79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31690D6-398C-0ACF-182B-6345605E3764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775E5BB-7835-702B-5B5A-FE1244E7E76D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10546" y="2484755"/>
            <a:ext cx="2905760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Problem</a:t>
            </a:r>
            <a:r>
              <a:rPr spc="-155" dirty="0"/>
              <a:t> </a:t>
            </a:r>
            <a:r>
              <a:rPr spc="-65" dirty="0"/>
              <a:t>Statement</a:t>
            </a:r>
          </a:p>
        </p:txBody>
      </p:sp>
      <p:sp>
        <p:nvSpPr>
          <p:cNvPr id="3" name="object 3"/>
          <p:cNvSpPr/>
          <p:nvPr/>
        </p:nvSpPr>
        <p:spPr>
          <a:xfrm>
            <a:off x="361949" y="3067049"/>
            <a:ext cx="3962400" cy="1704975"/>
          </a:xfrm>
          <a:custGeom>
            <a:avLst/>
            <a:gdLst/>
            <a:ahLst/>
            <a:cxnLst/>
            <a:rect l="l" t="t" r="r" b="b"/>
            <a:pathLst>
              <a:path w="3962400" h="1704975">
                <a:moveTo>
                  <a:pt x="3873403" y="1704974"/>
                </a:moveTo>
                <a:lnTo>
                  <a:pt x="88995" y="1704974"/>
                </a:lnTo>
                <a:lnTo>
                  <a:pt x="82801" y="1704364"/>
                </a:lnTo>
                <a:lnTo>
                  <a:pt x="37131" y="1685445"/>
                </a:lnTo>
                <a:lnTo>
                  <a:pt x="9643" y="1651950"/>
                </a:lnTo>
                <a:lnTo>
                  <a:pt x="0" y="1615978"/>
                </a:lnTo>
                <a:lnTo>
                  <a:pt x="0" y="1609724"/>
                </a:lnTo>
                <a:lnTo>
                  <a:pt x="0" y="88994"/>
                </a:lnTo>
                <a:lnTo>
                  <a:pt x="12577" y="47529"/>
                </a:lnTo>
                <a:lnTo>
                  <a:pt x="47532" y="12575"/>
                </a:lnTo>
                <a:lnTo>
                  <a:pt x="88995" y="0"/>
                </a:lnTo>
                <a:lnTo>
                  <a:pt x="3873403" y="0"/>
                </a:lnTo>
                <a:lnTo>
                  <a:pt x="3914866" y="12575"/>
                </a:lnTo>
                <a:lnTo>
                  <a:pt x="3949821" y="47529"/>
                </a:lnTo>
                <a:lnTo>
                  <a:pt x="3962399" y="88994"/>
                </a:lnTo>
                <a:lnTo>
                  <a:pt x="3962399" y="1615978"/>
                </a:lnTo>
                <a:lnTo>
                  <a:pt x="3949821" y="1657439"/>
                </a:lnTo>
                <a:lnTo>
                  <a:pt x="3914866" y="1692394"/>
                </a:lnTo>
                <a:lnTo>
                  <a:pt x="3879597" y="1704364"/>
                </a:lnTo>
                <a:lnTo>
                  <a:pt x="3873403" y="1704974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01650" y="3102649"/>
            <a:ext cx="3498850" cy="147891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750" spc="-25" dirty="0">
                <a:solidFill>
                  <a:srgbClr val="E7D5B6"/>
                </a:solidFill>
                <a:latin typeface="Segoe UI"/>
                <a:cs typeface="Segoe UI"/>
              </a:rPr>
              <a:t>Why</a:t>
            </a:r>
            <a:r>
              <a:rPr sz="1750" spc="-90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30" dirty="0">
                <a:solidFill>
                  <a:srgbClr val="E7D5B6"/>
                </a:solidFill>
                <a:latin typeface="Segoe UI"/>
                <a:cs typeface="Segoe UI"/>
              </a:rPr>
              <a:t>This</a:t>
            </a:r>
            <a:r>
              <a:rPr sz="1750" spc="-90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20" dirty="0">
                <a:solidFill>
                  <a:srgbClr val="E7D5B6"/>
                </a:solidFill>
                <a:latin typeface="Segoe UI"/>
                <a:cs typeface="Segoe UI"/>
              </a:rPr>
              <a:t>Is</a:t>
            </a:r>
            <a:r>
              <a:rPr sz="1750" spc="-90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20" dirty="0">
                <a:solidFill>
                  <a:srgbClr val="E7D5B6"/>
                </a:solidFill>
                <a:latin typeface="Segoe UI"/>
                <a:cs typeface="Segoe UI"/>
              </a:rPr>
              <a:t>Hard</a:t>
            </a:r>
            <a:endParaRPr sz="1750">
              <a:latin typeface="Segoe UI"/>
              <a:cs typeface="Segoe UI"/>
            </a:endParaRPr>
          </a:p>
          <a:p>
            <a:pPr marL="12700" marR="5080">
              <a:lnSpc>
                <a:spcPct val="121900"/>
              </a:lnSpc>
              <a:spcBef>
                <a:spcPts val="420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Rapid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disaster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assessment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from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aerial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25" dirty="0">
                <a:solidFill>
                  <a:srgbClr val="CCCCCC"/>
                </a:solidFill>
                <a:latin typeface="Segoe UI"/>
                <a:cs typeface="Segoe UI"/>
              </a:rPr>
              <a:t>and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satellite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imagery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is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difficult: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affected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areas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25" dirty="0">
                <a:solidFill>
                  <a:srgbClr val="CCCCCC"/>
                </a:solidFill>
                <a:latin typeface="Segoe UI"/>
                <a:cs typeface="Segoe UI"/>
              </a:rPr>
              <a:t>are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large,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visually</a:t>
            </a:r>
            <a:r>
              <a:rPr sz="1350" spc="3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complex,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and</a:t>
            </a:r>
            <a:r>
              <a:rPr sz="1350" spc="3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constantly changing.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76749" y="3067049"/>
            <a:ext cx="3962400" cy="1704975"/>
          </a:xfrm>
          <a:custGeom>
            <a:avLst/>
            <a:gdLst/>
            <a:ahLst/>
            <a:cxnLst/>
            <a:rect l="l" t="t" r="r" b="b"/>
            <a:pathLst>
              <a:path w="3962400" h="1704975">
                <a:moveTo>
                  <a:pt x="3873403" y="1704974"/>
                </a:moveTo>
                <a:lnTo>
                  <a:pt x="88995" y="1704974"/>
                </a:lnTo>
                <a:lnTo>
                  <a:pt x="82801" y="1704364"/>
                </a:lnTo>
                <a:lnTo>
                  <a:pt x="37132" y="1685445"/>
                </a:lnTo>
                <a:lnTo>
                  <a:pt x="9643" y="1651950"/>
                </a:lnTo>
                <a:lnTo>
                  <a:pt x="0" y="1615978"/>
                </a:lnTo>
                <a:lnTo>
                  <a:pt x="0" y="1609724"/>
                </a:lnTo>
                <a:lnTo>
                  <a:pt x="0" y="88994"/>
                </a:lnTo>
                <a:lnTo>
                  <a:pt x="12578" y="47529"/>
                </a:lnTo>
                <a:lnTo>
                  <a:pt x="47531" y="12575"/>
                </a:lnTo>
                <a:lnTo>
                  <a:pt x="88995" y="0"/>
                </a:lnTo>
                <a:lnTo>
                  <a:pt x="3873403" y="0"/>
                </a:lnTo>
                <a:lnTo>
                  <a:pt x="3914866" y="12575"/>
                </a:lnTo>
                <a:lnTo>
                  <a:pt x="3949821" y="47529"/>
                </a:lnTo>
                <a:lnTo>
                  <a:pt x="3962399" y="88994"/>
                </a:lnTo>
                <a:lnTo>
                  <a:pt x="3962399" y="1615978"/>
                </a:lnTo>
                <a:lnTo>
                  <a:pt x="3949821" y="1657439"/>
                </a:lnTo>
                <a:lnTo>
                  <a:pt x="3914866" y="1692394"/>
                </a:lnTo>
                <a:lnTo>
                  <a:pt x="3879597" y="1704364"/>
                </a:lnTo>
                <a:lnTo>
                  <a:pt x="3873403" y="1704974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16450" y="3102649"/>
            <a:ext cx="3515995" cy="147891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750" spc="-30" dirty="0">
                <a:solidFill>
                  <a:srgbClr val="E7D5B6"/>
                </a:solidFill>
                <a:latin typeface="Segoe UI"/>
                <a:cs typeface="Segoe UI"/>
              </a:rPr>
              <a:t>What</a:t>
            </a:r>
            <a:r>
              <a:rPr sz="1750" spc="-70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40" dirty="0">
                <a:solidFill>
                  <a:srgbClr val="E7D5B6"/>
                </a:solidFill>
                <a:latin typeface="Segoe UI"/>
                <a:cs typeface="Segoe UI"/>
              </a:rPr>
              <a:t>Current</a:t>
            </a:r>
            <a:r>
              <a:rPr sz="1750" spc="-65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35" dirty="0">
                <a:solidFill>
                  <a:srgbClr val="E7D5B6"/>
                </a:solidFill>
                <a:latin typeface="Segoe UI"/>
                <a:cs typeface="Segoe UI"/>
              </a:rPr>
              <a:t>Methods</a:t>
            </a:r>
            <a:r>
              <a:rPr sz="1750" spc="-70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20" dirty="0">
                <a:solidFill>
                  <a:srgbClr val="E7D5B6"/>
                </a:solidFill>
                <a:latin typeface="Segoe UI"/>
                <a:cs typeface="Segoe UI"/>
              </a:rPr>
              <a:t>Miss</a:t>
            </a:r>
            <a:endParaRPr sz="1750">
              <a:latin typeface="Segoe UI"/>
              <a:cs typeface="Segoe UI"/>
            </a:endParaRPr>
          </a:p>
          <a:p>
            <a:pPr marL="12700" marR="5080">
              <a:lnSpc>
                <a:spcPct val="121900"/>
              </a:lnSpc>
              <a:spcBef>
                <a:spcPts val="420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VLMs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can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reason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about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disaster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scenes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25" dirty="0">
                <a:solidFill>
                  <a:srgbClr val="CCCCCC"/>
                </a:solidFill>
                <a:latin typeface="Segoe UI"/>
                <a:cs typeface="Segoe UI"/>
              </a:rPr>
              <a:t>but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hallucinate</a:t>
            </a:r>
            <a:r>
              <a:rPr sz="1350" b="1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spatial</a:t>
            </a:r>
            <a:r>
              <a:rPr sz="1350" b="1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details</a:t>
            </a:r>
            <a:r>
              <a:rPr sz="1350" b="1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—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they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cannot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reliably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count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damaged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buildings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or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generate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precise</a:t>
            </a:r>
            <a:r>
              <a:rPr sz="1350" spc="3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bounding</a:t>
            </a:r>
            <a:r>
              <a:rPr sz="1350" spc="3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boxes.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591548" y="3067049"/>
            <a:ext cx="3962400" cy="1704975"/>
          </a:xfrm>
          <a:custGeom>
            <a:avLst/>
            <a:gdLst/>
            <a:ahLst/>
            <a:cxnLst/>
            <a:rect l="l" t="t" r="r" b="b"/>
            <a:pathLst>
              <a:path w="3962400" h="1704975">
                <a:moveTo>
                  <a:pt x="3873403" y="1704974"/>
                </a:moveTo>
                <a:lnTo>
                  <a:pt x="88995" y="1704974"/>
                </a:lnTo>
                <a:lnTo>
                  <a:pt x="82801" y="1704364"/>
                </a:lnTo>
                <a:lnTo>
                  <a:pt x="37130" y="1685445"/>
                </a:lnTo>
                <a:lnTo>
                  <a:pt x="9643" y="1651950"/>
                </a:lnTo>
                <a:lnTo>
                  <a:pt x="0" y="1615978"/>
                </a:lnTo>
                <a:lnTo>
                  <a:pt x="0" y="1609724"/>
                </a:lnTo>
                <a:lnTo>
                  <a:pt x="0" y="88994"/>
                </a:lnTo>
                <a:lnTo>
                  <a:pt x="12577" y="47529"/>
                </a:lnTo>
                <a:lnTo>
                  <a:pt x="47531" y="12575"/>
                </a:lnTo>
                <a:lnTo>
                  <a:pt x="88995" y="0"/>
                </a:lnTo>
                <a:lnTo>
                  <a:pt x="3873403" y="0"/>
                </a:lnTo>
                <a:lnTo>
                  <a:pt x="3914867" y="12575"/>
                </a:lnTo>
                <a:lnTo>
                  <a:pt x="3949820" y="47529"/>
                </a:lnTo>
                <a:lnTo>
                  <a:pt x="3962400" y="88994"/>
                </a:lnTo>
                <a:lnTo>
                  <a:pt x="3962400" y="1615978"/>
                </a:lnTo>
                <a:lnTo>
                  <a:pt x="3949820" y="1657439"/>
                </a:lnTo>
                <a:lnTo>
                  <a:pt x="3914867" y="1692394"/>
                </a:lnTo>
                <a:lnTo>
                  <a:pt x="3879597" y="1704364"/>
                </a:lnTo>
                <a:lnTo>
                  <a:pt x="3873403" y="1704974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731250" y="3102649"/>
            <a:ext cx="3303270" cy="147891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750" spc="-35" dirty="0">
                <a:solidFill>
                  <a:srgbClr val="E7D5B6"/>
                </a:solidFill>
                <a:latin typeface="Segoe UI"/>
                <a:cs typeface="Segoe UI"/>
              </a:rPr>
              <a:t>What’s</a:t>
            </a:r>
            <a:r>
              <a:rPr sz="1750" spc="-80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10" dirty="0">
                <a:solidFill>
                  <a:srgbClr val="E7D5B6"/>
                </a:solidFill>
                <a:latin typeface="Segoe UI"/>
                <a:cs typeface="Segoe UI"/>
              </a:rPr>
              <a:t>Needed</a:t>
            </a:r>
            <a:endParaRPr sz="1750">
              <a:latin typeface="Segoe UI"/>
              <a:cs typeface="Segoe UI"/>
            </a:endParaRPr>
          </a:p>
          <a:p>
            <a:pPr marL="12700" marR="5080">
              <a:lnSpc>
                <a:spcPct val="121900"/>
              </a:lnSpc>
              <a:spcBef>
                <a:spcPts val="420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hybrid</a:t>
            </a:r>
            <a:r>
              <a:rPr sz="1350" b="1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system</a:t>
            </a:r>
            <a:r>
              <a:rPr sz="1350" b="1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where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VLM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handles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contextual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reasoning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and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U-Net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acts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as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50" dirty="0">
                <a:solidFill>
                  <a:srgbClr val="CCCCCC"/>
                </a:solidFill>
                <a:latin typeface="Segoe UI"/>
                <a:cs typeface="Segoe UI"/>
              </a:rPr>
              <a:t>a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“spatial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cortex”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for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precise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building-</a:t>
            </a:r>
            <a:r>
              <a:rPr sz="1350" spc="-20" dirty="0">
                <a:solidFill>
                  <a:srgbClr val="CCCCCC"/>
                </a:solidFill>
                <a:latin typeface="Segoe UI"/>
                <a:cs typeface="Segoe UI"/>
              </a:rPr>
              <a:t>level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counting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—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trainable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on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free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hardware.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6629399"/>
            <a:ext cx="257175" cy="266700"/>
          </a:xfrm>
          <a:custGeom>
            <a:avLst/>
            <a:gdLst/>
            <a:ahLst/>
            <a:cxnLst/>
            <a:rect l="l" t="t" r="r" b="b"/>
            <a:pathLst>
              <a:path w="257175" h="266700">
                <a:moveTo>
                  <a:pt x="257174" y="266699"/>
                </a:moveTo>
                <a:lnTo>
                  <a:pt x="0" y="266699"/>
                </a:lnTo>
                <a:lnTo>
                  <a:pt x="0" y="0"/>
                </a:lnTo>
                <a:lnTo>
                  <a:pt x="257174" y="0"/>
                </a:lnTo>
                <a:lnTo>
                  <a:pt x="25717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2AD6E50-AD8D-E641-D2C9-D1982AB57141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98748D3-BCE1-752A-7AF8-A8FDA0FB04CD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5B1C470-5D01-C888-A635-452844862DF5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474741" y="1294130"/>
            <a:ext cx="1977389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Project</a:t>
            </a:r>
            <a:r>
              <a:rPr spc="-135" dirty="0"/>
              <a:t> </a:t>
            </a:r>
            <a:r>
              <a:rPr spc="-40" dirty="0"/>
              <a:t>Goals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14155" y="1918970"/>
            <a:ext cx="4687570" cy="2336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Four</a:t>
            </a:r>
            <a:r>
              <a:rPr sz="135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core</a:t>
            </a:r>
            <a:r>
              <a:rPr sz="135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technical</a:t>
            </a:r>
            <a:r>
              <a:rPr sz="135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objectives,</a:t>
            </a:r>
            <a:r>
              <a:rPr sz="135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each</a:t>
            </a:r>
            <a:r>
              <a:rPr sz="135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addressing</a:t>
            </a:r>
            <a:r>
              <a:rPr sz="135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a</a:t>
            </a:r>
            <a:r>
              <a:rPr sz="135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distinct</a:t>
            </a:r>
            <a:r>
              <a:rPr sz="135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spc="-25" dirty="0">
                <a:solidFill>
                  <a:srgbClr val="B0BEC4"/>
                </a:solidFill>
                <a:latin typeface="Segoe UI"/>
                <a:cs typeface="Segoe UI"/>
              </a:rPr>
              <a:t>gap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1949" y="2343149"/>
            <a:ext cx="6029325" cy="1743075"/>
          </a:xfrm>
          <a:custGeom>
            <a:avLst/>
            <a:gdLst/>
            <a:ahLst/>
            <a:cxnLst/>
            <a:rect l="l" t="t" r="r" b="b"/>
            <a:pathLst>
              <a:path w="6029325" h="1743075">
                <a:moveTo>
                  <a:pt x="5940328" y="1743074"/>
                </a:moveTo>
                <a:lnTo>
                  <a:pt x="88995" y="1743074"/>
                </a:lnTo>
                <a:lnTo>
                  <a:pt x="82801" y="1742463"/>
                </a:lnTo>
                <a:lnTo>
                  <a:pt x="37131" y="1723543"/>
                </a:lnTo>
                <a:lnTo>
                  <a:pt x="9643" y="1690048"/>
                </a:lnTo>
                <a:lnTo>
                  <a:pt x="0" y="1654078"/>
                </a:lnTo>
                <a:lnTo>
                  <a:pt x="0" y="1647824"/>
                </a:lnTo>
                <a:lnTo>
                  <a:pt x="0" y="88994"/>
                </a:lnTo>
                <a:lnTo>
                  <a:pt x="12577" y="47529"/>
                </a:lnTo>
                <a:lnTo>
                  <a:pt x="47532" y="12575"/>
                </a:lnTo>
                <a:lnTo>
                  <a:pt x="88995" y="0"/>
                </a:lnTo>
                <a:lnTo>
                  <a:pt x="5940328" y="0"/>
                </a:lnTo>
                <a:lnTo>
                  <a:pt x="5981791" y="12575"/>
                </a:lnTo>
                <a:lnTo>
                  <a:pt x="6016746" y="47529"/>
                </a:lnTo>
                <a:lnTo>
                  <a:pt x="6029323" y="88994"/>
                </a:lnTo>
                <a:lnTo>
                  <a:pt x="6029323" y="1654078"/>
                </a:lnTo>
                <a:lnTo>
                  <a:pt x="6016746" y="1695535"/>
                </a:lnTo>
                <a:lnTo>
                  <a:pt x="5981791" y="1730494"/>
                </a:lnTo>
                <a:lnTo>
                  <a:pt x="5946522" y="1742463"/>
                </a:lnTo>
                <a:lnTo>
                  <a:pt x="5940328" y="1743074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01650" y="2482693"/>
            <a:ext cx="5676900" cy="11652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3350" b="1" spc="-50" dirty="0">
                <a:solidFill>
                  <a:srgbClr val="64B4F5"/>
                </a:solidFill>
                <a:latin typeface="Segoe UI"/>
                <a:cs typeface="Segoe UI"/>
              </a:rPr>
              <a:t>1</a:t>
            </a:r>
            <a:endParaRPr sz="33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750" spc="-35" dirty="0">
                <a:solidFill>
                  <a:srgbClr val="E7D5B6"/>
                </a:solidFill>
                <a:latin typeface="Segoe UI"/>
                <a:cs typeface="Segoe UI"/>
              </a:rPr>
              <a:t>VLM</a:t>
            </a:r>
            <a:r>
              <a:rPr sz="1750" spc="-30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50" dirty="0">
                <a:solidFill>
                  <a:srgbClr val="E7D5B6"/>
                </a:solidFill>
                <a:latin typeface="Segoe UI"/>
                <a:cs typeface="Segoe UI"/>
              </a:rPr>
              <a:t>Fine-</a:t>
            </a:r>
            <a:r>
              <a:rPr sz="1750" spc="-10" dirty="0">
                <a:solidFill>
                  <a:srgbClr val="E7D5B6"/>
                </a:solidFill>
                <a:latin typeface="Segoe UI"/>
                <a:cs typeface="Segoe UI"/>
              </a:rPr>
              <a:t>Tuning</a:t>
            </a:r>
            <a:endParaRPr sz="17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Fine-tune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Qwen2.5-VL-7B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on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DisasterM3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using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QLoRA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on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single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T4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25" dirty="0">
                <a:solidFill>
                  <a:srgbClr val="CCCCCC"/>
                </a:solidFill>
                <a:latin typeface="Segoe UI"/>
                <a:cs typeface="Segoe UI"/>
              </a:rPr>
              <a:t>GPU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24624" y="2343149"/>
            <a:ext cx="6029325" cy="1743075"/>
          </a:xfrm>
          <a:custGeom>
            <a:avLst/>
            <a:gdLst/>
            <a:ahLst/>
            <a:cxnLst/>
            <a:rect l="l" t="t" r="r" b="b"/>
            <a:pathLst>
              <a:path w="6029325" h="1743075">
                <a:moveTo>
                  <a:pt x="5940327" y="1743074"/>
                </a:moveTo>
                <a:lnTo>
                  <a:pt x="88995" y="1743074"/>
                </a:lnTo>
                <a:lnTo>
                  <a:pt x="82801" y="1742463"/>
                </a:lnTo>
                <a:lnTo>
                  <a:pt x="37130" y="1723543"/>
                </a:lnTo>
                <a:lnTo>
                  <a:pt x="9643" y="1690048"/>
                </a:lnTo>
                <a:lnTo>
                  <a:pt x="0" y="1654078"/>
                </a:lnTo>
                <a:lnTo>
                  <a:pt x="0" y="1647824"/>
                </a:lnTo>
                <a:lnTo>
                  <a:pt x="0" y="88994"/>
                </a:lnTo>
                <a:lnTo>
                  <a:pt x="12577" y="47529"/>
                </a:lnTo>
                <a:lnTo>
                  <a:pt x="47531" y="12575"/>
                </a:lnTo>
                <a:lnTo>
                  <a:pt x="88995" y="0"/>
                </a:lnTo>
                <a:lnTo>
                  <a:pt x="5940327" y="0"/>
                </a:lnTo>
                <a:lnTo>
                  <a:pt x="5981791" y="12575"/>
                </a:lnTo>
                <a:lnTo>
                  <a:pt x="6016745" y="47529"/>
                </a:lnTo>
                <a:lnTo>
                  <a:pt x="6029324" y="88994"/>
                </a:lnTo>
                <a:lnTo>
                  <a:pt x="6029324" y="1654078"/>
                </a:lnTo>
                <a:lnTo>
                  <a:pt x="6016745" y="1695535"/>
                </a:lnTo>
                <a:lnTo>
                  <a:pt x="5981791" y="1730494"/>
                </a:lnTo>
                <a:lnTo>
                  <a:pt x="5946521" y="1742463"/>
                </a:lnTo>
                <a:lnTo>
                  <a:pt x="5940327" y="1743074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664325" y="2482693"/>
            <a:ext cx="5155565" cy="14224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3350" b="1" spc="-50" dirty="0">
                <a:solidFill>
                  <a:srgbClr val="64B4F5"/>
                </a:solidFill>
                <a:latin typeface="Segoe UI"/>
                <a:cs typeface="Segoe UI"/>
              </a:rPr>
              <a:t>2</a:t>
            </a:r>
            <a:endParaRPr sz="33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750" spc="-40" dirty="0">
                <a:solidFill>
                  <a:srgbClr val="E7D5B6"/>
                </a:solidFill>
                <a:latin typeface="Segoe UI"/>
                <a:cs typeface="Segoe UI"/>
              </a:rPr>
              <a:t>Spatial</a:t>
            </a:r>
            <a:r>
              <a:rPr sz="1750" spc="-60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10" dirty="0">
                <a:solidFill>
                  <a:srgbClr val="E7D5B6"/>
                </a:solidFill>
                <a:latin typeface="Segoe UI"/>
                <a:cs typeface="Segoe UI"/>
              </a:rPr>
              <a:t>Grounding</a:t>
            </a:r>
            <a:endParaRPr sz="1750">
              <a:latin typeface="Segoe UI"/>
              <a:cs typeface="Segoe UI"/>
            </a:endParaRPr>
          </a:p>
          <a:p>
            <a:pPr marL="12700" marR="5080">
              <a:lnSpc>
                <a:spcPct val="125000"/>
              </a:lnSpc>
              <a:spcBef>
                <a:spcPts val="295"/>
              </a:spcBef>
            </a:pP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Train</a:t>
            </a:r>
            <a:r>
              <a:rPr sz="1350" spc="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</a:t>
            </a:r>
            <a:r>
              <a:rPr sz="1350" spc="1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U-Net</a:t>
            </a:r>
            <a:r>
              <a:rPr sz="1350" spc="1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to</a:t>
            </a:r>
            <a:r>
              <a:rPr sz="1350" spc="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detect</a:t>
            </a:r>
            <a:r>
              <a:rPr sz="1350" spc="1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and</a:t>
            </a:r>
            <a:r>
              <a:rPr sz="1350" spc="1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count</a:t>
            </a:r>
            <a:r>
              <a:rPr sz="1350" spc="1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damaged</a:t>
            </a:r>
            <a:r>
              <a:rPr sz="1350" spc="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structures</a:t>
            </a:r>
            <a:r>
              <a:rPr sz="1350" spc="1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via</a:t>
            </a:r>
            <a:r>
              <a:rPr sz="1350" spc="1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semantic segmentation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1949" y="4219573"/>
            <a:ext cx="6029325" cy="1752600"/>
          </a:xfrm>
          <a:custGeom>
            <a:avLst/>
            <a:gdLst/>
            <a:ahLst/>
            <a:cxnLst/>
            <a:rect l="l" t="t" r="r" b="b"/>
            <a:pathLst>
              <a:path w="6029325" h="1752600">
                <a:moveTo>
                  <a:pt x="5940328" y="1752597"/>
                </a:moveTo>
                <a:lnTo>
                  <a:pt x="88995" y="1752597"/>
                </a:lnTo>
                <a:lnTo>
                  <a:pt x="82801" y="1751988"/>
                </a:lnTo>
                <a:lnTo>
                  <a:pt x="37131" y="1733070"/>
                </a:lnTo>
                <a:lnTo>
                  <a:pt x="9643" y="1699575"/>
                </a:lnTo>
                <a:lnTo>
                  <a:pt x="0" y="1663603"/>
                </a:lnTo>
                <a:lnTo>
                  <a:pt x="0" y="1657349"/>
                </a:lnTo>
                <a:lnTo>
                  <a:pt x="0" y="88992"/>
                </a:lnTo>
                <a:lnTo>
                  <a:pt x="12577" y="47526"/>
                </a:lnTo>
                <a:lnTo>
                  <a:pt x="47532" y="12578"/>
                </a:lnTo>
                <a:lnTo>
                  <a:pt x="88995" y="0"/>
                </a:lnTo>
                <a:lnTo>
                  <a:pt x="5940328" y="0"/>
                </a:lnTo>
                <a:lnTo>
                  <a:pt x="5981791" y="12578"/>
                </a:lnTo>
                <a:lnTo>
                  <a:pt x="6016746" y="47526"/>
                </a:lnTo>
                <a:lnTo>
                  <a:pt x="6029323" y="88992"/>
                </a:lnTo>
                <a:lnTo>
                  <a:pt x="6029323" y="1663603"/>
                </a:lnTo>
                <a:lnTo>
                  <a:pt x="6016746" y="1705063"/>
                </a:lnTo>
                <a:lnTo>
                  <a:pt x="5981791" y="1740019"/>
                </a:lnTo>
                <a:lnTo>
                  <a:pt x="5946522" y="1751988"/>
                </a:lnTo>
                <a:lnTo>
                  <a:pt x="5940328" y="1752597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1650" y="4359118"/>
            <a:ext cx="5738495" cy="117475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3350" b="1" spc="-50" dirty="0">
                <a:solidFill>
                  <a:srgbClr val="64B4F5"/>
                </a:solidFill>
                <a:latin typeface="Segoe UI"/>
                <a:cs typeface="Segoe UI"/>
              </a:rPr>
              <a:t>3</a:t>
            </a:r>
            <a:endParaRPr sz="33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750" spc="-50" dirty="0">
                <a:solidFill>
                  <a:srgbClr val="E7D5B6"/>
                </a:solidFill>
                <a:latin typeface="Segoe UI"/>
                <a:cs typeface="Segoe UI"/>
              </a:rPr>
              <a:t>Cross-</a:t>
            </a:r>
            <a:r>
              <a:rPr sz="1750" spc="-40" dirty="0">
                <a:solidFill>
                  <a:srgbClr val="E7D5B6"/>
                </a:solidFill>
                <a:latin typeface="Segoe UI"/>
                <a:cs typeface="Segoe UI"/>
              </a:rPr>
              <a:t>Benchmark</a:t>
            </a:r>
            <a:r>
              <a:rPr sz="1750" spc="-5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10" dirty="0">
                <a:solidFill>
                  <a:srgbClr val="E7D5B6"/>
                </a:solidFill>
                <a:latin typeface="Segoe UI"/>
                <a:cs typeface="Segoe UI"/>
              </a:rPr>
              <a:t>Evaluation</a:t>
            </a:r>
            <a:endParaRPr sz="17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Validate</a:t>
            </a:r>
            <a:r>
              <a:rPr sz="1350" spc="1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generalization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on</a:t>
            </a:r>
            <a:r>
              <a:rPr sz="1350" spc="1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DisasterVQA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(a</a:t>
            </a:r>
            <a:r>
              <a:rPr sz="1350" spc="1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completely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separate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benchmark)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524624" y="4219573"/>
            <a:ext cx="6029325" cy="1752600"/>
          </a:xfrm>
          <a:custGeom>
            <a:avLst/>
            <a:gdLst/>
            <a:ahLst/>
            <a:cxnLst/>
            <a:rect l="l" t="t" r="r" b="b"/>
            <a:pathLst>
              <a:path w="6029325" h="1752600">
                <a:moveTo>
                  <a:pt x="5940327" y="1752597"/>
                </a:moveTo>
                <a:lnTo>
                  <a:pt x="88995" y="1752597"/>
                </a:lnTo>
                <a:lnTo>
                  <a:pt x="82801" y="1751988"/>
                </a:lnTo>
                <a:lnTo>
                  <a:pt x="37130" y="1733070"/>
                </a:lnTo>
                <a:lnTo>
                  <a:pt x="9643" y="1699575"/>
                </a:lnTo>
                <a:lnTo>
                  <a:pt x="0" y="1663603"/>
                </a:lnTo>
                <a:lnTo>
                  <a:pt x="0" y="1657349"/>
                </a:lnTo>
                <a:lnTo>
                  <a:pt x="0" y="88992"/>
                </a:lnTo>
                <a:lnTo>
                  <a:pt x="12577" y="47526"/>
                </a:lnTo>
                <a:lnTo>
                  <a:pt x="47531" y="12578"/>
                </a:lnTo>
                <a:lnTo>
                  <a:pt x="88995" y="0"/>
                </a:lnTo>
                <a:lnTo>
                  <a:pt x="5940327" y="0"/>
                </a:lnTo>
                <a:lnTo>
                  <a:pt x="5981791" y="12578"/>
                </a:lnTo>
                <a:lnTo>
                  <a:pt x="6016745" y="47526"/>
                </a:lnTo>
                <a:lnTo>
                  <a:pt x="6029324" y="88992"/>
                </a:lnTo>
                <a:lnTo>
                  <a:pt x="6029324" y="1663603"/>
                </a:lnTo>
                <a:lnTo>
                  <a:pt x="6016745" y="1705063"/>
                </a:lnTo>
                <a:lnTo>
                  <a:pt x="5981791" y="1740019"/>
                </a:lnTo>
                <a:lnTo>
                  <a:pt x="5946521" y="1751988"/>
                </a:lnTo>
                <a:lnTo>
                  <a:pt x="5940327" y="1752597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664325" y="4359118"/>
            <a:ext cx="5203190" cy="14224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3350" b="1" spc="-50" dirty="0">
                <a:solidFill>
                  <a:srgbClr val="64B4F5"/>
                </a:solidFill>
                <a:latin typeface="Segoe UI"/>
                <a:cs typeface="Segoe UI"/>
              </a:rPr>
              <a:t>4</a:t>
            </a:r>
            <a:endParaRPr sz="33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750" spc="-50" dirty="0">
                <a:solidFill>
                  <a:srgbClr val="E7D5B6"/>
                </a:solidFill>
                <a:latin typeface="Segoe UI"/>
                <a:cs typeface="Segoe UI"/>
              </a:rPr>
              <a:t>Multi-</a:t>
            </a:r>
            <a:r>
              <a:rPr sz="1750" spc="-30" dirty="0">
                <a:solidFill>
                  <a:srgbClr val="E7D5B6"/>
                </a:solidFill>
                <a:latin typeface="Segoe UI"/>
                <a:cs typeface="Segoe UI"/>
              </a:rPr>
              <a:t>Agent</a:t>
            </a:r>
            <a:r>
              <a:rPr sz="1750" spc="-45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10" dirty="0">
                <a:solidFill>
                  <a:srgbClr val="E7D5B6"/>
                </a:solidFill>
                <a:latin typeface="Segoe UI"/>
                <a:cs typeface="Segoe UI"/>
              </a:rPr>
              <a:t>Triage</a:t>
            </a:r>
            <a:endParaRPr sz="1750">
              <a:latin typeface="Segoe UI"/>
              <a:cs typeface="Segoe UI"/>
            </a:endParaRPr>
          </a:p>
          <a:p>
            <a:pPr marL="12700" marR="5080">
              <a:lnSpc>
                <a:spcPct val="120400"/>
              </a:lnSpc>
              <a:spcBef>
                <a:spcPts val="445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Orchestrate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VLM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outputs</a:t>
            </a:r>
            <a:r>
              <a:rPr sz="1350" spc="3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into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automated</a:t>
            </a:r>
            <a:r>
              <a:rPr sz="1350" spc="3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alerts,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resource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plans,</a:t>
            </a:r>
            <a:r>
              <a:rPr sz="1350" spc="3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25" dirty="0">
                <a:solidFill>
                  <a:srgbClr val="CCCCCC"/>
                </a:solidFill>
                <a:latin typeface="Segoe UI"/>
                <a:cs typeface="Segoe UI"/>
              </a:rPr>
              <a:t>and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hazard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maps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via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CrewAI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agents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6629398"/>
            <a:ext cx="257175" cy="266700"/>
          </a:xfrm>
          <a:custGeom>
            <a:avLst/>
            <a:gdLst/>
            <a:ahLst/>
            <a:cxnLst/>
            <a:rect l="l" t="t" r="r" b="b"/>
            <a:pathLst>
              <a:path w="257175" h="266700">
                <a:moveTo>
                  <a:pt x="257174" y="266699"/>
                </a:moveTo>
                <a:lnTo>
                  <a:pt x="0" y="266699"/>
                </a:lnTo>
                <a:lnTo>
                  <a:pt x="0" y="0"/>
                </a:lnTo>
                <a:lnTo>
                  <a:pt x="257174" y="0"/>
                </a:lnTo>
                <a:lnTo>
                  <a:pt x="25717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8CBD2F1-E534-713D-346F-AD106D7DD670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A889669-8EE8-B704-951E-5F662CA0E33C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4CB9C37-F288-DB75-344A-A9B42C9DB986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12257" y="1903730"/>
            <a:ext cx="4102100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The</a:t>
            </a:r>
            <a:r>
              <a:rPr spc="-120" dirty="0"/>
              <a:t> </a:t>
            </a:r>
            <a:r>
              <a:rPr spc="-70" dirty="0"/>
              <a:t>DisasterM3</a:t>
            </a:r>
            <a:r>
              <a:rPr spc="-114" dirty="0"/>
              <a:t> </a:t>
            </a:r>
            <a:r>
              <a:rPr spc="-50" dirty="0"/>
              <a:t>Benchmark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3624" y="4181473"/>
            <a:ext cx="76200" cy="761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3624" y="4495798"/>
            <a:ext cx="76200" cy="761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3624" y="4819648"/>
            <a:ext cx="76200" cy="761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3624" y="5133973"/>
            <a:ext cx="76200" cy="761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29853" y="2497702"/>
            <a:ext cx="10890250" cy="279400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R="226060" algn="ctr">
              <a:lnSpc>
                <a:spcPct val="100000"/>
              </a:lnSpc>
              <a:spcBef>
                <a:spcPts val="355"/>
              </a:spcBef>
            </a:pP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NeurIPS</a:t>
            </a:r>
            <a:r>
              <a:rPr sz="135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2025</a:t>
            </a:r>
            <a:r>
              <a:rPr sz="135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—</a:t>
            </a:r>
            <a:r>
              <a:rPr sz="1350" spc="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The</a:t>
            </a:r>
            <a:r>
              <a:rPr sz="135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First</a:t>
            </a:r>
            <a:r>
              <a:rPr sz="135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Comprehensive</a:t>
            </a:r>
            <a:r>
              <a:rPr sz="1350" spc="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VLM</a:t>
            </a:r>
            <a:r>
              <a:rPr sz="135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Disaster</a:t>
            </a:r>
            <a:r>
              <a:rPr sz="1350" spc="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B0BEC4"/>
                </a:solidFill>
                <a:latin typeface="Segoe UI"/>
                <a:cs typeface="Segoe UI"/>
              </a:rPr>
              <a:t>Benchmark</a:t>
            </a:r>
            <a:endParaRPr sz="1350">
              <a:latin typeface="Segoe UI"/>
              <a:cs typeface="Segoe UI"/>
            </a:endParaRPr>
          </a:p>
          <a:p>
            <a:pPr marL="12700">
              <a:lnSpc>
                <a:spcPts val="6834"/>
              </a:lnSpc>
              <a:spcBef>
                <a:spcPts val="1080"/>
              </a:spcBef>
              <a:tabLst>
                <a:tab pos="5113020" algn="l"/>
                <a:tab pos="8058784" algn="l"/>
              </a:tabLst>
            </a:pPr>
            <a:r>
              <a:rPr sz="5850" b="1" spc="-10" dirty="0">
                <a:solidFill>
                  <a:srgbClr val="E7D5B6"/>
                </a:solidFill>
                <a:latin typeface="Segoe UI"/>
                <a:cs typeface="Segoe UI"/>
              </a:rPr>
              <a:t>92,968</a:t>
            </a:r>
            <a:r>
              <a:rPr sz="5850" b="1" dirty="0">
                <a:solidFill>
                  <a:srgbClr val="E7D5B6"/>
                </a:solidFill>
                <a:latin typeface="Segoe UI"/>
                <a:cs typeface="Segoe UI"/>
              </a:rPr>
              <a:t>	</a:t>
            </a:r>
            <a:r>
              <a:rPr sz="5850" b="1" spc="-50" dirty="0">
                <a:solidFill>
                  <a:srgbClr val="E7D5B6"/>
                </a:solidFill>
                <a:latin typeface="Segoe UI"/>
                <a:cs typeface="Segoe UI"/>
              </a:rPr>
              <a:t>9</a:t>
            </a:r>
            <a:r>
              <a:rPr sz="5850" b="1" dirty="0">
                <a:solidFill>
                  <a:srgbClr val="E7D5B6"/>
                </a:solidFill>
                <a:latin typeface="Segoe UI"/>
                <a:cs typeface="Segoe UI"/>
              </a:rPr>
              <a:t>	</a:t>
            </a:r>
            <a:r>
              <a:rPr sz="5850" b="1" spc="-10" dirty="0">
                <a:solidFill>
                  <a:srgbClr val="E7D5B6"/>
                </a:solidFill>
                <a:latin typeface="Segoe UI"/>
                <a:cs typeface="Segoe UI"/>
              </a:rPr>
              <a:t>4×H100</a:t>
            </a:r>
            <a:endParaRPr sz="5850">
              <a:latin typeface="Segoe UI"/>
              <a:cs typeface="Segoe UI"/>
            </a:endParaRPr>
          </a:p>
          <a:p>
            <a:pPr marL="419100">
              <a:lnSpc>
                <a:spcPts val="1195"/>
              </a:lnSpc>
              <a:tabLst>
                <a:tab pos="4883785" algn="l"/>
                <a:tab pos="8978265" algn="l"/>
              </a:tabLst>
            </a:pPr>
            <a:r>
              <a:rPr sz="1150" dirty="0">
                <a:solidFill>
                  <a:srgbClr val="B0BEC4"/>
                </a:solidFill>
                <a:latin typeface="Segoe UI"/>
                <a:cs typeface="Segoe UI"/>
              </a:rPr>
              <a:t>Instruction-Tuning</a:t>
            </a:r>
            <a:r>
              <a:rPr sz="115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150" spc="-20" dirty="0">
                <a:solidFill>
                  <a:srgbClr val="B0BEC4"/>
                </a:solidFill>
                <a:latin typeface="Segoe UI"/>
                <a:cs typeface="Segoe UI"/>
              </a:rPr>
              <a:t>Pairs</a:t>
            </a:r>
            <a:r>
              <a:rPr sz="1150" dirty="0">
                <a:solidFill>
                  <a:srgbClr val="B0BEC4"/>
                </a:solidFill>
                <a:latin typeface="Segoe UI"/>
                <a:cs typeface="Segoe UI"/>
              </a:rPr>
              <a:t>	Disaster</a:t>
            </a:r>
            <a:r>
              <a:rPr sz="1150" spc="-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150" spc="-10" dirty="0">
                <a:solidFill>
                  <a:srgbClr val="B0BEC4"/>
                </a:solidFill>
                <a:latin typeface="Segoe UI"/>
                <a:cs typeface="Segoe UI"/>
              </a:rPr>
              <a:t>Tasks</a:t>
            </a:r>
            <a:r>
              <a:rPr sz="1150" dirty="0">
                <a:solidFill>
                  <a:srgbClr val="B0BEC4"/>
                </a:solidFill>
                <a:latin typeface="Segoe UI"/>
                <a:cs typeface="Segoe UI"/>
              </a:rPr>
              <a:t>	Original</a:t>
            </a:r>
            <a:r>
              <a:rPr sz="11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150" spc="-10" dirty="0">
                <a:solidFill>
                  <a:srgbClr val="B0BEC4"/>
                </a:solidFill>
                <a:latin typeface="Segoe UI"/>
                <a:cs typeface="Segoe UI"/>
              </a:rPr>
              <a:t>Recipe</a:t>
            </a:r>
            <a:endParaRPr sz="1150">
              <a:latin typeface="Segoe UI"/>
              <a:cs typeface="Segoe UI"/>
            </a:endParaRPr>
          </a:p>
          <a:p>
            <a:pPr marL="1411605" marR="1056640">
              <a:lnSpc>
                <a:spcPct val="133100"/>
              </a:lnSpc>
              <a:spcBef>
                <a:spcPts val="830"/>
              </a:spcBef>
            </a:pPr>
            <a:r>
              <a:rPr sz="1550" spc="-20" dirty="0">
                <a:solidFill>
                  <a:srgbClr val="DFDFDF"/>
                </a:solidFill>
                <a:latin typeface="Segoe UI"/>
                <a:cs typeface="Segoe UI"/>
              </a:rPr>
              <a:t>Tasks:</a:t>
            </a:r>
            <a:r>
              <a:rPr sz="15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classification,</a:t>
            </a:r>
            <a:r>
              <a:rPr sz="15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counting,</a:t>
            </a:r>
            <a:r>
              <a:rPr sz="15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captioning,</a:t>
            </a:r>
            <a:r>
              <a:rPr sz="15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relational</a:t>
            </a:r>
            <a:r>
              <a:rPr sz="15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reasoning,</a:t>
            </a:r>
            <a:r>
              <a:rPr sz="15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segmentation,</a:t>
            </a:r>
            <a:r>
              <a:rPr sz="15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restoration</a:t>
            </a:r>
            <a:r>
              <a:rPr sz="15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spc="-10" dirty="0">
                <a:solidFill>
                  <a:srgbClr val="DFDFDF"/>
                </a:solidFill>
                <a:latin typeface="Segoe UI"/>
                <a:cs typeface="Segoe UI"/>
              </a:rPr>
              <a:t>advice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Original</a:t>
            </a:r>
            <a:r>
              <a:rPr sz="15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training</a:t>
            </a:r>
            <a:r>
              <a:rPr sz="15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cost:</a:t>
            </a:r>
            <a:r>
              <a:rPr sz="15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b="1" dirty="0">
                <a:solidFill>
                  <a:srgbClr val="EF9999"/>
                </a:solidFill>
                <a:latin typeface="Segoe UI"/>
                <a:cs typeface="Segoe UI"/>
              </a:rPr>
              <a:t>~$400</a:t>
            </a:r>
            <a:r>
              <a:rPr sz="1550" b="1" spc="35" dirty="0">
                <a:solidFill>
                  <a:srgbClr val="EF9999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on</a:t>
            </a:r>
            <a:r>
              <a:rPr sz="15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320</a:t>
            </a:r>
            <a:r>
              <a:rPr sz="15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GB</a:t>
            </a:r>
            <a:r>
              <a:rPr sz="15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spc="-20" dirty="0">
                <a:solidFill>
                  <a:srgbClr val="DFDFDF"/>
                </a:solidFill>
                <a:latin typeface="Segoe UI"/>
                <a:cs typeface="Segoe UI"/>
              </a:rPr>
              <a:t>VRAM</a:t>
            </a:r>
            <a:endParaRPr sz="1550">
              <a:latin typeface="Segoe UI"/>
              <a:cs typeface="Segoe UI"/>
            </a:endParaRPr>
          </a:p>
          <a:p>
            <a:pPr marL="1411605" marR="2802890">
              <a:lnSpc>
                <a:spcPct val="133100"/>
              </a:lnSpc>
              <a:spcBef>
                <a:spcPts val="75"/>
              </a:spcBef>
            </a:pP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Critical</a:t>
            </a:r>
            <a:r>
              <a:rPr sz="1550" spc="4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gap:</a:t>
            </a:r>
            <a:r>
              <a:rPr sz="1550" spc="4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b="1" dirty="0">
                <a:solidFill>
                  <a:srgbClr val="DFDFDF"/>
                </a:solidFill>
                <a:latin typeface="Segoe UI"/>
                <a:cs typeface="Segoe UI"/>
              </a:rPr>
              <a:t>no</a:t>
            </a:r>
            <a:r>
              <a:rPr sz="1550" b="1" spc="4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b="1" dirty="0">
                <a:solidFill>
                  <a:srgbClr val="DFDFDF"/>
                </a:solidFill>
                <a:latin typeface="Segoe UI"/>
                <a:cs typeface="Segoe UI"/>
              </a:rPr>
              <a:t>training</a:t>
            </a:r>
            <a:r>
              <a:rPr sz="1550" b="1" spc="4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b="1" dirty="0">
                <a:solidFill>
                  <a:srgbClr val="DFDFDF"/>
                </a:solidFill>
                <a:latin typeface="Segoe UI"/>
                <a:cs typeface="Segoe UI"/>
              </a:rPr>
              <a:t>code</a:t>
            </a:r>
            <a:r>
              <a:rPr sz="1550" b="1" spc="4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b="1" dirty="0">
                <a:solidFill>
                  <a:srgbClr val="DFDFDF"/>
                </a:solidFill>
                <a:latin typeface="Segoe UI"/>
                <a:cs typeface="Segoe UI"/>
              </a:rPr>
              <a:t>released</a:t>
            </a:r>
            <a:r>
              <a:rPr sz="1550" b="1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550" spc="4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only</a:t>
            </a:r>
            <a:r>
              <a:rPr sz="1550" spc="4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evaluation</a:t>
            </a:r>
            <a:r>
              <a:rPr sz="1550" spc="4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scripts</a:t>
            </a:r>
            <a:r>
              <a:rPr sz="1550" spc="4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spc="-10" dirty="0">
                <a:solidFill>
                  <a:srgbClr val="DFDFDF"/>
                </a:solidFill>
                <a:latin typeface="Segoe UI"/>
                <a:cs typeface="Segoe UI"/>
              </a:rPr>
              <a:t>published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Our</a:t>
            </a:r>
            <a:r>
              <a:rPr sz="155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challenge:</a:t>
            </a:r>
            <a:r>
              <a:rPr sz="15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reproduce</a:t>
            </a:r>
            <a:r>
              <a:rPr sz="15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from</a:t>
            </a:r>
            <a:r>
              <a:rPr sz="15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scratch</a:t>
            </a:r>
            <a:r>
              <a:rPr sz="15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on</a:t>
            </a:r>
            <a:r>
              <a:rPr sz="155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DFDFDF"/>
                </a:solidFill>
                <a:latin typeface="Segoe UI"/>
                <a:cs typeface="Segoe UI"/>
              </a:rPr>
              <a:t>a</a:t>
            </a:r>
            <a:r>
              <a:rPr sz="15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550" b="1" dirty="0">
                <a:solidFill>
                  <a:srgbClr val="81C783"/>
                </a:solidFill>
                <a:latin typeface="Segoe UI"/>
                <a:cs typeface="Segoe UI"/>
              </a:rPr>
              <a:t>single</a:t>
            </a:r>
            <a:r>
              <a:rPr sz="1550" b="1" spc="40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550" b="1" dirty="0">
                <a:solidFill>
                  <a:srgbClr val="81C783"/>
                </a:solidFill>
                <a:latin typeface="Segoe UI"/>
                <a:cs typeface="Segoe UI"/>
              </a:rPr>
              <a:t>free</a:t>
            </a:r>
            <a:r>
              <a:rPr sz="1550" b="1" spc="40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550" b="1" dirty="0">
                <a:solidFill>
                  <a:srgbClr val="81C783"/>
                </a:solidFill>
                <a:latin typeface="Segoe UI"/>
                <a:cs typeface="Segoe UI"/>
              </a:rPr>
              <a:t>T4</a:t>
            </a:r>
            <a:r>
              <a:rPr sz="1550" b="1" spc="40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550" b="1" dirty="0">
                <a:solidFill>
                  <a:srgbClr val="81C783"/>
                </a:solidFill>
                <a:latin typeface="Segoe UI"/>
                <a:cs typeface="Segoe UI"/>
              </a:rPr>
              <a:t>(16</a:t>
            </a:r>
            <a:r>
              <a:rPr sz="1550" b="1" spc="35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550" b="1" spc="-25" dirty="0">
                <a:solidFill>
                  <a:srgbClr val="81C783"/>
                </a:solidFill>
                <a:latin typeface="Segoe UI"/>
                <a:cs typeface="Segoe UI"/>
              </a:rPr>
              <a:t>GB)</a:t>
            </a:r>
            <a:endParaRPr sz="1550">
              <a:latin typeface="Segoe UI"/>
              <a:cs typeface="Segoe U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6629398"/>
            <a:ext cx="257175" cy="266700"/>
          </a:xfrm>
          <a:custGeom>
            <a:avLst/>
            <a:gdLst/>
            <a:ahLst/>
            <a:cxnLst/>
            <a:rect l="l" t="t" r="r" b="b"/>
            <a:pathLst>
              <a:path w="257175" h="266700">
                <a:moveTo>
                  <a:pt x="257174" y="266699"/>
                </a:moveTo>
                <a:lnTo>
                  <a:pt x="0" y="266699"/>
                </a:lnTo>
                <a:lnTo>
                  <a:pt x="0" y="0"/>
                </a:lnTo>
                <a:lnTo>
                  <a:pt x="257174" y="0"/>
                </a:lnTo>
                <a:lnTo>
                  <a:pt x="25717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4C6CB6-B8AB-C1C7-976C-8066CCDE4B8C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C4D8827-BA6C-EC04-B709-DC51BA326201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F25E951-90D3-43F9-33E3-8CB97EBD530A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717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35"/>
              </a:spcBef>
            </a:pPr>
            <a:r>
              <a:rPr spc="-70" dirty="0"/>
              <a:t>Literature</a:t>
            </a:r>
            <a:r>
              <a:rPr spc="-130" dirty="0"/>
              <a:t> </a:t>
            </a:r>
            <a:r>
              <a:rPr spc="-75" dirty="0"/>
              <a:t>Review</a:t>
            </a:r>
            <a:r>
              <a:rPr spc="-125" dirty="0"/>
              <a:t> </a:t>
            </a:r>
            <a:r>
              <a:rPr dirty="0"/>
              <a:t>&amp;</a:t>
            </a:r>
            <a:r>
              <a:rPr spc="-125" dirty="0"/>
              <a:t> </a:t>
            </a:r>
            <a:r>
              <a:rPr spc="-70" dirty="0"/>
              <a:t>Existing</a:t>
            </a:r>
            <a:r>
              <a:rPr spc="-125" dirty="0"/>
              <a:t> </a:t>
            </a:r>
            <a:r>
              <a:rPr spc="-45" dirty="0"/>
              <a:t>Solutions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61949" y="1943096"/>
            <a:ext cx="6038850" cy="1733550"/>
            <a:chOff x="361949" y="1943096"/>
            <a:chExt cx="6038850" cy="1733550"/>
          </a:xfrm>
        </p:grpSpPr>
        <p:sp>
          <p:nvSpPr>
            <p:cNvPr id="4" name="object 4"/>
            <p:cNvSpPr/>
            <p:nvPr/>
          </p:nvSpPr>
          <p:spPr>
            <a:xfrm>
              <a:off x="376237" y="1943098"/>
              <a:ext cx="6024880" cy="1733550"/>
            </a:xfrm>
            <a:custGeom>
              <a:avLst/>
              <a:gdLst/>
              <a:ahLst/>
              <a:cxnLst/>
              <a:rect l="l" t="t" r="r" b="b"/>
              <a:pathLst>
                <a:path w="6024880" h="1733550">
                  <a:moveTo>
                    <a:pt x="5935565" y="1733549"/>
                  </a:moveTo>
                  <a:lnTo>
                    <a:pt x="75646" y="1733549"/>
                  </a:lnTo>
                  <a:lnTo>
                    <a:pt x="70381" y="1732940"/>
                  </a:lnTo>
                  <a:lnTo>
                    <a:pt x="31561" y="1714020"/>
                  </a:lnTo>
                  <a:lnTo>
                    <a:pt x="8197" y="1680529"/>
                  </a:lnTo>
                  <a:lnTo>
                    <a:pt x="0" y="1644554"/>
                  </a:lnTo>
                  <a:lnTo>
                    <a:pt x="0" y="1638299"/>
                  </a:lnTo>
                  <a:lnTo>
                    <a:pt x="0" y="88994"/>
                  </a:lnTo>
                  <a:lnTo>
                    <a:pt x="10691" y="47524"/>
                  </a:lnTo>
                  <a:lnTo>
                    <a:pt x="40402" y="12573"/>
                  </a:lnTo>
                  <a:lnTo>
                    <a:pt x="75646" y="0"/>
                  </a:lnTo>
                  <a:lnTo>
                    <a:pt x="5935565" y="0"/>
                  </a:lnTo>
                  <a:lnTo>
                    <a:pt x="5977029" y="12575"/>
                  </a:lnTo>
                  <a:lnTo>
                    <a:pt x="6011983" y="47524"/>
                  </a:lnTo>
                  <a:lnTo>
                    <a:pt x="6024561" y="88994"/>
                  </a:lnTo>
                  <a:lnTo>
                    <a:pt x="6024561" y="1644554"/>
                  </a:lnTo>
                  <a:lnTo>
                    <a:pt x="6011983" y="1686018"/>
                  </a:lnTo>
                  <a:lnTo>
                    <a:pt x="5977029" y="1720969"/>
                  </a:lnTo>
                  <a:lnTo>
                    <a:pt x="5941759" y="1732940"/>
                  </a:lnTo>
                  <a:lnTo>
                    <a:pt x="5935565" y="1733549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1949" y="1943096"/>
              <a:ext cx="95250" cy="1733550"/>
            </a:xfrm>
            <a:custGeom>
              <a:avLst/>
              <a:gdLst/>
              <a:ahLst/>
              <a:cxnLst/>
              <a:rect l="l" t="t" r="r" b="b"/>
              <a:pathLst>
                <a:path w="95250" h="1733550">
                  <a:moveTo>
                    <a:pt x="95250" y="1733549"/>
                  </a:moveTo>
                  <a:lnTo>
                    <a:pt x="50303" y="1722290"/>
                  </a:lnTo>
                  <a:lnTo>
                    <a:pt x="16037" y="1691228"/>
                  </a:lnTo>
                  <a:lnTo>
                    <a:pt x="453" y="1647684"/>
                  </a:lnTo>
                  <a:lnTo>
                    <a:pt x="0" y="1638301"/>
                  </a:lnTo>
                  <a:lnTo>
                    <a:pt x="0" y="95251"/>
                  </a:lnTo>
                  <a:lnTo>
                    <a:pt x="11259" y="50305"/>
                  </a:lnTo>
                  <a:lnTo>
                    <a:pt x="42321" y="16038"/>
                  </a:lnTo>
                  <a:lnTo>
                    <a:pt x="85866" y="454"/>
                  </a:lnTo>
                  <a:lnTo>
                    <a:pt x="95250" y="0"/>
                  </a:lnTo>
                  <a:lnTo>
                    <a:pt x="88681" y="454"/>
                  </a:lnTo>
                  <a:lnTo>
                    <a:pt x="82239" y="1814"/>
                  </a:lnTo>
                  <a:lnTo>
                    <a:pt x="48103" y="27899"/>
                  </a:lnTo>
                  <a:lnTo>
                    <a:pt x="31429" y="67642"/>
                  </a:lnTo>
                  <a:lnTo>
                    <a:pt x="28575" y="95251"/>
                  </a:lnTo>
                  <a:lnTo>
                    <a:pt x="28575" y="1638301"/>
                  </a:lnTo>
                  <a:lnTo>
                    <a:pt x="36456" y="1683246"/>
                  </a:lnTo>
                  <a:lnTo>
                    <a:pt x="58200" y="1717513"/>
                  </a:lnTo>
                  <a:lnTo>
                    <a:pt x="88681" y="1733097"/>
                  </a:lnTo>
                  <a:lnTo>
                    <a:pt x="95250" y="1733549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30225" y="2098801"/>
            <a:ext cx="14776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5" dirty="0">
                <a:solidFill>
                  <a:srgbClr val="E65000"/>
                </a:solidFill>
                <a:latin typeface="Segoe UI"/>
                <a:cs typeface="Segoe UI"/>
              </a:rPr>
              <a:t>VLMs </a:t>
            </a:r>
            <a:r>
              <a:rPr sz="1000" spc="-30" dirty="0">
                <a:solidFill>
                  <a:srgbClr val="E65000"/>
                </a:solidFill>
                <a:latin typeface="Segoe UI"/>
                <a:cs typeface="Segoe UI"/>
              </a:rPr>
              <a:t>for</a:t>
            </a:r>
            <a:r>
              <a:rPr sz="1000" spc="-35" dirty="0">
                <a:solidFill>
                  <a:srgbClr val="E65000"/>
                </a:solidFill>
                <a:latin typeface="Segoe UI"/>
                <a:cs typeface="Segoe UI"/>
              </a:rPr>
              <a:t> Disaster </a:t>
            </a:r>
            <a:r>
              <a:rPr sz="1000" spc="-25" dirty="0">
                <a:solidFill>
                  <a:srgbClr val="E65000"/>
                </a:solidFill>
                <a:latin typeface="Segoe UI"/>
                <a:cs typeface="Segoe UI"/>
              </a:rPr>
              <a:t>Response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1987" y="2381249"/>
            <a:ext cx="47625" cy="847725"/>
          </a:xfrm>
          <a:custGeom>
            <a:avLst/>
            <a:gdLst/>
            <a:ahLst/>
            <a:cxnLst/>
            <a:rect l="l" t="t" r="r" b="b"/>
            <a:pathLst>
              <a:path w="47625" h="847725">
                <a:moveTo>
                  <a:pt x="47625" y="820762"/>
                </a:moveTo>
                <a:lnTo>
                  <a:pt x="26974" y="800100"/>
                </a:lnTo>
                <a:lnTo>
                  <a:pt x="20662" y="800100"/>
                </a:lnTo>
                <a:lnTo>
                  <a:pt x="0" y="820762"/>
                </a:lnTo>
                <a:lnTo>
                  <a:pt x="0" y="827074"/>
                </a:lnTo>
                <a:lnTo>
                  <a:pt x="20662" y="847725"/>
                </a:lnTo>
                <a:lnTo>
                  <a:pt x="26974" y="847725"/>
                </a:lnTo>
                <a:lnTo>
                  <a:pt x="47625" y="827074"/>
                </a:lnTo>
                <a:lnTo>
                  <a:pt x="47625" y="823912"/>
                </a:lnTo>
                <a:lnTo>
                  <a:pt x="47625" y="820762"/>
                </a:lnTo>
                <a:close/>
              </a:path>
              <a:path w="47625" h="847725">
                <a:moveTo>
                  <a:pt x="47625" y="420712"/>
                </a:moveTo>
                <a:lnTo>
                  <a:pt x="26974" y="400050"/>
                </a:lnTo>
                <a:lnTo>
                  <a:pt x="20662" y="400050"/>
                </a:lnTo>
                <a:lnTo>
                  <a:pt x="0" y="420712"/>
                </a:lnTo>
                <a:lnTo>
                  <a:pt x="0" y="427024"/>
                </a:lnTo>
                <a:lnTo>
                  <a:pt x="20662" y="447675"/>
                </a:lnTo>
                <a:lnTo>
                  <a:pt x="26974" y="447675"/>
                </a:lnTo>
                <a:lnTo>
                  <a:pt x="47625" y="427024"/>
                </a:lnTo>
                <a:lnTo>
                  <a:pt x="47625" y="423862"/>
                </a:lnTo>
                <a:lnTo>
                  <a:pt x="47625" y="420712"/>
                </a:lnTo>
                <a:close/>
              </a:path>
              <a:path w="47625" h="847725">
                <a:moveTo>
                  <a:pt x="47625" y="20662"/>
                </a:moveTo>
                <a:lnTo>
                  <a:pt x="26974" y="0"/>
                </a:lnTo>
                <a:lnTo>
                  <a:pt x="20662" y="0"/>
                </a:lnTo>
                <a:lnTo>
                  <a:pt x="0" y="20662"/>
                </a:lnTo>
                <a:lnTo>
                  <a:pt x="0" y="26974"/>
                </a:lnTo>
                <a:lnTo>
                  <a:pt x="20662" y="47625"/>
                </a:lnTo>
                <a:lnTo>
                  <a:pt x="26974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62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11225" y="2281720"/>
            <a:ext cx="5348605" cy="1187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3100"/>
              </a:lnSpc>
              <a:spcBef>
                <a:spcPts val="90"/>
              </a:spcBef>
            </a:pPr>
            <a:r>
              <a:rPr sz="1050" b="1" dirty="0">
                <a:solidFill>
                  <a:srgbClr val="DFDFDF"/>
                </a:solidFill>
                <a:latin typeface="Segoe UI"/>
                <a:cs typeface="Segoe UI"/>
              </a:rPr>
              <a:t>DisasterM3</a:t>
            </a:r>
            <a:r>
              <a:rPr sz="1050" b="1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(NeurIPS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2025)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first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9-task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VLM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disaster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benchmark;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92K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pairs,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Qwen2.5-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VL</a:t>
            </a:r>
            <a:r>
              <a:rPr sz="105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+</a:t>
            </a:r>
            <a:r>
              <a:rPr sz="10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LoRA</a:t>
            </a:r>
            <a:r>
              <a:rPr sz="105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on</a:t>
            </a:r>
            <a:r>
              <a:rPr sz="10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4×H100</a:t>
            </a:r>
            <a:endParaRPr sz="1050">
              <a:latin typeface="Segoe UI"/>
              <a:cs typeface="Segoe UI"/>
            </a:endParaRPr>
          </a:p>
          <a:p>
            <a:pPr marL="12700" marR="64135">
              <a:lnSpc>
                <a:spcPct val="113100"/>
              </a:lnSpc>
              <a:spcBef>
                <a:spcPts val="300"/>
              </a:spcBef>
            </a:pPr>
            <a:r>
              <a:rPr sz="1050" b="1" dirty="0">
                <a:solidFill>
                  <a:srgbClr val="DFDFDF"/>
                </a:solidFill>
                <a:latin typeface="Segoe UI"/>
                <a:cs typeface="Segoe UI"/>
              </a:rPr>
              <a:t>DisasterInsight</a:t>
            </a:r>
            <a:r>
              <a:rPr sz="1050" b="1" spc="1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(arXiv</a:t>
            </a:r>
            <a:r>
              <a:rPr sz="1050" spc="114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2026)</a:t>
            </a:r>
            <a:r>
              <a:rPr sz="1050" spc="1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50" spc="114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function-aware</a:t>
            </a:r>
            <a:r>
              <a:rPr sz="1050" spc="1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grounded</a:t>
            </a:r>
            <a:r>
              <a:rPr sz="1050" spc="114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assessment;</a:t>
            </a:r>
            <a:r>
              <a:rPr sz="1050" spc="114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restructures</a:t>
            </a:r>
            <a:r>
              <a:rPr sz="1050" spc="1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25" dirty="0">
                <a:solidFill>
                  <a:srgbClr val="DFDFDF"/>
                </a:solidFill>
                <a:latin typeface="Segoe UI"/>
                <a:cs typeface="Segoe UI"/>
              </a:rPr>
              <a:t>xBD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into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112K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building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instances</a:t>
            </a:r>
            <a:endParaRPr sz="1050">
              <a:latin typeface="Segoe UI"/>
              <a:cs typeface="Segoe UI"/>
            </a:endParaRPr>
          </a:p>
          <a:p>
            <a:pPr marL="12700" marR="494665">
              <a:lnSpc>
                <a:spcPct val="113100"/>
              </a:lnSpc>
              <a:spcBef>
                <a:spcPts val="300"/>
              </a:spcBef>
            </a:pPr>
            <a:r>
              <a:rPr sz="1050" b="1" dirty="0">
                <a:solidFill>
                  <a:srgbClr val="DFDFDF"/>
                </a:solidFill>
                <a:latin typeface="Segoe UI"/>
                <a:cs typeface="Segoe UI"/>
              </a:rPr>
              <a:t>EdgeV-SE</a:t>
            </a:r>
            <a:r>
              <a:rPr sz="1050" b="1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50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self-reflective</a:t>
            </a:r>
            <a:r>
              <a:rPr sz="1050" spc="10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fine-tuning</a:t>
            </a:r>
            <a:r>
              <a:rPr sz="1050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with</a:t>
            </a:r>
            <a:r>
              <a:rPr sz="1050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asymmetric</a:t>
            </a:r>
            <a:r>
              <a:rPr sz="1050" spc="10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dual</a:t>
            </a:r>
            <a:r>
              <a:rPr sz="1050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pathways</a:t>
            </a:r>
            <a:r>
              <a:rPr sz="1050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for</a:t>
            </a:r>
            <a:r>
              <a:rPr sz="1050" spc="10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DFDFDF"/>
                </a:solidFill>
                <a:latin typeface="Segoe UI"/>
                <a:cs typeface="Segoe UI"/>
              </a:rPr>
              <a:t>edge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deployment</a:t>
            </a:r>
            <a:r>
              <a:rPr sz="1050" spc="7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on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Jetson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Orin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DFDFDF"/>
                </a:solidFill>
                <a:latin typeface="Segoe UI"/>
                <a:cs typeface="Segoe UI"/>
              </a:rPr>
              <a:t>Nano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515099" y="1943096"/>
            <a:ext cx="6038850" cy="1733550"/>
            <a:chOff x="6515099" y="1943096"/>
            <a:chExt cx="6038850" cy="1733550"/>
          </a:xfrm>
        </p:grpSpPr>
        <p:sp>
          <p:nvSpPr>
            <p:cNvPr id="10" name="object 10"/>
            <p:cNvSpPr/>
            <p:nvPr/>
          </p:nvSpPr>
          <p:spPr>
            <a:xfrm>
              <a:off x="6529386" y="1943098"/>
              <a:ext cx="6024880" cy="1733550"/>
            </a:xfrm>
            <a:custGeom>
              <a:avLst/>
              <a:gdLst/>
              <a:ahLst/>
              <a:cxnLst/>
              <a:rect l="l" t="t" r="r" b="b"/>
              <a:pathLst>
                <a:path w="6024880" h="1733550">
                  <a:moveTo>
                    <a:pt x="5935565" y="1733549"/>
                  </a:moveTo>
                  <a:lnTo>
                    <a:pt x="75646" y="1733549"/>
                  </a:lnTo>
                  <a:lnTo>
                    <a:pt x="70381" y="1732940"/>
                  </a:lnTo>
                  <a:lnTo>
                    <a:pt x="31562" y="1714020"/>
                  </a:lnTo>
                  <a:lnTo>
                    <a:pt x="8197" y="1680529"/>
                  </a:lnTo>
                  <a:lnTo>
                    <a:pt x="0" y="1644554"/>
                  </a:lnTo>
                  <a:lnTo>
                    <a:pt x="0" y="1638299"/>
                  </a:lnTo>
                  <a:lnTo>
                    <a:pt x="0" y="88994"/>
                  </a:lnTo>
                  <a:lnTo>
                    <a:pt x="10691" y="47524"/>
                  </a:lnTo>
                  <a:lnTo>
                    <a:pt x="40402" y="12573"/>
                  </a:lnTo>
                  <a:lnTo>
                    <a:pt x="75646" y="0"/>
                  </a:lnTo>
                  <a:lnTo>
                    <a:pt x="5935565" y="0"/>
                  </a:lnTo>
                  <a:lnTo>
                    <a:pt x="5977029" y="12575"/>
                  </a:lnTo>
                  <a:lnTo>
                    <a:pt x="6011983" y="47524"/>
                  </a:lnTo>
                  <a:lnTo>
                    <a:pt x="6024562" y="88994"/>
                  </a:lnTo>
                  <a:lnTo>
                    <a:pt x="6024562" y="1644554"/>
                  </a:lnTo>
                  <a:lnTo>
                    <a:pt x="6011983" y="1686018"/>
                  </a:lnTo>
                  <a:lnTo>
                    <a:pt x="5977029" y="1720969"/>
                  </a:lnTo>
                  <a:lnTo>
                    <a:pt x="5941759" y="1732940"/>
                  </a:lnTo>
                  <a:lnTo>
                    <a:pt x="5935565" y="1733549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515099" y="1943096"/>
              <a:ext cx="95250" cy="1733550"/>
            </a:xfrm>
            <a:custGeom>
              <a:avLst/>
              <a:gdLst/>
              <a:ahLst/>
              <a:cxnLst/>
              <a:rect l="l" t="t" r="r" b="b"/>
              <a:pathLst>
                <a:path w="95250" h="1733550">
                  <a:moveTo>
                    <a:pt x="95250" y="1733549"/>
                  </a:moveTo>
                  <a:lnTo>
                    <a:pt x="50303" y="1722290"/>
                  </a:lnTo>
                  <a:lnTo>
                    <a:pt x="16037" y="1691228"/>
                  </a:lnTo>
                  <a:lnTo>
                    <a:pt x="453" y="1647684"/>
                  </a:lnTo>
                  <a:lnTo>
                    <a:pt x="0" y="1638301"/>
                  </a:lnTo>
                  <a:lnTo>
                    <a:pt x="0" y="95251"/>
                  </a:lnTo>
                  <a:lnTo>
                    <a:pt x="11259" y="50305"/>
                  </a:lnTo>
                  <a:lnTo>
                    <a:pt x="42321" y="16038"/>
                  </a:lnTo>
                  <a:lnTo>
                    <a:pt x="85867" y="454"/>
                  </a:lnTo>
                  <a:lnTo>
                    <a:pt x="95250" y="0"/>
                  </a:lnTo>
                  <a:lnTo>
                    <a:pt x="88682" y="454"/>
                  </a:lnTo>
                  <a:lnTo>
                    <a:pt x="82239" y="1814"/>
                  </a:lnTo>
                  <a:lnTo>
                    <a:pt x="48103" y="27899"/>
                  </a:lnTo>
                  <a:lnTo>
                    <a:pt x="31429" y="67642"/>
                  </a:lnTo>
                  <a:lnTo>
                    <a:pt x="28575" y="95251"/>
                  </a:lnTo>
                  <a:lnTo>
                    <a:pt x="28575" y="1638301"/>
                  </a:lnTo>
                  <a:lnTo>
                    <a:pt x="36456" y="1683246"/>
                  </a:lnTo>
                  <a:lnTo>
                    <a:pt x="58200" y="1717513"/>
                  </a:lnTo>
                  <a:lnTo>
                    <a:pt x="88682" y="1733097"/>
                  </a:lnTo>
                  <a:lnTo>
                    <a:pt x="95250" y="1733549"/>
                  </a:lnTo>
                  <a:close/>
                </a:path>
              </a:pathLst>
            </a:custGeom>
            <a:solidFill>
              <a:srgbClr val="7B1F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683375" y="2098801"/>
            <a:ext cx="16795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45" dirty="0">
                <a:solidFill>
                  <a:srgbClr val="7B1FA2"/>
                </a:solidFill>
                <a:latin typeface="Segoe UI"/>
                <a:cs typeface="Segoe UI"/>
              </a:rPr>
              <a:t>Parameter-</a:t>
            </a:r>
            <a:r>
              <a:rPr sz="1000" spc="-35" dirty="0">
                <a:solidFill>
                  <a:srgbClr val="7B1FA2"/>
                </a:solidFill>
                <a:latin typeface="Segoe UI"/>
                <a:cs typeface="Segoe UI"/>
              </a:rPr>
              <a:t>Efficient</a:t>
            </a:r>
            <a:r>
              <a:rPr sz="1000" spc="120" dirty="0">
                <a:solidFill>
                  <a:srgbClr val="7B1FA2"/>
                </a:solidFill>
                <a:latin typeface="Segoe UI"/>
                <a:cs typeface="Segoe UI"/>
              </a:rPr>
              <a:t> </a:t>
            </a:r>
            <a:r>
              <a:rPr sz="1000" spc="-40" dirty="0">
                <a:solidFill>
                  <a:srgbClr val="7B1FA2"/>
                </a:solidFill>
                <a:latin typeface="Segoe UI"/>
                <a:cs typeface="Segoe UI"/>
              </a:rPr>
              <a:t>Fine-</a:t>
            </a:r>
            <a:r>
              <a:rPr sz="1000" spc="-10" dirty="0">
                <a:solidFill>
                  <a:srgbClr val="7B1FA2"/>
                </a:solidFill>
                <a:latin typeface="Segoe UI"/>
                <a:cs typeface="Segoe UI"/>
              </a:rPr>
              <a:t>Tuning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15137" y="2381249"/>
            <a:ext cx="47625" cy="447675"/>
          </a:xfrm>
          <a:custGeom>
            <a:avLst/>
            <a:gdLst/>
            <a:ahLst/>
            <a:cxnLst/>
            <a:rect l="l" t="t" r="r" b="b"/>
            <a:pathLst>
              <a:path w="47625" h="447675">
                <a:moveTo>
                  <a:pt x="47625" y="420712"/>
                </a:moveTo>
                <a:lnTo>
                  <a:pt x="26974" y="400050"/>
                </a:lnTo>
                <a:lnTo>
                  <a:pt x="20662" y="400050"/>
                </a:lnTo>
                <a:lnTo>
                  <a:pt x="0" y="420712"/>
                </a:lnTo>
                <a:lnTo>
                  <a:pt x="0" y="427024"/>
                </a:lnTo>
                <a:lnTo>
                  <a:pt x="20662" y="447675"/>
                </a:lnTo>
                <a:lnTo>
                  <a:pt x="26974" y="447675"/>
                </a:lnTo>
                <a:lnTo>
                  <a:pt x="47625" y="427024"/>
                </a:lnTo>
                <a:lnTo>
                  <a:pt x="47625" y="423862"/>
                </a:lnTo>
                <a:lnTo>
                  <a:pt x="47625" y="420712"/>
                </a:lnTo>
                <a:close/>
              </a:path>
              <a:path w="47625" h="447675">
                <a:moveTo>
                  <a:pt x="47625" y="20662"/>
                </a:moveTo>
                <a:lnTo>
                  <a:pt x="26974" y="0"/>
                </a:lnTo>
                <a:lnTo>
                  <a:pt x="20662" y="0"/>
                </a:lnTo>
                <a:lnTo>
                  <a:pt x="0" y="20662"/>
                </a:lnTo>
                <a:lnTo>
                  <a:pt x="0" y="26974"/>
                </a:lnTo>
                <a:lnTo>
                  <a:pt x="20662" y="47625"/>
                </a:lnTo>
                <a:lnTo>
                  <a:pt x="26974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62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064375" y="2281720"/>
            <a:ext cx="5331460" cy="7874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27305">
              <a:lnSpc>
                <a:spcPct val="113100"/>
              </a:lnSpc>
              <a:spcBef>
                <a:spcPts val="90"/>
              </a:spcBef>
            </a:pPr>
            <a:r>
              <a:rPr sz="1050" b="1" dirty="0">
                <a:solidFill>
                  <a:srgbClr val="DFDFDF"/>
                </a:solidFill>
                <a:latin typeface="Segoe UI"/>
                <a:cs typeface="Segoe UI"/>
              </a:rPr>
              <a:t>LoRA</a:t>
            </a:r>
            <a:r>
              <a:rPr sz="1050" b="1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(Hu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et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al.)</a:t>
            </a:r>
            <a:r>
              <a:rPr sz="10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low-rank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adapters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injected</a:t>
            </a:r>
            <a:r>
              <a:rPr sz="10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into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frozen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weights;</a:t>
            </a:r>
            <a:r>
              <a:rPr sz="10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rank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64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standard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25" dirty="0">
                <a:solidFill>
                  <a:srgbClr val="DFDFDF"/>
                </a:solidFill>
                <a:latin typeface="Segoe UI"/>
                <a:cs typeface="Segoe UI"/>
              </a:rPr>
              <a:t>for </a:t>
            </a:r>
            <a:r>
              <a:rPr sz="1050" spc="-20" dirty="0">
                <a:solidFill>
                  <a:srgbClr val="DFDFDF"/>
                </a:solidFill>
                <a:latin typeface="Segoe UI"/>
                <a:cs typeface="Segoe UI"/>
              </a:rPr>
              <a:t>VLMs</a:t>
            </a:r>
            <a:endParaRPr sz="1050">
              <a:latin typeface="Segoe UI"/>
              <a:cs typeface="Segoe UI"/>
            </a:endParaRPr>
          </a:p>
          <a:p>
            <a:pPr marL="12700" marR="5080">
              <a:lnSpc>
                <a:spcPct val="113100"/>
              </a:lnSpc>
              <a:spcBef>
                <a:spcPts val="300"/>
              </a:spcBef>
            </a:pPr>
            <a:r>
              <a:rPr sz="1050" b="1" dirty="0">
                <a:solidFill>
                  <a:srgbClr val="DFDFDF"/>
                </a:solidFill>
                <a:latin typeface="Segoe UI"/>
                <a:cs typeface="Segoe UI"/>
              </a:rPr>
              <a:t>QLoRA</a:t>
            </a:r>
            <a:r>
              <a:rPr sz="1050" b="1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(Dettmers</a:t>
            </a:r>
            <a:r>
              <a:rPr sz="10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et</a:t>
            </a:r>
            <a:r>
              <a:rPr sz="10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al.)</a:t>
            </a:r>
            <a:r>
              <a:rPr sz="10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4-bit</a:t>
            </a:r>
            <a:r>
              <a:rPr sz="10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NF4</a:t>
            </a:r>
            <a:r>
              <a:rPr sz="10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quantization</a:t>
            </a:r>
            <a:r>
              <a:rPr sz="10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+</a:t>
            </a:r>
            <a:r>
              <a:rPr sz="10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LoRA;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enables</a:t>
            </a:r>
            <a:r>
              <a:rPr sz="10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7B</a:t>
            </a:r>
            <a:r>
              <a:rPr sz="10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models</a:t>
            </a:r>
            <a:r>
              <a:rPr sz="10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on</a:t>
            </a:r>
            <a:r>
              <a:rPr sz="105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16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25" dirty="0">
                <a:solidFill>
                  <a:srgbClr val="DFDFDF"/>
                </a:solidFill>
                <a:latin typeface="Segoe UI"/>
                <a:cs typeface="Segoe UI"/>
              </a:rPr>
              <a:t>GB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GPUs</a:t>
            </a:r>
            <a:r>
              <a:rPr sz="1050" spc="7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(</a:t>
            </a:r>
            <a:r>
              <a:rPr sz="1050" dirty="0">
                <a:solidFill>
                  <a:srgbClr val="DFDFDF"/>
                </a:solidFill>
                <a:latin typeface="Cambria Math"/>
                <a:cs typeface="Cambria Math"/>
              </a:rPr>
              <a:t>∼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4×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memory</a:t>
            </a:r>
            <a:r>
              <a:rPr sz="1050" spc="8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reduction)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61949" y="3790946"/>
            <a:ext cx="6038850" cy="1724025"/>
            <a:chOff x="361949" y="3790946"/>
            <a:chExt cx="6038850" cy="1724025"/>
          </a:xfrm>
        </p:grpSpPr>
        <p:sp>
          <p:nvSpPr>
            <p:cNvPr id="16" name="object 16"/>
            <p:cNvSpPr/>
            <p:nvPr/>
          </p:nvSpPr>
          <p:spPr>
            <a:xfrm>
              <a:off x="376237" y="3790948"/>
              <a:ext cx="6024880" cy="1724025"/>
            </a:xfrm>
            <a:custGeom>
              <a:avLst/>
              <a:gdLst/>
              <a:ahLst/>
              <a:cxnLst/>
              <a:rect l="l" t="t" r="r" b="b"/>
              <a:pathLst>
                <a:path w="6024880" h="1724025">
                  <a:moveTo>
                    <a:pt x="5935565" y="1724024"/>
                  </a:moveTo>
                  <a:lnTo>
                    <a:pt x="75646" y="1724024"/>
                  </a:lnTo>
                  <a:lnTo>
                    <a:pt x="70381" y="1723415"/>
                  </a:lnTo>
                  <a:lnTo>
                    <a:pt x="31561" y="1704495"/>
                  </a:lnTo>
                  <a:lnTo>
                    <a:pt x="8197" y="1671000"/>
                  </a:lnTo>
                  <a:lnTo>
                    <a:pt x="0" y="1635029"/>
                  </a:lnTo>
                  <a:lnTo>
                    <a:pt x="0" y="1628774"/>
                  </a:lnTo>
                  <a:lnTo>
                    <a:pt x="0" y="88994"/>
                  </a:lnTo>
                  <a:lnTo>
                    <a:pt x="10691" y="47526"/>
                  </a:lnTo>
                  <a:lnTo>
                    <a:pt x="40402" y="12571"/>
                  </a:lnTo>
                  <a:lnTo>
                    <a:pt x="75646" y="0"/>
                  </a:lnTo>
                  <a:lnTo>
                    <a:pt x="5935565" y="0"/>
                  </a:lnTo>
                  <a:lnTo>
                    <a:pt x="5977029" y="12571"/>
                  </a:lnTo>
                  <a:lnTo>
                    <a:pt x="6011983" y="47526"/>
                  </a:lnTo>
                  <a:lnTo>
                    <a:pt x="6024561" y="88994"/>
                  </a:lnTo>
                  <a:lnTo>
                    <a:pt x="6024561" y="1635029"/>
                  </a:lnTo>
                  <a:lnTo>
                    <a:pt x="6011983" y="1676488"/>
                  </a:lnTo>
                  <a:lnTo>
                    <a:pt x="5977029" y="1711444"/>
                  </a:lnTo>
                  <a:lnTo>
                    <a:pt x="5941759" y="1723415"/>
                  </a:lnTo>
                  <a:lnTo>
                    <a:pt x="5935565" y="1724024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1949" y="3790946"/>
              <a:ext cx="95250" cy="1724025"/>
            </a:xfrm>
            <a:custGeom>
              <a:avLst/>
              <a:gdLst/>
              <a:ahLst/>
              <a:cxnLst/>
              <a:rect l="l" t="t" r="r" b="b"/>
              <a:pathLst>
                <a:path w="95250" h="1724025">
                  <a:moveTo>
                    <a:pt x="95250" y="1724024"/>
                  </a:moveTo>
                  <a:lnTo>
                    <a:pt x="50303" y="1712766"/>
                  </a:lnTo>
                  <a:lnTo>
                    <a:pt x="16037" y="1681703"/>
                  </a:lnTo>
                  <a:lnTo>
                    <a:pt x="453" y="1638159"/>
                  </a:lnTo>
                  <a:lnTo>
                    <a:pt x="0" y="1628776"/>
                  </a:lnTo>
                  <a:lnTo>
                    <a:pt x="0" y="95251"/>
                  </a:lnTo>
                  <a:lnTo>
                    <a:pt x="11259" y="50305"/>
                  </a:lnTo>
                  <a:lnTo>
                    <a:pt x="42321" y="16038"/>
                  </a:lnTo>
                  <a:lnTo>
                    <a:pt x="85866" y="454"/>
                  </a:lnTo>
                  <a:lnTo>
                    <a:pt x="95250" y="0"/>
                  </a:lnTo>
                  <a:lnTo>
                    <a:pt x="88681" y="454"/>
                  </a:lnTo>
                  <a:lnTo>
                    <a:pt x="82239" y="1814"/>
                  </a:lnTo>
                  <a:lnTo>
                    <a:pt x="48103" y="27899"/>
                  </a:lnTo>
                  <a:lnTo>
                    <a:pt x="31429" y="67642"/>
                  </a:lnTo>
                  <a:lnTo>
                    <a:pt x="28575" y="95251"/>
                  </a:lnTo>
                  <a:lnTo>
                    <a:pt x="28575" y="1628776"/>
                  </a:lnTo>
                  <a:lnTo>
                    <a:pt x="36456" y="1673721"/>
                  </a:lnTo>
                  <a:lnTo>
                    <a:pt x="58200" y="1707988"/>
                  </a:lnTo>
                  <a:lnTo>
                    <a:pt x="88681" y="1723573"/>
                  </a:lnTo>
                  <a:lnTo>
                    <a:pt x="95250" y="1724024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61987" y="4229099"/>
              <a:ext cx="47625" cy="838200"/>
            </a:xfrm>
            <a:custGeom>
              <a:avLst/>
              <a:gdLst/>
              <a:ahLst/>
              <a:cxnLst/>
              <a:rect l="l" t="t" r="r" b="b"/>
              <a:pathLst>
                <a:path w="47625" h="838200">
                  <a:moveTo>
                    <a:pt x="47625" y="811237"/>
                  </a:moveTo>
                  <a:lnTo>
                    <a:pt x="26974" y="790575"/>
                  </a:lnTo>
                  <a:lnTo>
                    <a:pt x="20662" y="790575"/>
                  </a:lnTo>
                  <a:lnTo>
                    <a:pt x="0" y="811237"/>
                  </a:lnTo>
                  <a:lnTo>
                    <a:pt x="0" y="817549"/>
                  </a:lnTo>
                  <a:lnTo>
                    <a:pt x="20662" y="838200"/>
                  </a:lnTo>
                  <a:lnTo>
                    <a:pt x="26974" y="838200"/>
                  </a:lnTo>
                  <a:lnTo>
                    <a:pt x="47625" y="817549"/>
                  </a:lnTo>
                  <a:lnTo>
                    <a:pt x="47625" y="814387"/>
                  </a:lnTo>
                  <a:lnTo>
                    <a:pt x="47625" y="811237"/>
                  </a:lnTo>
                  <a:close/>
                </a:path>
                <a:path w="47625" h="838200">
                  <a:moveTo>
                    <a:pt x="47625" y="420712"/>
                  </a:moveTo>
                  <a:lnTo>
                    <a:pt x="26974" y="400050"/>
                  </a:lnTo>
                  <a:lnTo>
                    <a:pt x="20662" y="400050"/>
                  </a:lnTo>
                  <a:lnTo>
                    <a:pt x="0" y="420712"/>
                  </a:lnTo>
                  <a:lnTo>
                    <a:pt x="0" y="427024"/>
                  </a:lnTo>
                  <a:lnTo>
                    <a:pt x="20662" y="447675"/>
                  </a:lnTo>
                  <a:lnTo>
                    <a:pt x="26974" y="447675"/>
                  </a:lnTo>
                  <a:lnTo>
                    <a:pt x="47625" y="427024"/>
                  </a:lnTo>
                  <a:lnTo>
                    <a:pt x="47625" y="423862"/>
                  </a:lnTo>
                  <a:lnTo>
                    <a:pt x="47625" y="420712"/>
                  </a:lnTo>
                  <a:close/>
                </a:path>
                <a:path w="47625" h="838200">
                  <a:moveTo>
                    <a:pt x="47625" y="20650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50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5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30225" y="3903398"/>
            <a:ext cx="5601970" cy="140462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sz="1000" spc="-40" dirty="0">
                <a:solidFill>
                  <a:srgbClr val="2E7D32"/>
                </a:solidFill>
                <a:latin typeface="Segoe UI"/>
                <a:cs typeface="Segoe UI"/>
              </a:rPr>
              <a:t>Segmentation</a:t>
            </a:r>
            <a:r>
              <a:rPr sz="1000" spc="-15" dirty="0">
                <a:solidFill>
                  <a:srgbClr val="2E7D32"/>
                </a:solidFill>
                <a:latin typeface="Segoe UI"/>
                <a:cs typeface="Segoe UI"/>
              </a:rPr>
              <a:t> </a:t>
            </a:r>
            <a:r>
              <a:rPr sz="1000" spc="-20" dirty="0">
                <a:solidFill>
                  <a:srgbClr val="2E7D32"/>
                </a:solidFill>
                <a:latin typeface="Segoe UI"/>
                <a:cs typeface="Segoe UI"/>
              </a:rPr>
              <a:t>in</a:t>
            </a:r>
            <a:r>
              <a:rPr sz="1000" spc="-15" dirty="0">
                <a:solidFill>
                  <a:srgbClr val="2E7D32"/>
                </a:solidFill>
                <a:latin typeface="Segoe UI"/>
                <a:cs typeface="Segoe UI"/>
              </a:rPr>
              <a:t> </a:t>
            </a:r>
            <a:r>
              <a:rPr sz="1000" spc="-40" dirty="0">
                <a:solidFill>
                  <a:srgbClr val="2E7D32"/>
                </a:solidFill>
                <a:latin typeface="Segoe UI"/>
                <a:cs typeface="Segoe UI"/>
              </a:rPr>
              <a:t>Remote</a:t>
            </a:r>
            <a:r>
              <a:rPr sz="1000" spc="-15" dirty="0">
                <a:solidFill>
                  <a:srgbClr val="2E7D32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2E7D32"/>
                </a:solidFill>
                <a:latin typeface="Segoe UI"/>
                <a:cs typeface="Segoe UI"/>
              </a:rPr>
              <a:t>Sensing</a:t>
            </a:r>
            <a:endParaRPr sz="1000">
              <a:latin typeface="Segoe UI"/>
              <a:cs typeface="Segoe UI"/>
            </a:endParaRPr>
          </a:p>
          <a:p>
            <a:pPr marL="393065" marR="245110">
              <a:lnSpc>
                <a:spcPct val="113100"/>
              </a:lnSpc>
              <a:spcBef>
                <a:spcPts val="234"/>
              </a:spcBef>
            </a:pPr>
            <a:r>
              <a:rPr sz="1050" b="1" dirty="0">
                <a:solidFill>
                  <a:srgbClr val="DFDFDF"/>
                </a:solidFill>
                <a:latin typeface="Segoe UI"/>
                <a:cs typeface="Segoe UI"/>
              </a:rPr>
              <a:t>U-Net</a:t>
            </a:r>
            <a:r>
              <a:rPr sz="1050" b="1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b="1" dirty="0">
                <a:solidFill>
                  <a:srgbClr val="DFDFDF"/>
                </a:solidFill>
                <a:latin typeface="Segoe UI"/>
                <a:cs typeface="Segoe UI"/>
              </a:rPr>
              <a:t>+</a:t>
            </a:r>
            <a:r>
              <a:rPr sz="1050" b="1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b="1" dirty="0">
                <a:solidFill>
                  <a:srgbClr val="DFDFDF"/>
                </a:solidFill>
                <a:latin typeface="Segoe UI"/>
                <a:cs typeface="Segoe UI"/>
              </a:rPr>
              <a:t>ResNet-34</a:t>
            </a:r>
            <a:r>
              <a:rPr sz="1050" b="1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encoder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effective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for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building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damage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segmentation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DFDFDF"/>
                </a:solidFill>
                <a:latin typeface="Segoe UI"/>
                <a:cs typeface="Segoe UI"/>
              </a:rPr>
              <a:t>from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satellite</a:t>
            </a:r>
            <a:r>
              <a:rPr sz="1050" spc="10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imagery</a:t>
            </a:r>
            <a:endParaRPr sz="1050">
              <a:latin typeface="Segoe UI"/>
              <a:cs typeface="Segoe UI"/>
            </a:endParaRPr>
          </a:p>
          <a:p>
            <a:pPr marL="393065" marR="5080">
              <a:lnSpc>
                <a:spcPct val="107100"/>
              </a:lnSpc>
              <a:spcBef>
                <a:spcPts val="375"/>
              </a:spcBef>
            </a:pPr>
            <a:r>
              <a:rPr sz="1050" b="1" dirty="0">
                <a:solidFill>
                  <a:srgbClr val="DFDFDF"/>
                </a:solidFill>
                <a:latin typeface="Segoe UI"/>
                <a:cs typeface="Segoe UI"/>
              </a:rPr>
              <a:t>xBD</a:t>
            </a:r>
            <a:r>
              <a:rPr sz="1050" b="1" spc="9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b="1" dirty="0">
                <a:solidFill>
                  <a:srgbClr val="DFDFDF"/>
                </a:solidFill>
                <a:latin typeface="Segoe UI"/>
                <a:cs typeface="Segoe UI"/>
              </a:rPr>
              <a:t>dataset</a:t>
            </a:r>
            <a:r>
              <a:rPr sz="1050" b="1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50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proved</a:t>
            </a:r>
            <a:r>
              <a:rPr sz="1050" spc="9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pixel-level</a:t>
            </a:r>
            <a:r>
              <a:rPr sz="1050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damage</a:t>
            </a:r>
            <a:r>
              <a:rPr sz="1050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classification</a:t>
            </a:r>
            <a:r>
              <a:rPr sz="1050" spc="9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feasible</a:t>
            </a:r>
            <a:r>
              <a:rPr sz="1050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from</a:t>
            </a:r>
            <a:r>
              <a:rPr sz="1050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pre/post</a:t>
            </a:r>
            <a:r>
              <a:rPr sz="1050" spc="9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image pairs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465"/>
              </a:spcBef>
            </a:pP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Weighted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CE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+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Dice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loss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50" spc="7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standard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for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extreme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class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imbalance</a:t>
            </a:r>
            <a:r>
              <a:rPr sz="105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(background</a:t>
            </a:r>
            <a:r>
              <a:rPr sz="1050" spc="7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50" dirty="0">
                <a:solidFill>
                  <a:srgbClr val="DFDFDF"/>
                </a:solidFill>
                <a:latin typeface="Cambria Math"/>
                <a:cs typeface="Cambria Math"/>
              </a:rPr>
              <a:t>≫</a:t>
            </a:r>
            <a:endParaRPr sz="1050">
              <a:latin typeface="Cambria Math"/>
              <a:cs typeface="Cambria Math"/>
            </a:endParaRPr>
          </a:p>
          <a:p>
            <a:pPr marL="393065">
              <a:lnSpc>
                <a:spcPct val="100000"/>
              </a:lnSpc>
              <a:spcBef>
                <a:spcPts val="165"/>
              </a:spcBef>
            </a:pP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damage</a:t>
            </a:r>
            <a:r>
              <a:rPr sz="1050" spc="10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pixels)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515099" y="3790946"/>
            <a:ext cx="6038850" cy="1724025"/>
            <a:chOff x="6515099" y="3790946"/>
            <a:chExt cx="6038850" cy="1724025"/>
          </a:xfrm>
        </p:grpSpPr>
        <p:sp>
          <p:nvSpPr>
            <p:cNvPr id="21" name="object 21"/>
            <p:cNvSpPr/>
            <p:nvPr/>
          </p:nvSpPr>
          <p:spPr>
            <a:xfrm>
              <a:off x="6529386" y="3790948"/>
              <a:ext cx="6024880" cy="1724025"/>
            </a:xfrm>
            <a:custGeom>
              <a:avLst/>
              <a:gdLst/>
              <a:ahLst/>
              <a:cxnLst/>
              <a:rect l="l" t="t" r="r" b="b"/>
              <a:pathLst>
                <a:path w="6024880" h="1724025">
                  <a:moveTo>
                    <a:pt x="5935565" y="1724024"/>
                  </a:moveTo>
                  <a:lnTo>
                    <a:pt x="75646" y="1724024"/>
                  </a:lnTo>
                  <a:lnTo>
                    <a:pt x="70381" y="1723415"/>
                  </a:lnTo>
                  <a:lnTo>
                    <a:pt x="31562" y="1704495"/>
                  </a:lnTo>
                  <a:lnTo>
                    <a:pt x="8197" y="1671000"/>
                  </a:lnTo>
                  <a:lnTo>
                    <a:pt x="0" y="1635029"/>
                  </a:lnTo>
                  <a:lnTo>
                    <a:pt x="0" y="1628774"/>
                  </a:lnTo>
                  <a:lnTo>
                    <a:pt x="0" y="88994"/>
                  </a:lnTo>
                  <a:lnTo>
                    <a:pt x="10691" y="47526"/>
                  </a:lnTo>
                  <a:lnTo>
                    <a:pt x="40402" y="12571"/>
                  </a:lnTo>
                  <a:lnTo>
                    <a:pt x="75646" y="0"/>
                  </a:lnTo>
                  <a:lnTo>
                    <a:pt x="5935565" y="0"/>
                  </a:lnTo>
                  <a:lnTo>
                    <a:pt x="5977029" y="12571"/>
                  </a:lnTo>
                  <a:lnTo>
                    <a:pt x="6011983" y="47526"/>
                  </a:lnTo>
                  <a:lnTo>
                    <a:pt x="6024562" y="88994"/>
                  </a:lnTo>
                  <a:lnTo>
                    <a:pt x="6024562" y="1635029"/>
                  </a:lnTo>
                  <a:lnTo>
                    <a:pt x="6011983" y="1676488"/>
                  </a:lnTo>
                  <a:lnTo>
                    <a:pt x="5977029" y="1711444"/>
                  </a:lnTo>
                  <a:lnTo>
                    <a:pt x="5941759" y="1723415"/>
                  </a:lnTo>
                  <a:lnTo>
                    <a:pt x="5935565" y="1724024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15099" y="3790946"/>
              <a:ext cx="95250" cy="1724025"/>
            </a:xfrm>
            <a:custGeom>
              <a:avLst/>
              <a:gdLst/>
              <a:ahLst/>
              <a:cxnLst/>
              <a:rect l="l" t="t" r="r" b="b"/>
              <a:pathLst>
                <a:path w="95250" h="1724025">
                  <a:moveTo>
                    <a:pt x="95250" y="1724024"/>
                  </a:moveTo>
                  <a:lnTo>
                    <a:pt x="50303" y="1712766"/>
                  </a:lnTo>
                  <a:lnTo>
                    <a:pt x="16037" y="1681703"/>
                  </a:lnTo>
                  <a:lnTo>
                    <a:pt x="453" y="1638159"/>
                  </a:lnTo>
                  <a:lnTo>
                    <a:pt x="0" y="1628776"/>
                  </a:lnTo>
                  <a:lnTo>
                    <a:pt x="0" y="95251"/>
                  </a:lnTo>
                  <a:lnTo>
                    <a:pt x="11259" y="50305"/>
                  </a:lnTo>
                  <a:lnTo>
                    <a:pt x="42321" y="16038"/>
                  </a:lnTo>
                  <a:lnTo>
                    <a:pt x="85867" y="454"/>
                  </a:lnTo>
                  <a:lnTo>
                    <a:pt x="95250" y="0"/>
                  </a:lnTo>
                  <a:lnTo>
                    <a:pt x="88682" y="454"/>
                  </a:lnTo>
                  <a:lnTo>
                    <a:pt x="82239" y="1814"/>
                  </a:lnTo>
                  <a:lnTo>
                    <a:pt x="48103" y="27899"/>
                  </a:lnTo>
                  <a:lnTo>
                    <a:pt x="31429" y="67642"/>
                  </a:lnTo>
                  <a:lnTo>
                    <a:pt x="28575" y="95251"/>
                  </a:lnTo>
                  <a:lnTo>
                    <a:pt x="28575" y="1628776"/>
                  </a:lnTo>
                  <a:lnTo>
                    <a:pt x="36456" y="1673721"/>
                  </a:lnTo>
                  <a:lnTo>
                    <a:pt x="58200" y="1707988"/>
                  </a:lnTo>
                  <a:lnTo>
                    <a:pt x="88682" y="1723573"/>
                  </a:lnTo>
                  <a:lnTo>
                    <a:pt x="95250" y="1724024"/>
                  </a:lnTo>
                  <a:close/>
                </a:path>
              </a:pathLst>
            </a:custGeom>
            <a:solidFill>
              <a:srgbClr val="0082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915137" y="4229099"/>
              <a:ext cx="47625" cy="266700"/>
            </a:xfrm>
            <a:custGeom>
              <a:avLst/>
              <a:gdLst/>
              <a:ahLst/>
              <a:cxnLst/>
              <a:rect l="l" t="t" r="r" b="b"/>
              <a:pathLst>
                <a:path w="47625" h="266700">
                  <a:moveTo>
                    <a:pt x="47625" y="239725"/>
                  </a:moveTo>
                  <a:lnTo>
                    <a:pt x="26974" y="219075"/>
                  </a:lnTo>
                  <a:lnTo>
                    <a:pt x="20662" y="219075"/>
                  </a:lnTo>
                  <a:lnTo>
                    <a:pt x="0" y="239725"/>
                  </a:lnTo>
                  <a:lnTo>
                    <a:pt x="0" y="246049"/>
                  </a:lnTo>
                  <a:lnTo>
                    <a:pt x="20662" y="266700"/>
                  </a:lnTo>
                  <a:lnTo>
                    <a:pt x="26974" y="266700"/>
                  </a:lnTo>
                  <a:lnTo>
                    <a:pt x="47625" y="246049"/>
                  </a:lnTo>
                  <a:lnTo>
                    <a:pt x="47625" y="242887"/>
                  </a:lnTo>
                  <a:lnTo>
                    <a:pt x="47625" y="239725"/>
                  </a:lnTo>
                  <a:close/>
                </a:path>
                <a:path w="47625" h="266700">
                  <a:moveTo>
                    <a:pt x="47625" y="20650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50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5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683375" y="3903398"/>
            <a:ext cx="5718175" cy="833119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sz="1000" spc="-40" dirty="0">
                <a:solidFill>
                  <a:srgbClr val="00828F"/>
                </a:solidFill>
                <a:latin typeface="Segoe UI"/>
                <a:cs typeface="Segoe UI"/>
              </a:rPr>
              <a:t>Multi-</a:t>
            </a:r>
            <a:r>
              <a:rPr sz="1000" spc="-35" dirty="0">
                <a:solidFill>
                  <a:srgbClr val="00828F"/>
                </a:solidFill>
                <a:latin typeface="Segoe UI"/>
                <a:cs typeface="Segoe UI"/>
              </a:rPr>
              <a:t>Agent</a:t>
            </a:r>
            <a:r>
              <a:rPr sz="1000" dirty="0">
                <a:solidFill>
                  <a:srgbClr val="00828F"/>
                </a:solidFill>
                <a:latin typeface="Segoe UI"/>
                <a:cs typeface="Segoe UI"/>
              </a:rPr>
              <a:t> </a:t>
            </a:r>
            <a:r>
              <a:rPr sz="1000" spc="-35" dirty="0">
                <a:solidFill>
                  <a:srgbClr val="00828F"/>
                </a:solidFill>
                <a:latin typeface="Segoe UI"/>
                <a:cs typeface="Segoe UI"/>
              </a:rPr>
              <a:t>Crisis</a:t>
            </a:r>
            <a:r>
              <a:rPr sz="1000" spc="5" dirty="0">
                <a:solidFill>
                  <a:srgbClr val="00828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00828F"/>
                </a:solidFill>
                <a:latin typeface="Segoe UI"/>
                <a:cs typeface="Segoe UI"/>
              </a:rPr>
              <a:t>Management</a:t>
            </a:r>
            <a:endParaRPr sz="100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400"/>
              </a:spcBef>
            </a:pPr>
            <a:r>
              <a:rPr sz="1050" b="1" dirty="0">
                <a:solidFill>
                  <a:srgbClr val="DFDFDF"/>
                </a:solidFill>
                <a:latin typeface="Segoe UI"/>
                <a:cs typeface="Segoe UI"/>
              </a:rPr>
              <a:t>CrewAI</a:t>
            </a:r>
            <a:r>
              <a:rPr sz="1050" b="1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role-playing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agent</a:t>
            </a:r>
            <a:r>
              <a:rPr sz="1050" spc="9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orchestration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with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distinct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personas</a:t>
            </a:r>
            <a:r>
              <a:rPr sz="1050" spc="9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and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tool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access</a:t>
            </a:r>
            <a:endParaRPr sz="1050">
              <a:latin typeface="Segoe UI"/>
              <a:cs typeface="Segoe UI"/>
            </a:endParaRPr>
          </a:p>
          <a:p>
            <a:pPr marL="393065" marR="5080">
              <a:lnSpc>
                <a:spcPct val="113100"/>
              </a:lnSpc>
              <a:spcBef>
                <a:spcPts val="300"/>
              </a:spcBef>
            </a:pPr>
            <a:r>
              <a:rPr sz="1050" b="1" dirty="0">
                <a:solidFill>
                  <a:srgbClr val="DFDFDF"/>
                </a:solidFill>
                <a:latin typeface="Segoe UI"/>
                <a:cs typeface="Segoe UI"/>
              </a:rPr>
              <a:t>RAG</a:t>
            </a:r>
            <a:r>
              <a:rPr sz="1050" b="1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b="1" dirty="0">
                <a:solidFill>
                  <a:srgbClr val="DFDFDF"/>
                </a:solidFill>
                <a:latin typeface="Segoe UI"/>
                <a:cs typeface="Segoe UI"/>
              </a:rPr>
              <a:t>+</a:t>
            </a:r>
            <a:r>
              <a:rPr sz="1050" b="1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b="1" dirty="0">
                <a:solidFill>
                  <a:srgbClr val="DFDFDF"/>
                </a:solidFill>
                <a:latin typeface="Segoe UI"/>
                <a:cs typeface="Segoe UI"/>
              </a:rPr>
              <a:t>ChromaDB</a:t>
            </a:r>
            <a:r>
              <a:rPr sz="1050" b="1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50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ground</a:t>
            </a:r>
            <a:r>
              <a:rPr sz="1050" spc="10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disaster</a:t>
            </a:r>
            <a:r>
              <a:rPr sz="1050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recommendations</a:t>
            </a:r>
            <a:r>
              <a:rPr sz="1050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in</a:t>
            </a:r>
            <a:r>
              <a:rPr sz="1050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authoritative</a:t>
            </a:r>
            <a:r>
              <a:rPr sz="1050" spc="10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docs</a:t>
            </a:r>
            <a:r>
              <a:rPr sz="1050" spc="9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(EMS-</a:t>
            </a:r>
            <a:r>
              <a:rPr sz="1050" spc="-25" dirty="0">
                <a:solidFill>
                  <a:srgbClr val="DFDFDF"/>
                </a:solidFill>
                <a:latin typeface="Segoe UI"/>
                <a:cs typeface="Segoe UI"/>
              </a:rPr>
              <a:t>98)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instead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of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parametric</a:t>
            </a:r>
            <a:r>
              <a:rPr sz="1050" spc="8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knowledge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19461" y="5692775"/>
            <a:ext cx="78771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878787"/>
                </a:solidFill>
                <a:latin typeface="Segoe UI"/>
                <a:cs typeface="Segoe UI"/>
              </a:rPr>
              <a:t>Gap:</a:t>
            </a:r>
            <a:r>
              <a:rPr sz="1050" b="1" spc="-2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No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existing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system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combines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VLM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reasoning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+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spatial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segmentation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+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multi-agent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triage</a:t>
            </a:r>
            <a:r>
              <a:rPr sz="1050" spc="-1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on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free-tier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hardware.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We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fill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that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878787"/>
                </a:solidFill>
                <a:latin typeface="Segoe UI"/>
                <a:cs typeface="Segoe UI"/>
              </a:rPr>
              <a:t>gap.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0" y="6629398"/>
            <a:ext cx="257175" cy="266700"/>
          </a:xfrm>
          <a:custGeom>
            <a:avLst/>
            <a:gdLst/>
            <a:ahLst/>
            <a:cxnLst/>
            <a:rect l="l" t="t" r="r" b="b"/>
            <a:pathLst>
              <a:path w="257175" h="266700">
                <a:moveTo>
                  <a:pt x="257174" y="266699"/>
                </a:moveTo>
                <a:lnTo>
                  <a:pt x="0" y="266699"/>
                </a:lnTo>
                <a:lnTo>
                  <a:pt x="0" y="0"/>
                </a:lnTo>
                <a:lnTo>
                  <a:pt x="257174" y="0"/>
                </a:lnTo>
                <a:lnTo>
                  <a:pt x="25717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B52325E-4DCD-27D6-7605-6F7291D55D44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BE3E583-B372-8E50-7C7C-4D8ABB752C35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1BC4FF1-6063-2452-E106-7891348FA979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6245" rIns="0" bIns="0" rtlCol="0">
            <a:spAutoFit/>
          </a:bodyPr>
          <a:lstStyle/>
          <a:p>
            <a:pPr marL="1325880">
              <a:lnSpc>
                <a:spcPct val="100000"/>
              </a:lnSpc>
              <a:spcBef>
                <a:spcPts val="135"/>
              </a:spcBef>
            </a:pPr>
            <a:r>
              <a:rPr spc="-75" dirty="0"/>
              <a:t>System</a:t>
            </a:r>
            <a:r>
              <a:rPr spc="-140" dirty="0"/>
              <a:t> </a:t>
            </a:r>
            <a:r>
              <a:rPr spc="-6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96878" y="2200910"/>
            <a:ext cx="4922520" cy="169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B0BEC4"/>
                </a:solidFill>
                <a:latin typeface="Segoe UI"/>
                <a:cs typeface="Segoe UI"/>
              </a:rPr>
              <a:t>Four-</a:t>
            </a:r>
            <a:r>
              <a:rPr sz="950" dirty="0">
                <a:solidFill>
                  <a:srgbClr val="B0BEC4"/>
                </a:solidFill>
                <a:latin typeface="Segoe UI"/>
                <a:cs typeface="Segoe UI"/>
              </a:rPr>
              <a:t>phase</a:t>
            </a:r>
            <a:r>
              <a:rPr sz="950" spc="-3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B0BEC4"/>
                </a:solidFill>
                <a:latin typeface="Segoe UI"/>
                <a:cs typeface="Segoe UI"/>
              </a:rPr>
              <a:t>pipeline:</a:t>
            </a:r>
            <a:r>
              <a:rPr sz="950" spc="-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B0BEC4"/>
                </a:solidFill>
                <a:latin typeface="Segoe UI"/>
                <a:cs typeface="Segoe UI"/>
              </a:rPr>
              <a:t>Data</a:t>
            </a:r>
            <a:r>
              <a:rPr sz="950" spc="-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B0BEC4"/>
                </a:solidFill>
                <a:latin typeface="Segoe UI"/>
                <a:cs typeface="Segoe UI"/>
              </a:rPr>
              <a:t>Preparation</a:t>
            </a:r>
            <a:r>
              <a:rPr sz="950" spc="-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B0BEC4"/>
                </a:solidFill>
                <a:latin typeface="Segoe UI"/>
                <a:cs typeface="Segoe UI"/>
              </a:rPr>
              <a:t>→</a:t>
            </a:r>
            <a:r>
              <a:rPr sz="950" spc="-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B0BEC4"/>
                </a:solidFill>
                <a:latin typeface="Segoe UI"/>
                <a:cs typeface="Segoe UI"/>
              </a:rPr>
              <a:t>QLoRA</a:t>
            </a:r>
            <a:r>
              <a:rPr sz="950" spc="-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B0BEC4"/>
                </a:solidFill>
                <a:latin typeface="Segoe UI"/>
                <a:cs typeface="Segoe UI"/>
              </a:rPr>
              <a:t>Training</a:t>
            </a:r>
            <a:r>
              <a:rPr sz="950" spc="-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B0BEC4"/>
                </a:solidFill>
                <a:latin typeface="Segoe UI"/>
                <a:cs typeface="Segoe UI"/>
              </a:rPr>
              <a:t>→</a:t>
            </a:r>
            <a:r>
              <a:rPr sz="950" spc="-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B0BEC4"/>
                </a:solidFill>
                <a:latin typeface="Segoe UI"/>
                <a:cs typeface="Segoe UI"/>
              </a:rPr>
              <a:t>vLLM</a:t>
            </a:r>
            <a:r>
              <a:rPr sz="950" spc="-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B0BEC4"/>
                </a:solidFill>
                <a:latin typeface="Segoe UI"/>
                <a:cs typeface="Segoe UI"/>
              </a:rPr>
              <a:t>Evaluation</a:t>
            </a:r>
            <a:r>
              <a:rPr sz="950" spc="-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B0BEC4"/>
                </a:solidFill>
                <a:latin typeface="Segoe UI"/>
                <a:cs typeface="Segoe UI"/>
              </a:rPr>
              <a:t>→</a:t>
            </a:r>
            <a:r>
              <a:rPr sz="950" spc="-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950" dirty="0">
                <a:solidFill>
                  <a:srgbClr val="B0BEC4"/>
                </a:solidFill>
                <a:latin typeface="Segoe UI"/>
                <a:cs typeface="Segoe UI"/>
              </a:rPr>
              <a:t>Hybrid</a:t>
            </a:r>
            <a:r>
              <a:rPr sz="950" spc="-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950" spc="-10" dirty="0">
                <a:solidFill>
                  <a:srgbClr val="B0BEC4"/>
                </a:solidFill>
                <a:latin typeface="Segoe UI"/>
                <a:cs typeface="Segoe UI"/>
              </a:rPr>
              <a:t>Triage</a:t>
            </a:r>
            <a:endParaRPr sz="95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2743200"/>
            <a:ext cx="12191998" cy="26416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6629397"/>
            <a:ext cx="257175" cy="266700"/>
          </a:xfrm>
          <a:custGeom>
            <a:avLst/>
            <a:gdLst/>
            <a:ahLst/>
            <a:cxnLst/>
            <a:rect l="l" t="t" r="r" b="b"/>
            <a:pathLst>
              <a:path w="257175" h="266700">
                <a:moveTo>
                  <a:pt x="257174" y="266699"/>
                </a:moveTo>
                <a:lnTo>
                  <a:pt x="0" y="266699"/>
                </a:lnTo>
                <a:lnTo>
                  <a:pt x="0" y="0"/>
                </a:lnTo>
                <a:lnTo>
                  <a:pt x="257174" y="0"/>
                </a:lnTo>
                <a:lnTo>
                  <a:pt x="25717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A5BC82-D2C6-114C-37C0-9F157DD7A723}"/>
              </a:ext>
            </a:extLst>
          </p:cNvPr>
          <p:cNvGrpSpPr/>
          <p:nvPr/>
        </p:nvGrpSpPr>
        <p:grpSpPr>
          <a:xfrm>
            <a:off x="19050" y="6838330"/>
            <a:ext cx="12915900" cy="426052"/>
            <a:chOff x="0" y="6838330"/>
            <a:chExt cx="12915900" cy="42605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0850E20-5061-8651-6B20-85B3B6640846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BD85532-316B-B8A3-F453-7BE4FF0D55CB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70350" y="1703705"/>
            <a:ext cx="3186430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14" dirty="0"/>
              <a:t>Tools</a:t>
            </a:r>
            <a:r>
              <a:rPr spc="-145" dirty="0"/>
              <a:t> </a:t>
            </a:r>
            <a:r>
              <a:rPr dirty="0"/>
              <a:t>&amp;</a:t>
            </a:r>
            <a:r>
              <a:rPr spc="-145" dirty="0"/>
              <a:t> </a:t>
            </a:r>
            <a:r>
              <a:rPr spc="-80" dirty="0"/>
              <a:t>Technologies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61949" y="2286001"/>
            <a:ext cx="4000500" cy="1790700"/>
            <a:chOff x="361949" y="2286001"/>
            <a:chExt cx="4000500" cy="1790700"/>
          </a:xfrm>
        </p:grpSpPr>
        <p:sp>
          <p:nvSpPr>
            <p:cNvPr id="4" name="object 4"/>
            <p:cNvSpPr/>
            <p:nvPr/>
          </p:nvSpPr>
          <p:spPr>
            <a:xfrm>
              <a:off x="361949" y="2300285"/>
              <a:ext cx="4000500" cy="1776730"/>
            </a:xfrm>
            <a:custGeom>
              <a:avLst/>
              <a:gdLst/>
              <a:ahLst/>
              <a:cxnLst/>
              <a:rect l="l" t="t" r="r" b="b"/>
              <a:pathLst>
                <a:path w="4000500" h="1776729">
                  <a:moveTo>
                    <a:pt x="3911503" y="1776412"/>
                  </a:moveTo>
                  <a:lnTo>
                    <a:pt x="88995" y="1776412"/>
                  </a:lnTo>
                  <a:lnTo>
                    <a:pt x="82801" y="1775802"/>
                  </a:lnTo>
                  <a:lnTo>
                    <a:pt x="37131" y="1756878"/>
                  </a:lnTo>
                  <a:lnTo>
                    <a:pt x="9643" y="1723382"/>
                  </a:lnTo>
                  <a:lnTo>
                    <a:pt x="0" y="1687413"/>
                  </a:lnTo>
                  <a:lnTo>
                    <a:pt x="0" y="1681162"/>
                  </a:lnTo>
                  <a:lnTo>
                    <a:pt x="0" y="75646"/>
                  </a:lnTo>
                  <a:lnTo>
                    <a:pt x="19527" y="31551"/>
                  </a:lnTo>
                  <a:lnTo>
                    <a:pt x="53021" y="8195"/>
                  </a:lnTo>
                  <a:lnTo>
                    <a:pt x="88995" y="0"/>
                  </a:lnTo>
                  <a:lnTo>
                    <a:pt x="3911503" y="0"/>
                  </a:lnTo>
                  <a:lnTo>
                    <a:pt x="3952967" y="10688"/>
                  </a:lnTo>
                  <a:lnTo>
                    <a:pt x="3987920" y="40392"/>
                  </a:lnTo>
                  <a:lnTo>
                    <a:pt x="4000499" y="75646"/>
                  </a:lnTo>
                  <a:lnTo>
                    <a:pt x="4000499" y="1687413"/>
                  </a:lnTo>
                  <a:lnTo>
                    <a:pt x="3987920" y="1728871"/>
                  </a:lnTo>
                  <a:lnTo>
                    <a:pt x="3952966" y="1763826"/>
                  </a:lnTo>
                  <a:lnTo>
                    <a:pt x="3917697" y="1775802"/>
                  </a:lnTo>
                  <a:lnTo>
                    <a:pt x="3911503" y="1776412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1949" y="2286001"/>
              <a:ext cx="4000500" cy="95250"/>
            </a:xfrm>
            <a:custGeom>
              <a:avLst/>
              <a:gdLst/>
              <a:ahLst/>
              <a:cxnLst/>
              <a:rect l="l" t="t" r="r" b="b"/>
              <a:pathLst>
                <a:path w="4000500" h="95250">
                  <a:moveTo>
                    <a:pt x="0" y="95249"/>
                  </a:move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3905249" y="0"/>
                  </a:lnTo>
                  <a:lnTo>
                    <a:pt x="3950195" y="11259"/>
                  </a:lnTo>
                  <a:lnTo>
                    <a:pt x="3973216" y="28574"/>
                  </a:lnTo>
                  <a:lnTo>
                    <a:pt x="95249" y="28574"/>
                  </a:lnTo>
                  <a:lnTo>
                    <a:pt x="85866" y="28892"/>
                  </a:lnTo>
                  <a:lnTo>
                    <a:pt x="42321" y="39801"/>
                  </a:lnTo>
                  <a:lnTo>
                    <a:pt x="11259" y="63787"/>
                  </a:lnTo>
                  <a:lnTo>
                    <a:pt x="453" y="88681"/>
                  </a:lnTo>
                  <a:lnTo>
                    <a:pt x="0" y="95249"/>
                  </a:lnTo>
                  <a:close/>
                </a:path>
                <a:path w="4000500" h="95250">
                  <a:moveTo>
                    <a:pt x="4000499" y="95249"/>
                  </a:moveTo>
                  <a:lnTo>
                    <a:pt x="3984461" y="58200"/>
                  </a:lnTo>
                  <a:lnTo>
                    <a:pt x="3950195" y="36456"/>
                  </a:lnTo>
                  <a:lnTo>
                    <a:pt x="3905249" y="28574"/>
                  </a:lnTo>
                  <a:lnTo>
                    <a:pt x="3973216" y="28574"/>
                  </a:lnTo>
                  <a:lnTo>
                    <a:pt x="3996421" y="67641"/>
                  </a:lnTo>
                  <a:lnTo>
                    <a:pt x="4000046" y="85866"/>
                  </a:lnTo>
                  <a:lnTo>
                    <a:pt x="4000499" y="95249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01650" y="2407008"/>
            <a:ext cx="3516629" cy="147002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900" spc="-20" dirty="0">
                <a:solidFill>
                  <a:srgbClr val="E65000"/>
                </a:solidFill>
                <a:latin typeface="Segoe UI"/>
                <a:cs typeface="Segoe UI"/>
              </a:rPr>
              <a:t>Core</a:t>
            </a:r>
            <a:r>
              <a:rPr sz="900" spc="-35" dirty="0">
                <a:solidFill>
                  <a:srgbClr val="E65000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E65000"/>
                </a:solidFill>
                <a:latin typeface="Segoe UI"/>
                <a:cs typeface="Segoe UI"/>
              </a:rPr>
              <a:t>ML</a:t>
            </a:r>
            <a:r>
              <a:rPr sz="900" spc="-35" dirty="0">
                <a:solidFill>
                  <a:srgbClr val="E65000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E65000"/>
                </a:solidFill>
                <a:latin typeface="Segoe UI"/>
                <a:cs typeface="Segoe UI"/>
              </a:rPr>
              <a:t>&amp;</a:t>
            </a:r>
            <a:r>
              <a:rPr sz="900" spc="-35" dirty="0">
                <a:solidFill>
                  <a:srgbClr val="E65000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E65000"/>
                </a:solidFill>
                <a:latin typeface="Segoe UI"/>
                <a:cs typeface="Segoe UI"/>
              </a:rPr>
              <a:t>Training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000" b="1" spc="-10" dirty="0">
                <a:solidFill>
                  <a:srgbClr val="DFDFDF"/>
                </a:solidFill>
                <a:latin typeface="Segoe UI"/>
                <a:cs typeface="Segoe UI"/>
              </a:rPr>
              <a:t>PyTorch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training</a:t>
            </a:r>
            <a:r>
              <a:rPr sz="100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backbone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HuggingFace </a:t>
            </a:r>
            <a:r>
              <a:rPr sz="1000" b="1" spc="-10" dirty="0">
                <a:solidFill>
                  <a:srgbClr val="DFDFDF"/>
                </a:solidFill>
                <a:latin typeface="Segoe UI"/>
                <a:cs typeface="Segoe UI"/>
              </a:rPr>
              <a:t>Transformers</a:t>
            </a:r>
            <a:r>
              <a:rPr sz="1000" b="1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 model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loading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&amp;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tokenization</a:t>
            </a:r>
            <a:endParaRPr sz="1000">
              <a:latin typeface="Segoe UI"/>
              <a:cs typeface="Segoe UI"/>
            </a:endParaRPr>
          </a:p>
          <a:p>
            <a:pPr marL="12700" marR="759460">
              <a:lnSpc>
                <a:spcPct val="131300"/>
              </a:lnSpc>
              <a:spcBef>
                <a:spcPts val="75"/>
              </a:spcBef>
            </a:pP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PEFT</a:t>
            </a:r>
            <a:r>
              <a:rPr sz="1000" b="1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/ QLoRA</a:t>
            </a:r>
            <a:r>
              <a:rPr sz="1000" b="1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 4-bit NF4</a:t>
            </a:r>
            <a:r>
              <a:rPr sz="100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adapter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injection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TRL</a:t>
            </a:r>
            <a:r>
              <a:rPr sz="1000" b="1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b="1" spc="-10" dirty="0">
                <a:solidFill>
                  <a:srgbClr val="DFDFDF"/>
                </a:solidFill>
                <a:latin typeface="Segoe UI"/>
                <a:cs typeface="Segoe UI"/>
              </a:rPr>
              <a:t>(SFTTrainer)</a:t>
            </a:r>
            <a:r>
              <a:rPr sz="1000" b="1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supervised</a:t>
            </a:r>
            <a:r>
              <a:rPr sz="1000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fine-tuning</a:t>
            </a:r>
            <a:r>
              <a:rPr sz="100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20" dirty="0">
                <a:solidFill>
                  <a:srgbClr val="DFDFDF"/>
                </a:solidFill>
                <a:latin typeface="Segoe UI"/>
                <a:cs typeface="Segoe UI"/>
              </a:rPr>
              <a:t>loop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BitsAndBytes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quantization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runtime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vLLM</a:t>
            </a:r>
            <a:r>
              <a:rPr sz="1000" b="1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tensor-parallel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inference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(2×T4)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457699" y="2286001"/>
            <a:ext cx="4000500" cy="1790700"/>
            <a:chOff x="4457699" y="2286001"/>
            <a:chExt cx="4000500" cy="1790700"/>
          </a:xfrm>
        </p:grpSpPr>
        <p:sp>
          <p:nvSpPr>
            <p:cNvPr id="8" name="object 8"/>
            <p:cNvSpPr/>
            <p:nvPr/>
          </p:nvSpPr>
          <p:spPr>
            <a:xfrm>
              <a:off x="4457699" y="2300285"/>
              <a:ext cx="4000500" cy="1776730"/>
            </a:xfrm>
            <a:custGeom>
              <a:avLst/>
              <a:gdLst/>
              <a:ahLst/>
              <a:cxnLst/>
              <a:rect l="l" t="t" r="r" b="b"/>
              <a:pathLst>
                <a:path w="4000500" h="1776729">
                  <a:moveTo>
                    <a:pt x="3911503" y="1776412"/>
                  </a:moveTo>
                  <a:lnTo>
                    <a:pt x="88995" y="1776412"/>
                  </a:lnTo>
                  <a:lnTo>
                    <a:pt x="82801" y="1775802"/>
                  </a:lnTo>
                  <a:lnTo>
                    <a:pt x="37131" y="1756878"/>
                  </a:lnTo>
                  <a:lnTo>
                    <a:pt x="9643" y="1723382"/>
                  </a:lnTo>
                  <a:lnTo>
                    <a:pt x="0" y="1687413"/>
                  </a:lnTo>
                  <a:lnTo>
                    <a:pt x="0" y="1681162"/>
                  </a:lnTo>
                  <a:lnTo>
                    <a:pt x="0" y="75646"/>
                  </a:lnTo>
                  <a:lnTo>
                    <a:pt x="19527" y="31551"/>
                  </a:lnTo>
                  <a:lnTo>
                    <a:pt x="53020" y="8195"/>
                  </a:lnTo>
                  <a:lnTo>
                    <a:pt x="88995" y="0"/>
                  </a:lnTo>
                  <a:lnTo>
                    <a:pt x="3911503" y="0"/>
                  </a:lnTo>
                  <a:lnTo>
                    <a:pt x="3952968" y="10688"/>
                  </a:lnTo>
                  <a:lnTo>
                    <a:pt x="3987921" y="40392"/>
                  </a:lnTo>
                  <a:lnTo>
                    <a:pt x="4000499" y="75646"/>
                  </a:lnTo>
                  <a:lnTo>
                    <a:pt x="4000499" y="1687413"/>
                  </a:lnTo>
                  <a:lnTo>
                    <a:pt x="3987921" y="1728871"/>
                  </a:lnTo>
                  <a:lnTo>
                    <a:pt x="3952967" y="1763826"/>
                  </a:lnTo>
                  <a:lnTo>
                    <a:pt x="3917698" y="1775802"/>
                  </a:lnTo>
                  <a:lnTo>
                    <a:pt x="3911503" y="1776412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57699" y="2286001"/>
              <a:ext cx="4000500" cy="95250"/>
            </a:xfrm>
            <a:custGeom>
              <a:avLst/>
              <a:gdLst/>
              <a:ahLst/>
              <a:cxnLst/>
              <a:rect l="l" t="t" r="r" b="b"/>
              <a:pathLst>
                <a:path w="4000500" h="95250">
                  <a:moveTo>
                    <a:pt x="0" y="95249"/>
                  </a:move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3905249" y="0"/>
                  </a:lnTo>
                  <a:lnTo>
                    <a:pt x="3950194" y="11259"/>
                  </a:lnTo>
                  <a:lnTo>
                    <a:pt x="3973215" y="28574"/>
                  </a:lnTo>
                  <a:lnTo>
                    <a:pt x="95249" y="28574"/>
                  </a:lnTo>
                  <a:lnTo>
                    <a:pt x="85866" y="28892"/>
                  </a:lnTo>
                  <a:lnTo>
                    <a:pt x="42321" y="39801"/>
                  </a:lnTo>
                  <a:lnTo>
                    <a:pt x="11259" y="63787"/>
                  </a:lnTo>
                  <a:lnTo>
                    <a:pt x="452" y="88681"/>
                  </a:lnTo>
                  <a:lnTo>
                    <a:pt x="0" y="95249"/>
                  </a:lnTo>
                  <a:close/>
                </a:path>
                <a:path w="4000500" h="95250">
                  <a:moveTo>
                    <a:pt x="4000499" y="95249"/>
                  </a:moveTo>
                  <a:lnTo>
                    <a:pt x="3984460" y="58200"/>
                  </a:lnTo>
                  <a:lnTo>
                    <a:pt x="3950194" y="36456"/>
                  </a:lnTo>
                  <a:lnTo>
                    <a:pt x="3905249" y="28574"/>
                  </a:lnTo>
                  <a:lnTo>
                    <a:pt x="3973215" y="28574"/>
                  </a:lnTo>
                  <a:lnTo>
                    <a:pt x="3996420" y="67641"/>
                  </a:lnTo>
                  <a:lnTo>
                    <a:pt x="4000046" y="85866"/>
                  </a:lnTo>
                  <a:lnTo>
                    <a:pt x="4000499" y="95249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597400" y="2407008"/>
            <a:ext cx="3363595" cy="126047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900" spc="-20" dirty="0">
                <a:solidFill>
                  <a:srgbClr val="2E7D32"/>
                </a:solidFill>
                <a:latin typeface="Segoe UI"/>
                <a:cs typeface="Segoe UI"/>
              </a:rPr>
              <a:t>Segmentation</a:t>
            </a:r>
            <a:r>
              <a:rPr sz="900" spc="-10" dirty="0">
                <a:solidFill>
                  <a:srgbClr val="2E7D32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2E7D32"/>
                </a:solidFill>
                <a:latin typeface="Segoe UI"/>
                <a:cs typeface="Segoe UI"/>
              </a:rPr>
              <a:t>&amp;</a:t>
            </a:r>
            <a:r>
              <a:rPr sz="900" spc="-10" dirty="0">
                <a:solidFill>
                  <a:srgbClr val="2E7D32"/>
                </a:solidFill>
                <a:latin typeface="Segoe UI"/>
                <a:cs typeface="Segoe UI"/>
              </a:rPr>
              <a:t> Vision</a:t>
            </a:r>
            <a:endParaRPr sz="900">
              <a:latin typeface="Segoe UI"/>
              <a:cs typeface="Segoe UI"/>
            </a:endParaRPr>
          </a:p>
          <a:p>
            <a:pPr marL="12700" marR="5080">
              <a:lnSpc>
                <a:spcPct val="134400"/>
              </a:lnSpc>
              <a:spcBef>
                <a:spcPts val="135"/>
              </a:spcBef>
            </a:pP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segmentation_models_pytorch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U-Net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+</a:t>
            </a:r>
            <a:r>
              <a:rPr sz="100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ResNet-</a:t>
            </a:r>
            <a:r>
              <a:rPr sz="1000" spc="-25" dirty="0">
                <a:solidFill>
                  <a:srgbClr val="DFDFDF"/>
                </a:solidFill>
                <a:latin typeface="Segoe UI"/>
                <a:cs typeface="Segoe UI"/>
              </a:rPr>
              <a:t>34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OpenCV (cv2)</a:t>
            </a:r>
            <a:r>
              <a:rPr sz="1000" b="1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 mask processing, connected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components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Albumentations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training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augmentation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PIL / Pillow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 image I/O &amp;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preprocessing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NumPy</a:t>
            </a:r>
            <a:r>
              <a:rPr sz="1000" b="1" spc="-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array</a:t>
            </a:r>
            <a:r>
              <a:rPr sz="100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operations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553448" y="2286001"/>
            <a:ext cx="4000500" cy="1790700"/>
            <a:chOff x="8553448" y="2286001"/>
            <a:chExt cx="4000500" cy="1790700"/>
          </a:xfrm>
        </p:grpSpPr>
        <p:sp>
          <p:nvSpPr>
            <p:cNvPr id="12" name="object 12"/>
            <p:cNvSpPr/>
            <p:nvPr/>
          </p:nvSpPr>
          <p:spPr>
            <a:xfrm>
              <a:off x="8553448" y="2300285"/>
              <a:ext cx="4000500" cy="1776730"/>
            </a:xfrm>
            <a:custGeom>
              <a:avLst/>
              <a:gdLst/>
              <a:ahLst/>
              <a:cxnLst/>
              <a:rect l="l" t="t" r="r" b="b"/>
              <a:pathLst>
                <a:path w="4000500" h="1776729">
                  <a:moveTo>
                    <a:pt x="3911503" y="1776412"/>
                  </a:moveTo>
                  <a:lnTo>
                    <a:pt x="88995" y="1776412"/>
                  </a:lnTo>
                  <a:lnTo>
                    <a:pt x="82801" y="1775802"/>
                  </a:lnTo>
                  <a:lnTo>
                    <a:pt x="37131" y="1756878"/>
                  </a:lnTo>
                  <a:lnTo>
                    <a:pt x="9643" y="1723382"/>
                  </a:lnTo>
                  <a:lnTo>
                    <a:pt x="0" y="1687413"/>
                  </a:lnTo>
                  <a:lnTo>
                    <a:pt x="0" y="1681162"/>
                  </a:lnTo>
                  <a:lnTo>
                    <a:pt x="0" y="75646"/>
                  </a:lnTo>
                  <a:lnTo>
                    <a:pt x="19527" y="31551"/>
                  </a:lnTo>
                  <a:lnTo>
                    <a:pt x="53021" y="8195"/>
                  </a:lnTo>
                  <a:lnTo>
                    <a:pt x="88995" y="0"/>
                  </a:lnTo>
                  <a:lnTo>
                    <a:pt x="3911503" y="0"/>
                  </a:lnTo>
                  <a:lnTo>
                    <a:pt x="3952967" y="10688"/>
                  </a:lnTo>
                  <a:lnTo>
                    <a:pt x="3987920" y="40392"/>
                  </a:lnTo>
                  <a:lnTo>
                    <a:pt x="4000500" y="75646"/>
                  </a:lnTo>
                  <a:lnTo>
                    <a:pt x="4000500" y="1687413"/>
                  </a:lnTo>
                  <a:lnTo>
                    <a:pt x="3987920" y="1728871"/>
                  </a:lnTo>
                  <a:lnTo>
                    <a:pt x="3952967" y="1763826"/>
                  </a:lnTo>
                  <a:lnTo>
                    <a:pt x="3917697" y="1775802"/>
                  </a:lnTo>
                  <a:lnTo>
                    <a:pt x="3911503" y="1776412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553449" y="2286001"/>
              <a:ext cx="4000500" cy="95250"/>
            </a:xfrm>
            <a:custGeom>
              <a:avLst/>
              <a:gdLst/>
              <a:ahLst/>
              <a:cxnLst/>
              <a:rect l="l" t="t" r="r" b="b"/>
              <a:pathLst>
                <a:path w="4000500" h="95250">
                  <a:moveTo>
                    <a:pt x="0" y="95249"/>
                  </a:moveTo>
                  <a:lnTo>
                    <a:pt x="11258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3905249" y="0"/>
                  </a:lnTo>
                  <a:lnTo>
                    <a:pt x="3950194" y="11259"/>
                  </a:lnTo>
                  <a:lnTo>
                    <a:pt x="3973215" y="28574"/>
                  </a:lnTo>
                  <a:lnTo>
                    <a:pt x="95249" y="28574"/>
                  </a:lnTo>
                  <a:lnTo>
                    <a:pt x="85866" y="28892"/>
                  </a:lnTo>
                  <a:lnTo>
                    <a:pt x="42321" y="39801"/>
                  </a:lnTo>
                  <a:lnTo>
                    <a:pt x="11258" y="63787"/>
                  </a:lnTo>
                  <a:lnTo>
                    <a:pt x="452" y="88681"/>
                  </a:lnTo>
                  <a:lnTo>
                    <a:pt x="0" y="95249"/>
                  </a:lnTo>
                  <a:close/>
                </a:path>
                <a:path w="4000500" h="95250">
                  <a:moveTo>
                    <a:pt x="4000499" y="95249"/>
                  </a:moveTo>
                  <a:lnTo>
                    <a:pt x="3984460" y="58200"/>
                  </a:lnTo>
                  <a:lnTo>
                    <a:pt x="3950194" y="36456"/>
                  </a:lnTo>
                  <a:lnTo>
                    <a:pt x="3905249" y="28574"/>
                  </a:lnTo>
                  <a:lnTo>
                    <a:pt x="3973215" y="28574"/>
                  </a:lnTo>
                  <a:lnTo>
                    <a:pt x="3996419" y="67641"/>
                  </a:lnTo>
                  <a:lnTo>
                    <a:pt x="4000045" y="85866"/>
                  </a:lnTo>
                  <a:lnTo>
                    <a:pt x="4000499" y="95249"/>
                  </a:lnTo>
                  <a:close/>
                </a:path>
              </a:pathLst>
            </a:custGeom>
            <a:solidFill>
              <a:srgbClr val="0082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693150" y="2407008"/>
            <a:ext cx="2764790" cy="126047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900" spc="-25" dirty="0">
                <a:solidFill>
                  <a:srgbClr val="00828F"/>
                </a:solidFill>
                <a:latin typeface="Segoe UI"/>
                <a:cs typeface="Segoe UI"/>
              </a:rPr>
              <a:t>Multi-</a:t>
            </a:r>
            <a:r>
              <a:rPr sz="900" spc="-10" dirty="0">
                <a:solidFill>
                  <a:srgbClr val="00828F"/>
                </a:solidFill>
                <a:latin typeface="Segoe UI"/>
                <a:cs typeface="Segoe UI"/>
              </a:rPr>
              <a:t>Agent</a:t>
            </a:r>
            <a:r>
              <a:rPr sz="900" spc="-25" dirty="0">
                <a:solidFill>
                  <a:srgbClr val="00828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00828F"/>
                </a:solidFill>
                <a:latin typeface="Segoe UI"/>
                <a:cs typeface="Segoe UI"/>
              </a:rPr>
              <a:t>&amp;</a:t>
            </a:r>
            <a:r>
              <a:rPr sz="900" spc="-20" dirty="0">
                <a:solidFill>
                  <a:srgbClr val="00828F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00828F"/>
                </a:solidFill>
                <a:latin typeface="Segoe UI"/>
                <a:cs typeface="Segoe UI"/>
              </a:rPr>
              <a:t>RAG</a:t>
            </a:r>
            <a:endParaRPr sz="900">
              <a:latin typeface="Segoe UI"/>
              <a:cs typeface="Segoe UI"/>
            </a:endParaRPr>
          </a:p>
          <a:p>
            <a:pPr marL="12700" marR="283210">
              <a:lnSpc>
                <a:spcPct val="134400"/>
              </a:lnSpc>
              <a:spcBef>
                <a:spcPts val="135"/>
              </a:spcBef>
            </a:pP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CrewAI</a:t>
            </a:r>
            <a:r>
              <a:rPr sz="1000" b="1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4-agent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sequential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orchestration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LangChain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tool &amp;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chain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abstraction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ChromaDB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vector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store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for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EMS-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98</a:t>
            </a:r>
            <a:r>
              <a:rPr sz="100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25" dirty="0">
                <a:solidFill>
                  <a:srgbClr val="DFDFDF"/>
                </a:solidFill>
                <a:latin typeface="Segoe UI"/>
                <a:cs typeface="Segoe UI"/>
              </a:rPr>
              <a:t>RAG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Google Gemini API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 Flash-Lite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vision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backend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PyPDF</a:t>
            </a:r>
            <a:r>
              <a:rPr sz="1000" b="1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EMS-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98</a:t>
            </a:r>
            <a:r>
              <a:rPr sz="100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document</a:t>
            </a:r>
            <a:r>
              <a:rPr sz="100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ingestion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61949" y="4171951"/>
            <a:ext cx="4000500" cy="1390650"/>
            <a:chOff x="361949" y="4171951"/>
            <a:chExt cx="4000500" cy="1390650"/>
          </a:xfrm>
        </p:grpSpPr>
        <p:sp>
          <p:nvSpPr>
            <p:cNvPr id="16" name="object 16"/>
            <p:cNvSpPr/>
            <p:nvPr/>
          </p:nvSpPr>
          <p:spPr>
            <a:xfrm>
              <a:off x="361949" y="4186235"/>
              <a:ext cx="4000500" cy="1376680"/>
            </a:xfrm>
            <a:custGeom>
              <a:avLst/>
              <a:gdLst/>
              <a:ahLst/>
              <a:cxnLst/>
              <a:rect l="l" t="t" r="r" b="b"/>
              <a:pathLst>
                <a:path w="4000500" h="1376679">
                  <a:moveTo>
                    <a:pt x="3911503" y="1376357"/>
                  </a:moveTo>
                  <a:lnTo>
                    <a:pt x="88995" y="1376357"/>
                  </a:lnTo>
                  <a:lnTo>
                    <a:pt x="82801" y="1375748"/>
                  </a:lnTo>
                  <a:lnTo>
                    <a:pt x="37131" y="1356823"/>
                  </a:lnTo>
                  <a:lnTo>
                    <a:pt x="9643" y="1323337"/>
                  </a:lnTo>
                  <a:lnTo>
                    <a:pt x="0" y="1287367"/>
                  </a:lnTo>
                  <a:lnTo>
                    <a:pt x="0" y="1281112"/>
                  </a:lnTo>
                  <a:lnTo>
                    <a:pt x="0" y="75646"/>
                  </a:lnTo>
                  <a:lnTo>
                    <a:pt x="19527" y="31561"/>
                  </a:lnTo>
                  <a:lnTo>
                    <a:pt x="53021" y="8190"/>
                  </a:lnTo>
                  <a:lnTo>
                    <a:pt x="88995" y="0"/>
                  </a:lnTo>
                  <a:lnTo>
                    <a:pt x="3911503" y="0"/>
                  </a:lnTo>
                  <a:lnTo>
                    <a:pt x="3952967" y="10683"/>
                  </a:lnTo>
                  <a:lnTo>
                    <a:pt x="3987920" y="40397"/>
                  </a:lnTo>
                  <a:lnTo>
                    <a:pt x="4000499" y="75646"/>
                  </a:lnTo>
                  <a:lnTo>
                    <a:pt x="4000499" y="1287367"/>
                  </a:lnTo>
                  <a:lnTo>
                    <a:pt x="3987920" y="1328825"/>
                  </a:lnTo>
                  <a:lnTo>
                    <a:pt x="3952966" y="1363777"/>
                  </a:lnTo>
                  <a:lnTo>
                    <a:pt x="3917697" y="1375748"/>
                  </a:lnTo>
                  <a:lnTo>
                    <a:pt x="3911503" y="1376357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1949" y="4171951"/>
              <a:ext cx="4000500" cy="95250"/>
            </a:xfrm>
            <a:custGeom>
              <a:avLst/>
              <a:gdLst/>
              <a:ahLst/>
              <a:cxnLst/>
              <a:rect l="l" t="t" r="r" b="b"/>
              <a:pathLst>
                <a:path w="4000500" h="95250">
                  <a:moveTo>
                    <a:pt x="0" y="95249"/>
                  </a:move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3905249" y="0"/>
                  </a:lnTo>
                  <a:lnTo>
                    <a:pt x="3950195" y="11259"/>
                  </a:lnTo>
                  <a:lnTo>
                    <a:pt x="3973216" y="28574"/>
                  </a:lnTo>
                  <a:lnTo>
                    <a:pt x="95249" y="28574"/>
                  </a:lnTo>
                  <a:lnTo>
                    <a:pt x="85866" y="28892"/>
                  </a:lnTo>
                  <a:lnTo>
                    <a:pt x="42321" y="39800"/>
                  </a:lnTo>
                  <a:lnTo>
                    <a:pt x="11259" y="63786"/>
                  </a:lnTo>
                  <a:lnTo>
                    <a:pt x="453" y="88681"/>
                  </a:lnTo>
                  <a:lnTo>
                    <a:pt x="0" y="95249"/>
                  </a:lnTo>
                  <a:close/>
                </a:path>
                <a:path w="4000500" h="95250">
                  <a:moveTo>
                    <a:pt x="4000499" y="95249"/>
                  </a:moveTo>
                  <a:lnTo>
                    <a:pt x="3984461" y="58199"/>
                  </a:lnTo>
                  <a:lnTo>
                    <a:pt x="3950195" y="36456"/>
                  </a:lnTo>
                  <a:lnTo>
                    <a:pt x="3905249" y="28574"/>
                  </a:lnTo>
                  <a:lnTo>
                    <a:pt x="3973216" y="28574"/>
                  </a:lnTo>
                  <a:lnTo>
                    <a:pt x="3996421" y="67641"/>
                  </a:lnTo>
                  <a:lnTo>
                    <a:pt x="4000046" y="85866"/>
                  </a:lnTo>
                  <a:lnTo>
                    <a:pt x="4000499" y="95249"/>
                  </a:lnTo>
                  <a:close/>
                </a:path>
              </a:pathLst>
            </a:custGeom>
            <a:solidFill>
              <a:srgbClr val="7B1F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01650" y="4292957"/>
            <a:ext cx="2422525" cy="106045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900" spc="-10" dirty="0">
                <a:solidFill>
                  <a:srgbClr val="7B1FA2"/>
                </a:solidFill>
                <a:latin typeface="Segoe UI"/>
                <a:cs typeface="Segoe UI"/>
              </a:rPr>
              <a:t>Models</a:t>
            </a:r>
            <a:endParaRPr sz="900">
              <a:latin typeface="Segoe UI"/>
              <a:cs typeface="Segoe UI"/>
            </a:endParaRPr>
          </a:p>
          <a:p>
            <a:pPr marL="12700" marR="289560">
              <a:lnSpc>
                <a:spcPct val="134400"/>
              </a:lnSpc>
              <a:spcBef>
                <a:spcPts val="135"/>
              </a:spcBef>
            </a:pPr>
            <a:r>
              <a:rPr sz="1000" b="1" spc="-10" dirty="0">
                <a:solidFill>
                  <a:srgbClr val="DFDFDF"/>
                </a:solidFill>
                <a:latin typeface="Segoe UI"/>
                <a:cs typeface="Segoe UI"/>
              </a:rPr>
              <a:t>Qwen2.5-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VL-7B</a:t>
            </a:r>
            <a:r>
              <a:rPr sz="1000" b="1" spc="2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core</a:t>
            </a:r>
            <a:r>
              <a:rPr sz="100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25" dirty="0">
                <a:solidFill>
                  <a:srgbClr val="DFDFDF"/>
                </a:solidFill>
                <a:latin typeface="Segoe UI"/>
                <a:cs typeface="Segoe UI"/>
              </a:rPr>
              <a:t>VLM </a:t>
            </a:r>
            <a:r>
              <a:rPr sz="1000" b="1" spc="-10" dirty="0">
                <a:solidFill>
                  <a:srgbClr val="DFDFDF"/>
                </a:solidFill>
                <a:latin typeface="Segoe UI"/>
                <a:cs typeface="Segoe UI"/>
              </a:rPr>
              <a:t>ResNet-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34 +</a:t>
            </a:r>
            <a:r>
              <a:rPr sz="1000" b="1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U-Net</a:t>
            </a:r>
            <a:r>
              <a:rPr sz="1000" b="1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segmentation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VRT</a:t>
            </a:r>
            <a:r>
              <a:rPr sz="1000" b="1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super-resolution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transformer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Gemini</a:t>
            </a:r>
            <a:r>
              <a:rPr sz="1000" b="1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3.1</a:t>
            </a:r>
            <a:r>
              <a:rPr sz="1000" b="1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b="1" spc="-10" dirty="0">
                <a:solidFill>
                  <a:srgbClr val="DFDFDF"/>
                </a:solidFill>
                <a:latin typeface="Segoe UI"/>
                <a:cs typeface="Segoe UI"/>
              </a:rPr>
              <a:t>Flash-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Lite</a:t>
            </a:r>
            <a:r>
              <a:rPr sz="1000" b="1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DisasTeller</a:t>
            </a:r>
            <a:r>
              <a:rPr sz="100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vision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457699" y="4171951"/>
            <a:ext cx="4000500" cy="1390650"/>
            <a:chOff x="4457699" y="4171951"/>
            <a:chExt cx="4000500" cy="1390650"/>
          </a:xfrm>
        </p:grpSpPr>
        <p:sp>
          <p:nvSpPr>
            <p:cNvPr id="20" name="object 20"/>
            <p:cNvSpPr/>
            <p:nvPr/>
          </p:nvSpPr>
          <p:spPr>
            <a:xfrm>
              <a:off x="4457699" y="4186235"/>
              <a:ext cx="4000500" cy="1376680"/>
            </a:xfrm>
            <a:custGeom>
              <a:avLst/>
              <a:gdLst/>
              <a:ahLst/>
              <a:cxnLst/>
              <a:rect l="l" t="t" r="r" b="b"/>
              <a:pathLst>
                <a:path w="4000500" h="1376679">
                  <a:moveTo>
                    <a:pt x="3911503" y="1376357"/>
                  </a:moveTo>
                  <a:lnTo>
                    <a:pt x="88995" y="1376357"/>
                  </a:lnTo>
                  <a:lnTo>
                    <a:pt x="82801" y="1375748"/>
                  </a:lnTo>
                  <a:lnTo>
                    <a:pt x="37131" y="1356823"/>
                  </a:lnTo>
                  <a:lnTo>
                    <a:pt x="9643" y="1323337"/>
                  </a:lnTo>
                  <a:lnTo>
                    <a:pt x="0" y="1287367"/>
                  </a:lnTo>
                  <a:lnTo>
                    <a:pt x="0" y="1281112"/>
                  </a:lnTo>
                  <a:lnTo>
                    <a:pt x="0" y="75646"/>
                  </a:lnTo>
                  <a:lnTo>
                    <a:pt x="19527" y="31561"/>
                  </a:lnTo>
                  <a:lnTo>
                    <a:pt x="53020" y="8190"/>
                  </a:lnTo>
                  <a:lnTo>
                    <a:pt x="88995" y="0"/>
                  </a:lnTo>
                  <a:lnTo>
                    <a:pt x="3911503" y="0"/>
                  </a:lnTo>
                  <a:lnTo>
                    <a:pt x="3952968" y="10683"/>
                  </a:lnTo>
                  <a:lnTo>
                    <a:pt x="3987921" y="40397"/>
                  </a:lnTo>
                  <a:lnTo>
                    <a:pt x="4000499" y="75646"/>
                  </a:lnTo>
                  <a:lnTo>
                    <a:pt x="4000499" y="1287367"/>
                  </a:lnTo>
                  <a:lnTo>
                    <a:pt x="3987921" y="1328825"/>
                  </a:lnTo>
                  <a:lnTo>
                    <a:pt x="3952967" y="1363777"/>
                  </a:lnTo>
                  <a:lnTo>
                    <a:pt x="3917698" y="1375748"/>
                  </a:lnTo>
                  <a:lnTo>
                    <a:pt x="3911503" y="1376357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57699" y="4171951"/>
              <a:ext cx="4000500" cy="95250"/>
            </a:xfrm>
            <a:custGeom>
              <a:avLst/>
              <a:gdLst/>
              <a:ahLst/>
              <a:cxnLst/>
              <a:rect l="l" t="t" r="r" b="b"/>
              <a:pathLst>
                <a:path w="4000500" h="95250">
                  <a:moveTo>
                    <a:pt x="0" y="95249"/>
                  </a:moveTo>
                  <a:lnTo>
                    <a:pt x="11259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3905249" y="0"/>
                  </a:lnTo>
                  <a:lnTo>
                    <a:pt x="3950194" y="11259"/>
                  </a:lnTo>
                  <a:lnTo>
                    <a:pt x="3973215" y="28574"/>
                  </a:lnTo>
                  <a:lnTo>
                    <a:pt x="95249" y="28574"/>
                  </a:lnTo>
                  <a:lnTo>
                    <a:pt x="85866" y="28892"/>
                  </a:lnTo>
                  <a:lnTo>
                    <a:pt x="42321" y="39800"/>
                  </a:lnTo>
                  <a:lnTo>
                    <a:pt x="11259" y="63786"/>
                  </a:lnTo>
                  <a:lnTo>
                    <a:pt x="452" y="88681"/>
                  </a:lnTo>
                  <a:lnTo>
                    <a:pt x="0" y="95249"/>
                  </a:lnTo>
                  <a:close/>
                </a:path>
                <a:path w="4000500" h="95250">
                  <a:moveTo>
                    <a:pt x="4000499" y="95249"/>
                  </a:moveTo>
                  <a:lnTo>
                    <a:pt x="3984460" y="58199"/>
                  </a:lnTo>
                  <a:lnTo>
                    <a:pt x="3950194" y="36456"/>
                  </a:lnTo>
                  <a:lnTo>
                    <a:pt x="3905249" y="28574"/>
                  </a:lnTo>
                  <a:lnTo>
                    <a:pt x="3973215" y="28574"/>
                  </a:lnTo>
                  <a:lnTo>
                    <a:pt x="3996420" y="67641"/>
                  </a:lnTo>
                  <a:lnTo>
                    <a:pt x="4000046" y="85866"/>
                  </a:lnTo>
                  <a:lnTo>
                    <a:pt x="4000499" y="95249"/>
                  </a:lnTo>
                  <a:close/>
                </a:path>
              </a:pathLst>
            </a:custGeom>
            <a:solidFill>
              <a:srgbClr val="F9A7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597400" y="4292957"/>
            <a:ext cx="2596515" cy="106045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900" spc="-10" dirty="0">
                <a:solidFill>
                  <a:srgbClr val="F9A725"/>
                </a:solidFill>
                <a:latin typeface="Segoe UI"/>
                <a:cs typeface="Segoe UI"/>
              </a:rPr>
              <a:t>Infrastructure</a:t>
            </a:r>
            <a:endParaRPr sz="900">
              <a:latin typeface="Segoe UI"/>
              <a:cs typeface="Segoe UI"/>
            </a:endParaRPr>
          </a:p>
          <a:p>
            <a:pPr marL="12700" marR="217804">
              <a:lnSpc>
                <a:spcPct val="134400"/>
              </a:lnSpc>
              <a:spcBef>
                <a:spcPts val="135"/>
              </a:spcBef>
            </a:pP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Kaggle</a:t>
            </a:r>
            <a:r>
              <a:rPr sz="1000" b="1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Notebooks</a:t>
            </a:r>
            <a:r>
              <a:rPr sz="1000" b="1" spc="-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free</a:t>
            </a:r>
            <a:r>
              <a:rPr sz="100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T4/P100</a:t>
            </a:r>
            <a:r>
              <a:rPr sz="100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20" dirty="0">
                <a:solidFill>
                  <a:srgbClr val="DFDFDF"/>
                </a:solidFill>
                <a:latin typeface="Segoe UI"/>
                <a:cs typeface="Segoe UI"/>
              </a:rPr>
              <a:t>GPUs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Google</a:t>
            </a:r>
            <a:r>
              <a:rPr sz="1000" b="1" spc="-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Colab</a:t>
            </a:r>
            <a:r>
              <a:rPr sz="1000" b="1" spc="-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L4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GPU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 (eval)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HuggingFace</a:t>
            </a:r>
            <a:r>
              <a:rPr sz="1000" b="1" spc="-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Hub</a:t>
            </a:r>
            <a:r>
              <a:rPr sz="1000" b="1" spc="-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checkpoint</a:t>
            </a:r>
            <a:r>
              <a:rPr sz="100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hosting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Kaggle</a:t>
            </a:r>
            <a:r>
              <a:rPr sz="1000" b="1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Datasets</a:t>
            </a:r>
            <a:r>
              <a:rPr sz="1000" b="1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cross-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session</a:t>
            </a:r>
            <a:r>
              <a:rPr sz="100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persistence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553448" y="4171951"/>
            <a:ext cx="4000500" cy="1390650"/>
            <a:chOff x="8553448" y="4171951"/>
            <a:chExt cx="4000500" cy="1390650"/>
          </a:xfrm>
        </p:grpSpPr>
        <p:sp>
          <p:nvSpPr>
            <p:cNvPr id="24" name="object 24"/>
            <p:cNvSpPr/>
            <p:nvPr/>
          </p:nvSpPr>
          <p:spPr>
            <a:xfrm>
              <a:off x="8553448" y="4186235"/>
              <a:ext cx="4000500" cy="1376680"/>
            </a:xfrm>
            <a:custGeom>
              <a:avLst/>
              <a:gdLst/>
              <a:ahLst/>
              <a:cxnLst/>
              <a:rect l="l" t="t" r="r" b="b"/>
              <a:pathLst>
                <a:path w="4000500" h="1376679">
                  <a:moveTo>
                    <a:pt x="3911503" y="1376357"/>
                  </a:moveTo>
                  <a:lnTo>
                    <a:pt x="88995" y="1376357"/>
                  </a:lnTo>
                  <a:lnTo>
                    <a:pt x="82801" y="1375748"/>
                  </a:lnTo>
                  <a:lnTo>
                    <a:pt x="37131" y="1356823"/>
                  </a:lnTo>
                  <a:lnTo>
                    <a:pt x="9643" y="1323337"/>
                  </a:lnTo>
                  <a:lnTo>
                    <a:pt x="0" y="1287367"/>
                  </a:lnTo>
                  <a:lnTo>
                    <a:pt x="0" y="1281112"/>
                  </a:lnTo>
                  <a:lnTo>
                    <a:pt x="0" y="75646"/>
                  </a:lnTo>
                  <a:lnTo>
                    <a:pt x="19527" y="31561"/>
                  </a:lnTo>
                  <a:lnTo>
                    <a:pt x="53021" y="8190"/>
                  </a:lnTo>
                  <a:lnTo>
                    <a:pt x="88995" y="0"/>
                  </a:lnTo>
                  <a:lnTo>
                    <a:pt x="3911503" y="0"/>
                  </a:lnTo>
                  <a:lnTo>
                    <a:pt x="3952967" y="10683"/>
                  </a:lnTo>
                  <a:lnTo>
                    <a:pt x="3987920" y="40397"/>
                  </a:lnTo>
                  <a:lnTo>
                    <a:pt x="4000500" y="75646"/>
                  </a:lnTo>
                  <a:lnTo>
                    <a:pt x="4000500" y="1287367"/>
                  </a:lnTo>
                  <a:lnTo>
                    <a:pt x="3987920" y="1328825"/>
                  </a:lnTo>
                  <a:lnTo>
                    <a:pt x="3952967" y="1363777"/>
                  </a:lnTo>
                  <a:lnTo>
                    <a:pt x="3917697" y="1375748"/>
                  </a:lnTo>
                  <a:lnTo>
                    <a:pt x="3911503" y="1376357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553449" y="4171951"/>
              <a:ext cx="4000500" cy="95250"/>
            </a:xfrm>
            <a:custGeom>
              <a:avLst/>
              <a:gdLst/>
              <a:ahLst/>
              <a:cxnLst/>
              <a:rect l="l" t="t" r="r" b="b"/>
              <a:pathLst>
                <a:path w="4000500" h="95250">
                  <a:moveTo>
                    <a:pt x="0" y="95249"/>
                  </a:moveTo>
                  <a:lnTo>
                    <a:pt x="11258" y="50303"/>
                  </a:lnTo>
                  <a:lnTo>
                    <a:pt x="42321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3905249" y="0"/>
                  </a:lnTo>
                  <a:lnTo>
                    <a:pt x="3950194" y="11259"/>
                  </a:lnTo>
                  <a:lnTo>
                    <a:pt x="3973215" y="28574"/>
                  </a:lnTo>
                  <a:lnTo>
                    <a:pt x="95249" y="28574"/>
                  </a:lnTo>
                  <a:lnTo>
                    <a:pt x="85866" y="28892"/>
                  </a:lnTo>
                  <a:lnTo>
                    <a:pt x="42321" y="39800"/>
                  </a:lnTo>
                  <a:lnTo>
                    <a:pt x="11258" y="63786"/>
                  </a:lnTo>
                  <a:lnTo>
                    <a:pt x="452" y="88681"/>
                  </a:lnTo>
                  <a:lnTo>
                    <a:pt x="0" y="95249"/>
                  </a:lnTo>
                  <a:close/>
                </a:path>
                <a:path w="4000500" h="95250">
                  <a:moveTo>
                    <a:pt x="4000499" y="95249"/>
                  </a:moveTo>
                  <a:lnTo>
                    <a:pt x="3984460" y="58199"/>
                  </a:lnTo>
                  <a:lnTo>
                    <a:pt x="3950194" y="36456"/>
                  </a:lnTo>
                  <a:lnTo>
                    <a:pt x="3905249" y="28574"/>
                  </a:lnTo>
                  <a:lnTo>
                    <a:pt x="3973215" y="28574"/>
                  </a:lnTo>
                  <a:lnTo>
                    <a:pt x="3996419" y="67641"/>
                  </a:lnTo>
                  <a:lnTo>
                    <a:pt x="4000045" y="85866"/>
                  </a:lnTo>
                  <a:lnTo>
                    <a:pt x="4000499" y="95249"/>
                  </a:lnTo>
                  <a:close/>
                </a:path>
              </a:pathLst>
            </a:custGeom>
            <a:solidFill>
              <a:srgbClr val="C628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693150" y="4292957"/>
            <a:ext cx="2494915" cy="106045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900" spc="-20" dirty="0">
                <a:solidFill>
                  <a:srgbClr val="C62828"/>
                </a:solidFill>
                <a:latin typeface="Segoe UI"/>
                <a:cs typeface="Segoe UI"/>
              </a:rPr>
              <a:t>Evaluation </a:t>
            </a:r>
            <a:r>
              <a:rPr sz="900" dirty="0">
                <a:solidFill>
                  <a:srgbClr val="C62828"/>
                </a:solidFill>
                <a:latin typeface="Segoe UI"/>
                <a:cs typeface="Segoe UI"/>
              </a:rPr>
              <a:t>&amp;</a:t>
            </a:r>
            <a:r>
              <a:rPr sz="900" spc="-15" dirty="0">
                <a:solidFill>
                  <a:srgbClr val="C62828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C62828"/>
                </a:solidFill>
                <a:latin typeface="Segoe UI"/>
                <a:cs typeface="Segoe UI"/>
              </a:rPr>
              <a:t>Utilities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Matplotlib</a:t>
            </a:r>
            <a:r>
              <a:rPr sz="1000" b="1" spc="-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/</a:t>
            </a:r>
            <a:r>
              <a:rPr sz="1000" b="1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Seaborn</a:t>
            </a:r>
            <a:r>
              <a:rPr sz="1000" b="1" spc="-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visualization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Gradio</a:t>
            </a:r>
            <a:r>
              <a:rPr sz="1000" b="1" spc="-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 interactive demo </a:t>
            </a:r>
            <a:r>
              <a:rPr sz="1000" spc="-25" dirty="0">
                <a:solidFill>
                  <a:srgbClr val="DFDFDF"/>
                </a:solidFill>
                <a:latin typeface="Segoe UI"/>
                <a:cs typeface="Segoe UI"/>
              </a:rPr>
              <a:t>app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Regex</a:t>
            </a:r>
            <a:r>
              <a:rPr sz="1000" b="1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b="1" spc="-10" dirty="0">
                <a:solidFill>
                  <a:srgbClr val="DFDFDF"/>
                </a:solidFill>
                <a:latin typeface="Segoe UI"/>
                <a:cs typeface="Segoe UI"/>
              </a:rPr>
              <a:t>exact-</a:t>
            </a: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match</a:t>
            </a:r>
            <a:r>
              <a:rPr sz="1000" b="1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 MCQ/Binary</a:t>
            </a:r>
            <a:r>
              <a:rPr sz="100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scoring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000" b="1" dirty="0">
                <a:solidFill>
                  <a:srgbClr val="DFDFDF"/>
                </a:solidFill>
                <a:latin typeface="Segoe UI"/>
                <a:cs typeface="Segoe UI"/>
              </a:rPr>
              <a:t>Pandas</a:t>
            </a:r>
            <a:r>
              <a:rPr sz="1000" b="1" spc="-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DFDFDF"/>
                </a:solidFill>
                <a:latin typeface="Segoe UI"/>
                <a:cs typeface="Segoe UI"/>
              </a:rPr>
              <a:t>data</a:t>
            </a:r>
            <a:r>
              <a:rPr sz="1000" spc="-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DFDFDF"/>
                </a:solidFill>
                <a:latin typeface="Segoe UI"/>
                <a:cs typeface="Segoe UI"/>
              </a:rPr>
              <a:t>wrangling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0" y="6629397"/>
            <a:ext cx="257175" cy="266700"/>
          </a:xfrm>
          <a:custGeom>
            <a:avLst/>
            <a:gdLst/>
            <a:ahLst/>
            <a:cxnLst/>
            <a:rect l="l" t="t" r="r" b="b"/>
            <a:pathLst>
              <a:path w="257175" h="266700">
                <a:moveTo>
                  <a:pt x="257174" y="266699"/>
                </a:moveTo>
                <a:lnTo>
                  <a:pt x="0" y="266699"/>
                </a:lnTo>
                <a:lnTo>
                  <a:pt x="0" y="0"/>
                </a:lnTo>
                <a:lnTo>
                  <a:pt x="257174" y="0"/>
                </a:lnTo>
                <a:lnTo>
                  <a:pt x="25717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604F0C5-8273-B6F8-850F-E3564B4AD56A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B79212E-96F7-40C5-98E6-011B321F0337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6DF9646-1ABC-D0A5-10D1-7DD3330FDF36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7999" y="3790947"/>
            <a:ext cx="1924050" cy="304800"/>
          </a:xfrm>
          <a:custGeom>
            <a:avLst/>
            <a:gdLst/>
            <a:ahLst/>
            <a:cxnLst/>
            <a:rect l="l" t="t" r="r" b="b"/>
            <a:pathLst>
              <a:path w="1924050" h="304800">
                <a:moveTo>
                  <a:pt x="1924049" y="304799"/>
                </a:moveTo>
                <a:lnTo>
                  <a:pt x="0" y="304799"/>
                </a:lnTo>
                <a:lnTo>
                  <a:pt x="0" y="0"/>
                </a:lnTo>
                <a:lnTo>
                  <a:pt x="1924049" y="0"/>
                </a:lnTo>
                <a:lnTo>
                  <a:pt x="1924049" y="304799"/>
                </a:lnTo>
                <a:close/>
              </a:path>
            </a:pathLst>
          </a:custGeom>
          <a:solidFill>
            <a:srgbClr val="FFFFFF">
              <a:alpha val="313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857999" y="5019672"/>
            <a:ext cx="1924050" cy="304800"/>
            <a:chOff x="6857999" y="5019672"/>
            <a:chExt cx="1924050" cy="304800"/>
          </a:xfrm>
        </p:grpSpPr>
        <p:sp>
          <p:nvSpPr>
            <p:cNvPr id="4" name="object 4"/>
            <p:cNvSpPr/>
            <p:nvPr/>
          </p:nvSpPr>
          <p:spPr>
            <a:xfrm>
              <a:off x="6857999" y="5019672"/>
              <a:ext cx="1924050" cy="304800"/>
            </a:xfrm>
            <a:custGeom>
              <a:avLst/>
              <a:gdLst/>
              <a:ahLst/>
              <a:cxnLst/>
              <a:rect l="l" t="t" r="r" b="b"/>
              <a:pathLst>
                <a:path w="1924050" h="304800">
                  <a:moveTo>
                    <a:pt x="1924049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1924049" y="0"/>
                  </a:lnTo>
                  <a:lnTo>
                    <a:pt x="1924049" y="30479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143873" y="5124447"/>
              <a:ext cx="542925" cy="152400"/>
            </a:xfrm>
            <a:custGeom>
              <a:avLst/>
              <a:gdLst/>
              <a:ahLst/>
              <a:cxnLst/>
              <a:rect l="l" t="t" r="r" b="b"/>
              <a:pathLst>
                <a:path w="542925" h="152400">
                  <a:moveTo>
                    <a:pt x="471728" y="152399"/>
                  </a:moveTo>
                  <a:lnTo>
                    <a:pt x="71196" y="152399"/>
                  </a:lnTo>
                  <a:lnTo>
                    <a:pt x="66241" y="151911"/>
                  </a:lnTo>
                  <a:lnTo>
                    <a:pt x="29705" y="136768"/>
                  </a:lnTo>
                  <a:lnTo>
                    <a:pt x="3885" y="100733"/>
                  </a:lnTo>
                  <a:lnTo>
                    <a:pt x="0" y="81204"/>
                  </a:lnTo>
                  <a:lnTo>
                    <a:pt x="0" y="76199"/>
                  </a:lnTo>
                  <a:lnTo>
                    <a:pt x="0" y="71195"/>
                  </a:lnTo>
                  <a:lnTo>
                    <a:pt x="15621" y="29700"/>
                  </a:lnTo>
                  <a:lnTo>
                    <a:pt x="51661" y="3883"/>
                  </a:lnTo>
                  <a:lnTo>
                    <a:pt x="71196" y="0"/>
                  </a:lnTo>
                  <a:lnTo>
                    <a:pt x="471728" y="0"/>
                  </a:lnTo>
                  <a:lnTo>
                    <a:pt x="513219" y="15613"/>
                  </a:lnTo>
                  <a:lnTo>
                    <a:pt x="539038" y="51653"/>
                  </a:lnTo>
                  <a:lnTo>
                    <a:pt x="542924" y="71195"/>
                  </a:lnTo>
                  <a:lnTo>
                    <a:pt x="542924" y="81204"/>
                  </a:lnTo>
                  <a:lnTo>
                    <a:pt x="527303" y="122690"/>
                  </a:lnTo>
                  <a:lnTo>
                    <a:pt x="491262" y="148507"/>
                  </a:lnTo>
                  <a:lnTo>
                    <a:pt x="476683" y="151911"/>
                  </a:lnTo>
                  <a:lnTo>
                    <a:pt x="471728" y="152399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861296" y="1351280"/>
            <a:ext cx="5204460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QLoRA</a:t>
            </a:r>
            <a:r>
              <a:rPr spc="-150" dirty="0"/>
              <a:t> </a:t>
            </a:r>
            <a:r>
              <a:rPr spc="-80" dirty="0"/>
              <a:t>Fine-</a:t>
            </a:r>
            <a:r>
              <a:rPr spc="-65" dirty="0"/>
              <a:t>Tuning:</a:t>
            </a:r>
            <a:r>
              <a:rPr spc="-145" dirty="0"/>
              <a:t> </a:t>
            </a:r>
            <a:r>
              <a:rPr spc="-75" dirty="0"/>
              <a:t>Paper</a:t>
            </a:r>
            <a:r>
              <a:rPr spc="-145" dirty="0"/>
              <a:t> </a:t>
            </a:r>
            <a:r>
              <a:rPr spc="-50" dirty="0"/>
              <a:t>vs.</a:t>
            </a:r>
            <a:r>
              <a:rPr spc="-145" dirty="0"/>
              <a:t> </a:t>
            </a:r>
            <a:r>
              <a:rPr spc="-20" dirty="0"/>
              <a:t>Ours</a:t>
            </a:r>
          </a:p>
        </p:txBody>
      </p:sp>
      <p:sp>
        <p:nvSpPr>
          <p:cNvPr id="7" name="object 7"/>
          <p:cNvSpPr/>
          <p:nvPr/>
        </p:nvSpPr>
        <p:spPr>
          <a:xfrm>
            <a:off x="7353299" y="3886197"/>
            <a:ext cx="542925" cy="161925"/>
          </a:xfrm>
          <a:custGeom>
            <a:avLst/>
            <a:gdLst/>
            <a:ahLst/>
            <a:cxnLst/>
            <a:rect l="l" t="t" r="r" b="b"/>
            <a:pathLst>
              <a:path w="542925" h="161925">
                <a:moveTo>
                  <a:pt x="467278" y="161924"/>
                </a:moveTo>
                <a:lnTo>
                  <a:pt x="75645" y="161924"/>
                </a:lnTo>
                <a:lnTo>
                  <a:pt x="70381" y="161403"/>
                </a:lnTo>
                <a:lnTo>
                  <a:pt x="31561" y="145316"/>
                </a:lnTo>
                <a:lnTo>
                  <a:pt x="4128" y="107025"/>
                </a:lnTo>
                <a:lnTo>
                  <a:pt x="0" y="86278"/>
                </a:lnTo>
                <a:lnTo>
                  <a:pt x="0" y="80962"/>
                </a:lnTo>
                <a:lnTo>
                  <a:pt x="0" y="75646"/>
                </a:lnTo>
                <a:lnTo>
                  <a:pt x="16597" y="31556"/>
                </a:lnTo>
                <a:lnTo>
                  <a:pt x="54890" y="4130"/>
                </a:lnTo>
                <a:lnTo>
                  <a:pt x="75645" y="0"/>
                </a:lnTo>
                <a:lnTo>
                  <a:pt x="467278" y="0"/>
                </a:lnTo>
                <a:lnTo>
                  <a:pt x="511362" y="16594"/>
                </a:lnTo>
                <a:lnTo>
                  <a:pt x="538795" y="54884"/>
                </a:lnTo>
                <a:lnTo>
                  <a:pt x="542924" y="75646"/>
                </a:lnTo>
                <a:lnTo>
                  <a:pt x="542924" y="86278"/>
                </a:lnTo>
                <a:lnTo>
                  <a:pt x="526325" y="130359"/>
                </a:lnTo>
                <a:lnTo>
                  <a:pt x="488032" y="157790"/>
                </a:lnTo>
                <a:lnTo>
                  <a:pt x="472543" y="161403"/>
                </a:lnTo>
                <a:lnTo>
                  <a:pt x="467278" y="161924"/>
                </a:lnTo>
                <a:close/>
              </a:path>
            </a:pathLst>
          </a:custGeom>
          <a:solidFill>
            <a:srgbClr val="2E7D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81899" y="4810122"/>
            <a:ext cx="542925" cy="161925"/>
          </a:xfrm>
          <a:custGeom>
            <a:avLst/>
            <a:gdLst/>
            <a:ahLst/>
            <a:cxnLst/>
            <a:rect l="l" t="t" r="r" b="b"/>
            <a:pathLst>
              <a:path w="542925" h="161925">
                <a:moveTo>
                  <a:pt x="467278" y="161920"/>
                </a:moveTo>
                <a:lnTo>
                  <a:pt x="75646" y="161920"/>
                </a:lnTo>
                <a:lnTo>
                  <a:pt x="70381" y="161399"/>
                </a:lnTo>
                <a:lnTo>
                  <a:pt x="31560" y="145316"/>
                </a:lnTo>
                <a:lnTo>
                  <a:pt x="4127" y="107025"/>
                </a:lnTo>
                <a:lnTo>
                  <a:pt x="0" y="86273"/>
                </a:lnTo>
                <a:lnTo>
                  <a:pt x="0" y="80962"/>
                </a:lnTo>
                <a:lnTo>
                  <a:pt x="0" y="75641"/>
                </a:lnTo>
                <a:lnTo>
                  <a:pt x="16596" y="31556"/>
                </a:lnTo>
                <a:lnTo>
                  <a:pt x="54890" y="4120"/>
                </a:lnTo>
                <a:lnTo>
                  <a:pt x="75646" y="0"/>
                </a:lnTo>
                <a:lnTo>
                  <a:pt x="467278" y="0"/>
                </a:lnTo>
                <a:lnTo>
                  <a:pt x="511362" y="16589"/>
                </a:lnTo>
                <a:lnTo>
                  <a:pt x="538795" y="54880"/>
                </a:lnTo>
                <a:lnTo>
                  <a:pt x="542924" y="75641"/>
                </a:lnTo>
                <a:lnTo>
                  <a:pt x="542924" y="86273"/>
                </a:lnTo>
                <a:lnTo>
                  <a:pt x="526326" y="130354"/>
                </a:lnTo>
                <a:lnTo>
                  <a:pt x="488032" y="157790"/>
                </a:lnTo>
                <a:lnTo>
                  <a:pt x="472543" y="161403"/>
                </a:lnTo>
                <a:lnTo>
                  <a:pt x="467278" y="161920"/>
                </a:lnTo>
                <a:close/>
              </a:path>
            </a:pathLst>
          </a:custGeom>
          <a:solidFill>
            <a:srgbClr val="2E7D3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133849" y="1933572"/>
          <a:ext cx="4648835" cy="3384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200" b="1" spc="-1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Parameter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6675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200" b="1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Paper</a:t>
                      </a:r>
                      <a:r>
                        <a:rPr sz="1200" b="1" spc="-1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 (4×H100)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6675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200" b="1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Ours</a:t>
                      </a:r>
                      <a:r>
                        <a:rPr sz="1200" b="1" spc="45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(1×T4)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6675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1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Precision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61594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bf16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fp16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1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Quantization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None</a:t>
                      </a:r>
                      <a:r>
                        <a:rPr sz="1200" spc="3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(full</a:t>
                      </a:r>
                      <a:r>
                        <a:rPr sz="1200" spc="4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LoRA)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b="1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4-bit</a:t>
                      </a:r>
                      <a:r>
                        <a:rPr sz="1200" b="1" spc="3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b="1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NF4</a:t>
                      </a:r>
                      <a:r>
                        <a:rPr sz="1200" b="1" spc="3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(QLoRA)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1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Attention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FlashAttention-</a:t>
                      </a:r>
                      <a:r>
                        <a:rPr sz="1200" spc="-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2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SDPA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35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Per-</a:t>
                      </a:r>
                      <a:r>
                        <a:rPr sz="120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device</a:t>
                      </a:r>
                      <a:r>
                        <a:rPr sz="1200" spc="65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200" spc="-2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batch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64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Gradient</a:t>
                      </a:r>
                      <a:r>
                        <a:rPr sz="1200" spc="3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200" spc="-1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accum.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b="1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256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Global</a:t>
                      </a:r>
                      <a:r>
                        <a:rPr sz="1200" spc="1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20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batch</a:t>
                      </a:r>
                      <a:r>
                        <a:rPr sz="1200" spc="1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200" spc="-2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size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256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  <a:tabLst>
                          <a:tab pos="582295" algn="l"/>
                        </a:tabLst>
                      </a:pPr>
                      <a:r>
                        <a:rPr sz="1200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256</a:t>
                      </a:r>
                      <a:r>
                        <a:rPr sz="12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	</a:t>
                      </a:r>
                      <a:r>
                        <a:rPr sz="70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Matched</a:t>
                      </a:r>
                      <a:endParaRPr sz="7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2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GPUs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4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Image</a:t>
                      </a:r>
                      <a:r>
                        <a:rPr sz="1200" spc="3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200" spc="-1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resolution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Unbounded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EF9999"/>
                          </a:solidFill>
                          <a:latin typeface="Segoe UI"/>
                          <a:cs typeface="Segoe UI"/>
                        </a:rPr>
                        <a:t>Capped</a:t>
                      </a:r>
                      <a:r>
                        <a:rPr sz="1200" spc="55" dirty="0">
                          <a:solidFill>
                            <a:srgbClr val="EF9999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solidFill>
                            <a:srgbClr val="EF9999"/>
                          </a:solidFill>
                          <a:latin typeface="Segoe UI"/>
                          <a:cs typeface="Segoe UI"/>
                        </a:rPr>
                        <a:t>(512×28×28)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LoRA</a:t>
                      </a:r>
                      <a:r>
                        <a:rPr sz="1200" spc="2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20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rank</a:t>
                      </a:r>
                      <a:r>
                        <a:rPr sz="1200" spc="2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20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/</a:t>
                      </a:r>
                      <a:r>
                        <a:rPr sz="1200" spc="2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200" spc="-5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α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64</a:t>
                      </a:r>
                      <a:r>
                        <a:rPr sz="120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/</a:t>
                      </a:r>
                      <a:r>
                        <a:rPr sz="120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16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  <a:tabLst>
                          <a:tab pos="810895" algn="l"/>
                        </a:tabLst>
                      </a:pPr>
                      <a:r>
                        <a:rPr sz="12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64</a:t>
                      </a:r>
                      <a:r>
                        <a:rPr sz="120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/</a:t>
                      </a:r>
                      <a:r>
                        <a:rPr sz="120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16</a:t>
                      </a:r>
                      <a:r>
                        <a:rPr sz="12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	</a:t>
                      </a:r>
                      <a:r>
                        <a:rPr sz="70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Matched</a:t>
                      </a:r>
                      <a:endParaRPr sz="7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Trainable</a:t>
                      </a:r>
                      <a:r>
                        <a:rPr sz="1200" spc="-55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200" spc="-10" dirty="0">
                          <a:solidFill>
                            <a:srgbClr val="B0BEC4"/>
                          </a:solidFill>
                          <a:latin typeface="Segoe UI Semibold"/>
                          <a:cs typeface="Segoe UI Semibold"/>
                        </a:rPr>
                        <a:t>params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~161M</a:t>
                      </a:r>
                      <a:r>
                        <a:rPr sz="1200" spc="3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(1.91%)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  <a:tabLst>
                          <a:tab pos="1372870" algn="l"/>
                        </a:tabLst>
                      </a:pPr>
                      <a:r>
                        <a:rPr sz="12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~161M</a:t>
                      </a:r>
                      <a:r>
                        <a:rPr sz="1200" spc="3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(1.91%)</a:t>
                      </a:r>
                      <a:r>
                        <a:rPr sz="12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	</a:t>
                      </a:r>
                      <a:r>
                        <a:rPr sz="70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Matched</a:t>
                      </a:r>
                      <a:endParaRPr sz="7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T w="9525">
                      <a:solidFill>
                        <a:srgbClr val="333333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2605186" y="5504274"/>
            <a:ext cx="770572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dirty="0">
                <a:solidFill>
                  <a:srgbClr val="DFDFDF"/>
                </a:solidFill>
                <a:latin typeface="Segoe UI"/>
                <a:cs typeface="Segoe UI"/>
              </a:rPr>
              <a:t>Global</a:t>
            </a:r>
            <a:r>
              <a:rPr sz="12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DFDFDF"/>
                </a:solidFill>
                <a:latin typeface="Segoe UI"/>
                <a:cs typeface="Segoe UI"/>
              </a:rPr>
              <a:t>batch</a:t>
            </a:r>
            <a:r>
              <a:rPr sz="12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DFDFDF"/>
                </a:solidFill>
                <a:latin typeface="Segoe UI"/>
                <a:cs typeface="Segoe UI"/>
              </a:rPr>
              <a:t>size</a:t>
            </a:r>
            <a:r>
              <a:rPr sz="12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DFDFDF"/>
                </a:solidFill>
                <a:latin typeface="Segoe UI"/>
                <a:cs typeface="Segoe UI"/>
              </a:rPr>
              <a:t>is</a:t>
            </a:r>
            <a:r>
              <a:rPr sz="12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250" b="1" dirty="0">
                <a:solidFill>
                  <a:srgbClr val="DFDFDF"/>
                </a:solidFill>
                <a:latin typeface="Segoe UI"/>
                <a:cs typeface="Segoe UI"/>
              </a:rPr>
              <a:t>identical</a:t>
            </a:r>
            <a:r>
              <a:rPr sz="1250" dirty="0">
                <a:solidFill>
                  <a:srgbClr val="DFDFDF"/>
                </a:solidFill>
                <a:latin typeface="Segoe UI"/>
                <a:cs typeface="Segoe UI"/>
              </a:rPr>
              <a:t>.</a:t>
            </a:r>
            <a:r>
              <a:rPr sz="12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DFDFDF"/>
                </a:solidFill>
                <a:latin typeface="Segoe UI"/>
                <a:cs typeface="Segoe UI"/>
              </a:rPr>
              <a:t>We</a:t>
            </a:r>
            <a:r>
              <a:rPr sz="12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DFDFDF"/>
                </a:solidFill>
                <a:latin typeface="Segoe UI"/>
                <a:cs typeface="Segoe UI"/>
              </a:rPr>
              <a:t>match</a:t>
            </a:r>
            <a:r>
              <a:rPr sz="12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DFDFDF"/>
                </a:solidFill>
                <a:latin typeface="Segoe UI"/>
                <a:cs typeface="Segoe UI"/>
              </a:rPr>
              <a:t>the</a:t>
            </a:r>
            <a:r>
              <a:rPr sz="12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DFDFDF"/>
                </a:solidFill>
                <a:latin typeface="Segoe UI"/>
                <a:cs typeface="Segoe UI"/>
              </a:rPr>
              <a:t>optimization</a:t>
            </a:r>
            <a:r>
              <a:rPr sz="12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DFDFDF"/>
                </a:solidFill>
                <a:latin typeface="Segoe UI"/>
                <a:cs typeface="Segoe UI"/>
              </a:rPr>
              <a:t>trajectory</a:t>
            </a:r>
            <a:r>
              <a:rPr sz="12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DFDFDF"/>
                </a:solidFill>
                <a:latin typeface="Segoe UI"/>
                <a:cs typeface="Segoe UI"/>
              </a:rPr>
              <a:t>through</a:t>
            </a:r>
            <a:r>
              <a:rPr sz="12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DFDFDF"/>
                </a:solidFill>
                <a:latin typeface="Segoe UI"/>
                <a:cs typeface="Segoe UI"/>
              </a:rPr>
              <a:t>256-step</a:t>
            </a:r>
            <a:r>
              <a:rPr sz="12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DFDFDF"/>
                </a:solidFill>
                <a:latin typeface="Segoe UI"/>
                <a:cs typeface="Segoe UI"/>
              </a:rPr>
              <a:t>gradient</a:t>
            </a:r>
            <a:r>
              <a:rPr sz="12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250" spc="-10" dirty="0">
                <a:solidFill>
                  <a:srgbClr val="DFDFDF"/>
                </a:solidFill>
                <a:latin typeface="Segoe UI"/>
                <a:cs typeface="Segoe UI"/>
              </a:rPr>
              <a:t>accumulation.</a:t>
            </a:r>
            <a:endParaRPr sz="1250">
              <a:latin typeface="Segoe UI"/>
              <a:cs typeface="Segoe U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6629397"/>
            <a:ext cx="257175" cy="266700"/>
          </a:xfrm>
          <a:custGeom>
            <a:avLst/>
            <a:gdLst/>
            <a:ahLst/>
            <a:cxnLst/>
            <a:rect l="l" t="t" r="r" b="b"/>
            <a:pathLst>
              <a:path w="257175" h="266700">
                <a:moveTo>
                  <a:pt x="257174" y="266699"/>
                </a:moveTo>
                <a:lnTo>
                  <a:pt x="0" y="266699"/>
                </a:lnTo>
                <a:lnTo>
                  <a:pt x="0" y="0"/>
                </a:lnTo>
                <a:lnTo>
                  <a:pt x="257174" y="0"/>
                </a:lnTo>
                <a:lnTo>
                  <a:pt x="25717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A7F1155-C39F-9C1B-E72C-0D230B4D372B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DAA93F4-5402-AB2E-BE47-54B066402884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4C80881-1FDC-04F4-6F48-53D7B0AE7DCE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07694" y="655955"/>
            <a:ext cx="3311525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80" dirty="0"/>
              <a:t>Multi-</a:t>
            </a:r>
            <a:r>
              <a:rPr spc="-65" dirty="0"/>
              <a:t>Session</a:t>
            </a:r>
            <a:r>
              <a:rPr spc="-95" dirty="0"/>
              <a:t> </a:t>
            </a:r>
            <a:r>
              <a:rPr spc="-80" dirty="0"/>
              <a:t>Training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57858" y="1174115"/>
            <a:ext cx="884555" cy="9220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850" b="1" spc="-25" dirty="0">
                <a:solidFill>
                  <a:srgbClr val="E7D5B6"/>
                </a:solidFill>
                <a:latin typeface="Segoe UI"/>
                <a:cs typeface="Segoe UI"/>
              </a:rPr>
              <a:t>11</a:t>
            </a:r>
            <a:endParaRPr sz="585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2133" y="2012314"/>
            <a:ext cx="105664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B0BEC4"/>
                </a:solidFill>
                <a:latin typeface="Segoe UI"/>
                <a:cs typeface="Segoe UI"/>
              </a:rPr>
              <a:t>Kaggle</a:t>
            </a:r>
            <a:r>
              <a:rPr sz="11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150" spc="-10" dirty="0">
                <a:solidFill>
                  <a:srgbClr val="B0BEC4"/>
                </a:solidFill>
                <a:latin typeface="Segoe UI"/>
                <a:cs typeface="Segoe UI"/>
              </a:rPr>
              <a:t>Sessions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48249" y="1174115"/>
            <a:ext cx="4908550" cy="10401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6800"/>
              </a:lnSpc>
              <a:spcBef>
                <a:spcPts val="130"/>
              </a:spcBef>
              <a:tabLst>
                <a:tab pos="2628900" algn="l"/>
              </a:tabLst>
            </a:pPr>
            <a:r>
              <a:rPr sz="5850" b="1" spc="-25" dirty="0">
                <a:solidFill>
                  <a:srgbClr val="E7D5B6"/>
                </a:solidFill>
                <a:latin typeface="Segoe UI"/>
                <a:cs typeface="Segoe UI"/>
              </a:rPr>
              <a:t>217</a:t>
            </a:r>
            <a:r>
              <a:rPr sz="5850" b="1" dirty="0">
                <a:solidFill>
                  <a:srgbClr val="E7D5B6"/>
                </a:solidFill>
                <a:latin typeface="Segoe UI"/>
                <a:cs typeface="Segoe UI"/>
              </a:rPr>
              <a:t>	</a:t>
            </a:r>
            <a:r>
              <a:rPr sz="5850" b="1" spc="-10" dirty="0">
                <a:solidFill>
                  <a:srgbClr val="E7D5B6"/>
                </a:solidFill>
                <a:latin typeface="Segoe UI"/>
                <a:cs typeface="Segoe UI"/>
              </a:rPr>
              <a:t>~130h</a:t>
            </a:r>
            <a:endParaRPr sz="5850">
              <a:latin typeface="Segoe UI"/>
              <a:cs typeface="Segoe UI"/>
            </a:endParaRPr>
          </a:p>
          <a:p>
            <a:pPr marL="143510">
              <a:lnSpc>
                <a:spcPts val="1155"/>
              </a:lnSpc>
              <a:tabLst>
                <a:tab pos="3223260" algn="l"/>
              </a:tabLst>
            </a:pPr>
            <a:r>
              <a:rPr sz="1150" dirty="0">
                <a:solidFill>
                  <a:srgbClr val="B0BEC4"/>
                </a:solidFill>
                <a:latin typeface="Segoe UI"/>
                <a:cs typeface="Segoe UI"/>
              </a:rPr>
              <a:t>Optimizer </a:t>
            </a:r>
            <a:r>
              <a:rPr sz="1150" spc="-20" dirty="0">
                <a:solidFill>
                  <a:srgbClr val="B0BEC4"/>
                </a:solidFill>
                <a:latin typeface="Segoe UI"/>
                <a:cs typeface="Segoe UI"/>
              </a:rPr>
              <a:t>Steps</a:t>
            </a:r>
            <a:r>
              <a:rPr sz="1150" dirty="0">
                <a:solidFill>
                  <a:srgbClr val="B0BEC4"/>
                </a:solidFill>
                <a:latin typeface="Segoe UI"/>
                <a:cs typeface="Segoe UI"/>
              </a:rPr>
              <a:t>	</a:t>
            </a:r>
            <a:r>
              <a:rPr sz="1150" spc="-10" dirty="0">
                <a:solidFill>
                  <a:srgbClr val="B0BEC4"/>
                </a:solidFill>
                <a:latin typeface="Segoe UI"/>
                <a:cs typeface="Segoe UI"/>
              </a:rPr>
              <a:t>Total</a:t>
            </a:r>
            <a:r>
              <a:rPr sz="1150" spc="-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150" spc="-10" dirty="0">
                <a:solidFill>
                  <a:srgbClr val="B0BEC4"/>
                </a:solidFill>
                <a:latin typeface="Segoe UI"/>
                <a:cs typeface="Segoe UI"/>
              </a:rPr>
              <a:t>GPU-Hours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73307" y="1174115"/>
            <a:ext cx="884555" cy="9220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850" b="1" spc="-25" dirty="0">
                <a:solidFill>
                  <a:srgbClr val="81C783"/>
                </a:solidFill>
                <a:latin typeface="Segoe UI"/>
                <a:cs typeface="Segoe UI"/>
              </a:rPr>
              <a:t>$0</a:t>
            </a:r>
            <a:endParaRPr sz="585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84333" y="2012314"/>
            <a:ext cx="66294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spc="-10" dirty="0">
                <a:solidFill>
                  <a:srgbClr val="B0BEC4"/>
                </a:solidFill>
                <a:latin typeface="Segoe UI"/>
                <a:cs typeface="Segoe UI"/>
              </a:rPr>
              <a:t>Total</a:t>
            </a:r>
            <a:r>
              <a:rPr sz="1150" spc="-6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150" spc="-20" dirty="0">
                <a:solidFill>
                  <a:srgbClr val="B0BEC4"/>
                </a:solidFill>
                <a:latin typeface="Segoe UI"/>
                <a:cs typeface="Segoe UI"/>
              </a:rPr>
              <a:t>Cost</a:t>
            </a:r>
            <a:endParaRPr sz="1150">
              <a:latin typeface="Segoe UI"/>
              <a:cs typeface="Segoe U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50" y="2486025"/>
            <a:ext cx="5486399" cy="30479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005111" y="5984239"/>
            <a:ext cx="890587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B0BEC4"/>
                </a:solidFill>
                <a:latin typeface="Segoe UI"/>
                <a:cs typeface="Segoe UI"/>
              </a:rPr>
              <a:t>Loss:</a:t>
            </a:r>
            <a:r>
              <a:rPr sz="1150" spc="-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150" dirty="0">
                <a:solidFill>
                  <a:srgbClr val="B0BEC4"/>
                </a:solidFill>
                <a:latin typeface="Segoe UI"/>
                <a:cs typeface="Segoe UI"/>
              </a:rPr>
              <a:t>1.97 (step 1) → ~0.62 (step 50) → plateau</a:t>
            </a:r>
            <a:r>
              <a:rPr sz="1150" spc="-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150" spc="-10" dirty="0">
                <a:solidFill>
                  <a:srgbClr val="B0BEC4"/>
                </a:solidFill>
                <a:latin typeface="Segoe UI"/>
                <a:cs typeface="Segoe UI"/>
              </a:rPr>
              <a:t>0.55–</a:t>
            </a:r>
            <a:r>
              <a:rPr sz="1150" dirty="0">
                <a:solidFill>
                  <a:srgbClr val="B0BEC4"/>
                </a:solidFill>
                <a:latin typeface="Segoe UI"/>
                <a:cs typeface="Segoe UI"/>
              </a:rPr>
              <a:t>0.63 • TimeLimitCallback: auto-save at 11.5h, upload checkpoint, resume next</a:t>
            </a:r>
            <a:r>
              <a:rPr sz="1150" spc="-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150" spc="-10" dirty="0">
                <a:solidFill>
                  <a:srgbClr val="B0BEC4"/>
                </a:solidFill>
                <a:latin typeface="Segoe UI"/>
                <a:cs typeface="Segoe UI"/>
              </a:rPr>
              <a:t>session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6629396"/>
            <a:ext cx="314325" cy="266700"/>
          </a:xfrm>
          <a:custGeom>
            <a:avLst/>
            <a:gdLst/>
            <a:ahLst/>
            <a:cxnLst/>
            <a:rect l="l" t="t" r="r" b="b"/>
            <a:pathLst>
              <a:path w="314325" h="266700">
                <a:moveTo>
                  <a:pt x="314324" y="266699"/>
                </a:moveTo>
                <a:lnTo>
                  <a:pt x="0" y="266699"/>
                </a:lnTo>
                <a:lnTo>
                  <a:pt x="0" y="0"/>
                </a:lnTo>
                <a:lnTo>
                  <a:pt x="314324" y="0"/>
                </a:lnTo>
                <a:lnTo>
                  <a:pt x="31432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756F9D4-64B9-B84B-1B00-5F8279CDD448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23EEC0-12C5-3EE6-8A1D-5D20F0E3B21C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E3D4F27-388C-7BD0-4BBB-476C429B5CC8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21832" y="1694180"/>
            <a:ext cx="3282950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VLM</a:t>
            </a:r>
            <a:r>
              <a:rPr spc="-145" dirty="0"/>
              <a:t> </a:t>
            </a:r>
            <a:r>
              <a:rPr spc="-65" dirty="0"/>
              <a:t>Spatial</a:t>
            </a:r>
            <a:r>
              <a:rPr spc="-140" dirty="0"/>
              <a:t> </a:t>
            </a:r>
            <a:r>
              <a:rPr spc="-55" dirty="0"/>
              <a:t>Blindness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07446" y="2319020"/>
            <a:ext cx="2501265" cy="2336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Why</a:t>
            </a:r>
            <a:r>
              <a:rPr sz="1350" spc="1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we</a:t>
            </a:r>
            <a:r>
              <a:rPr sz="1350" spc="1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need</a:t>
            </a:r>
            <a:r>
              <a:rPr sz="1350" spc="1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a</a:t>
            </a:r>
            <a:r>
              <a:rPr sz="1350" spc="1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hybrid</a:t>
            </a:r>
            <a:r>
              <a:rPr sz="1350" spc="1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B0BEC4"/>
                </a:solidFill>
                <a:latin typeface="Segoe UI"/>
                <a:cs typeface="Segoe UI"/>
              </a:rPr>
              <a:t>approach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1949" y="2743197"/>
            <a:ext cx="6029325" cy="942975"/>
          </a:xfrm>
          <a:custGeom>
            <a:avLst/>
            <a:gdLst/>
            <a:ahLst/>
            <a:cxnLst/>
            <a:rect l="l" t="t" r="r" b="b"/>
            <a:pathLst>
              <a:path w="6029325" h="942975">
                <a:moveTo>
                  <a:pt x="5940328" y="942970"/>
                </a:moveTo>
                <a:lnTo>
                  <a:pt x="88995" y="942970"/>
                </a:lnTo>
                <a:lnTo>
                  <a:pt x="82801" y="942360"/>
                </a:lnTo>
                <a:lnTo>
                  <a:pt x="37131" y="923436"/>
                </a:lnTo>
                <a:lnTo>
                  <a:pt x="9643" y="889945"/>
                </a:lnTo>
                <a:lnTo>
                  <a:pt x="0" y="853976"/>
                </a:lnTo>
                <a:lnTo>
                  <a:pt x="0" y="847724"/>
                </a:lnTo>
                <a:lnTo>
                  <a:pt x="0" y="88994"/>
                </a:lnTo>
                <a:lnTo>
                  <a:pt x="12577" y="47523"/>
                </a:lnTo>
                <a:lnTo>
                  <a:pt x="47532" y="12566"/>
                </a:lnTo>
                <a:lnTo>
                  <a:pt x="88995" y="0"/>
                </a:lnTo>
                <a:lnTo>
                  <a:pt x="5940328" y="0"/>
                </a:lnTo>
                <a:lnTo>
                  <a:pt x="5981791" y="12566"/>
                </a:lnTo>
                <a:lnTo>
                  <a:pt x="6016746" y="47523"/>
                </a:lnTo>
                <a:lnTo>
                  <a:pt x="6029323" y="88994"/>
                </a:lnTo>
                <a:lnTo>
                  <a:pt x="6029323" y="853976"/>
                </a:lnTo>
                <a:lnTo>
                  <a:pt x="6016746" y="895433"/>
                </a:lnTo>
                <a:lnTo>
                  <a:pt x="5981791" y="930384"/>
                </a:lnTo>
                <a:lnTo>
                  <a:pt x="5946522" y="942360"/>
                </a:lnTo>
                <a:lnTo>
                  <a:pt x="5940328" y="942970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01650" y="2778799"/>
            <a:ext cx="4683125" cy="72644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750" spc="-20" dirty="0">
                <a:solidFill>
                  <a:srgbClr val="E7D5B6"/>
                </a:solidFill>
                <a:latin typeface="Segoe UI"/>
                <a:cs typeface="Segoe UI"/>
              </a:rPr>
              <a:t>The</a:t>
            </a:r>
            <a:r>
              <a:rPr sz="1750" spc="-95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20" dirty="0">
                <a:solidFill>
                  <a:srgbClr val="E7D5B6"/>
                </a:solidFill>
                <a:latin typeface="Segoe UI"/>
                <a:cs typeface="Segoe UI"/>
              </a:rPr>
              <a:t>Goal</a:t>
            </a:r>
            <a:endParaRPr sz="17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Rapidly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assess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disaster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zones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to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deploy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emergency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resources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24624" y="2743197"/>
            <a:ext cx="6029325" cy="942975"/>
          </a:xfrm>
          <a:custGeom>
            <a:avLst/>
            <a:gdLst/>
            <a:ahLst/>
            <a:cxnLst/>
            <a:rect l="l" t="t" r="r" b="b"/>
            <a:pathLst>
              <a:path w="6029325" h="942975">
                <a:moveTo>
                  <a:pt x="5940327" y="942970"/>
                </a:moveTo>
                <a:lnTo>
                  <a:pt x="88995" y="942970"/>
                </a:lnTo>
                <a:lnTo>
                  <a:pt x="82801" y="942360"/>
                </a:lnTo>
                <a:lnTo>
                  <a:pt x="37130" y="923436"/>
                </a:lnTo>
                <a:lnTo>
                  <a:pt x="9643" y="889945"/>
                </a:lnTo>
                <a:lnTo>
                  <a:pt x="0" y="853976"/>
                </a:lnTo>
                <a:lnTo>
                  <a:pt x="0" y="847724"/>
                </a:lnTo>
                <a:lnTo>
                  <a:pt x="0" y="88994"/>
                </a:lnTo>
                <a:lnTo>
                  <a:pt x="12577" y="47523"/>
                </a:lnTo>
                <a:lnTo>
                  <a:pt x="47531" y="12566"/>
                </a:lnTo>
                <a:lnTo>
                  <a:pt x="88995" y="0"/>
                </a:lnTo>
                <a:lnTo>
                  <a:pt x="5940327" y="0"/>
                </a:lnTo>
                <a:lnTo>
                  <a:pt x="5981791" y="12566"/>
                </a:lnTo>
                <a:lnTo>
                  <a:pt x="6016745" y="47523"/>
                </a:lnTo>
                <a:lnTo>
                  <a:pt x="6029324" y="88994"/>
                </a:lnTo>
                <a:lnTo>
                  <a:pt x="6029324" y="853976"/>
                </a:lnTo>
                <a:lnTo>
                  <a:pt x="6016745" y="895433"/>
                </a:lnTo>
                <a:lnTo>
                  <a:pt x="5981791" y="930384"/>
                </a:lnTo>
                <a:lnTo>
                  <a:pt x="5946521" y="942360"/>
                </a:lnTo>
                <a:lnTo>
                  <a:pt x="5940327" y="942970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664325" y="2778799"/>
            <a:ext cx="5497195" cy="72644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750" spc="-20" dirty="0">
                <a:solidFill>
                  <a:srgbClr val="E7D5B6"/>
                </a:solidFill>
                <a:latin typeface="Segoe UI"/>
                <a:cs typeface="Segoe UI"/>
              </a:rPr>
              <a:t>The</a:t>
            </a:r>
            <a:r>
              <a:rPr sz="1750" spc="-95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10" dirty="0">
                <a:solidFill>
                  <a:srgbClr val="E7D5B6"/>
                </a:solidFill>
                <a:latin typeface="Segoe UI"/>
                <a:cs typeface="Segoe UI"/>
              </a:rPr>
              <a:t>Problem</a:t>
            </a:r>
            <a:endParaRPr sz="17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VLMs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excel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at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reasoning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but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struggle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with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precise</a:t>
            </a:r>
            <a:r>
              <a:rPr sz="1350" b="1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geometric</a:t>
            </a:r>
            <a:r>
              <a:rPr sz="1350" b="1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spc="-10" dirty="0">
                <a:solidFill>
                  <a:srgbClr val="CCCCCC"/>
                </a:solidFill>
                <a:latin typeface="Segoe UI"/>
                <a:cs typeface="Segoe UI"/>
              </a:rPr>
              <a:t>mapping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1949" y="3819526"/>
            <a:ext cx="6029325" cy="1190625"/>
          </a:xfrm>
          <a:custGeom>
            <a:avLst/>
            <a:gdLst/>
            <a:ahLst/>
            <a:cxnLst/>
            <a:rect l="l" t="t" r="r" b="b"/>
            <a:pathLst>
              <a:path w="6029325" h="1190625">
                <a:moveTo>
                  <a:pt x="5940328" y="1190615"/>
                </a:moveTo>
                <a:lnTo>
                  <a:pt x="88995" y="1190615"/>
                </a:lnTo>
                <a:lnTo>
                  <a:pt x="82801" y="1190001"/>
                </a:lnTo>
                <a:lnTo>
                  <a:pt x="37131" y="1171076"/>
                </a:lnTo>
                <a:lnTo>
                  <a:pt x="9643" y="1137590"/>
                </a:lnTo>
                <a:lnTo>
                  <a:pt x="0" y="1101625"/>
                </a:lnTo>
                <a:lnTo>
                  <a:pt x="0" y="1095370"/>
                </a:lnTo>
                <a:lnTo>
                  <a:pt x="0" y="88990"/>
                </a:lnTo>
                <a:lnTo>
                  <a:pt x="12577" y="47513"/>
                </a:lnTo>
                <a:lnTo>
                  <a:pt x="47532" y="12566"/>
                </a:lnTo>
                <a:lnTo>
                  <a:pt x="88995" y="0"/>
                </a:lnTo>
                <a:lnTo>
                  <a:pt x="5940328" y="0"/>
                </a:lnTo>
                <a:lnTo>
                  <a:pt x="5981791" y="12566"/>
                </a:lnTo>
                <a:lnTo>
                  <a:pt x="6016746" y="47518"/>
                </a:lnTo>
                <a:lnTo>
                  <a:pt x="6029323" y="88990"/>
                </a:lnTo>
                <a:lnTo>
                  <a:pt x="6029323" y="1101625"/>
                </a:lnTo>
                <a:lnTo>
                  <a:pt x="6016746" y="1143078"/>
                </a:lnTo>
                <a:lnTo>
                  <a:pt x="5981791" y="1178025"/>
                </a:lnTo>
                <a:lnTo>
                  <a:pt x="5946522" y="1190001"/>
                </a:lnTo>
                <a:lnTo>
                  <a:pt x="5940328" y="1190615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1650" y="3867579"/>
            <a:ext cx="5732145" cy="96139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750" spc="-20" dirty="0">
                <a:solidFill>
                  <a:srgbClr val="E7D5B6"/>
                </a:solidFill>
                <a:latin typeface="Segoe UI"/>
                <a:cs typeface="Segoe UI"/>
              </a:rPr>
              <a:t>The</a:t>
            </a:r>
            <a:r>
              <a:rPr sz="1750" spc="-75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40" dirty="0">
                <a:solidFill>
                  <a:srgbClr val="E7D5B6"/>
                </a:solidFill>
                <a:latin typeface="Segoe UI"/>
                <a:cs typeface="Segoe UI"/>
              </a:rPr>
              <a:t>Spatial</a:t>
            </a:r>
            <a:r>
              <a:rPr sz="1750" spc="-75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10" dirty="0">
                <a:solidFill>
                  <a:srgbClr val="E7D5B6"/>
                </a:solidFill>
                <a:latin typeface="Segoe UI"/>
                <a:cs typeface="Segoe UI"/>
              </a:rPr>
              <a:t>Bottleneck</a:t>
            </a:r>
            <a:endParaRPr sz="1750">
              <a:latin typeface="Segoe UI"/>
              <a:cs typeface="Segoe UI"/>
            </a:endParaRPr>
          </a:p>
          <a:p>
            <a:pPr marL="12700" marR="5080">
              <a:lnSpc>
                <a:spcPct val="125000"/>
              </a:lnSpc>
              <a:spcBef>
                <a:spcPts val="295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VLMs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can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identify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collapsed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buildings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but</a:t>
            </a:r>
            <a:r>
              <a:rPr sz="1350" spc="3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cannot</a:t>
            </a:r>
            <a:r>
              <a:rPr sz="1350" b="1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count</a:t>
            </a:r>
            <a:r>
              <a:rPr sz="1350" b="1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them</a:t>
            </a:r>
            <a:r>
              <a:rPr sz="1350" b="1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or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generate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exact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bounding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boxes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524624" y="3819526"/>
            <a:ext cx="6029325" cy="1190625"/>
          </a:xfrm>
          <a:custGeom>
            <a:avLst/>
            <a:gdLst/>
            <a:ahLst/>
            <a:cxnLst/>
            <a:rect l="l" t="t" r="r" b="b"/>
            <a:pathLst>
              <a:path w="6029325" h="1190625">
                <a:moveTo>
                  <a:pt x="5940327" y="1190615"/>
                </a:moveTo>
                <a:lnTo>
                  <a:pt x="88995" y="1190615"/>
                </a:lnTo>
                <a:lnTo>
                  <a:pt x="82801" y="1190001"/>
                </a:lnTo>
                <a:lnTo>
                  <a:pt x="37130" y="1171076"/>
                </a:lnTo>
                <a:lnTo>
                  <a:pt x="9643" y="1137590"/>
                </a:lnTo>
                <a:lnTo>
                  <a:pt x="0" y="1101625"/>
                </a:lnTo>
                <a:lnTo>
                  <a:pt x="0" y="1095370"/>
                </a:lnTo>
                <a:lnTo>
                  <a:pt x="0" y="88990"/>
                </a:lnTo>
                <a:lnTo>
                  <a:pt x="12577" y="47513"/>
                </a:lnTo>
                <a:lnTo>
                  <a:pt x="47531" y="12566"/>
                </a:lnTo>
                <a:lnTo>
                  <a:pt x="88995" y="0"/>
                </a:lnTo>
                <a:lnTo>
                  <a:pt x="5940327" y="0"/>
                </a:lnTo>
                <a:lnTo>
                  <a:pt x="5981791" y="12566"/>
                </a:lnTo>
                <a:lnTo>
                  <a:pt x="6016745" y="47518"/>
                </a:lnTo>
                <a:lnTo>
                  <a:pt x="6029324" y="88990"/>
                </a:lnTo>
                <a:lnTo>
                  <a:pt x="6029324" y="1101625"/>
                </a:lnTo>
                <a:lnTo>
                  <a:pt x="6016745" y="1143078"/>
                </a:lnTo>
                <a:lnTo>
                  <a:pt x="5981791" y="1178025"/>
                </a:lnTo>
                <a:lnTo>
                  <a:pt x="5946521" y="1190001"/>
                </a:lnTo>
                <a:lnTo>
                  <a:pt x="5940327" y="1190615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664325" y="3867579"/>
            <a:ext cx="5271770" cy="96139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750" spc="-25" dirty="0">
                <a:solidFill>
                  <a:srgbClr val="E7D5B6"/>
                </a:solidFill>
                <a:latin typeface="Segoe UI"/>
                <a:cs typeface="Segoe UI"/>
              </a:rPr>
              <a:t>Our</a:t>
            </a:r>
            <a:r>
              <a:rPr sz="1750" spc="-100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750" spc="-10" dirty="0">
                <a:solidFill>
                  <a:srgbClr val="E7D5B6"/>
                </a:solidFill>
                <a:latin typeface="Segoe UI"/>
                <a:cs typeface="Segoe UI"/>
              </a:rPr>
              <a:t>Solution</a:t>
            </a:r>
            <a:endParaRPr sz="1750">
              <a:latin typeface="Segoe UI"/>
              <a:cs typeface="Segoe UI"/>
            </a:endParaRPr>
          </a:p>
          <a:p>
            <a:pPr marL="12700" marR="5080">
              <a:lnSpc>
                <a:spcPct val="125000"/>
              </a:lnSpc>
              <a:spcBef>
                <a:spcPts val="295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U-Net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as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the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system’s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“spatial</a:t>
            </a:r>
            <a:r>
              <a:rPr sz="1350" b="1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cortex”</a:t>
            </a:r>
            <a:r>
              <a:rPr sz="1350" b="1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for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precise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counting;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VLM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25" dirty="0">
                <a:solidFill>
                  <a:srgbClr val="CCCCCC"/>
                </a:solidFill>
                <a:latin typeface="Segoe UI"/>
                <a:cs typeface="Segoe UI"/>
              </a:rPr>
              <a:t>for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contextual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reasoning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—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each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model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does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what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it’s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best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25" dirty="0">
                <a:solidFill>
                  <a:srgbClr val="CCCCCC"/>
                </a:solidFill>
                <a:latin typeface="Segoe UI"/>
                <a:cs typeface="Segoe UI"/>
              </a:rPr>
              <a:t>at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08201" y="5187950"/>
            <a:ext cx="469963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Confirmed</a:t>
            </a:r>
            <a:r>
              <a:rPr sz="1050" spc="-1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by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our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BDC</a:t>
            </a:r>
            <a:r>
              <a:rPr sz="1050" spc="-1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results: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VLM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alone</a:t>
            </a:r>
            <a:r>
              <a:rPr sz="1050" spc="-1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regressed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−10.62%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on</a:t>
            </a:r>
            <a:r>
              <a:rPr sz="1050" spc="-1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counting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tasks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6629396"/>
            <a:ext cx="304800" cy="266700"/>
          </a:xfrm>
          <a:custGeom>
            <a:avLst/>
            <a:gdLst/>
            <a:ahLst/>
            <a:cxnLst/>
            <a:rect l="l" t="t" r="r" b="b"/>
            <a:pathLst>
              <a:path w="304800" h="266700">
                <a:moveTo>
                  <a:pt x="304799" y="266699"/>
                </a:moveTo>
                <a:lnTo>
                  <a:pt x="0" y="266699"/>
                </a:lnTo>
                <a:lnTo>
                  <a:pt x="0" y="0"/>
                </a:lnTo>
                <a:lnTo>
                  <a:pt x="304799" y="0"/>
                </a:lnTo>
                <a:lnTo>
                  <a:pt x="304799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A0DD1E3-38C6-AF0D-A58D-EA46D8342C61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C352B20-1FA8-9732-957E-2AFAFB0F9415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42BBAC5-F472-1EFA-7B19-71A655C8AE66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28232" y="1027430"/>
            <a:ext cx="3270250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Hybrid</a:t>
            </a:r>
            <a:r>
              <a:rPr spc="-145" dirty="0"/>
              <a:t> </a:t>
            </a:r>
            <a:r>
              <a:rPr spc="-105" dirty="0"/>
              <a:t>Triage</a:t>
            </a:r>
            <a:r>
              <a:rPr spc="-140" dirty="0"/>
              <a:t> </a:t>
            </a:r>
            <a:r>
              <a:rPr spc="-50" dirty="0"/>
              <a:t>Pipeline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7884" y="1651000"/>
            <a:ext cx="3962400" cy="487937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825618" y="2489200"/>
            <a:ext cx="3962400" cy="742950"/>
            <a:chOff x="361949" y="5229225"/>
            <a:chExt cx="3962400" cy="742950"/>
          </a:xfrm>
        </p:grpSpPr>
        <p:sp>
          <p:nvSpPr>
            <p:cNvPr id="5" name="object 5"/>
            <p:cNvSpPr/>
            <p:nvPr/>
          </p:nvSpPr>
          <p:spPr>
            <a:xfrm>
              <a:off x="361949" y="5243509"/>
              <a:ext cx="3962400" cy="728980"/>
            </a:xfrm>
            <a:custGeom>
              <a:avLst/>
              <a:gdLst/>
              <a:ahLst/>
              <a:cxnLst/>
              <a:rect l="l" t="t" r="r" b="b"/>
              <a:pathLst>
                <a:path w="3962400" h="728979">
                  <a:moveTo>
                    <a:pt x="3873403" y="728662"/>
                  </a:moveTo>
                  <a:lnTo>
                    <a:pt x="88995" y="728662"/>
                  </a:lnTo>
                  <a:lnTo>
                    <a:pt x="82801" y="728048"/>
                  </a:lnTo>
                  <a:lnTo>
                    <a:pt x="37131" y="709128"/>
                  </a:lnTo>
                  <a:lnTo>
                    <a:pt x="9643" y="675623"/>
                  </a:lnTo>
                  <a:lnTo>
                    <a:pt x="0" y="639663"/>
                  </a:lnTo>
                  <a:lnTo>
                    <a:pt x="0" y="633412"/>
                  </a:lnTo>
                  <a:lnTo>
                    <a:pt x="0" y="75651"/>
                  </a:lnTo>
                  <a:lnTo>
                    <a:pt x="19527" y="31561"/>
                  </a:lnTo>
                  <a:lnTo>
                    <a:pt x="53021" y="8195"/>
                  </a:lnTo>
                  <a:lnTo>
                    <a:pt x="88995" y="0"/>
                  </a:lnTo>
                  <a:lnTo>
                    <a:pt x="3873403" y="0"/>
                  </a:lnTo>
                  <a:lnTo>
                    <a:pt x="3914866" y="10688"/>
                  </a:lnTo>
                  <a:lnTo>
                    <a:pt x="3949821" y="40387"/>
                  </a:lnTo>
                  <a:lnTo>
                    <a:pt x="3962399" y="75651"/>
                  </a:lnTo>
                  <a:lnTo>
                    <a:pt x="3962399" y="639663"/>
                  </a:lnTo>
                  <a:lnTo>
                    <a:pt x="3949821" y="681111"/>
                  </a:lnTo>
                  <a:lnTo>
                    <a:pt x="3914866" y="716077"/>
                  </a:lnTo>
                  <a:lnTo>
                    <a:pt x="3879597" y="728048"/>
                  </a:lnTo>
                  <a:lnTo>
                    <a:pt x="3873403" y="728662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1949" y="5229225"/>
              <a:ext cx="3962400" cy="95250"/>
            </a:xfrm>
            <a:custGeom>
              <a:avLst/>
              <a:gdLst/>
              <a:ahLst/>
              <a:cxnLst/>
              <a:rect l="l" t="t" r="r" b="b"/>
              <a:pathLst>
                <a:path w="3962400" h="95250">
                  <a:moveTo>
                    <a:pt x="0" y="95249"/>
                  </a:moveTo>
                  <a:lnTo>
                    <a:pt x="11259" y="50303"/>
                  </a:lnTo>
                  <a:lnTo>
                    <a:pt x="42321" y="16036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3867149" y="0"/>
                  </a:lnTo>
                  <a:lnTo>
                    <a:pt x="3912095" y="11259"/>
                  </a:lnTo>
                  <a:lnTo>
                    <a:pt x="3935116" y="28574"/>
                  </a:lnTo>
                  <a:lnTo>
                    <a:pt x="95249" y="28574"/>
                  </a:lnTo>
                  <a:lnTo>
                    <a:pt x="85866" y="28892"/>
                  </a:lnTo>
                  <a:lnTo>
                    <a:pt x="42321" y="39801"/>
                  </a:lnTo>
                  <a:lnTo>
                    <a:pt x="11259" y="63787"/>
                  </a:lnTo>
                  <a:lnTo>
                    <a:pt x="453" y="88681"/>
                  </a:lnTo>
                  <a:lnTo>
                    <a:pt x="0" y="95249"/>
                  </a:lnTo>
                  <a:close/>
                </a:path>
                <a:path w="3962400" h="95250">
                  <a:moveTo>
                    <a:pt x="3962399" y="95249"/>
                  </a:moveTo>
                  <a:lnTo>
                    <a:pt x="3946361" y="58199"/>
                  </a:lnTo>
                  <a:lnTo>
                    <a:pt x="3912095" y="36456"/>
                  </a:lnTo>
                  <a:lnTo>
                    <a:pt x="3867149" y="28574"/>
                  </a:lnTo>
                  <a:lnTo>
                    <a:pt x="3935116" y="28574"/>
                  </a:lnTo>
                  <a:lnTo>
                    <a:pt x="3958321" y="67640"/>
                  </a:lnTo>
                  <a:lnTo>
                    <a:pt x="3961946" y="85866"/>
                  </a:lnTo>
                  <a:lnTo>
                    <a:pt x="3962399" y="95249"/>
                  </a:lnTo>
                  <a:close/>
                </a:path>
              </a:pathLst>
            </a:custGeom>
            <a:solidFill>
              <a:srgbClr val="CD93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965319" y="2678429"/>
            <a:ext cx="3304540" cy="3771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spc="-10" dirty="0">
                <a:solidFill>
                  <a:srgbClr val="CD93D8"/>
                </a:solidFill>
                <a:latin typeface="Segoe UI"/>
                <a:cs typeface="Segoe UI"/>
              </a:rPr>
              <a:t>BDC</a:t>
            </a:r>
            <a:r>
              <a:rPr sz="1000" spc="-45" dirty="0">
                <a:solidFill>
                  <a:srgbClr val="CD93D8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CD93D8"/>
                </a:solidFill>
                <a:latin typeface="Segoe UI"/>
                <a:cs typeface="Segoe UI"/>
              </a:rPr>
              <a:t>(Counting)</a:t>
            </a:r>
            <a:endParaRPr sz="10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800" spc="-20" dirty="0">
                <a:solidFill>
                  <a:srgbClr val="CCCCCC"/>
                </a:solidFill>
                <a:latin typeface="Segoe UI"/>
                <a:cs typeface="Segoe UI"/>
              </a:rPr>
              <a:t>U-</a:t>
            </a: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Net </a:t>
            </a:r>
            <a:r>
              <a:rPr sz="800" spc="-10" dirty="0">
                <a:solidFill>
                  <a:srgbClr val="CCCCCC"/>
                </a:solidFill>
                <a:latin typeface="Segoe UI"/>
                <a:cs typeface="Segoe UI"/>
              </a:rPr>
              <a:t>segmentation</a:t>
            </a: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 → </a:t>
            </a:r>
            <a:r>
              <a:rPr sz="800" spc="-10" dirty="0">
                <a:solidFill>
                  <a:srgbClr val="CCCCCC"/>
                </a:solidFill>
                <a:latin typeface="Segoe UI"/>
                <a:cs typeface="Segoe UI"/>
              </a:rPr>
              <a:t>connected-component</a:t>
            </a:r>
            <a:r>
              <a:rPr sz="800" spc="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CCCCCC"/>
                </a:solidFill>
                <a:latin typeface="Segoe UI"/>
                <a:cs typeface="Segoe UI"/>
              </a:rPr>
              <a:t>counting</a:t>
            </a: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 → MCQ</a:t>
            </a:r>
            <a:r>
              <a:rPr sz="800" spc="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CCCCCC"/>
                </a:solidFill>
                <a:latin typeface="Segoe UI"/>
                <a:cs typeface="Segoe UI"/>
              </a:rPr>
              <a:t>mapping</a:t>
            </a:r>
            <a:endParaRPr sz="800" dirty="0">
              <a:latin typeface="Segoe UI"/>
              <a:cs typeface="Segoe U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825618" y="3599654"/>
            <a:ext cx="3962400" cy="742950"/>
            <a:chOff x="4476749" y="5229225"/>
            <a:chExt cx="3962400" cy="742950"/>
          </a:xfrm>
        </p:grpSpPr>
        <p:sp>
          <p:nvSpPr>
            <p:cNvPr id="9" name="object 9"/>
            <p:cNvSpPr/>
            <p:nvPr/>
          </p:nvSpPr>
          <p:spPr>
            <a:xfrm>
              <a:off x="4476749" y="5243509"/>
              <a:ext cx="3962400" cy="728980"/>
            </a:xfrm>
            <a:custGeom>
              <a:avLst/>
              <a:gdLst/>
              <a:ahLst/>
              <a:cxnLst/>
              <a:rect l="l" t="t" r="r" b="b"/>
              <a:pathLst>
                <a:path w="3962400" h="728979">
                  <a:moveTo>
                    <a:pt x="3873403" y="728662"/>
                  </a:moveTo>
                  <a:lnTo>
                    <a:pt x="88995" y="728662"/>
                  </a:lnTo>
                  <a:lnTo>
                    <a:pt x="82801" y="728048"/>
                  </a:lnTo>
                  <a:lnTo>
                    <a:pt x="37132" y="709128"/>
                  </a:lnTo>
                  <a:lnTo>
                    <a:pt x="9643" y="675623"/>
                  </a:lnTo>
                  <a:lnTo>
                    <a:pt x="0" y="639663"/>
                  </a:lnTo>
                  <a:lnTo>
                    <a:pt x="0" y="633412"/>
                  </a:lnTo>
                  <a:lnTo>
                    <a:pt x="0" y="75651"/>
                  </a:lnTo>
                  <a:lnTo>
                    <a:pt x="19527" y="31561"/>
                  </a:lnTo>
                  <a:lnTo>
                    <a:pt x="53021" y="8195"/>
                  </a:lnTo>
                  <a:lnTo>
                    <a:pt x="88995" y="0"/>
                  </a:lnTo>
                  <a:lnTo>
                    <a:pt x="3873403" y="0"/>
                  </a:lnTo>
                  <a:lnTo>
                    <a:pt x="3914866" y="10688"/>
                  </a:lnTo>
                  <a:lnTo>
                    <a:pt x="3949821" y="40387"/>
                  </a:lnTo>
                  <a:lnTo>
                    <a:pt x="3962399" y="75651"/>
                  </a:lnTo>
                  <a:lnTo>
                    <a:pt x="3962399" y="639663"/>
                  </a:lnTo>
                  <a:lnTo>
                    <a:pt x="3949821" y="681111"/>
                  </a:lnTo>
                  <a:lnTo>
                    <a:pt x="3914866" y="716077"/>
                  </a:lnTo>
                  <a:lnTo>
                    <a:pt x="3879597" y="728048"/>
                  </a:lnTo>
                  <a:lnTo>
                    <a:pt x="3873403" y="728662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6749" y="5229225"/>
              <a:ext cx="3962400" cy="95250"/>
            </a:xfrm>
            <a:custGeom>
              <a:avLst/>
              <a:gdLst/>
              <a:ahLst/>
              <a:cxnLst/>
              <a:rect l="l" t="t" r="r" b="b"/>
              <a:pathLst>
                <a:path w="3962400" h="95250">
                  <a:moveTo>
                    <a:pt x="0" y="95249"/>
                  </a:moveTo>
                  <a:lnTo>
                    <a:pt x="11259" y="50303"/>
                  </a:lnTo>
                  <a:lnTo>
                    <a:pt x="42321" y="16036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3867149" y="0"/>
                  </a:lnTo>
                  <a:lnTo>
                    <a:pt x="3912094" y="11259"/>
                  </a:lnTo>
                  <a:lnTo>
                    <a:pt x="3935116" y="28574"/>
                  </a:lnTo>
                  <a:lnTo>
                    <a:pt x="95249" y="28574"/>
                  </a:lnTo>
                  <a:lnTo>
                    <a:pt x="85866" y="28892"/>
                  </a:lnTo>
                  <a:lnTo>
                    <a:pt x="42321" y="39801"/>
                  </a:lnTo>
                  <a:lnTo>
                    <a:pt x="11259" y="63787"/>
                  </a:lnTo>
                  <a:lnTo>
                    <a:pt x="452" y="88681"/>
                  </a:lnTo>
                  <a:lnTo>
                    <a:pt x="0" y="95249"/>
                  </a:lnTo>
                  <a:close/>
                </a:path>
                <a:path w="3962400" h="95250">
                  <a:moveTo>
                    <a:pt x="3962399" y="95249"/>
                  </a:moveTo>
                  <a:lnTo>
                    <a:pt x="3946360" y="58199"/>
                  </a:lnTo>
                  <a:lnTo>
                    <a:pt x="3912094" y="36456"/>
                  </a:lnTo>
                  <a:lnTo>
                    <a:pt x="3867149" y="28574"/>
                  </a:lnTo>
                  <a:lnTo>
                    <a:pt x="3935116" y="28574"/>
                  </a:lnTo>
                  <a:lnTo>
                    <a:pt x="3958320" y="67640"/>
                  </a:lnTo>
                  <a:lnTo>
                    <a:pt x="3961946" y="85866"/>
                  </a:lnTo>
                  <a:lnTo>
                    <a:pt x="3962399" y="95249"/>
                  </a:lnTo>
                  <a:close/>
                </a:path>
              </a:pathLst>
            </a:custGeom>
            <a:solidFill>
              <a:srgbClr val="FFCC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965319" y="3788883"/>
            <a:ext cx="2901315" cy="3771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spc="-10" dirty="0">
                <a:solidFill>
                  <a:srgbClr val="FFCC80"/>
                </a:solidFill>
                <a:latin typeface="Segoe UI"/>
                <a:cs typeface="Segoe UI"/>
              </a:rPr>
              <a:t>BBR</a:t>
            </a:r>
            <a:r>
              <a:rPr sz="1000" spc="-50" dirty="0">
                <a:solidFill>
                  <a:srgbClr val="FFCC80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FFCC80"/>
                </a:solidFill>
                <a:latin typeface="Segoe UI"/>
                <a:cs typeface="Segoe UI"/>
              </a:rPr>
              <a:t>/</a:t>
            </a:r>
            <a:r>
              <a:rPr sz="1000" spc="-45" dirty="0">
                <a:solidFill>
                  <a:srgbClr val="FFCC80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FFCC80"/>
                </a:solidFill>
                <a:latin typeface="Segoe UI"/>
                <a:cs typeface="Segoe UI"/>
              </a:rPr>
              <a:t>ORR</a:t>
            </a:r>
            <a:r>
              <a:rPr sz="1000" spc="-50" dirty="0">
                <a:solidFill>
                  <a:srgbClr val="FFCC80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FFCC80"/>
                </a:solidFill>
                <a:latin typeface="Segoe UI"/>
                <a:cs typeface="Segoe UI"/>
              </a:rPr>
              <a:t>(Spatial)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800" spc="-20" dirty="0">
                <a:solidFill>
                  <a:srgbClr val="CCCCCC"/>
                </a:solidFill>
                <a:latin typeface="Segoe UI"/>
                <a:cs typeface="Segoe UI"/>
              </a:rPr>
              <a:t>U-</a:t>
            </a: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Net</a:t>
            </a:r>
            <a:r>
              <a:rPr sz="800" spc="-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CCCCCC"/>
                </a:solidFill>
                <a:latin typeface="Segoe UI"/>
                <a:cs typeface="Segoe UI"/>
              </a:rPr>
              <a:t>bounding</a:t>
            </a:r>
            <a:r>
              <a:rPr sz="800" spc="-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boxes</a:t>
            </a:r>
            <a:r>
              <a:rPr sz="800" spc="-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→</a:t>
            </a:r>
            <a:r>
              <a:rPr sz="800" spc="-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3×3</a:t>
            </a:r>
            <a:r>
              <a:rPr sz="800" spc="-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zoomed</a:t>
            </a:r>
            <a:r>
              <a:rPr sz="800" spc="-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CCCCCC"/>
                </a:solidFill>
                <a:latin typeface="Segoe UI"/>
                <a:cs typeface="Segoe UI"/>
              </a:rPr>
              <a:t>collage</a:t>
            </a:r>
            <a:r>
              <a:rPr sz="800" spc="-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→</a:t>
            </a:r>
            <a:r>
              <a:rPr sz="800" spc="-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VLM</a:t>
            </a:r>
            <a:r>
              <a:rPr sz="800" spc="-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CCCCCC"/>
                </a:solidFill>
                <a:latin typeface="Segoe UI"/>
                <a:cs typeface="Segoe UI"/>
              </a:rPr>
              <a:t>reasoning</a:t>
            </a:r>
            <a:endParaRPr sz="800">
              <a:latin typeface="Segoe UI"/>
              <a:cs typeface="Segoe U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825618" y="4728208"/>
            <a:ext cx="3962400" cy="742950"/>
            <a:chOff x="8591548" y="5229225"/>
            <a:chExt cx="3962400" cy="742950"/>
          </a:xfrm>
        </p:grpSpPr>
        <p:sp>
          <p:nvSpPr>
            <p:cNvPr id="13" name="object 13"/>
            <p:cNvSpPr/>
            <p:nvPr/>
          </p:nvSpPr>
          <p:spPr>
            <a:xfrm>
              <a:off x="8591548" y="5243509"/>
              <a:ext cx="3962400" cy="728980"/>
            </a:xfrm>
            <a:custGeom>
              <a:avLst/>
              <a:gdLst/>
              <a:ahLst/>
              <a:cxnLst/>
              <a:rect l="l" t="t" r="r" b="b"/>
              <a:pathLst>
                <a:path w="3962400" h="728979">
                  <a:moveTo>
                    <a:pt x="3873403" y="728662"/>
                  </a:moveTo>
                  <a:lnTo>
                    <a:pt x="88995" y="728662"/>
                  </a:lnTo>
                  <a:lnTo>
                    <a:pt x="82801" y="728048"/>
                  </a:lnTo>
                  <a:lnTo>
                    <a:pt x="37130" y="709128"/>
                  </a:lnTo>
                  <a:lnTo>
                    <a:pt x="9643" y="675623"/>
                  </a:lnTo>
                  <a:lnTo>
                    <a:pt x="0" y="639663"/>
                  </a:lnTo>
                  <a:lnTo>
                    <a:pt x="0" y="633412"/>
                  </a:lnTo>
                  <a:lnTo>
                    <a:pt x="0" y="75651"/>
                  </a:lnTo>
                  <a:lnTo>
                    <a:pt x="19527" y="31561"/>
                  </a:lnTo>
                  <a:lnTo>
                    <a:pt x="53020" y="8195"/>
                  </a:lnTo>
                  <a:lnTo>
                    <a:pt x="88995" y="0"/>
                  </a:lnTo>
                  <a:lnTo>
                    <a:pt x="3873403" y="0"/>
                  </a:lnTo>
                  <a:lnTo>
                    <a:pt x="3914867" y="10688"/>
                  </a:lnTo>
                  <a:lnTo>
                    <a:pt x="3949820" y="40387"/>
                  </a:lnTo>
                  <a:lnTo>
                    <a:pt x="3962400" y="75651"/>
                  </a:lnTo>
                  <a:lnTo>
                    <a:pt x="3962400" y="639663"/>
                  </a:lnTo>
                  <a:lnTo>
                    <a:pt x="3949820" y="681111"/>
                  </a:lnTo>
                  <a:lnTo>
                    <a:pt x="3914867" y="716077"/>
                  </a:lnTo>
                  <a:lnTo>
                    <a:pt x="3879597" y="728048"/>
                  </a:lnTo>
                  <a:lnTo>
                    <a:pt x="3873403" y="728662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591549" y="5229225"/>
              <a:ext cx="3962400" cy="95250"/>
            </a:xfrm>
            <a:custGeom>
              <a:avLst/>
              <a:gdLst/>
              <a:ahLst/>
              <a:cxnLst/>
              <a:rect l="l" t="t" r="r" b="b"/>
              <a:pathLst>
                <a:path w="3962400" h="95250">
                  <a:moveTo>
                    <a:pt x="0" y="95249"/>
                  </a:moveTo>
                  <a:lnTo>
                    <a:pt x="11258" y="50303"/>
                  </a:lnTo>
                  <a:lnTo>
                    <a:pt x="42320" y="16036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3867149" y="0"/>
                  </a:lnTo>
                  <a:lnTo>
                    <a:pt x="3912094" y="11259"/>
                  </a:lnTo>
                  <a:lnTo>
                    <a:pt x="3935115" y="28574"/>
                  </a:lnTo>
                  <a:lnTo>
                    <a:pt x="95249" y="28574"/>
                  </a:lnTo>
                  <a:lnTo>
                    <a:pt x="85866" y="28892"/>
                  </a:lnTo>
                  <a:lnTo>
                    <a:pt x="42320" y="39801"/>
                  </a:lnTo>
                  <a:lnTo>
                    <a:pt x="11258" y="63787"/>
                  </a:lnTo>
                  <a:lnTo>
                    <a:pt x="452" y="88681"/>
                  </a:lnTo>
                  <a:lnTo>
                    <a:pt x="0" y="95249"/>
                  </a:lnTo>
                  <a:close/>
                </a:path>
                <a:path w="3962400" h="95250">
                  <a:moveTo>
                    <a:pt x="3962399" y="95249"/>
                  </a:moveTo>
                  <a:lnTo>
                    <a:pt x="3946360" y="58199"/>
                  </a:lnTo>
                  <a:lnTo>
                    <a:pt x="3912094" y="36456"/>
                  </a:lnTo>
                  <a:lnTo>
                    <a:pt x="3867149" y="28574"/>
                  </a:lnTo>
                  <a:lnTo>
                    <a:pt x="3935115" y="28574"/>
                  </a:lnTo>
                  <a:lnTo>
                    <a:pt x="3958319" y="67640"/>
                  </a:lnTo>
                  <a:lnTo>
                    <a:pt x="3961945" y="85866"/>
                  </a:lnTo>
                  <a:lnTo>
                    <a:pt x="3962399" y="95249"/>
                  </a:lnTo>
                  <a:close/>
                </a:path>
              </a:pathLst>
            </a:custGeom>
            <a:solidFill>
              <a:srgbClr val="81C7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965320" y="4917437"/>
            <a:ext cx="2723515" cy="3771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spc="-25" dirty="0">
                <a:solidFill>
                  <a:srgbClr val="81C783"/>
                </a:solidFill>
                <a:latin typeface="Segoe UI"/>
                <a:cs typeface="Segoe UI"/>
              </a:rPr>
              <a:t>DTR</a:t>
            </a:r>
            <a:r>
              <a:rPr sz="1000" spc="-45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81C783"/>
                </a:solidFill>
                <a:latin typeface="Segoe UI"/>
                <a:cs typeface="Segoe UI"/>
              </a:rPr>
              <a:t>/</a:t>
            </a:r>
            <a:r>
              <a:rPr sz="1000" spc="-40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81C783"/>
                </a:solidFill>
                <a:latin typeface="Segoe UI"/>
                <a:cs typeface="Segoe UI"/>
              </a:rPr>
              <a:t>DSR</a:t>
            </a:r>
            <a:r>
              <a:rPr sz="1000" spc="-40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81C783"/>
                </a:solidFill>
                <a:latin typeface="Segoe UI"/>
                <a:cs typeface="Segoe UI"/>
              </a:rPr>
              <a:t>/</a:t>
            </a:r>
            <a:r>
              <a:rPr sz="1000" spc="-40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000" spc="-25" dirty="0">
                <a:solidFill>
                  <a:srgbClr val="81C783"/>
                </a:solidFill>
                <a:latin typeface="Segoe UI"/>
                <a:cs typeface="Segoe UI"/>
              </a:rPr>
              <a:t>DRE</a:t>
            </a:r>
            <a:endParaRPr sz="10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Raw</a:t>
            </a:r>
            <a:r>
              <a:rPr sz="800" spc="-3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image</a:t>
            </a:r>
            <a:r>
              <a:rPr sz="800" spc="-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preserved</a:t>
            </a:r>
            <a:r>
              <a:rPr sz="800" spc="-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→</a:t>
            </a:r>
            <a:r>
              <a:rPr sz="800" spc="-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VLM</a:t>
            </a:r>
            <a:r>
              <a:rPr sz="800" spc="-3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CCCCCC"/>
                </a:solidFill>
                <a:latin typeface="Segoe UI"/>
                <a:cs typeface="Segoe UI"/>
              </a:rPr>
              <a:t>reasoning</a:t>
            </a:r>
            <a:r>
              <a:rPr sz="800" spc="-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(full</a:t>
            </a:r>
            <a:r>
              <a:rPr sz="800" spc="-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CCCCCC"/>
                </a:solidFill>
                <a:latin typeface="Segoe UI"/>
                <a:cs typeface="Segoe UI"/>
              </a:rPr>
              <a:t>context</a:t>
            </a:r>
            <a:r>
              <a:rPr sz="800" spc="-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CCCCCC"/>
                </a:solidFill>
                <a:latin typeface="Segoe UI"/>
                <a:cs typeface="Segoe UI"/>
              </a:rPr>
              <a:t>needed)</a:t>
            </a:r>
            <a:endParaRPr sz="800" dirty="0">
              <a:latin typeface="Segoe UI"/>
              <a:cs typeface="Segoe U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6629396"/>
            <a:ext cx="314325" cy="266700"/>
          </a:xfrm>
          <a:custGeom>
            <a:avLst/>
            <a:gdLst/>
            <a:ahLst/>
            <a:cxnLst/>
            <a:rect l="l" t="t" r="r" b="b"/>
            <a:pathLst>
              <a:path w="314325" h="266700">
                <a:moveTo>
                  <a:pt x="314324" y="266699"/>
                </a:moveTo>
                <a:lnTo>
                  <a:pt x="0" y="266699"/>
                </a:lnTo>
                <a:lnTo>
                  <a:pt x="0" y="0"/>
                </a:lnTo>
                <a:lnTo>
                  <a:pt x="314324" y="0"/>
                </a:lnTo>
                <a:lnTo>
                  <a:pt x="31432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2B2C40A-FDBE-7522-5553-26386F90741A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082F275-0A1E-C5BD-613A-74004CA1DEEB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9EDD548-5623-0C81-ABA3-3233C4A11B17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3370" rIns="0" bIns="0" rtlCol="0">
            <a:spAutoFit/>
          </a:bodyPr>
          <a:lstStyle/>
          <a:p>
            <a:pPr marL="690880">
              <a:lnSpc>
                <a:spcPct val="100000"/>
              </a:lnSpc>
              <a:spcBef>
                <a:spcPts val="135"/>
              </a:spcBef>
            </a:pPr>
            <a:r>
              <a:rPr spc="-85" dirty="0"/>
              <a:t>U-</a:t>
            </a:r>
            <a:r>
              <a:rPr spc="-50" dirty="0"/>
              <a:t>Net</a:t>
            </a:r>
            <a:r>
              <a:rPr spc="-120" dirty="0"/>
              <a:t> </a:t>
            </a:r>
            <a:r>
              <a:rPr spc="-70" dirty="0"/>
              <a:t>Segmentation</a:t>
            </a:r>
            <a:r>
              <a:rPr spc="-114" dirty="0"/>
              <a:t> </a:t>
            </a:r>
            <a:r>
              <a:rPr spc="-55" dirty="0"/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95612" y="2056225"/>
            <a:ext cx="612457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10" dirty="0">
                <a:solidFill>
                  <a:srgbClr val="B0BEC4"/>
                </a:solidFill>
                <a:latin typeface="Segoe UI"/>
                <a:cs typeface="Segoe UI"/>
              </a:rPr>
              <a:t>ResNet-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34</a:t>
            </a:r>
            <a:r>
              <a:rPr sz="12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encoder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+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U-Net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decoder</a:t>
            </a:r>
            <a:r>
              <a:rPr sz="12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•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6,443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image-mask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pairs</a:t>
            </a:r>
            <a:r>
              <a:rPr sz="12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•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40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epochs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•</a:t>
            </a:r>
            <a:r>
              <a:rPr sz="12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Single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spc="-25" dirty="0">
                <a:solidFill>
                  <a:srgbClr val="B0BEC4"/>
                </a:solidFill>
                <a:latin typeface="Segoe UI"/>
                <a:cs typeface="Segoe UI"/>
              </a:rPr>
              <a:t>T4</a:t>
            </a:r>
            <a:endParaRPr sz="125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6094" y="2400935"/>
            <a:ext cx="2043430" cy="7296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600" b="1" spc="-10" dirty="0">
                <a:solidFill>
                  <a:srgbClr val="E7D5B6"/>
                </a:solidFill>
                <a:latin typeface="Segoe UI"/>
                <a:cs typeface="Segoe UI"/>
              </a:rPr>
              <a:t>46.19%</a:t>
            </a:r>
            <a:endParaRPr sz="460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8889" y="3069589"/>
            <a:ext cx="65786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B0BEC4"/>
                </a:solidFill>
                <a:latin typeface="Segoe UI"/>
                <a:cs typeface="Segoe UI"/>
              </a:rPr>
              <a:t>Mean</a:t>
            </a:r>
            <a:r>
              <a:rPr sz="1150" spc="-1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150" spc="-25" dirty="0">
                <a:solidFill>
                  <a:srgbClr val="B0BEC4"/>
                </a:solidFill>
                <a:latin typeface="Segoe UI"/>
                <a:cs typeface="Segoe UI"/>
              </a:rPr>
              <a:t>IoU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36194" y="2400935"/>
            <a:ext cx="2043430" cy="7296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600" b="1" spc="-10" dirty="0">
                <a:solidFill>
                  <a:srgbClr val="E7D5B6"/>
                </a:solidFill>
                <a:latin typeface="Segoe UI"/>
                <a:cs typeface="Segoe UI"/>
              </a:rPr>
              <a:t>58.08%</a:t>
            </a:r>
            <a:endParaRPr sz="460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66643" y="3069589"/>
            <a:ext cx="58293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B0BEC4"/>
                </a:solidFill>
                <a:latin typeface="Segoe UI"/>
                <a:cs typeface="Segoe UI"/>
              </a:rPr>
              <a:t>Mean</a:t>
            </a:r>
            <a:r>
              <a:rPr sz="1150" spc="-1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150" spc="-25" dirty="0">
                <a:solidFill>
                  <a:srgbClr val="B0BEC4"/>
                </a:solidFill>
                <a:latin typeface="Segoe UI"/>
                <a:cs typeface="Segoe UI"/>
              </a:rPr>
              <a:t>F1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47807" y="2400935"/>
            <a:ext cx="700405" cy="7296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600" b="1" spc="-25" dirty="0">
                <a:solidFill>
                  <a:srgbClr val="E7D5B6"/>
                </a:solidFill>
                <a:latin typeface="Segoe UI"/>
                <a:cs typeface="Segoe UI"/>
              </a:rPr>
              <a:t>40</a:t>
            </a:r>
            <a:endParaRPr sz="46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55708" y="3069589"/>
            <a:ext cx="48514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spc="-10" dirty="0">
                <a:solidFill>
                  <a:srgbClr val="B0BEC4"/>
                </a:solidFill>
                <a:latin typeface="Segoe UI"/>
                <a:cs typeface="Segoe UI"/>
              </a:rPr>
              <a:t>Epochs</a:t>
            </a:r>
            <a:endParaRPr sz="1150">
              <a:latin typeface="Segoe UI"/>
              <a:cs typeface="Segoe UI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429124" y="3343271"/>
          <a:ext cx="4055742" cy="18865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782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spc="-2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Class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spc="-25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IoU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spc="-1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Precision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spc="-1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Recall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spc="-25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F1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Background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0.9255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0.9935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0.9312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0.9613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Intact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0.4926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0.5357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0.8596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0.6601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Damaged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0.2636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0.2955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0.7101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0.4173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Destroyed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19050">
                      <a:solidFill>
                        <a:srgbClr val="545454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0.1658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19050">
                      <a:solidFill>
                        <a:srgbClr val="545454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0.1812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19050">
                      <a:solidFill>
                        <a:srgbClr val="545454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0.6613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19050">
                      <a:solidFill>
                        <a:srgbClr val="545454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0.2845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19050">
                      <a:solidFill>
                        <a:srgbClr val="545454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97790">
                        <a:lnSpc>
                          <a:spcPts val="1525"/>
                        </a:lnSpc>
                        <a:spcBef>
                          <a:spcPts val="500"/>
                        </a:spcBef>
                      </a:pPr>
                      <a:r>
                        <a:rPr sz="1300" b="1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Mean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T w="19050">
                      <a:solidFill>
                        <a:srgbClr val="54545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525"/>
                        </a:lnSpc>
                        <a:spcBef>
                          <a:spcPts val="500"/>
                        </a:spcBef>
                      </a:pPr>
                      <a:r>
                        <a:rPr sz="1300" b="1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0.4619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T w="19050">
                      <a:solidFill>
                        <a:srgbClr val="54545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525"/>
                        </a:lnSpc>
                        <a:spcBef>
                          <a:spcPts val="500"/>
                        </a:spcBef>
                      </a:pPr>
                      <a:r>
                        <a:rPr sz="1300" b="1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—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T w="19050">
                      <a:solidFill>
                        <a:srgbClr val="54545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525"/>
                        </a:lnSpc>
                        <a:spcBef>
                          <a:spcPts val="500"/>
                        </a:spcBef>
                      </a:pPr>
                      <a:r>
                        <a:rPr sz="1300" b="1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—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T w="19050">
                      <a:solidFill>
                        <a:srgbClr val="54545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525"/>
                        </a:lnSpc>
                        <a:spcBef>
                          <a:spcPts val="500"/>
                        </a:spcBef>
                      </a:pPr>
                      <a:r>
                        <a:rPr sz="1300" b="1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0.5808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T w="19050">
                      <a:solidFill>
                        <a:srgbClr val="545454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2212429" y="5454650"/>
            <a:ext cx="84912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Class weights [0.01, 0.16, 0.91, 2.91] handle extreme imbalance: 6.2B</a:t>
            </a:r>
            <a:r>
              <a:rPr sz="1050" spc="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background vs. 22M destroyed pixels • Loss = 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0.5×Weighted-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CE +</a:t>
            </a:r>
            <a:r>
              <a:rPr sz="1050" spc="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0.5×Dice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6629396"/>
            <a:ext cx="314325" cy="266700"/>
          </a:xfrm>
          <a:custGeom>
            <a:avLst/>
            <a:gdLst/>
            <a:ahLst/>
            <a:cxnLst/>
            <a:rect l="l" t="t" r="r" b="b"/>
            <a:pathLst>
              <a:path w="314325" h="266700">
                <a:moveTo>
                  <a:pt x="314324" y="266699"/>
                </a:moveTo>
                <a:lnTo>
                  <a:pt x="0" y="266699"/>
                </a:lnTo>
                <a:lnTo>
                  <a:pt x="0" y="0"/>
                </a:lnTo>
                <a:lnTo>
                  <a:pt x="314324" y="0"/>
                </a:lnTo>
                <a:lnTo>
                  <a:pt x="31432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F20E193-00A2-FF48-0F7D-1545A03AC601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8B3776E-C96C-8FBE-0EB8-6F211F51574E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EC22678-1EC3-555D-4B7D-B1E18182B983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03923" y="2964814"/>
            <a:ext cx="4123054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spc="-100" dirty="0"/>
              <a:t>Supporting</a:t>
            </a:r>
            <a:r>
              <a:rPr sz="3750" spc="-180" dirty="0"/>
              <a:t> </a:t>
            </a:r>
            <a:r>
              <a:rPr sz="3750" spc="-70" dirty="0"/>
              <a:t>Modules</a:t>
            </a:r>
            <a:endParaRPr sz="3750"/>
          </a:p>
        </p:txBody>
      </p:sp>
      <p:sp>
        <p:nvSpPr>
          <p:cNvPr id="3" name="object 3"/>
          <p:cNvSpPr txBox="1"/>
          <p:nvPr/>
        </p:nvSpPr>
        <p:spPr>
          <a:xfrm>
            <a:off x="2442815" y="3724909"/>
            <a:ext cx="8030209" cy="2495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dirty="0">
                <a:solidFill>
                  <a:srgbClr val="B0BEC4"/>
                </a:solidFill>
                <a:latin typeface="Segoe UI"/>
                <a:cs typeface="Segoe UI"/>
              </a:rPr>
              <a:t>Beyond</a:t>
            </a:r>
            <a:r>
              <a:rPr sz="1450" spc="3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450" dirty="0">
                <a:solidFill>
                  <a:srgbClr val="B0BEC4"/>
                </a:solidFill>
                <a:latin typeface="Segoe UI"/>
                <a:cs typeface="Segoe UI"/>
              </a:rPr>
              <a:t>the</a:t>
            </a:r>
            <a:r>
              <a:rPr sz="1450" spc="3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450" dirty="0">
                <a:solidFill>
                  <a:srgbClr val="B0BEC4"/>
                </a:solidFill>
                <a:latin typeface="Segoe UI"/>
                <a:cs typeface="Segoe UI"/>
              </a:rPr>
              <a:t>core</a:t>
            </a:r>
            <a:r>
              <a:rPr sz="1450" spc="3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450" dirty="0">
                <a:solidFill>
                  <a:srgbClr val="B0BEC4"/>
                </a:solidFill>
                <a:latin typeface="Segoe UI"/>
                <a:cs typeface="Segoe UI"/>
              </a:rPr>
              <a:t>VLM</a:t>
            </a:r>
            <a:r>
              <a:rPr sz="1450" spc="3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450" dirty="0">
                <a:solidFill>
                  <a:srgbClr val="B0BEC4"/>
                </a:solidFill>
                <a:latin typeface="Segoe UI"/>
                <a:cs typeface="Segoe UI"/>
              </a:rPr>
              <a:t>+</a:t>
            </a:r>
            <a:r>
              <a:rPr sz="1450" spc="3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450" dirty="0">
                <a:solidFill>
                  <a:srgbClr val="B0BEC4"/>
                </a:solidFill>
                <a:latin typeface="Segoe UI"/>
                <a:cs typeface="Segoe UI"/>
              </a:rPr>
              <a:t>U-Net</a:t>
            </a:r>
            <a:r>
              <a:rPr sz="1450" spc="3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450" dirty="0">
                <a:solidFill>
                  <a:srgbClr val="B0BEC4"/>
                </a:solidFill>
                <a:latin typeface="Segoe UI"/>
                <a:cs typeface="Segoe UI"/>
              </a:rPr>
              <a:t>pipeline,</a:t>
            </a:r>
            <a:r>
              <a:rPr sz="1450" spc="3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450" dirty="0">
                <a:solidFill>
                  <a:srgbClr val="B0BEC4"/>
                </a:solidFill>
                <a:latin typeface="Segoe UI"/>
                <a:cs typeface="Segoe UI"/>
              </a:rPr>
              <a:t>three</a:t>
            </a:r>
            <a:r>
              <a:rPr sz="1450" spc="3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450" dirty="0">
                <a:solidFill>
                  <a:srgbClr val="B0BEC4"/>
                </a:solidFill>
                <a:latin typeface="Segoe UI"/>
                <a:cs typeface="Segoe UI"/>
              </a:rPr>
              <a:t>additional</a:t>
            </a:r>
            <a:r>
              <a:rPr sz="1450" spc="3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450" dirty="0">
                <a:solidFill>
                  <a:srgbClr val="B0BEC4"/>
                </a:solidFill>
                <a:latin typeface="Segoe UI"/>
                <a:cs typeface="Segoe UI"/>
              </a:rPr>
              <a:t>modules</a:t>
            </a:r>
            <a:r>
              <a:rPr sz="1450" spc="3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450" dirty="0">
                <a:solidFill>
                  <a:srgbClr val="B0BEC4"/>
                </a:solidFill>
                <a:latin typeface="Segoe UI"/>
                <a:cs typeface="Segoe UI"/>
              </a:rPr>
              <a:t>extend</a:t>
            </a:r>
            <a:r>
              <a:rPr sz="1450" spc="3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450" dirty="0">
                <a:solidFill>
                  <a:srgbClr val="B0BEC4"/>
                </a:solidFill>
                <a:latin typeface="Segoe UI"/>
                <a:cs typeface="Segoe UI"/>
              </a:rPr>
              <a:t>the</a:t>
            </a:r>
            <a:r>
              <a:rPr sz="1450" spc="3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450" dirty="0">
                <a:solidFill>
                  <a:srgbClr val="B0BEC4"/>
                </a:solidFill>
                <a:latin typeface="Segoe UI"/>
                <a:cs typeface="Segoe UI"/>
              </a:rPr>
              <a:t>system’s</a:t>
            </a:r>
            <a:r>
              <a:rPr sz="1450" spc="3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450" spc="-10" dirty="0">
                <a:solidFill>
                  <a:srgbClr val="B0BEC4"/>
                </a:solidFill>
                <a:latin typeface="Segoe UI"/>
                <a:cs typeface="Segoe UI"/>
              </a:rPr>
              <a:t>capabilities</a:t>
            </a:r>
            <a:endParaRPr sz="1450">
              <a:latin typeface="Segoe UI"/>
              <a:cs typeface="Segoe U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1949" y="4295771"/>
            <a:ext cx="3933825" cy="942975"/>
          </a:xfrm>
          <a:custGeom>
            <a:avLst/>
            <a:gdLst/>
            <a:ahLst/>
            <a:cxnLst/>
            <a:rect l="l" t="t" r="r" b="b"/>
            <a:pathLst>
              <a:path w="3933825" h="942975">
                <a:moveTo>
                  <a:pt x="3844828" y="942965"/>
                </a:moveTo>
                <a:lnTo>
                  <a:pt x="88995" y="942965"/>
                </a:lnTo>
                <a:lnTo>
                  <a:pt x="82801" y="942351"/>
                </a:lnTo>
                <a:lnTo>
                  <a:pt x="37131" y="923441"/>
                </a:lnTo>
                <a:lnTo>
                  <a:pt x="9643" y="889945"/>
                </a:lnTo>
                <a:lnTo>
                  <a:pt x="0" y="853976"/>
                </a:lnTo>
                <a:lnTo>
                  <a:pt x="0" y="847724"/>
                </a:lnTo>
                <a:lnTo>
                  <a:pt x="0" y="88990"/>
                </a:lnTo>
                <a:lnTo>
                  <a:pt x="12577" y="47531"/>
                </a:lnTo>
                <a:lnTo>
                  <a:pt x="47532" y="12566"/>
                </a:lnTo>
                <a:lnTo>
                  <a:pt x="88995" y="0"/>
                </a:lnTo>
                <a:lnTo>
                  <a:pt x="3844828" y="0"/>
                </a:lnTo>
                <a:lnTo>
                  <a:pt x="3886292" y="12566"/>
                </a:lnTo>
                <a:lnTo>
                  <a:pt x="3921246" y="47523"/>
                </a:lnTo>
                <a:lnTo>
                  <a:pt x="3933824" y="88990"/>
                </a:lnTo>
                <a:lnTo>
                  <a:pt x="3933824" y="853976"/>
                </a:lnTo>
                <a:lnTo>
                  <a:pt x="3921246" y="895433"/>
                </a:lnTo>
                <a:lnTo>
                  <a:pt x="3886292" y="930380"/>
                </a:lnTo>
                <a:lnTo>
                  <a:pt x="3851022" y="942351"/>
                </a:lnTo>
                <a:lnTo>
                  <a:pt x="3844828" y="942965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8989" y="4343829"/>
            <a:ext cx="3362960" cy="704215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1019"/>
              </a:spcBef>
            </a:pPr>
            <a:r>
              <a:rPr sz="1750" spc="-10" dirty="0">
                <a:solidFill>
                  <a:srgbClr val="E7D5B6"/>
                </a:solidFill>
                <a:latin typeface="Segoe UI"/>
                <a:cs typeface="Segoe UI"/>
              </a:rPr>
              <a:t>DisasTeller</a:t>
            </a:r>
            <a:endParaRPr sz="175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Multi-agent</a:t>
            </a:r>
            <a:r>
              <a:rPr sz="1350" spc="3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disaster</a:t>
            </a:r>
            <a:r>
              <a:rPr sz="1350" spc="3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response</a:t>
            </a:r>
            <a:r>
              <a:rPr sz="1350" spc="3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orchestration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486274" y="4295771"/>
            <a:ext cx="3943350" cy="942975"/>
          </a:xfrm>
          <a:custGeom>
            <a:avLst/>
            <a:gdLst/>
            <a:ahLst/>
            <a:cxnLst/>
            <a:rect l="l" t="t" r="r" b="b"/>
            <a:pathLst>
              <a:path w="3943350" h="942975">
                <a:moveTo>
                  <a:pt x="3854353" y="942965"/>
                </a:moveTo>
                <a:lnTo>
                  <a:pt x="88995" y="942965"/>
                </a:lnTo>
                <a:lnTo>
                  <a:pt x="82801" y="942351"/>
                </a:lnTo>
                <a:lnTo>
                  <a:pt x="37131" y="923441"/>
                </a:lnTo>
                <a:lnTo>
                  <a:pt x="9643" y="889945"/>
                </a:lnTo>
                <a:lnTo>
                  <a:pt x="0" y="853976"/>
                </a:lnTo>
                <a:lnTo>
                  <a:pt x="0" y="847724"/>
                </a:lnTo>
                <a:lnTo>
                  <a:pt x="0" y="88990"/>
                </a:lnTo>
                <a:lnTo>
                  <a:pt x="12577" y="47531"/>
                </a:lnTo>
                <a:lnTo>
                  <a:pt x="47531" y="12566"/>
                </a:lnTo>
                <a:lnTo>
                  <a:pt x="88995" y="0"/>
                </a:lnTo>
                <a:lnTo>
                  <a:pt x="3854353" y="0"/>
                </a:lnTo>
                <a:lnTo>
                  <a:pt x="3895817" y="12566"/>
                </a:lnTo>
                <a:lnTo>
                  <a:pt x="3930771" y="47523"/>
                </a:lnTo>
                <a:lnTo>
                  <a:pt x="3943349" y="88990"/>
                </a:lnTo>
                <a:lnTo>
                  <a:pt x="3943349" y="853976"/>
                </a:lnTo>
                <a:lnTo>
                  <a:pt x="3930771" y="895433"/>
                </a:lnTo>
                <a:lnTo>
                  <a:pt x="3895816" y="930380"/>
                </a:lnTo>
                <a:lnTo>
                  <a:pt x="3860548" y="942351"/>
                </a:lnTo>
                <a:lnTo>
                  <a:pt x="3854353" y="942965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28555" y="4343829"/>
            <a:ext cx="2858770" cy="704215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6985" algn="ctr">
              <a:lnSpc>
                <a:spcPct val="100000"/>
              </a:lnSpc>
              <a:spcBef>
                <a:spcPts val="1019"/>
              </a:spcBef>
            </a:pPr>
            <a:r>
              <a:rPr sz="1750" spc="-10" dirty="0">
                <a:solidFill>
                  <a:srgbClr val="E7D5B6"/>
                </a:solidFill>
                <a:latin typeface="Segoe UI"/>
                <a:cs typeface="Segoe UI"/>
              </a:rPr>
              <a:t>DisasterVQA</a:t>
            </a:r>
            <a:endParaRPr sz="175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Cross-benchmark</a:t>
            </a:r>
            <a:r>
              <a:rPr sz="1350" spc="5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evaluation</a:t>
            </a:r>
            <a:r>
              <a:rPr sz="1350" spc="5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pipeline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620123" y="4295771"/>
            <a:ext cx="3933825" cy="942975"/>
          </a:xfrm>
          <a:custGeom>
            <a:avLst/>
            <a:gdLst/>
            <a:ahLst/>
            <a:cxnLst/>
            <a:rect l="l" t="t" r="r" b="b"/>
            <a:pathLst>
              <a:path w="3933825" h="942975">
                <a:moveTo>
                  <a:pt x="3844828" y="942965"/>
                </a:moveTo>
                <a:lnTo>
                  <a:pt x="88995" y="942965"/>
                </a:lnTo>
                <a:lnTo>
                  <a:pt x="82801" y="942351"/>
                </a:lnTo>
                <a:lnTo>
                  <a:pt x="37131" y="923441"/>
                </a:lnTo>
                <a:lnTo>
                  <a:pt x="9643" y="889945"/>
                </a:lnTo>
                <a:lnTo>
                  <a:pt x="0" y="853976"/>
                </a:lnTo>
                <a:lnTo>
                  <a:pt x="0" y="847724"/>
                </a:lnTo>
                <a:lnTo>
                  <a:pt x="0" y="88990"/>
                </a:lnTo>
                <a:lnTo>
                  <a:pt x="12577" y="47531"/>
                </a:lnTo>
                <a:lnTo>
                  <a:pt x="47531" y="12566"/>
                </a:lnTo>
                <a:lnTo>
                  <a:pt x="88995" y="0"/>
                </a:lnTo>
                <a:lnTo>
                  <a:pt x="3844828" y="0"/>
                </a:lnTo>
                <a:lnTo>
                  <a:pt x="3886292" y="12566"/>
                </a:lnTo>
                <a:lnTo>
                  <a:pt x="3921245" y="47523"/>
                </a:lnTo>
                <a:lnTo>
                  <a:pt x="3933825" y="88990"/>
                </a:lnTo>
                <a:lnTo>
                  <a:pt x="3933825" y="853976"/>
                </a:lnTo>
                <a:lnTo>
                  <a:pt x="3921245" y="895433"/>
                </a:lnTo>
                <a:lnTo>
                  <a:pt x="3886292" y="930380"/>
                </a:lnTo>
                <a:lnTo>
                  <a:pt x="3851022" y="942351"/>
                </a:lnTo>
                <a:lnTo>
                  <a:pt x="3844828" y="942965"/>
                </a:lnTo>
                <a:close/>
              </a:path>
            </a:pathLst>
          </a:custGeom>
          <a:solidFill>
            <a:srgbClr val="FFFFFF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317929" y="4343829"/>
            <a:ext cx="2534920" cy="704215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1019"/>
              </a:spcBef>
            </a:pPr>
            <a:r>
              <a:rPr sz="1750" spc="-25" dirty="0">
                <a:solidFill>
                  <a:srgbClr val="E7D5B6"/>
                </a:solidFill>
                <a:latin typeface="Segoe UI"/>
                <a:cs typeface="Segoe UI"/>
              </a:rPr>
              <a:t>VRT</a:t>
            </a:r>
            <a:endParaRPr sz="175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Super-resolution</a:t>
            </a:r>
            <a:r>
              <a:rPr sz="1350" spc="5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feasibility</a:t>
            </a:r>
            <a:r>
              <a:rPr sz="1350" spc="5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20" dirty="0">
                <a:solidFill>
                  <a:srgbClr val="CCCCCC"/>
                </a:solidFill>
                <a:latin typeface="Segoe UI"/>
                <a:cs typeface="Segoe UI"/>
              </a:rPr>
              <a:t>study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6629396"/>
            <a:ext cx="314325" cy="266700"/>
          </a:xfrm>
          <a:custGeom>
            <a:avLst/>
            <a:gdLst/>
            <a:ahLst/>
            <a:cxnLst/>
            <a:rect l="l" t="t" r="r" b="b"/>
            <a:pathLst>
              <a:path w="314325" h="266700">
                <a:moveTo>
                  <a:pt x="314324" y="266699"/>
                </a:moveTo>
                <a:lnTo>
                  <a:pt x="0" y="266699"/>
                </a:lnTo>
                <a:lnTo>
                  <a:pt x="0" y="0"/>
                </a:lnTo>
                <a:lnTo>
                  <a:pt x="314324" y="0"/>
                </a:lnTo>
                <a:lnTo>
                  <a:pt x="31432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B33ADE4-7D85-C07C-6B55-CE414DBF5B90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0F8C3DD-0EC2-2F92-962C-54AFA7F52390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15A7FB6-4367-BF4E-8460-B0B19E4FC190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35375" y="951230"/>
            <a:ext cx="5655945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95" dirty="0"/>
              <a:t>DisasTeller</a:t>
            </a:r>
            <a:r>
              <a:rPr spc="-120" dirty="0"/>
              <a:t> </a:t>
            </a:r>
            <a:r>
              <a:rPr dirty="0"/>
              <a:t>—</a:t>
            </a:r>
            <a:r>
              <a:rPr spc="-120" dirty="0"/>
              <a:t> </a:t>
            </a:r>
            <a:r>
              <a:rPr spc="-85" dirty="0"/>
              <a:t>Multi-</a:t>
            </a:r>
            <a:r>
              <a:rPr spc="-55" dirty="0"/>
              <a:t>Agent</a:t>
            </a:r>
            <a:r>
              <a:rPr spc="-120" dirty="0"/>
              <a:t> </a:t>
            </a:r>
            <a:r>
              <a:rPr spc="-40" dirty="0"/>
              <a:t>Framework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7188" y="3835776"/>
            <a:ext cx="66675" cy="666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7188" y="4331076"/>
            <a:ext cx="66675" cy="666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27188" y="4607301"/>
            <a:ext cx="66675" cy="666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27188" y="4883526"/>
            <a:ext cx="66675" cy="666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52538" y="2870200"/>
            <a:ext cx="5867400" cy="2155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4</a:t>
            </a:r>
            <a:r>
              <a:rPr sz="1400" b="1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sequential</a:t>
            </a:r>
            <a:r>
              <a:rPr sz="1400" b="1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CrewAI</a:t>
            </a:r>
            <a:r>
              <a:rPr sz="1400" b="1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b="1" spc="-10" dirty="0">
                <a:solidFill>
                  <a:srgbClr val="DFDFDF"/>
                </a:solidFill>
                <a:latin typeface="Segoe UI"/>
                <a:cs typeface="Segoe UI"/>
              </a:rPr>
              <a:t>agents: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1550" dirty="0">
                <a:solidFill>
                  <a:srgbClr val="E7D5B6"/>
                </a:solidFill>
                <a:latin typeface="Segoe UI"/>
                <a:cs typeface="Segoe UI"/>
              </a:rPr>
              <a:t>Expert</a:t>
            </a:r>
            <a:r>
              <a:rPr sz="1550" spc="30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E7D5B6"/>
                </a:solidFill>
                <a:latin typeface="Segoe UI"/>
                <a:cs typeface="Segoe UI"/>
              </a:rPr>
              <a:t>→</a:t>
            </a:r>
            <a:r>
              <a:rPr sz="1550" spc="35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E7D5B6"/>
                </a:solidFill>
                <a:latin typeface="Segoe UI"/>
                <a:cs typeface="Segoe UI"/>
              </a:rPr>
              <a:t>Alerts</a:t>
            </a:r>
            <a:r>
              <a:rPr sz="1550" spc="35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E7D5B6"/>
                </a:solidFill>
                <a:latin typeface="Segoe UI"/>
                <a:cs typeface="Segoe UI"/>
              </a:rPr>
              <a:t>→</a:t>
            </a:r>
            <a:r>
              <a:rPr sz="1550" spc="35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E7D5B6"/>
                </a:solidFill>
                <a:latin typeface="Segoe UI"/>
                <a:cs typeface="Segoe UI"/>
              </a:rPr>
              <a:t>Emergency</a:t>
            </a:r>
            <a:r>
              <a:rPr sz="1550" spc="35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550" dirty="0">
                <a:solidFill>
                  <a:srgbClr val="E7D5B6"/>
                </a:solidFill>
                <a:latin typeface="Segoe UI"/>
                <a:cs typeface="Segoe UI"/>
              </a:rPr>
              <a:t>→</a:t>
            </a:r>
            <a:r>
              <a:rPr sz="1550" spc="35" dirty="0">
                <a:solidFill>
                  <a:srgbClr val="E7D5B6"/>
                </a:solidFill>
                <a:latin typeface="Segoe UI"/>
                <a:cs typeface="Segoe UI"/>
              </a:rPr>
              <a:t> </a:t>
            </a:r>
            <a:r>
              <a:rPr sz="1550" spc="-10" dirty="0">
                <a:solidFill>
                  <a:srgbClr val="E7D5B6"/>
                </a:solidFill>
                <a:latin typeface="Segoe UI"/>
                <a:cs typeface="Segoe UI"/>
              </a:rPr>
              <a:t>Assignment</a:t>
            </a:r>
            <a:endParaRPr sz="1550">
              <a:latin typeface="Segoe UI"/>
              <a:cs typeface="Segoe UI"/>
            </a:endParaRPr>
          </a:p>
          <a:p>
            <a:pPr marL="565785" marR="5080">
              <a:lnSpc>
                <a:spcPct val="106500"/>
              </a:lnSpc>
              <a:spcBef>
                <a:spcPts val="1535"/>
              </a:spcBef>
            </a:pP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RAG</a:t>
            </a:r>
            <a:r>
              <a:rPr sz="13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pipeline: EMS-98</a:t>
            </a:r>
            <a:r>
              <a:rPr sz="13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earthquake guidelines chunked</a:t>
            </a:r>
            <a:r>
              <a:rPr sz="13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into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ChromaDB (500-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char,</a:t>
            </a:r>
            <a:r>
              <a:rPr sz="1350" spc="2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top-3</a:t>
            </a:r>
            <a:r>
              <a:rPr sz="135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retrieval)</a:t>
            </a:r>
            <a:endParaRPr sz="1350">
              <a:latin typeface="Segoe UI"/>
              <a:cs typeface="Segoe UI"/>
            </a:endParaRPr>
          </a:p>
          <a:p>
            <a:pPr marL="565785">
              <a:lnSpc>
                <a:spcPct val="100000"/>
              </a:lnSpc>
              <a:spcBef>
                <a:spcPts val="555"/>
              </a:spcBef>
            </a:pP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Gemini Flash-Lite</a:t>
            </a:r>
            <a:r>
              <a:rPr sz="13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vision</a:t>
            </a:r>
            <a:r>
              <a:rPr sz="13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via</a:t>
            </a:r>
            <a:r>
              <a:rPr sz="13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Base64</a:t>
            </a:r>
            <a:r>
              <a:rPr sz="13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image</a:t>
            </a:r>
            <a:r>
              <a:rPr sz="13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encoding</a:t>
            </a:r>
            <a:endParaRPr sz="1350">
              <a:latin typeface="Segoe UI"/>
              <a:cs typeface="Segoe UI"/>
            </a:endParaRPr>
          </a:p>
          <a:p>
            <a:pPr marL="565785" marR="24765">
              <a:lnSpc>
                <a:spcPct val="134300"/>
              </a:lnSpc>
            </a:pP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Automated</a:t>
            </a:r>
            <a:r>
              <a:rPr sz="13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hazard zones,</a:t>
            </a:r>
            <a:r>
              <a:rPr sz="13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resource allocation,</a:t>
            </a:r>
            <a:r>
              <a:rPr sz="13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reconstruction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budgets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Zero</a:t>
            </a:r>
            <a:r>
              <a:rPr sz="13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human intervention</a:t>
            </a:r>
            <a:r>
              <a:rPr sz="13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required</a:t>
            </a:r>
            <a:endParaRPr sz="1350">
              <a:latin typeface="Segoe UI"/>
              <a:cs typeface="Segoe UI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58150" y="1524035"/>
            <a:ext cx="3962400" cy="5257800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0" y="6629395"/>
            <a:ext cx="314325" cy="266700"/>
          </a:xfrm>
          <a:custGeom>
            <a:avLst/>
            <a:gdLst/>
            <a:ahLst/>
            <a:cxnLst/>
            <a:rect l="l" t="t" r="r" b="b"/>
            <a:pathLst>
              <a:path w="314325" h="266700">
                <a:moveTo>
                  <a:pt x="314324" y="266699"/>
                </a:moveTo>
                <a:lnTo>
                  <a:pt x="0" y="266699"/>
                </a:lnTo>
                <a:lnTo>
                  <a:pt x="0" y="0"/>
                </a:lnTo>
                <a:lnTo>
                  <a:pt x="314324" y="0"/>
                </a:lnTo>
                <a:lnTo>
                  <a:pt x="31432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4845159-7D87-6DDF-5E31-AAE764F99370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7F57FEC-E89D-2C1B-BECA-B26DB3862DF6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5C455B7-6D4B-B5EA-BDD1-F17DDBF8C8B6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86087" y="1617980"/>
            <a:ext cx="6154420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85" dirty="0"/>
              <a:t>VRT</a:t>
            </a:r>
            <a:r>
              <a:rPr spc="-135" dirty="0"/>
              <a:t> </a:t>
            </a:r>
            <a:r>
              <a:rPr spc="-80" dirty="0"/>
              <a:t>Super-Resolution</a:t>
            </a:r>
            <a:r>
              <a:rPr spc="-120" dirty="0"/>
              <a:t> </a:t>
            </a:r>
            <a:r>
              <a:rPr dirty="0"/>
              <a:t>—</a:t>
            </a:r>
            <a:r>
              <a:rPr spc="-120" dirty="0"/>
              <a:t> </a:t>
            </a:r>
            <a:r>
              <a:rPr spc="-70" dirty="0"/>
              <a:t>Feasibility</a:t>
            </a:r>
            <a:r>
              <a:rPr spc="-120" dirty="0"/>
              <a:t> </a:t>
            </a:r>
            <a:r>
              <a:rPr spc="-20" dirty="0"/>
              <a:t>Study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899" y="3152770"/>
            <a:ext cx="66675" cy="666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3899" y="3428995"/>
            <a:ext cx="66675" cy="666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3899" y="3705220"/>
            <a:ext cx="66675" cy="666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899" y="3981445"/>
            <a:ext cx="66675" cy="666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3899" y="4257670"/>
            <a:ext cx="66675" cy="6666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49249" y="2634869"/>
            <a:ext cx="5934075" cy="2409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Video</a:t>
            </a:r>
            <a:r>
              <a:rPr sz="140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Restoration</a:t>
            </a:r>
            <a:r>
              <a:rPr sz="140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Transformer</a:t>
            </a:r>
            <a:r>
              <a:rPr sz="140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applied</a:t>
            </a:r>
            <a:r>
              <a:rPr sz="140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to</a:t>
            </a:r>
            <a:r>
              <a:rPr sz="140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static</a:t>
            </a:r>
            <a:r>
              <a:rPr sz="140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satellite</a:t>
            </a:r>
            <a:r>
              <a:rPr sz="140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DFDFDF"/>
                </a:solidFill>
                <a:latin typeface="Segoe UI"/>
                <a:cs typeface="Segoe UI"/>
              </a:rPr>
              <a:t>imagery</a:t>
            </a:r>
            <a:endParaRPr sz="1400">
              <a:latin typeface="Segoe UI"/>
              <a:cs typeface="Segoe UI"/>
            </a:endParaRPr>
          </a:p>
          <a:p>
            <a:pPr marL="565785">
              <a:lnSpc>
                <a:spcPct val="100000"/>
              </a:lnSpc>
              <a:spcBef>
                <a:spcPts val="1670"/>
              </a:spcBef>
            </a:pP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1024×1024</a:t>
            </a:r>
            <a:r>
              <a:rPr sz="13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→ 4096×4096 (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4× </a:t>
            </a:r>
            <a:r>
              <a:rPr sz="1350" b="1" spc="-10" dirty="0">
                <a:solidFill>
                  <a:srgbClr val="DFDFDF"/>
                </a:solidFill>
                <a:latin typeface="Segoe UI"/>
                <a:cs typeface="Segoe UI"/>
              </a:rPr>
              <a:t>upscale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)</a:t>
            </a:r>
            <a:endParaRPr sz="1350">
              <a:latin typeface="Segoe UI"/>
              <a:cs typeface="Segoe UI"/>
            </a:endParaRPr>
          </a:p>
          <a:p>
            <a:pPr marL="565785" marR="1204595">
              <a:lnSpc>
                <a:spcPct val="134300"/>
              </a:lnSpc>
            </a:pP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Static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images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duplicated</a:t>
            </a:r>
            <a:r>
              <a:rPr sz="13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as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pseudo-video</a:t>
            </a:r>
            <a:r>
              <a:rPr sz="13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sequences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Spatial-temporal</a:t>
            </a:r>
            <a:r>
              <a:rPr sz="13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tiling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prevents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GPU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memory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overflow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Proof-of-concept on</a:t>
            </a:r>
            <a:r>
              <a:rPr sz="13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3 sample</a:t>
            </a:r>
            <a:r>
              <a:rPr sz="1350" b="1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spc="-10" dirty="0">
                <a:solidFill>
                  <a:srgbClr val="DFDFDF"/>
                </a:solidFill>
                <a:latin typeface="Segoe UI"/>
                <a:cs typeface="Segoe UI"/>
              </a:rPr>
              <a:t>images</a:t>
            </a:r>
            <a:endParaRPr sz="1350">
              <a:latin typeface="Segoe UI"/>
              <a:cs typeface="Segoe UI"/>
            </a:endParaRPr>
          </a:p>
          <a:p>
            <a:pPr marL="565785">
              <a:lnSpc>
                <a:spcPct val="100000"/>
              </a:lnSpc>
              <a:spcBef>
                <a:spcPts val="555"/>
              </a:spcBef>
            </a:pP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Structural</a:t>
            </a:r>
            <a:r>
              <a:rPr sz="1350" spc="-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fidelity</a:t>
            </a:r>
            <a:r>
              <a:rPr sz="1350" spc="-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preserved</a:t>
            </a:r>
            <a:r>
              <a:rPr sz="1350" spc="-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after</a:t>
            </a:r>
            <a:r>
              <a:rPr sz="1350" spc="-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upscaling</a:t>
            </a:r>
            <a:endParaRPr sz="13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350">
              <a:latin typeface="Segoe UI"/>
              <a:cs typeface="Segoe UI"/>
            </a:endParaRPr>
          </a:p>
          <a:p>
            <a:pPr marL="12700" marR="5080">
              <a:lnSpc>
                <a:spcPct val="109400"/>
              </a:lnSpc>
            </a:pPr>
            <a:r>
              <a:rPr sz="1200" dirty="0">
                <a:solidFill>
                  <a:srgbClr val="B0BEC4"/>
                </a:solidFill>
                <a:latin typeface="Segoe UI"/>
                <a:cs typeface="Segoe UI"/>
              </a:rPr>
              <a:t>Batch</a:t>
            </a:r>
            <a:r>
              <a:rPr sz="120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B0BEC4"/>
                </a:solidFill>
                <a:latin typeface="Segoe UI"/>
                <a:cs typeface="Segoe UI"/>
              </a:rPr>
              <a:t>processing</a:t>
            </a:r>
            <a:r>
              <a:rPr sz="1200" spc="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B0BEC4"/>
                </a:solidFill>
                <a:latin typeface="Segoe UI"/>
                <a:cs typeface="Segoe UI"/>
              </a:rPr>
              <a:t>over</a:t>
            </a:r>
            <a:r>
              <a:rPr sz="120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B0BEC4"/>
                </a:solidFill>
                <a:latin typeface="Segoe UI"/>
                <a:cs typeface="Segoe UI"/>
              </a:rPr>
              <a:t>the</a:t>
            </a:r>
            <a:r>
              <a:rPr sz="1200" spc="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B0BEC4"/>
                </a:solidFill>
                <a:latin typeface="Segoe UI"/>
                <a:cs typeface="Segoe UI"/>
              </a:rPr>
              <a:t>full</a:t>
            </a:r>
            <a:r>
              <a:rPr sz="120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B0BEC4"/>
                </a:solidFill>
                <a:latin typeface="Segoe UI"/>
                <a:cs typeface="Segoe UI"/>
              </a:rPr>
              <a:t>13,000-image</a:t>
            </a:r>
            <a:r>
              <a:rPr sz="1200" spc="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B0BEC4"/>
                </a:solidFill>
                <a:latin typeface="Segoe UI"/>
                <a:cs typeface="Segoe UI"/>
              </a:rPr>
              <a:t>benchmark</a:t>
            </a:r>
            <a:r>
              <a:rPr sz="120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B0BEC4"/>
                </a:solidFill>
                <a:latin typeface="Segoe UI"/>
                <a:cs typeface="Segoe UI"/>
              </a:rPr>
              <a:t>set</a:t>
            </a:r>
            <a:r>
              <a:rPr sz="1200" spc="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B0BEC4"/>
                </a:solidFill>
                <a:latin typeface="Segoe UI"/>
                <a:cs typeface="Segoe UI"/>
              </a:rPr>
              <a:t>remains</a:t>
            </a:r>
            <a:r>
              <a:rPr sz="120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B0BEC4"/>
                </a:solidFill>
                <a:latin typeface="Segoe UI"/>
                <a:cs typeface="Segoe UI"/>
              </a:rPr>
              <a:t>future</a:t>
            </a:r>
            <a:r>
              <a:rPr sz="1200" spc="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B0BEC4"/>
                </a:solidFill>
                <a:latin typeface="Segoe UI"/>
                <a:cs typeface="Segoe UI"/>
              </a:rPr>
              <a:t>work</a:t>
            </a:r>
            <a:r>
              <a:rPr sz="120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B0BEC4"/>
                </a:solidFill>
                <a:latin typeface="Segoe UI"/>
                <a:cs typeface="Segoe UI"/>
              </a:rPr>
              <a:t>due</a:t>
            </a:r>
            <a:r>
              <a:rPr sz="1200" spc="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00" spc="-25" dirty="0">
                <a:solidFill>
                  <a:srgbClr val="B0BEC4"/>
                </a:solidFill>
                <a:latin typeface="Segoe UI"/>
                <a:cs typeface="Segoe UI"/>
              </a:rPr>
              <a:t>to </a:t>
            </a:r>
            <a:r>
              <a:rPr sz="1200" dirty="0">
                <a:solidFill>
                  <a:srgbClr val="B0BEC4"/>
                </a:solidFill>
                <a:latin typeface="Segoe UI"/>
                <a:cs typeface="Segoe UI"/>
              </a:rPr>
              <a:t>high</a:t>
            </a:r>
            <a:r>
              <a:rPr sz="1200" spc="3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B0BEC4"/>
                </a:solidFill>
                <a:latin typeface="Segoe UI"/>
                <a:cs typeface="Segoe UI"/>
              </a:rPr>
              <a:t>per-image</a:t>
            </a:r>
            <a:r>
              <a:rPr sz="1200" spc="3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B0BEC4"/>
                </a:solidFill>
                <a:latin typeface="Segoe UI"/>
                <a:cs typeface="Segoe UI"/>
              </a:rPr>
              <a:t>inference</a:t>
            </a:r>
            <a:r>
              <a:rPr sz="1200" spc="3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00" spc="-20" dirty="0">
                <a:solidFill>
                  <a:srgbClr val="B0BEC4"/>
                </a:solidFill>
                <a:latin typeface="Segoe UI"/>
                <a:cs typeface="Segoe UI"/>
              </a:rPr>
              <a:t>cost.</a:t>
            </a:r>
            <a:endParaRPr sz="1200">
              <a:latin typeface="Segoe UI"/>
              <a:cs typeface="Segoe UI"/>
            </a:endParaRPr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97338" y="2454988"/>
            <a:ext cx="5604212" cy="3082212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0" y="6629395"/>
            <a:ext cx="314325" cy="266700"/>
          </a:xfrm>
          <a:custGeom>
            <a:avLst/>
            <a:gdLst/>
            <a:ahLst/>
            <a:cxnLst/>
            <a:rect l="l" t="t" r="r" b="b"/>
            <a:pathLst>
              <a:path w="314325" h="266700">
                <a:moveTo>
                  <a:pt x="314324" y="266699"/>
                </a:moveTo>
                <a:lnTo>
                  <a:pt x="0" y="266699"/>
                </a:lnTo>
                <a:lnTo>
                  <a:pt x="0" y="0"/>
                </a:lnTo>
                <a:lnTo>
                  <a:pt x="314324" y="0"/>
                </a:lnTo>
                <a:lnTo>
                  <a:pt x="31432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E5A17FB-96FF-C1F6-1BDB-D3236BDB4A35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02E620E-38C2-C890-7740-22801E67260C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FB19916-8F9A-AA27-F4DE-0FB44E99D239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74666" y="1160780"/>
            <a:ext cx="3177540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75" dirty="0"/>
              <a:t>Reproduction</a:t>
            </a:r>
            <a:r>
              <a:rPr spc="-120" dirty="0"/>
              <a:t> </a:t>
            </a:r>
            <a:r>
              <a:rPr spc="-60" dirty="0"/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86671" y="1785620"/>
            <a:ext cx="3942715" cy="2336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The</a:t>
            </a:r>
            <a:r>
              <a:rPr sz="135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Core</a:t>
            </a:r>
            <a:r>
              <a:rPr sz="1350" spc="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Contribution</a:t>
            </a:r>
            <a:r>
              <a:rPr sz="1350" spc="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—</a:t>
            </a:r>
            <a:r>
              <a:rPr sz="1350" spc="2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B0BEC4"/>
                </a:solidFill>
                <a:latin typeface="Segoe UI"/>
                <a:cs typeface="Segoe UI"/>
              </a:rPr>
              <a:t>Reproduction-Delta</a:t>
            </a:r>
            <a:r>
              <a:rPr sz="1350" spc="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B0BEC4"/>
                </a:solidFill>
                <a:latin typeface="Segoe UI"/>
                <a:cs typeface="Segoe UI"/>
              </a:rPr>
              <a:t>Table</a:t>
            </a:r>
            <a:endParaRPr sz="1350">
              <a:latin typeface="Segoe UI"/>
              <a:cs typeface="Segoe U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05199" y="2209795"/>
          <a:ext cx="5902322" cy="2513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1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5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53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2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spc="-2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Task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spc="-5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N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spc="-2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Ours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spc="-1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Baseline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Δ</a:t>
                      </a:r>
                      <a:r>
                        <a:rPr sz="1300" b="1" spc="-1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b="1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from</a:t>
                      </a:r>
                      <a:r>
                        <a:rPr sz="1300" b="1" spc="-1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Base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Paper</a:t>
                      </a:r>
                      <a:r>
                        <a:rPr sz="1300" b="1" spc="-4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FT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DTR</a:t>
                      </a:r>
                      <a:r>
                        <a:rPr sz="1300" spc="-3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(Disaster</a:t>
                      </a:r>
                      <a:r>
                        <a:rPr sz="1300" spc="-3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Type)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420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68.33%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66.6%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b="1" spc="-10" dirty="0">
                          <a:solidFill>
                            <a:srgbClr val="81C783"/>
                          </a:solidFill>
                          <a:latin typeface="Segoe UI"/>
                          <a:cs typeface="Segoe UI"/>
                        </a:rPr>
                        <a:t>+1.73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83.6%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BBR</a:t>
                      </a: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(Bearing</a:t>
                      </a:r>
                      <a:r>
                        <a:rPr sz="1300" spc="-1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Body)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2,361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16.39%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4.7%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b="1" spc="-10" dirty="0">
                          <a:solidFill>
                            <a:srgbClr val="81C783"/>
                          </a:solidFill>
                          <a:latin typeface="Segoe UI"/>
                          <a:cs typeface="Segoe UI"/>
                        </a:rPr>
                        <a:t>+11.69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21.5%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BDC</a:t>
                      </a:r>
                      <a:r>
                        <a:rPr sz="1300" spc="-1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(Building</a:t>
                      </a:r>
                      <a:r>
                        <a:rPr sz="1300" spc="-1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Count)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4,978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23.58%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34.2%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EF9999"/>
                          </a:solidFill>
                          <a:latin typeface="Segoe UI"/>
                          <a:cs typeface="Segoe UI"/>
                        </a:rPr>
                        <a:t>−10.62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34.3%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DRE</a:t>
                      </a:r>
                      <a:r>
                        <a:rPr sz="1300" spc="-3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(Road</a:t>
                      </a:r>
                      <a:r>
                        <a:rPr sz="1300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Damage)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2,176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26.24%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29.3%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EF9999"/>
                          </a:solidFill>
                          <a:latin typeface="Segoe UI"/>
                          <a:cs typeface="Segoe UI"/>
                        </a:rPr>
                        <a:t>−3.06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29.4%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DSR</a:t>
                      </a:r>
                      <a:r>
                        <a:rPr sz="1300" spc="-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(Scene </a:t>
                      </a: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Recog.)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2,006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31.31%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28.3%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b="1" spc="-10" dirty="0">
                          <a:solidFill>
                            <a:srgbClr val="81C783"/>
                          </a:solidFill>
                          <a:latin typeface="Segoe UI"/>
                          <a:cs typeface="Segoe UI"/>
                        </a:rPr>
                        <a:t>+3.01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37.7%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ORR </a:t>
                      </a: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(Relational)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19050">
                      <a:solidFill>
                        <a:srgbClr val="545454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1,018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19050">
                      <a:solidFill>
                        <a:srgbClr val="545454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22.50%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19050">
                      <a:solidFill>
                        <a:srgbClr val="545454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23.9%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19050">
                      <a:solidFill>
                        <a:srgbClr val="545454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EF9999"/>
                          </a:solidFill>
                          <a:latin typeface="Segoe UI"/>
                          <a:cs typeface="Segoe UI"/>
                        </a:rPr>
                        <a:t>−1.40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19050">
                      <a:solidFill>
                        <a:srgbClr val="545454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36.2%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19050">
                      <a:solidFill>
                        <a:srgbClr val="545454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93345">
                        <a:lnSpc>
                          <a:spcPts val="1525"/>
                        </a:lnSpc>
                        <a:spcBef>
                          <a:spcPts val="500"/>
                        </a:spcBef>
                      </a:pPr>
                      <a:r>
                        <a:rPr sz="1300" b="1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Average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T w="19050">
                      <a:solidFill>
                        <a:srgbClr val="54545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525"/>
                        </a:lnSpc>
                        <a:spcBef>
                          <a:spcPts val="500"/>
                        </a:spcBef>
                      </a:pPr>
                      <a:r>
                        <a:rPr sz="1300" b="1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—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T w="19050">
                      <a:solidFill>
                        <a:srgbClr val="54545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525"/>
                        </a:lnSpc>
                        <a:spcBef>
                          <a:spcPts val="500"/>
                        </a:spcBef>
                      </a:pPr>
                      <a:r>
                        <a:rPr sz="1300" b="1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31.39%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T w="19050">
                      <a:solidFill>
                        <a:srgbClr val="54545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525"/>
                        </a:lnSpc>
                        <a:spcBef>
                          <a:spcPts val="500"/>
                        </a:spcBef>
                      </a:pPr>
                      <a:r>
                        <a:rPr sz="1300" b="1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31.2%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T w="19050">
                      <a:solidFill>
                        <a:srgbClr val="54545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525"/>
                        </a:lnSpc>
                        <a:spcBef>
                          <a:spcPts val="500"/>
                        </a:spcBef>
                      </a:pPr>
                      <a:r>
                        <a:rPr sz="1300" b="1" spc="-10" dirty="0">
                          <a:solidFill>
                            <a:srgbClr val="81C783"/>
                          </a:solidFill>
                          <a:latin typeface="Segoe UI"/>
                          <a:cs typeface="Segoe UI"/>
                        </a:rPr>
                        <a:t>+0.39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T w="19050">
                      <a:solidFill>
                        <a:srgbClr val="54545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525"/>
                        </a:lnSpc>
                        <a:spcBef>
                          <a:spcPts val="500"/>
                        </a:spcBef>
                      </a:pPr>
                      <a:r>
                        <a:rPr sz="1300" b="1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40.4%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T w="19050">
                      <a:solidFill>
                        <a:srgbClr val="545454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361949" y="4914894"/>
            <a:ext cx="6019800" cy="1190625"/>
            <a:chOff x="361949" y="4914894"/>
            <a:chExt cx="6019800" cy="1190625"/>
          </a:xfrm>
        </p:grpSpPr>
        <p:sp>
          <p:nvSpPr>
            <p:cNvPr id="6" name="object 6"/>
            <p:cNvSpPr/>
            <p:nvPr/>
          </p:nvSpPr>
          <p:spPr>
            <a:xfrm>
              <a:off x="376237" y="4914895"/>
              <a:ext cx="6005830" cy="1190625"/>
            </a:xfrm>
            <a:custGeom>
              <a:avLst/>
              <a:gdLst/>
              <a:ahLst/>
              <a:cxnLst/>
              <a:rect l="l" t="t" r="r" b="b"/>
              <a:pathLst>
                <a:path w="6005830" h="1190625">
                  <a:moveTo>
                    <a:pt x="5916515" y="1190615"/>
                  </a:moveTo>
                  <a:lnTo>
                    <a:pt x="75646" y="1190615"/>
                  </a:lnTo>
                  <a:lnTo>
                    <a:pt x="70381" y="1190001"/>
                  </a:lnTo>
                  <a:lnTo>
                    <a:pt x="31561" y="1171081"/>
                  </a:lnTo>
                  <a:lnTo>
                    <a:pt x="8197" y="1137585"/>
                  </a:lnTo>
                  <a:lnTo>
                    <a:pt x="0" y="1101626"/>
                  </a:lnTo>
                  <a:lnTo>
                    <a:pt x="0" y="1095374"/>
                  </a:lnTo>
                  <a:lnTo>
                    <a:pt x="0" y="88990"/>
                  </a:lnTo>
                  <a:lnTo>
                    <a:pt x="10691" y="47513"/>
                  </a:lnTo>
                  <a:lnTo>
                    <a:pt x="40402" y="12566"/>
                  </a:lnTo>
                  <a:lnTo>
                    <a:pt x="75646" y="0"/>
                  </a:lnTo>
                  <a:lnTo>
                    <a:pt x="5916515" y="0"/>
                  </a:lnTo>
                  <a:lnTo>
                    <a:pt x="5957978" y="12566"/>
                  </a:lnTo>
                  <a:lnTo>
                    <a:pt x="5992933" y="47513"/>
                  </a:lnTo>
                  <a:lnTo>
                    <a:pt x="6005511" y="88990"/>
                  </a:lnTo>
                  <a:lnTo>
                    <a:pt x="6005511" y="1101626"/>
                  </a:lnTo>
                  <a:lnTo>
                    <a:pt x="5992933" y="1143083"/>
                  </a:lnTo>
                  <a:lnTo>
                    <a:pt x="5957978" y="1178029"/>
                  </a:lnTo>
                  <a:lnTo>
                    <a:pt x="5922708" y="1190001"/>
                  </a:lnTo>
                  <a:lnTo>
                    <a:pt x="5916515" y="1190615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1949" y="4914894"/>
              <a:ext cx="95250" cy="1190625"/>
            </a:xfrm>
            <a:custGeom>
              <a:avLst/>
              <a:gdLst/>
              <a:ahLst/>
              <a:cxnLst/>
              <a:rect l="l" t="t" r="r" b="b"/>
              <a:pathLst>
                <a:path w="95250" h="1190625">
                  <a:moveTo>
                    <a:pt x="95250" y="1190624"/>
                  </a:moveTo>
                  <a:lnTo>
                    <a:pt x="50303" y="1179369"/>
                  </a:lnTo>
                  <a:lnTo>
                    <a:pt x="16037" y="1148307"/>
                  </a:lnTo>
                  <a:lnTo>
                    <a:pt x="453" y="1104762"/>
                  </a:lnTo>
                  <a:lnTo>
                    <a:pt x="0" y="1095379"/>
                  </a:lnTo>
                  <a:lnTo>
                    <a:pt x="0" y="95254"/>
                  </a:lnTo>
                  <a:lnTo>
                    <a:pt x="11259" y="50308"/>
                  </a:lnTo>
                  <a:lnTo>
                    <a:pt x="42321" y="16041"/>
                  </a:lnTo>
                  <a:lnTo>
                    <a:pt x="85866" y="457"/>
                  </a:lnTo>
                  <a:lnTo>
                    <a:pt x="95250" y="0"/>
                  </a:lnTo>
                  <a:lnTo>
                    <a:pt x="88681" y="457"/>
                  </a:lnTo>
                  <a:lnTo>
                    <a:pt x="82239" y="1817"/>
                  </a:lnTo>
                  <a:lnTo>
                    <a:pt x="48103" y="27902"/>
                  </a:lnTo>
                  <a:lnTo>
                    <a:pt x="31429" y="67645"/>
                  </a:lnTo>
                  <a:lnTo>
                    <a:pt x="28575" y="95254"/>
                  </a:lnTo>
                  <a:lnTo>
                    <a:pt x="28575" y="1095379"/>
                  </a:lnTo>
                  <a:lnTo>
                    <a:pt x="36456" y="1140324"/>
                  </a:lnTo>
                  <a:lnTo>
                    <a:pt x="58200" y="1174591"/>
                  </a:lnTo>
                  <a:lnTo>
                    <a:pt x="88681" y="1190176"/>
                  </a:lnTo>
                  <a:lnTo>
                    <a:pt x="95250" y="1190624"/>
                  </a:lnTo>
                  <a:close/>
                </a:path>
              </a:pathLst>
            </a:custGeom>
            <a:solidFill>
              <a:srgbClr val="81C7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0225" y="4950498"/>
            <a:ext cx="5551170" cy="97409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750" spc="-45" dirty="0">
                <a:solidFill>
                  <a:srgbClr val="81C783"/>
                </a:solidFill>
                <a:latin typeface="Segoe UI"/>
                <a:cs typeface="Segoe UI"/>
              </a:rPr>
              <a:t>Classification</a:t>
            </a:r>
            <a:r>
              <a:rPr sz="1750" spc="-30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750" spc="-50" dirty="0">
                <a:solidFill>
                  <a:srgbClr val="81C783"/>
                </a:solidFill>
                <a:latin typeface="Segoe UI"/>
                <a:cs typeface="Segoe UI"/>
              </a:rPr>
              <a:t>↑</a:t>
            </a:r>
            <a:endParaRPr sz="1750">
              <a:latin typeface="Segoe UI"/>
              <a:cs typeface="Segoe UI"/>
            </a:endParaRPr>
          </a:p>
          <a:p>
            <a:pPr marL="12700" marR="5080">
              <a:lnSpc>
                <a:spcPct val="120400"/>
              </a:lnSpc>
              <a:spcBef>
                <a:spcPts val="445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DTR,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BBR,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DSR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improved.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BBR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CCCCCC"/>
                </a:solidFill>
                <a:latin typeface="Segoe UI"/>
                <a:cs typeface="Segoe UI"/>
              </a:rPr>
              <a:t>+11.69%</a:t>
            </a:r>
            <a:r>
              <a:rPr sz="1350" b="1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from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near-random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4.7%.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QLoRA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effectively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taught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disaster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vocabulary.</a:t>
            </a:r>
            <a:endParaRPr sz="1350">
              <a:latin typeface="Segoe UI"/>
              <a:cs typeface="Segoe U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534149" y="4914894"/>
            <a:ext cx="6019800" cy="1190625"/>
            <a:chOff x="6534149" y="4914894"/>
            <a:chExt cx="6019800" cy="1190625"/>
          </a:xfrm>
        </p:grpSpPr>
        <p:sp>
          <p:nvSpPr>
            <p:cNvPr id="10" name="object 10"/>
            <p:cNvSpPr/>
            <p:nvPr/>
          </p:nvSpPr>
          <p:spPr>
            <a:xfrm>
              <a:off x="6548436" y="4914895"/>
              <a:ext cx="6005830" cy="1190625"/>
            </a:xfrm>
            <a:custGeom>
              <a:avLst/>
              <a:gdLst/>
              <a:ahLst/>
              <a:cxnLst/>
              <a:rect l="l" t="t" r="r" b="b"/>
              <a:pathLst>
                <a:path w="6005830" h="1190625">
                  <a:moveTo>
                    <a:pt x="5916515" y="1190615"/>
                  </a:moveTo>
                  <a:lnTo>
                    <a:pt x="75646" y="1190615"/>
                  </a:lnTo>
                  <a:lnTo>
                    <a:pt x="70381" y="1190001"/>
                  </a:lnTo>
                  <a:lnTo>
                    <a:pt x="31561" y="1171081"/>
                  </a:lnTo>
                  <a:lnTo>
                    <a:pt x="8196" y="1137585"/>
                  </a:lnTo>
                  <a:lnTo>
                    <a:pt x="0" y="1101626"/>
                  </a:lnTo>
                  <a:lnTo>
                    <a:pt x="0" y="1095374"/>
                  </a:lnTo>
                  <a:lnTo>
                    <a:pt x="0" y="88990"/>
                  </a:lnTo>
                  <a:lnTo>
                    <a:pt x="10690" y="47513"/>
                  </a:lnTo>
                  <a:lnTo>
                    <a:pt x="40402" y="12566"/>
                  </a:lnTo>
                  <a:lnTo>
                    <a:pt x="75646" y="0"/>
                  </a:lnTo>
                  <a:lnTo>
                    <a:pt x="5916515" y="0"/>
                  </a:lnTo>
                  <a:lnTo>
                    <a:pt x="5957979" y="12566"/>
                  </a:lnTo>
                  <a:lnTo>
                    <a:pt x="5992933" y="47513"/>
                  </a:lnTo>
                  <a:lnTo>
                    <a:pt x="6005512" y="88990"/>
                  </a:lnTo>
                  <a:lnTo>
                    <a:pt x="6005512" y="1101626"/>
                  </a:lnTo>
                  <a:lnTo>
                    <a:pt x="5992933" y="1143083"/>
                  </a:lnTo>
                  <a:lnTo>
                    <a:pt x="5957979" y="1178029"/>
                  </a:lnTo>
                  <a:lnTo>
                    <a:pt x="5922709" y="1190001"/>
                  </a:lnTo>
                  <a:lnTo>
                    <a:pt x="5916515" y="1190615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534149" y="4914894"/>
              <a:ext cx="95250" cy="1190625"/>
            </a:xfrm>
            <a:custGeom>
              <a:avLst/>
              <a:gdLst/>
              <a:ahLst/>
              <a:cxnLst/>
              <a:rect l="l" t="t" r="r" b="b"/>
              <a:pathLst>
                <a:path w="95250" h="1190625">
                  <a:moveTo>
                    <a:pt x="95250" y="1190624"/>
                  </a:moveTo>
                  <a:lnTo>
                    <a:pt x="50303" y="1179369"/>
                  </a:lnTo>
                  <a:lnTo>
                    <a:pt x="16037" y="1148307"/>
                  </a:lnTo>
                  <a:lnTo>
                    <a:pt x="453" y="1104762"/>
                  </a:lnTo>
                  <a:lnTo>
                    <a:pt x="0" y="1095379"/>
                  </a:lnTo>
                  <a:lnTo>
                    <a:pt x="0" y="95254"/>
                  </a:lnTo>
                  <a:lnTo>
                    <a:pt x="11259" y="50308"/>
                  </a:lnTo>
                  <a:lnTo>
                    <a:pt x="42321" y="16041"/>
                  </a:lnTo>
                  <a:lnTo>
                    <a:pt x="85866" y="457"/>
                  </a:lnTo>
                  <a:lnTo>
                    <a:pt x="95250" y="0"/>
                  </a:lnTo>
                  <a:lnTo>
                    <a:pt x="88682" y="457"/>
                  </a:lnTo>
                  <a:lnTo>
                    <a:pt x="82239" y="1817"/>
                  </a:lnTo>
                  <a:lnTo>
                    <a:pt x="48103" y="27902"/>
                  </a:lnTo>
                  <a:lnTo>
                    <a:pt x="31429" y="67645"/>
                  </a:lnTo>
                  <a:lnTo>
                    <a:pt x="28575" y="95254"/>
                  </a:lnTo>
                  <a:lnTo>
                    <a:pt x="28575" y="1095379"/>
                  </a:lnTo>
                  <a:lnTo>
                    <a:pt x="36456" y="1140324"/>
                  </a:lnTo>
                  <a:lnTo>
                    <a:pt x="58200" y="1174591"/>
                  </a:lnTo>
                  <a:lnTo>
                    <a:pt x="88682" y="1190176"/>
                  </a:lnTo>
                  <a:lnTo>
                    <a:pt x="95250" y="1190624"/>
                  </a:lnTo>
                  <a:close/>
                </a:path>
              </a:pathLst>
            </a:custGeom>
            <a:solidFill>
              <a:srgbClr val="EF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702425" y="4950498"/>
            <a:ext cx="5452745" cy="97409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750" spc="-35" dirty="0">
                <a:solidFill>
                  <a:srgbClr val="EF9999"/>
                </a:solidFill>
                <a:latin typeface="Segoe UI"/>
                <a:cs typeface="Segoe UI"/>
              </a:rPr>
              <a:t>Counting</a:t>
            </a:r>
            <a:r>
              <a:rPr sz="1750" spc="-80" dirty="0">
                <a:solidFill>
                  <a:srgbClr val="EF9999"/>
                </a:solidFill>
                <a:latin typeface="Segoe UI"/>
                <a:cs typeface="Segoe UI"/>
              </a:rPr>
              <a:t> </a:t>
            </a:r>
            <a:r>
              <a:rPr sz="1750" dirty="0">
                <a:solidFill>
                  <a:srgbClr val="EF9999"/>
                </a:solidFill>
                <a:latin typeface="Segoe UI"/>
                <a:cs typeface="Segoe UI"/>
              </a:rPr>
              <a:t>/</a:t>
            </a:r>
            <a:r>
              <a:rPr sz="1750" spc="-75" dirty="0">
                <a:solidFill>
                  <a:srgbClr val="EF9999"/>
                </a:solidFill>
                <a:latin typeface="Segoe UI"/>
                <a:cs typeface="Segoe UI"/>
              </a:rPr>
              <a:t> </a:t>
            </a:r>
            <a:r>
              <a:rPr sz="1750" spc="-40" dirty="0">
                <a:solidFill>
                  <a:srgbClr val="EF9999"/>
                </a:solidFill>
                <a:latin typeface="Segoe UI"/>
                <a:cs typeface="Segoe UI"/>
              </a:rPr>
              <a:t>Spatial</a:t>
            </a:r>
            <a:r>
              <a:rPr sz="1750" spc="-75" dirty="0">
                <a:solidFill>
                  <a:srgbClr val="EF9999"/>
                </a:solidFill>
                <a:latin typeface="Segoe UI"/>
                <a:cs typeface="Segoe UI"/>
              </a:rPr>
              <a:t> </a:t>
            </a:r>
            <a:r>
              <a:rPr sz="1750" spc="-50" dirty="0">
                <a:solidFill>
                  <a:srgbClr val="EF9999"/>
                </a:solidFill>
                <a:latin typeface="Segoe UI"/>
                <a:cs typeface="Segoe UI"/>
              </a:rPr>
              <a:t>↓</a:t>
            </a:r>
            <a:endParaRPr sz="1750">
              <a:latin typeface="Segoe UI"/>
              <a:cs typeface="Segoe UI"/>
            </a:endParaRPr>
          </a:p>
          <a:p>
            <a:pPr marL="12700" marR="5080">
              <a:lnSpc>
                <a:spcPct val="120400"/>
              </a:lnSpc>
              <a:spcBef>
                <a:spcPts val="445"/>
              </a:spcBef>
            </a:pP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BDC,</a:t>
            </a:r>
            <a:r>
              <a:rPr sz="1350" spc="1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DRE,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ORR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regressed.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Resolution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cap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(512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vision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tokens)</a:t>
            </a:r>
            <a:r>
              <a:rPr sz="1350" spc="1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blinds</a:t>
            </a:r>
            <a:r>
              <a:rPr sz="1350" spc="1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25" dirty="0">
                <a:solidFill>
                  <a:srgbClr val="CCCCCC"/>
                </a:solidFill>
                <a:latin typeface="Segoe UI"/>
                <a:cs typeface="Segoe UI"/>
              </a:rPr>
              <a:t>the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model</a:t>
            </a:r>
            <a:r>
              <a:rPr sz="1350" spc="20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to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CCCCCC"/>
                </a:solidFill>
                <a:latin typeface="Segoe UI"/>
                <a:cs typeface="Segoe UI"/>
              </a:rPr>
              <a:t>small</a:t>
            </a:r>
            <a:r>
              <a:rPr sz="1350" spc="25" dirty="0">
                <a:solidFill>
                  <a:srgbClr val="CCCCCC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CCCCCC"/>
                </a:solidFill>
                <a:latin typeface="Segoe UI"/>
                <a:cs typeface="Segoe UI"/>
              </a:rPr>
              <a:t>structures.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6629395"/>
            <a:ext cx="314325" cy="266700"/>
          </a:xfrm>
          <a:custGeom>
            <a:avLst/>
            <a:gdLst/>
            <a:ahLst/>
            <a:cxnLst/>
            <a:rect l="l" t="t" r="r" b="b"/>
            <a:pathLst>
              <a:path w="314325" h="266700">
                <a:moveTo>
                  <a:pt x="314324" y="266699"/>
                </a:moveTo>
                <a:lnTo>
                  <a:pt x="0" y="266699"/>
                </a:lnTo>
                <a:lnTo>
                  <a:pt x="0" y="0"/>
                </a:lnTo>
                <a:lnTo>
                  <a:pt x="314324" y="0"/>
                </a:lnTo>
                <a:lnTo>
                  <a:pt x="31432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53D9FEB-039D-BD25-E84E-81A5A521B4D2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AAF028F-4447-FEBD-1A1E-68650A394066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721D086-F3EE-2638-11E6-96E2BC8C2CB3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30662" y="1256030"/>
            <a:ext cx="4865370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80" dirty="0"/>
              <a:t>Cross-</a:t>
            </a:r>
            <a:r>
              <a:rPr spc="-65" dirty="0"/>
              <a:t>Benchmark</a:t>
            </a:r>
            <a:r>
              <a:rPr spc="-90" dirty="0"/>
              <a:t> </a:t>
            </a:r>
            <a:r>
              <a:rPr spc="-60" dirty="0"/>
              <a:t>Generalization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36764" y="1878964"/>
            <a:ext cx="4842510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b="1" dirty="0">
                <a:solidFill>
                  <a:srgbClr val="81C783"/>
                </a:solidFill>
                <a:latin typeface="Segoe UI"/>
                <a:cs typeface="Segoe UI"/>
              </a:rPr>
              <a:t>Our</a:t>
            </a:r>
            <a:r>
              <a:rPr sz="1650" b="1" spc="40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81C783"/>
                </a:solidFill>
                <a:latin typeface="Segoe UI"/>
                <a:cs typeface="Segoe UI"/>
              </a:rPr>
              <a:t>7B</a:t>
            </a:r>
            <a:r>
              <a:rPr sz="1650" b="1" spc="50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81C783"/>
                </a:solidFill>
                <a:latin typeface="Segoe UI"/>
                <a:cs typeface="Segoe UI"/>
              </a:rPr>
              <a:t>model</a:t>
            </a:r>
            <a:r>
              <a:rPr sz="1650" b="1" spc="50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81C783"/>
                </a:solidFill>
                <a:latin typeface="Segoe UI"/>
                <a:cs typeface="Segoe UI"/>
              </a:rPr>
              <a:t>ties</a:t>
            </a:r>
            <a:r>
              <a:rPr sz="1650" b="1" spc="50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81C783"/>
                </a:solidFill>
                <a:latin typeface="Segoe UI"/>
                <a:cs typeface="Segoe UI"/>
              </a:rPr>
              <a:t>GPT-4.1-mini</a:t>
            </a:r>
            <a:r>
              <a:rPr sz="1650" b="1" spc="50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650" b="1" dirty="0">
                <a:solidFill>
                  <a:srgbClr val="81C783"/>
                </a:solidFill>
                <a:latin typeface="Segoe UI"/>
                <a:cs typeface="Segoe UI"/>
              </a:rPr>
              <a:t>on</a:t>
            </a:r>
            <a:r>
              <a:rPr sz="1650" b="1" spc="50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650" b="1" spc="-10" dirty="0">
                <a:solidFill>
                  <a:srgbClr val="81C783"/>
                </a:solidFill>
                <a:latin typeface="Segoe UI"/>
                <a:cs typeface="Segoe UI"/>
              </a:rPr>
              <a:t>DisasterVQA</a:t>
            </a:r>
            <a:endParaRPr sz="1650">
              <a:latin typeface="Segoe UI"/>
              <a:cs typeface="Segoe U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381499" y="2224082"/>
          <a:ext cx="4152265" cy="974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7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9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spc="-1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Model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Binary</a:t>
                      </a:r>
                      <a:r>
                        <a:rPr sz="1300" b="1" spc="35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Acc.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MCQ</a:t>
                      </a:r>
                      <a:r>
                        <a:rPr sz="1300" b="1" spc="-65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(F1)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b="1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Ours</a:t>
                      </a:r>
                      <a:r>
                        <a:rPr sz="1300" b="1" spc="1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(Qwen2.5-</a:t>
                      </a:r>
                      <a:r>
                        <a:rPr sz="1300" b="1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VL-7B</a:t>
                      </a:r>
                      <a:r>
                        <a:rPr sz="1300" b="1" spc="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FT)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81C783">
                        <a:alpha val="121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b="1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0.91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81C783">
                        <a:alpha val="121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b="1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≈0.85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81C783">
                        <a:alpha val="1215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GPT-</a:t>
                      </a: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4.1-</a:t>
                      </a: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mini</a:t>
                      </a:r>
                      <a:r>
                        <a:rPr sz="130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(Proprietary)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0.91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0.85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381499" y="3250566"/>
          <a:ext cx="4152265" cy="18611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19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8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60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Mistral-Small-3.1-</a:t>
                      </a:r>
                      <a:r>
                        <a:rPr sz="1300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24B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13335" marB="0"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0.90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13335" marB="0"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0.81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13335" marB="0"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Qwen-2.5-VL-</a:t>
                      </a:r>
                      <a:r>
                        <a:rPr sz="1300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32B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0.89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0.81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Molmo-7B-</a:t>
                      </a:r>
                      <a:r>
                        <a:rPr sz="1300" spc="-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D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0.88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0.74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GPT-</a:t>
                      </a: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4o-</a:t>
                      </a: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mini</a:t>
                      </a:r>
                      <a:r>
                        <a:rPr sz="1300" spc="-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(Proprietary)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0.87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0.78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LLaMA-3.2-</a:t>
                      </a:r>
                      <a:r>
                        <a:rPr sz="1300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11B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0.87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0.80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Pixtral-</a:t>
                      </a:r>
                      <a:r>
                        <a:rPr sz="1300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12B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0.86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0.77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3724" y="5267319"/>
            <a:ext cx="66675" cy="666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33724" y="5543544"/>
            <a:ext cx="66675" cy="666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33724" y="5819769"/>
            <a:ext cx="66675" cy="666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308846" y="5108320"/>
            <a:ext cx="6852920" cy="854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95"/>
              </a:spcBef>
            </a:pP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Trained</a:t>
            </a:r>
            <a:r>
              <a:rPr sz="135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on</a:t>
            </a:r>
            <a:r>
              <a:rPr sz="1350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DisasterM3,</a:t>
            </a:r>
            <a:r>
              <a:rPr sz="135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evaluated</a:t>
            </a:r>
            <a:r>
              <a:rPr sz="1350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on</a:t>
            </a:r>
            <a:r>
              <a:rPr sz="1350" spc="2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DisasterVQA</a:t>
            </a:r>
            <a:r>
              <a:rPr sz="1350" b="1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(completely</a:t>
            </a:r>
            <a:r>
              <a:rPr sz="1350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different</a:t>
            </a:r>
            <a:r>
              <a:rPr sz="1350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benchmark)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Outperforms</a:t>
            </a:r>
            <a:r>
              <a:rPr sz="135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Qwen-2.5-VL-32B</a:t>
            </a:r>
            <a:r>
              <a:rPr sz="1350" b="1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(4.5×</a:t>
            </a:r>
            <a:r>
              <a:rPr sz="135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larger)</a:t>
            </a:r>
            <a:r>
              <a:rPr sz="13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and</a:t>
            </a:r>
            <a:r>
              <a:rPr sz="135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Mistral-Small-3.1-24B</a:t>
            </a:r>
            <a:r>
              <a:rPr sz="1350" b="1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(3.4×</a:t>
            </a:r>
            <a:r>
              <a:rPr sz="135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larger)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Domain-specific</a:t>
            </a:r>
            <a:r>
              <a:rPr sz="1350" spc="4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fine-tuning</a:t>
            </a:r>
            <a:r>
              <a:rPr sz="135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transfers</a:t>
            </a:r>
            <a:r>
              <a:rPr sz="1350" b="1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across</a:t>
            </a:r>
            <a:r>
              <a:rPr sz="1350" b="1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benchmarks</a:t>
            </a:r>
            <a:r>
              <a:rPr sz="1350" b="1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without</a:t>
            </a:r>
            <a:r>
              <a:rPr sz="135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additional</a:t>
            </a:r>
            <a:r>
              <a:rPr sz="135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fine-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tuning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6629394"/>
            <a:ext cx="314325" cy="266700"/>
          </a:xfrm>
          <a:custGeom>
            <a:avLst/>
            <a:gdLst/>
            <a:ahLst/>
            <a:cxnLst/>
            <a:rect l="l" t="t" r="r" b="b"/>
            <a:pathLst>
              <a:path w="314325" h="266700">
                <a:moveTo>
                  <a:pt x="314324" y="266699"/>
                </a:moveTo>
                <a:lnTo>
                  <a:pt x="0" y="266699"/>
                </a:lnTo>
                <a:lnTo>
                  <a:pt x="0" y="0"/>
                </a:lnTo>
                <a:lnTo>
                  <a:pt x="314324" y="0"/>
                </a:lnTo>
                <a:lnTo>
                  <a:pt x="31432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B247CC1-C507-1E07-BB05-DA3FF03C78C7}"/>
              </a:ext>
            </a:extLst>
          </p:cNvPr>
          <p:cNvGrpSpPr/>
          <p:nvPr/>
        </p:nvGrpSpPr>
        <p:grpSpPr>
          <a:xfrm>
            <a:off x="19050" y="6838330"/>
            <a:ext cx="12915900" cy="426052"/>
            <a:chOff x="0" y="6838330"/>
            <a:chExt cx="12915900" cy="42605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F2DCC16-F65E-A9AC-43BF-0956B57CF677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8737E3E-7F09-0882-005A-38036079AA79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17839" y="1398905"/>
            <a:ext cx="2891155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Compute</a:t>
            </a:r>
            <a:r>
              <a:rPr spc="-145" dirty="0"/>
              <a:t> </a:t>
            </a:r>
            <a:r>
              <a:rPr spc="-60" dirty="0"/>
              <a:t>Efficiency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75333" y="1917064"/>
            <a:ext cx="884555" cy="9220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850" b="1" spc="-25" dirty="0">
                <a:solidFill>
                  <a:srgbClr val="81C783"/>
                </a:solidFill>
                <a:latin typeface="Segoe UI"/>
                <a:cs typeface="Segoe UI"/>
              </a:rPr>
              <a:t>$0</a:t>
            </a:r>
            <a:endParaRPr sz="585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3930" y="2755264"/>
            <a:ext cx="947419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B0BEC4"/>
                </a:solidFill>
                <a:latin typeface="Segoe UI"/>
                <a:cs typeface="Segoe UI"/>
              </a:rPr>
              <a:t>Our</a:t>
            </a:r>
            <a:r>
              <a:rPr sz="1150" spc="-3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150" spc="-10" dirty="0">
                <a:solidFill>
                  <a:srgbClr val="B0BEC4"/>
                </a:solidFill>
                <a:latin typeface="Segoe UI"/>
                <a:cs typeface="Segoe UI"/>
              </a:rPr>
              <a:t>Total</a:t>
            </a:r>
            <a:r>
              <a:rPr sz="1150" spc="-3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150" spc="-20" dirty="0">
                <a:solidFill>
                  <a:srgbClr val="B0BEC4"/>
                </a:solidFill>
                <a:latin typeface="Segoe UI"/>
                <a:cs typeface="Segoe UI"/>
              </a:rPr>
              <a:t>Cost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22044" y="1917064"/>
            <a:ext cx="2272030" cy="9220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850" b="1" spc="-10" dirty="0">
                <a:solidFill>
                  <a:srgbClr val="EF9999"/>
                </a:solidFill>
                <a:latin typeface="Segoe UI"/>
                <a:cs typeface="Segoe UI"/>
              </a:rPr>
              <a:t>~$400</a:t>
            </a:r>
            <a:endParaRPr sz="585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20779" y="2755264"/>
            <a:ext cx="107442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B0BEC4"/>
                </a:solidFill>
                <a:latin typeface="Segoe UI"/>
                <a:cs typeface="Segoe UI"/>
              </a:rPr>
              <a:t>Paper’s</a:t>
            </a:r>
            <a:r>
              <a:rPr sz="1150" spc="-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150" dirty="0">
                <a:solidFill>
                  <a:srgbClr val="B0BEC4"/>
                </a:solidFill>
                <a:latin typeface="Segoe UI"/>
                <a:cs typeface="Segoe UI"/>
              </a:rPr>
              <a:t>Est.</a:t>
            </a:r>
            <a:r>
              <a:rPr sz="1150" spc="-2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150" spc="-20" dirty="0">
                <a:solidFill>
                  <a:srgbClr val="B0BEC4"/>
                </a:solidFill>
                <a:latin typeface="Segoe UI"/>
                <a:cs typeface="Segoe UI"/>
              </a:rPr>
              <a:t>Cost</a:t>
            </a:r>
            <a:endParaRPr sz="115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91810" y="1917064"/>
            <a:ext cx="1412875" cy="9220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850" b="1" spc="-25" dirty="0">
                <a:solidFill>
                  <a:srgbClr val="E7D5B6"/>
                </a:solidFill>
                <a:latin typeface="Segoe UI"/>
                <a:cs typeface="Segoe UI"/>
              </a:rPr>
              <a:t>20×</a:t>
            </a:r>
            <a:endParaRPr sz="5850">
              <a:latin typeface="Segoe UI"/>
              <a:cs typeface="Segoe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27567" y="2755264"/>
            <a:ext cx="74104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B0BEC4"/>
                </a:solidFill>
                <a:latin typeface="Segoe UI"/>
                <a:cs typeface="Segoe UI"/>
              </a:rPr>
              <a:t>Less</a:t>
            </a:r>
            <a:r>
              <a:rPr sz="11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150" spc="-20" dirty="0">
                <a:solidFill>
                  <a:srgbClr val="B0BEC4"/>
                </a:solidFill>
                <a:latin typeface="Segoe UI"/>
                <a:cs typeface="Segoe UI"/>
              </a:rPr>
              <a:t>VRAM</a:t>
            </a:r>
            <a:endParaRPr sz="1150">
              <a:latin typeface="Segoe UI"/>
              <a:cs typeface="Segoe UI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838574" y="3114669"/>
          <a:ext cx="5238749" cy="2244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0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8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spc="-1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Metric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spc="-1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Paper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300" b="1" spc="-2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Ours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63500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GPU </a:t>
                      </a: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hardware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4×</a:t>
                      </a:r>
                      <a:r>
                        <a:rPr sz="1300" spc="-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H100</a:t>
                      </a:r>
                      <a:r>
                        <a:rPr sz="1300" spc="-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(80 GB</a:t>
                      </a:r>
                      <a:r>
                        <a:rPr sz="1300" spc="-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each)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1× T4 (16 </a:t>
                      </a:r>
                      <a:r>
                        <a:rPr sz="1300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GB)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Total</a:t>
                      </a:r>
                      <a:r>
                        <a:rPr sz="1300" spc="-3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VRAM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320 </a:t>
                      </a:r>
                      <a:r>
                        <a:rPr sz="1300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GB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16 </a:t>
                      </a:r>
                      <a:r>
                        <a:rPr sz="1300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GB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Training</a:t>
                      </a:r>
                      <a:r>
                        <a:rPr sz="1300" spc="-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time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~12 </a:t>
                      </a: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hours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~130</a:t>
                      </a: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hours</a:t>
                      </a:r>
                      <a:r>
                        <a:rPr sz="1300" spc="-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(11</a:t>
                      </a:r>
                      <a:r>
                        <a:rPr sz="1300" spc="-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sessions)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Estimated</a:t>
                      </a:r>
                      <a:r>
                        <a:rPr sz="1300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cost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~$400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b="1" dirty="0">
                          <a:solidFill>
                            <a:srgbClr val="81C783"/>
                          </a:solidFill>
                          <a:latin typeface="Segoe UI"/>
                          <a:cs typeface="Segoe UI"/>
                        </a:rPr>
                        <a:t>$0</a:t>
                      </a:r>
                      <a:r>
                        <a:rPr sz="1300" b="1" spc="-15" dirty="0">
                          <a:solidFill>
                            <a:srgbClr val="81C783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b="1" dirty="0">
                          <a:solidFill>
                            <a:srgbClr val="81C783"/>
                          </a:solidFill>
                          <a:latin typeface="Segoe UI"/>
                          <a:cs typeface="Segoe UI"/>
                        </a:rPr>
                        <a:t>(free</a:t>
                      </a:r>
                      <a:r>
                        <a:rPr sz="1300" b="1" spc="-10" dirty="0">
                          <a:solidFill>
                            <a:srgbClr val="81C783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81C783"/>
                          </a:solidFill>
                          <a:latin typeface="Segoe UI"/>
                          <a:cs typeface="Segoe UI"/>
                        </a:rPr>
                        <a:t>tier)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Model </a:t>
                      </a: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precision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bf16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NF4</a:t>
                      </a:r>
                      <a:r>
                        <a:rPr sz="1300" spc="-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+</a:t>
                      </a:r>
                      <a:r>
                        <a:rPr sz="1300" spc="-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fp16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Sessions</a:t>
                      </a:r>
                      <a:r>
                        <a:rPr sz="1300" spc="-1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0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required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300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11</a:t>
                      </a:r>
                      <a:endParaRPr sz="1300">
                        <a:latin typeface="Segoe UI"/>
                        <a:cs typeface="Segoe UI"/>
                      </a:endParaRPr>
                    </a:p>
                  </a:txBody>
                  <a:tcPr marL="0" marR="0" marT="58419" marB="0">
                    <a:lnT w="9525">
                      <a:solidFill>
                        <a:srgbClr val="333333"/>
                      </a:solidFill>
                      <a:prstDash val="solid"/>
                    </a:lnT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3732262" y="5443219"/>
            <a:ext cx="5451475" cy="2336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Meaningful</a:t>
            </a:r>
            <a:r>
              <a:rPr sz="1350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AI</a:t>
            </a:r>
            <a:r>
              <a:rPr sz="1350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research</a:t>
            </a:r>
            <a:r>
              <a:rPr sz="1350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does</a:t>
            </a:r>
            <a:r>
              <a:rPr sz="1350" b="1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not</a:t>
            </a:r>
            <a:r>
              <a:rPr sz="1350" b="1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require</a:t>
            </a:r>
            <a:r>
              <a:rPr sz="1350" b="1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a</a:t>
            </a:r>
            <a:r>
              <a:rPr sz="1350" b="1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massive</a:t>
            </a:r>
            <a:r>
              <a:rPr sz="1350" b="1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compute</a:t>
            </a:r>
            <a:r>
              <a:rPr sz="1350" b="1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spc="-10" dirty="0">
                <a:solidFill>
                  <a:srgbClr val="DFDFDF"/>
                </a:solidFill>
                <a:latin typeface="Segoe UI"/>
                <a:cs typeface="Segoe UI"/>
              </a:rPr>
              <a:t>budget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.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6629394"/>
            <a:ext cx="314325" cy="266700"/>
          </a:xfrm>
          <a:custGeom>
            <a:avLst/>
            <a:gdLst/>
            <a:ahLst/>
            <a:cxnLst/>
            <a:rect l="l" t="t" r="r" b="b"/>
            <a:pathLst>
              <a:path w="314325" h="266700">
                <a:moveTo>
                  <a:pt x="314324" y="266699"/>
                </a:moveTo>
                <a:lnTo>
                  <a:pt x="0" y="266699"/>
                </a:lnTo>
                <a:lnTo>
                  <a:pt x="0" y="0"/>
                </a:lnTo>
                <a:lnTo>
                  <a:pt x="314324" y="0"/>
                </a:lnTo>
                <a:lnTo>
                  <a:pt x="31432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DE88835-17E2-8CC6-3FFA-FB8AC9583C05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65CEE3D-1797-C7B2-48FC-A2DC960A3B41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CBED32F-1D75-F1C3-60FA-8468ED68732A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5799" y="2686044"/>
            <a:ext cx="11544300" cy="600710"/>
            <a:chOff x="685799" y="2686044"/>
            <a:chExt cx="11544300" cy="600710"/>
          </a:xfrm>
        </p:grpSpPr>
        <p:sp>
          <p:nvSpPr>
            <p:cNvPr id="3" name="object 3"/>
            <p:cNvSpPr/>
            <p:nvPr/>
          </p:nvSpPr>
          <p:spPr>
            <a:xfrm>
              <a:off x="685787" y="2962274"/>
              <a:ext cx="4819650" cy="9525"/>
            </a:xfrm>
            <a:custGeom>
              <a:avLst/>
              <a:gdLst/>
              <a:ahLst/>
              <a:cxnLst/>
              <a:rect l="l" t="t" r="r" b="b"/>
              <a:pathLst>
                <a:path w="4819650" h="9525">
                  <a:moveTo>
                    <a:pt x="34290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429000" y="9525"/>
                  </a:lnTo>
                  <a:lnTo>
                    <a:pt x="3429000" y="0"/>
                  </a:lnTo>
                  <a:close/>
                </a:path>
                <a:path w="4819650" h="9525">
                  <a:moveTo>
                    <a:pt x="4819650" y="0"/>
                  </a:moveTo>
                  <a:lnTo>
                    <a:pt x="3448050" y="0"/>
                  </a:lnTo>
                  <a:lnTo>
                    <a:pt x="3448050" y="9525"/>
                  </a:lnTo>
                  <a:lnTo>
                    <a:pt x="4819650" y="9525"/>
                  </a:lnTo>
                  <a:lnTo>
                    <a:pt x="4819650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524499" y="2686044"/>
              <a:ext cx="1323975" cy="281305"/>
            </a:xfrm>
            <a:custGeom>
              <a:avLst/>
              <a:gdLst/>
              <a:ahLst/>
              <a:cxnLst/>
              <a:rect l="l" t="t" r="r" b="b"/>
              <a:pathLst>
                <a:path w="1323975" h="281305">
                  <a:moveTo>
                    <a:pt x="1290926" y="280977"/>
                  </a:moveTo>
                  <a:lnTo>
                    <a:pt x="33047" y="280977"/>
                  </a:lnTo>
                  <a:lnTo>
                    <a:pt x="28187" y="280122"/>
                  </a:lnTo>
                  <a:lnTo>
                    <a:pt x="0" y="252059"/>
                  </a:lnTo>
                  <a:lnTo>
                    <a:pt x="0" y="247649"/>
                  </a:lnTo>
                  <a:lnTo>
                    <a:pt x="0" y="33040"/>
                  </a:lnTo>
                  <a:lnTo>
                    <a:pt x="28187" y="967"/>
                  </a:lnTo>
                  <a:lnTo>
                    <a:pt x="33047" y="0"/>
                  </a:lnTo>
                  <a:lnTo>
                    <a:pt x="1290926" y="0"/>
                  </a:lnTo>
                  <a:lnTo>
                    <a:pt x="1323007" y="28174"/>
                  </a:lnTo>
                  <a:lnTo>
                    <a:pt x="1323974" y="33040"/>
                  </a:lnTo>
                  <a:lnTo>
                    <a:pt x="1323974" y="252059"/>
                  </a:lnTo>
                  <a:lnTo>
                    <a:pt x="1295787" y="280122"/>
                  </a:lnTo>
                  <a:lnTo>
                    <a:pt x="1290926" y="280977"/>
                  </a:lnTo>
                  <a:close/>
                </a:path>
              </a:pathLst>
            </a:custGeom>
            <a:solidFill>
              <a:srgbClr val="FFB6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26189" y="2944685"/>
              <a:ext cx="6704330" cy="27305"/>
            </a:xfrm>
            <a:custGeom>
              <a:avLst/>
              <a:gdLst/>
              <a:ahLst/>
              <a:cxnLst/>
              <a:rect l="l" t="t" r="r" b="b"/>
              <a:pathLst>
                <a:path w="6704330" h="27305">
                  <a:moveTo>
                    <a:pt x="1320571" y="0"/>
                  </a:moveTo>
                  <a:lnTo>
                    <a:pt x="1284173" y="17602"/>
                  </a:lnTo>
                  <a:lnTo>
                    <a:pt x="36398" y="17602"/>
                  </a:lnTo>
                  <a:lnTo>
                    <a:pt x="0" y="0"/>
                  </a:lnTo>
                  <a:lnTo>
                    <a:pt x="1092" y="3657"/>
                  </a:lnTo>
                  <a:lnTo>
                    <a:pt x="36398" y="27127"/>
                  </a:lnTo>
                  <a:lnTo>
                    <a:pt x="1284173" y="27127"/>
                  </a:lnTo>
                  <a:lnTo>
                    <a:pt x="1291780" y="26428"/>
                  </a:lnTo>
                  <a:lnTo>
                    <a:pt x="1298803" y="24333"/>
                  </a:lnTo>
                  <a:lnTo>
                    <a:pt x="1305255" y="20853"/>
                  </a:lnTo>
                  <a:lnTo>
                    <a:pt x="1309154" y="17602"/>
                  </a:lnTo>
                  <a:lnTo>
                    <a:pt x="1311122" y="15963"/>
                  </a:lnTo>
                  <a:lnTo>
                    <a:pt x="1315999" y="10096"/>
                  </a:lnTo>
                  <a:lnTo>
                    <a:pt x="1319491" y="3657"/>
                  </a:lnTo>
                  <a:lnTo>
                    <a:pt x="1320571" y="0"/>
                  </a:lnTo>
                  <a:close/>
                </a:path>
                <a:path w="6704330" h="27305">
                  <a:moveTo>
                    <a:pt x="2665298" y="17589"/>
                  </a:moveTo>
                  <a:lnTo>
                    <a:pt x="1341323" y="17589"/>
                  </a:lnTo>
                  <a:lnTo>
                    <a:pt x="1341323" y="27114"/>
                  </a:lnTo>
                  <a:lnTo>
                    <a:pt x="2665298" y="27114"/>
                  </a:lnTo>
                  <a:lnTo>
                    <a:pt x="2665298" y="17589"/>
                  </a:lnTo>
                  <a:close/>
                </a:path>
                <a:path w="6704330" h="27305">
                  <a:moveTo>
                    <a:pt x="4017848" y="17589"/>
                  </a:moveTo>
                  <a:lnTo>
                    <a:pt x="2684348" y="17589"/>
                  </a:lnTo>
                  <a:lnTo>
                    <a:pt x="2684348" y="27114"/>
                  </a:lnTo>
                  <a:lnTo>
                    <a:pt x="4017848" y="27114"/>
                  </a:lnTo>
                  <a:lnTo>
                    <a:pt x="4017848" y="17589"/>
                  </a:lnTo>
                  <a:close/>
                </a:path>
                <a:path w="6704330" h="27305">
                  <a:moveTo>
                    <a:pt x="5360873" y="17589"/>
                  </a:moveTo>
                  <a:lnTo>
                    <a:pt x="4036898" y="17589"/>
                  </a:lnTo>
                  <a:lnTo>
                    <a:pt x="4036898" y="27114"/>
                  </a:lnTo>
                  <a:lnTo>
                    <a:pt x="5360873" y="27114"/>
                  </a:lnTo>
                  <a:lnTo>
                    <a:pt x="5360873" y="17589"/>
                  </a:lnTo>
                  <a:close/>
                </a:path>
                <a:path w="6704330" h="27305">
                  <a:moveTo>
                    <a:pt x="6703898" y="17589"/>
                  </a:moveTo>
                  <a:lnTo>
                    <a:pt x="5379923" y="17589"/>
                  </a:lnTo>
                  <a:lnTo>
                    <a:pt x="5379923" y="27114"/>
                  </a:lnTo>
                  <a:lnTo>
                    <a:pt x="6703898" y="27114"/>
                  </a:lnTo>
                  <a:lnTo>
                    <a:pt x="6703898" y="1758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87" y="3009899"/>
              <a:ext cx="11544300" cy="276860"/>
            </a:xfrm>
            <a:custGeom>
              <a:avLst/>
              <a:gdLst/>
              <a:ahLst/>
              <a:cxnLst/>
              <a:rect l="l" t="t" r="r" b="b"/>
              <a:pathLst>
                <a:path w="11544300" h="276860">
                  <a:moveTo>
                    <a:pt x="342900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3429000" y="276225"/>
                  </a:lnTo>
                  <a:lnTo>
                    <a:pt x="3429000" y="0"/>
                  </a:lnTo>
                  <a:close/>
                </a:path>
                <a:path w="11544300" h="276860">
                  <a:moveTo>
                    <a:pt x="4819650" y="0"/>
                  </a:moveTo>
                  <a:lnTo>
                    <a:pt x="3448050" y="0"/>
                  </a:lnTo>
                  <a:lnTo>
                    <a:pt x="3448050" y="276225"/>
                  </a:lnTo>
                  <a:lnTo>
                    <a:pt x="4819650" y="276225"/>
                  </a:lnTo>
                  <a:lnTo>
                    <a:pt x="4819650" y="0"/>
                  </a:lnTo>
                  <a:close/>
                </a:path>
                <a:path w="11544300" h="276860">
                  <a:moveTo>
                    <a:pt x="6162675" y="0"/>
                  </a:moveTo>
                  <a:lnTo>
                    <a:pt x="4838700" y="0"/>
                  </a:lnTo>
                  <a:lnTo>
                    <a:pt x="4838700" y="276225"/>
                  </a:lnTo>
                  <a:lnTo>
                    <a:pt x="6162675" y="276225"/>
                  </a:lnTo>
                  <a:lnTo>
                    <a:pt x="6162675" y="0"/>
                  </a:lnTo>
                  <a:close/>
                </a:path>
                <a:path w="11544300" h="276860">
                  <a:moveTo>
                    <a:pt x="7505700" y="38112"/>
                  </a:moveTo>
                  <a:lnTo>
                    <a:pt x="7482230" y="2794"/>
                  </a:lnTo>
                  <a:lnTo>
                    <a:pt x="7467600" y="12"/>
                  </a:lnTo>
                  <a:lnTo>
                    <a:pt x="6219825" y="12"/>
                  </a:lnTo>
                  <a:lnTo>
                    <a:pt x="6184519" y="23482"/>
                  </a:lnTo>
                  <a:lnTo>
                    <a:pt x="6181725" y="38112"/>
                  </a:lnTo>
                  <a:lnTo>
                    <a:pt x="6181725" y="238137"/>
                  </a:lnTo>
                  <a:lnTo>
                    <a:pt x="6205207" y="273443"/>
                  </a:lnTo>
                  <a:lnTo>
                    <a:pt x="6219825" y="276237"/>
                  </a:lnTo>
                  <a:lnTo>
                    <a:pt x="7467600" y="276237"/>
                  </a:lnTo>
                  <a:lnTo>
                    <a:pt x="7502919" y="252755"/>
                  </a:lnTo>
                  <a:lnTo>
                    <a:pt x="7505700" y="238137"/>
                  </a:lnTo>
                  <a:lnTo>
                    <a:pt x="7505700" y="38112"/>
                  </a:lnTo>
                  <a:close/>
                </a:path>
                <a:path w="11544300" h="276860">
                  <a:moveTo>
                    <a:pt x="8858250" y="0"/>
                  </a:moveTo>
                  <a:lnTo>
                    <a:pt x="7524750" y="0"/>
                  </a:lnTo>
                  <a:lnTo>
                    <a:pt x="7524750" y="276225"/>
                  </a:lnTo>
                  <a:lnTo>
                    <a:pt x="8858250" y="276225"/>
                  </a:lnTo>
                  <a:lnTo>
                    <a:pt x="8858250" y="0"/>
                  </a:lnTo>
                  <a:close/>
                </a:path>
                <a:path w="11544300" h="276860">
                  <a:moveTo>
                    <a:pt x="10201275" y="0"/>
                  </a:moveTo>
                  <a:lnTo>
                    <a:pt x="8877300" y="0"/>
                  </a:lnTo>
                  <a:lnTo>
                    <a:pt x="8877300" y="276225"/>
                  </a:lnTo>
                  <a:lnTo>
                    <a:pt x="10201275" y="276225"/>
                  </a:lnTo>
                  <a:lnTo>
                    <a:pt x="10201275" y="0"/>
                  </a:lnTo>
                  <a:close/>
                </a:path>
                <a:path w="11544300" h="276860">
                  <a:moveTo>
                    <a:pt x="11544300" y="0"/>
                  </a:moveTo>
                  <a:lnTo>
                    <a:pt x="10220325" y="0"/>
                  </a:lnTo>
                  <a:lnTo>
                    <a:pt x="10220325" y="276225"/>
                  </a:lnTo>
                  <a:lnTo>
                    <a:pt x="11544300" y="276225"/>
                  </a:lnTo>
                  <a:lnTo>
                    <a:pt x="11544300" y="0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87" y="3276599"/>
              <a:ext cx="6162675" cy="9525"/>
            </a:xfrm>
            <a:custGeom>
              <a:avLst/>
              <a:gdLst/>
              <a:ahLst/>
              <a:cxnLst/>
              <a:rect l="l" t="t" r="r" b="b"/>
              <a:pathLst>
                <a:path w="6162675" h="9525">
                  <a:moveTo>
                    <a:pt x="34290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429000" y="9525"/>
                  </a:lnTo>
                  <a:lnTo>
                    <a:pt x="3429000" y="0"/>
                  </a:lnTo>
                  <a:close/>
                </a:path>
                <a:path w="6162675" h="9525">
                  <a:moveTo>
                    <a:pt x="4819650" y="0"/>
                  </a:moveTo>
                  <a:lnTo>
                    <a:pt x="3448050" y="0"/>
                  </a:lnTo>
                  <a:lnTo>
                    <a:pt x="3448050" y="9525"/>
                  </a:lnTo>
                  <a:lnTo>
                    <a:pt x="4819650" y="9525"/>
                  </a:lnTo>
                  <a:lnTo>
                    <a:pt x="4819650" y="0"/>
                  </a:lnTo>
                  <a:close/>
                </a:path>
                <a:path w="6162675" h="9525">
                  <a:moveTo>
                    <a:pt x="6162675" y="0"/>
                  </a:moveTo>
                  <a:lnTo>
                    <a:pt x="4838700" y="0"/>
                  </a:lnTo>
                  <a:lnTo>
                    <a:pt x="4838700" y="9525"/>
                  </a:lnTo>
                  <a:lnTo>
                    <a:pt x="6162675" y="9525"/>
                  </a:lnTo>
                  <a:lnTo>
                    <a:pt x="6162675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67523" y="3009894"/>
              <a:ext cx="1323975" cy="271780"/>
            </a:xfrm>
            <a:custGeom>
              <a:avLst/>
              <a:gdLst/>
              <a:ahLst/>
              <a:cxnLst/>
              <a:rect l="l" t="t" r="r" b="b"/>
              <a:pathLst>
                <a:path w="1323975" h="271779">
                  <a:moveTo>
                    <a:pt x="1290926" y="271452"/>
                  </a:moveTo>
                  <a:lnTo>
                    <a:pt x="33047" y="271452"/>
                  </a:lnTo>
                  <a:lnTo>
                    <a:pt x="28187" y="270607"/>
                  </a:lnTo>
                  <a:lnTo>
                    <a:pt x="0" y="242534"/>
                  </a:lnTo>
                  <a:lnTo>
                    <a:pt x="0" y="238124"/>
                  </a:lnTo>
                  <a:lnTo>
                    <a:pt x="0" y="33048"/>
                  </a:lnTo>
                  <a:lnTo>
                    <a:pt x="28187" y="967"/>
                  </a:lnTo>
                  <a:lnTo>
                    <a:pt x="33047" y="0"/>
                  </a:lnTo>
                  <a:lnTo>
                    <a:pt x="1290926" y="0"/>
                  </a:lnTo>
                  <a:lnTo>
                    <a:pt x="1323008" y="28184"/>
                  </a:lnTo>
                  <a:lnTo>
                    <a:pt x="1323974" y="33048"/>
                  </a:lnTo>
                  <a:lnTo>
                    <a:pt x="1323974" y="242534"/>
                  </a:lnTo>
                  <a:lnTo>
                    <a:pt x="1295787" y="270607"/>
                  </a:lnTo>
                  <a:lnTo>
                    <a:pt x="1290926" y="271452"/>
                  </a:lnTo>
                  <a:close/>
                </a:path>
              </a:pathLst>
            </a:custGeom>
            <a:solidFill>
              <a:srgbClr val="8FA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69214" y="3259010"/>
              <a:ext cx="5361305" cy="27305"/>
            </a:xfrm>
            <a:custGeom>
              <a:avLst/>
              <a:gdLst/>
              <a:ahLst/>
              <a:cxnLst/>
              <a:rect l="l" t="t" r="r" b="b"/>
              <a:pathLst>
                <a:path w="5361305" h="27304">
                  <a:moveTo>
                    <a:pt x="1320584" y="0"/>
                  </a:moveTo>
                  <a:lnTo>
                    <a:pt x="1284173" y="17602"/>
                  </a:lnTo>
                  <a:lnTo>
                    <a:pt x="36398" y="17602"/>
                  </a:lnTo>
                  <a:lnTo>
                    <a:pt x="0" y="0"/>
                  </a:lnTo>
                  <a:lnTo>
                    <a:pt x="1092" y="3657"/>
                  </a:lnTo>
                  <a:lnTo>
                    <a:pt x="36398" y="27127"/>
                  </a:lnTo>
                  <a:lnTo>
                    <a:pt x="1284173" y="27127"/>
                  </a:lnTo>
                  <a:lnTo>
                    <a:pt x="1291780" y="26428"/>
                  </a:lnTo>
                  <a:lnTo>
                    <a:pt x="1298803" y="24333"/>
                  </a:lnTo>
                  <a:lnTo>
                    <a:pt x="1305255" y="20853"/>
                  </a:lnTo>
                  <a:lnTo>
                    <a:pt x="1309154" y="17602"/>
                  </a:lnTo>
                  <a:lnTo>
                    <a:pt x="1311122" y="15963"/>
                  </a:lnTo>
                  <a:lnTo>
                    <a:pt x="1315999" y="10096"/>
                  </a:lnTo>
                  <a:lnTo>
                    <a:pt x="1319491" y="3657"/>
                  </a:lnTo>
                  <a:lnTo>
                    <a:pt x="1320584" y="0"/>
                  </a:lnTo>
                  <a:close/>
                </a:path>
                <a:path w="5361305" h="27304">
                  <a:moveTo>
                    <a:pt x="2674823" y="17589"/>
                  </a:moveTo>
                  <a:lnTo>
                    <a:pt x="1341323" y="17589"/>
                  </a:lnTo>
                  <a:lnTo>
                    <a:pt x="1341323" y="27114"/>
                  </a:lnTo>
                  <a:lnTo>
                    <a:pt x="2674823" y="27114"/>
                  </a:lnTo>
                  <a:lnTo>
                    <a:pt x="2674823" y="17589"/>
                  </a:lnTo>
                  <a:close/>
                </a:path>
                <a:path w="5361305" h="27304">
                  <a:moveTo>
                    <a:pt x="4017848" y="17589"/>
                  </a:moveTo>
                  <a:lnTo>
                    <a:pt x="2693873" y="17589"/>
                  </a:lnTo>
                  <a:lnTo>
                    <a:pt x="2693873" y="27114"/>
                  </a:lnTo>
                  <a:lnTo>
                    <a:pt x="4017848" y="27114"/>
                  </a:lnTo>
                  <a:lnTo>
                    <a:pt x="4017848" y="17589"/>
                  </a:lnTo>
                  <a:close/>
                </a:path>
                <a:path w="5361305" h="27304">
                  <a:moveTo>
                    <a:pt x="5360873" y="17589"/>
                  </a:moveTo>
                  <a:lnTo>
                    <a:pt x="4036898" y="17589"/>
                  </a:lnTo>
                  <a:lnTo>
                    <a:pt x="4036898" y="27114"/>
                  </a:lnTo>
                  <a:lnTo>
                    <a:pt x="5360873" y="27114"/>
                  </a:lnTo>
                  <a:lnTo>
                    <a:pt x="5360873" y="1758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85799" y="3324219"/>
            <a:ext cx="11544300" cy="591185"/>
            <a:chOff x="685799" y="3324219"/>
            <a:chExt cx="11544300" cy="591185"/>
          </a:xfrm>
        </p:grpSpPr>
        <p:sp>
          <p:nvSpPr>
            <p:cNvPr id="11" name="object 11"/>
            <p:cNvSpPr/>
            <p:nvPr/>
          </p:nvSpPr>
          <p:spPr>
            <a:xfrm>
              <a:off x="685787" y="3590924"/>
              <a:ext cx="7505700" cy="9525"/>
            </a:xfrm>
            <a:custGeom>
              <a:avLst/>
              <a:gdLst/>
              <a:ahLst/>
              <a:cxnLst/>
              <a:rect l="l" t="t" r="r" b="b"/>
              <a:pathLst>
                <a:path w="7505700" h="9525">
                  <a:moveTo>
                    <a:pt x="34290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429000" y="9525"/>
                  </a:lnTo>
                  <a:lnTo>
                    <a:pt x="3429000" y="0"/>
                  </a:lnTo>
                  <a:close/>
                </a:path>
                <a:path w="7505700" h="9525">
                  <a:moveTo>
                    <a:pt x="4819650" y="0"/>
                  </a:moveTo>
                  <a:lnTo>
                    <a:pt x="3448050" y="0"/>
                  </a:lnTo>
                  <a:lnTo>
                    <a:pt x="3448050" y="9525"/>
                  </a:lnTo>
                  <a:lnTo>
                    <a:pt x="4819650" y="9525"/>
                  </a:lnTo>
                  <a:lnTo>
                    <a:pt x="4819650" y="0"/>
                  </a:lnTo>
                  <a:close/>
                </a:path>
                <a:path w="7505700" h="9525">
                  <a:moveTo>
                    <a:pt x="6162675" y="0"/>
                  </a:moveTo>
                  <a:lnTo>
                    <a:pt x="4838700" y="0"/>
                  </a:lnTo>
                  <a:lnTo>
                    <a:pt x="4838700" y="9525"/>
                  </a:lnTo>
                  <a:lnTo>
                    <a:pt x="6162675" y="9525"/>
                  </a:lnTo>
                  <a:lnTo>
                    <a:pt x="6162675" y="0"/>
                  </a:lnTo>
                  <a:close/>
                </a:path>
                <a:path w="7505700" h="9525">
                  <a:moveTo>
                    <a:pt x="7505700" y="0"/>
                  </a:moveTo>
                  <a:lnTo>
                    <a:pt x="6181725" y="0"/>
                  </a:lnTo>
                  <a:lnTo>
                    <a:pt x="6181725" y="9525"/>
                  </a:lnTo>
                  <a:lnTo>
                    <a:pt x="7505700" y="9525"/>
                  </a:lnTo>
                  <a:lnTo>
                    <a:pt x="7505700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10548" y="3324219"/>
              <a:ext cx="1333500" cy="271780"/>
            </a:xfrm>
            <a:custGeom>
              <a:avLst/>
              <a:gdLst/>
              <a:ahLst/>
              <a:cxnLst/>
              <a:rect l="l" t="t" r="r" b="b"/>
              <a:pathLst>
                <a:path w="1333500" h="271779">
                  <a:moveTo>
                    <a:pt x="1300451" y="271452"/>
                  </a:moveTo>
                  <a:lnTo>
                    <a:pt x="33047" y="271452"/>
                  </a:lnTo>
                  <a:lnTo>
                    <a:pt x="28187" y="270607"/>
                  </a:lnTo>
                  <a:lnTo>
                    <a:pt x="0" y="242534"/>
                  </a:lnTo>
                  <a:lnTo>
                    <a:pt x="0" y="238124"/>
                  </a:lnTo>
                  <a:lnTo>
                    <a:pt x="0" y="33030"/>
                  </a:lnTo>
                  <a:lnTo>
                    <a:pt x="28187" y="967"/>
                  </a:lnTo>
                  <a:lnTo>
                    <a:pt x="33047" y="0"/>
                  </a:lnTo>
                  <a:lnTo>
                    <a:pt x="1300451" y="0"/>
                  </a:lnTo>
                  <a:lnTo>
                    <a:pt x="1332533" y="28165"/>
                  </a:lnTo>
                  <a:lnTo>
                    <a:pt x="1333499" y="33030"/>
                  </a:lnTo>
                  <a:lnTo>
                    <a:pt x="1333499" y="242534"/>
                  </a:lnTo>
                  <a:lnTo>
                    <a:pt x="1305312" y="270607"/>
                  </a:lnTo>
                  <a:lnTo>
                    <a:pt x="1300451" y="271452"/>
                  </a:lnTo>
                  <a:close/>
                </a:path>
              </a:pathLst>
            </a:custGeom>
            <a:solidFill>
              <a:srgbClr val="8FA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12239" y="3573335"/>
              <a:ext cx="4018279" cy="27305"/>
            </a:xfrm>
            <a:custGeom>
              <a:avLst/>
              <a:gdLst/>
              <a:ahLst/>
              <a:cxnLst/>
              <a:rect l="l" t="t" r="r" b="b"/>
              <a:pathLst>
                <a:path w="4018279" h="27304">
                  <a:moveTo>
                    <a:pt x="1330109" y="0"/>
                  </a:moveTo>
                  <a:lnTo>
                    <a:pt x="1293698" y="17602"/>
                  </a:lnTo>
                  <a:lnTo>
                    <a:pt x="36398" y="17602"/>
                  </a:lnTo>
                  <a:lnTo>
                    <a:pt x="0" y="0"/>
                  </a:lnTo>
                  <a:lnTo>
                    <a:pt x="1092" y="3657"/>
                  </a:lnTo>
                  <a:lnTo>
                    <a:pt x="36398" y="27127"/>
                  </a:lnTo>
                  <a:lnTo>
                    <a:pt x="1293698" y="27127"/>
                  </a:lnTo>
                  <a:lnTo>
                    <a:pt x="1301305" y="26428"/>
                  </a:lnTo>
                  <a:lnTo>
                    <a:pt x="1308328" y="24333"/>
                  </a:lnTo>
                  <a:lnTo>
                    <a:pt x="1314780" y="20853"/>
                  </a:lnTo>
                  <a:lnTo>
                    <a:pt x="1318679" y="17602"/>
                  </a:lnTo>
                  <a:lnTo>
                    <a:pt x="1320647" y="15963"/>
                  </a:lnTo>
                  <a:lnTo>
                    <a:pt x="1325524" y="10096"/>
                  </a:lnTo>
                  <a:lnTo>
                    <a:pt x="1329016" y="3657"/>
                  </a:lnTo>
                  <a:lnTo>
                    <a:pt x="1330109" y="0"/>
                  </a:lnTo>
                  <a:close/>
                </a:path>
                <a:path w="4018279" h="27304">
                  <a:moveTo>
                    <a:pt x="2674823" y="17589"/>
                  </a:moveTo>
                  <a:lnTo>
                    <a:pt x="1350848" y="17589"/>
                  </a:lnTo>
                  <a:lnTo>
                    <a:pt x="1350848" y="27114"/>
                  </a:lnTo>
                  <a:lnTo>
                    <a:pt x="2674823" y="27114"/>
                  </a:lnTo>
                  <a:lnTo>
                    <a:pt x="2674823" y="17589"/>
                  </a:lnTo>
                  <a:close/>
                </a:path>
                <a:path w="4018279" h="27304">
                  <a:moveTo>
                    <a:pt x="4017848" y="17589"/>
                  </a:moveTo>
                  <a:lnTo>
                    <a:pt x="2693873" y="17589"/>
                  </a:lnTo>
                  <a:lnTo>
                    <a:pt x="2693873" y="27114"/>
                  </a:lnTo>
                  <a:lnTo>
                    <a:pt x="4017848" y="27114"/>
                  </a:lnTo>
                  <a:lnTo>
                    <a:pt x="4017848" y="1758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85787" y="3638549"/>
              <a:ext cx="11544300" cy="276860"/>
            </a:xfrm>
            <a:custGeom>
              <a:avLst/>
              <a:gdLst/>
              <a:ahLst/>
              <a:cxnLst/>
              <a:rect l="l" t="t" r="r" b="b"/>
              <a:pathLst>
                <a:path w="11544300" h="276860">
                  <a:moveTo>
                    <a:pt x="342900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3429000" y="276225"/>
                  </a:lnTo>
                  <a:lnTo>
                    <a:pt x="3429000" y="0"/>
                  </a:lnTo>
                  <a:close/>
                </a:path>
                <a:path w="11544300" h="276860">
                  <a:moveTo>
                    <a:pt x="4819650" y="0"/>
                  </a:moveTo>
                  <a:lnTo>
                    <a:pt x="3448050" y="0"/>
                  </a:lnTo>
                  <a:lnTo>
                    <a:pt x="3448050" y="276225"/>
                  </a:lnTo>
                  <a:lnTo>
                    <a:pt x="4819650" y="276225"/>
                  </a:lnTo>
                  <a:lnTo>
                    <a:pt x="4819650" y="0"/>
                  </a:lnTo>
                  <a:close/>
                </a:path>
                <a:path w="11544300" h="276860">
                  <a:moveTo>
                    <a:pt x="6162675" y="0"/>
                  </a:moveTo>
                  <a:lnTo>
                    <a:pt x="4838700" y="0"/>
                  </a:lnTo>
                  <a:lnTo>
                    <a:pt x="4838700" y="276225"/>
                  </a:lnTo>
                  <a:lnTo>
                    <a:pt x="6162675" y="276225"/>
                  </a:lnTo>
                  <a:lnTo>
                    <a:pt x="6162675" y="0"/>
                  </a:lnTo>
                  <a:close/>
                </a:path>
                <a:path w="11544300" h="276860">
                  <a:moveTo>
                    <a:pt x="7505700" y="0"/>
                  </a:moveTo>
                  <a:lnTo>
                    <a:pt x="6181725" y="0"/>
                  </a:lnTo>
                  <a:lnTo>
                    <a:pt x="6181725" y="276225"/>
                  </a:lnTo>
                  <a:lnTo>
                    <a:pt x="7505700" y="276225"/>
                  </a:lnTo>
                  <a:lnTo>
                    <a:pt x="7505700" y="0"/>
                  </a:lnTo>
                  <a:close/>
                </a:path>
                <a:path w="11544300" h="276860">
                  <a:moveTo>
                    <a:pt x="10201275" y="38112"/>
                  </a:moveTo>
                  <a:lnTo>
                    <a:pt x="10177805" y="2794"/>
                  </a:lnTo>
                  <a:lnTo>
                    <a:pt x="10163175" y="12"/>
                  </a:lnTo>
                  <a:lnTo>
                    <a:pt x="7562850" y="12"/>
                  </a:lnTo>
                  <a:lnTo>
                    <a:pt x="7527544" y="23482"/>
                  </a:lnTo>
                  <a:lnTo>
                    <a:pt x="7524750" y="38112"/>
                  </a:lnTo>
                  <a:lnTo>
                    <a:pt x="7524750" y="238137"/>
                  </a:lnTo>
                  <a:lnTo>
                    <a:pt x="7548232" y="273443"/>
                  </a:lnTo>
                  <a:lnTo>
                    <a:pt x="7562850" y="276237"/>
                  </a:lnTo>
                  <a:lnTo>
                    <a:pt x="10163175" y="276237"/>
                  </a:lnTo>
                  <a:lnTo>
                    <a:pt x="10198494" y="252755"/>
                  </a:lnTo>
                  <a:lnTo>
                    <a:pt x="10201275" y="238137"/>
                  </a:lnTo>
                  <a:lnTo>
                    <a:pt x="10201275" y="38112"/>
                  </a:lnTo>
                  <a:close/>
                </a:path>
                <a:path w="11544300" h="276860">
                  <a:moveTo>
                    <a:pt x="11544300" y="0"/>
                  </a:moveTo>
                  <a:lnTo>
                    <a:pt x="10220325" y="0"/>
                  </a:lnTo>
                  <a:lnTo>
                    <a:pt x="10220325" y="276225"/>
                  </a:lnTo>
                  <a:lnTo>
                    <a:pt x="11544300" y="276225"/>
                  </a:lnTo>
                  <a:lnTo>
                    <a:pt x="11544300" y="0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85787" y="3905249"/>
              <a:ext cx="7505700" cy="9525"/>
            </a:xfrm>
            <a:custGeom>
              <a:avLst/>
              <a:gdLst/>
              <a:ahLst/>
              <a:cxnLst/>
              <a:rect l="l" t="t" r="r" b="b"/>
              <a:pathLst>
                <a:path w="7505700" h="9525">
                  <a:moveTo>
                    <a:pt x="34290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429000" y="9525"/>
                  </a:lnTo>
                  <a:lnTo>
                    <a:pt x="3429000" y="0"/>
                  </a:lnTo>
                  <a:close/>
                </a:path>
                <a:path w="7505700" h="9525">
                  <a:moveTo>
                    <a:pt x="4819650" y="0"/>
                  </a:moveTo>
                  <a:lnTo>
                    <a:pt x="3448050" y="0"/>
                  </a:lnTo>
                  <a:lnTo>
                    <a:pt x="3448050" y="9525"/>
                  </a:lnTo>
                  <a:lnTo>
                    <a:pt x="4819650" y="9525"/>
                  </a:lnTo>
                  <a:lnTo>
                    <a:pt x="4819650" y="0"/>
                  </a:lnTo>
                  <a:close/>
                </a:path>
                <a:path w="7505700" h="9525">
                  <a:moveTo>
                    <a:pt x="6162675" y="0"/>
                  </a:moveTo>
                  <a:lnTo>
                    <a:pt x="4838700" y="0"/>
                  </a:lnTo>
                  <a:lnTo>
                    <a:pt x="4838700" y="9525"/>
                  </a:lnTo>
                  <a:lnTo>
                    <a:pt x="6162675" y="9525"/>
                  </a:lnTo>
                  <a:lnTo>
                    <a:pt x="6162675" y="0"/>
                  </a:lnTo>
                  <a:close/>
                </a:path>
                <a:path w="7505700" h="9525">
                  <a:moveTo>
                    <a:pt x="7505700" y="0"/>
                  </a:moveTo>
                  <a:lnTo>
                    <a:pt x="6181725" y="0"/>
                  </a:lnTo>
                  <a:lnTo>
                    <a:pt x="6181725" y="9525"/>
                  </a:lnTo>
                  <a:lnTo>
                    <a:pt x="7505700" y="9525"/>
                  </a:lnTo>
                  <a:lnTo>
                    <a:pt x="7505700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210548" y="3638544"/>
              <a:ext cx="2676525" cy="271780"/>
            </a:xfrm>
            <a:custGeom>
              <a:avLst/>
              <a:gdLst/>
              <a:ahLst/>
              <a:cxnLst/>
              <a:rect l="l" t="t" r="r" b="b"/>
              <a:pathLst>
                <a:path w="2676525" h="271779">
                  <a:moveTo>
                    <a:pt x="2643477" y="271452"/>
                  </a:moveTo>
                  <a:lnTo>
                    <a:pt x="33047" y="271452"/>
                  </a:lnTo>
                  <a:lnTo>
                    <a:pt x="28187" y="270607"/>
                  </a:lnTo>
                  <a:lnTo>
                    <a:pt x="0" y="242543"/>
                  </a:lnTo>
                  <a:lnTo>
                    <a:pt x="0" y="238124"/>
                  </a:lnTo>
                  <a:lnTo>
                    <a:pt x="0" y="33040"/>
                  </a:lnTo>
                  <a:lnTo>
                    <a:pt x="28187" y="967"/>
                  </a:lnTo>
                  <a:lnTo>
                    <a:pt x="33047" y="0"/>
                  </a:lnTo>
                  <a:lnTo>
                    <a:pt x="2643477" y="0"/>
                  </a:lnTo>
                  <a:lnTo>
                    <a:pt x="2675556" y="28174"/>
                  </a:lnTo>
                  <a:lnTo>
                    <a:pt x="2676524" y="33040"/>
                  </a:lnTo>
                  <a:lnTo>
                    <a:pt x="2676524" y="242543"/>
                  </a:lnTo>
                  <a:lnTo>
                    <a:pt x="2648336" y="270607"/>
                  </a:lnTo>
                  <a:lnTo>
                    <a:pt x="2643477" y="271452"/>
                  </a:lnTo>
                  <a:close/>
                </a:path>
              </a:pathLst>
            </a:custGeom>
            <a:solidFill>
              <a:srgbClr val="FFB6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212239" y="3887660"/>
              <a:ext cx="4018279" cy="27305"/>
            </a:xfrm>
            <a:custGeom>
              <a:avLst/>
              <a:gdLst/>
              <a:ahLst/>
              <a:cxnLst/>
              <a:rect l="l" t="t" r="r" b="b"/>
              <a:pathLst>
                <a:path w="4018279" h="27304">
                  <a:moveTo>
                    <a:pt x="2673134" y="0"/>
                  </a:moveTo>
                  <a:lnTo>
                    <a:pt x="2636723" y="17602"/>
                  </a:lnTo>
                  <a:lnTo>
                    <a:pt x="36398" y="17602"/>
                  </a:lnTo>
                  <a:lnTo>
                    <a:pt x="0" y="0"/>
                  </a:lnTo>
                  <a:lnTo>
                    <a:pt x="1092" y="3657"/>
                  </a:lnTo>
                  <a:lnTo>
                    <a:pt x="36398" y="27127"/>
                  </a:lnTo>
                  <a:lnTo>
                    <a:pt x="2636723" y="27127"/>
                  </a:lnTo>
                  <a:lnTo>
                    <a:pt x="2644330" y="26428"/>
                  </a:lnTo>
                  <a:lnTo>
                    <a:pt x="2651353" y="24333"/>
                  </a:lnTo>
                  <a:lnTo>
                    <a:pt x="2657805" y="20853"/>
                  </a:lnTo>
                  <a:lnTo>
                    <a:pt x="2661704" y="17602"/>
                  </a:lnTo>
                  <a:lnTo>
                    <a:pt x="2663672" y="15963"/>
                  </a:lnTo>
                  <a:lnTo>
                    <a:pt x="2668549" y="10096"/>
                  </a:lnTo>
                  <a:lnTo>
                    <a:pt x="2672042" y="3657"/>
                  </a:lnTo>
                  <a:lnTo>
                    <a:pt x="2673134" y="0"/>
                  </a:lnTo>
                  <a:close/>
                </a:path>
                <a:path w="4018279" h="27304">
                  <a:moveTo>
                    <a:pt x="4017848" y="17589"/>
                  </a:moveTo>
                  <a:lnTo>
                    <a:pt x="2693873" y="17589"/>
                  </a:lnTo>
                  <a:lnTo>
                    <a:pt x="2693873" y="27114"/>
                  </a:lnTo>
                  <a:lnTo>
                    <a:pt x="4017848" y="27114"/>
                  </a:lnTo>
                  <a:lnTo>
                    <a:pt x="4017848" y="1758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685799" y="3952869"/>
            <a:ext cx="11544300" cy="600710"/>
            <a:chOff x="685799" y="3952869"/>
            <a:chExt cx="11544300" cy="600710"/>
          </a:xfrm>
        </p:grpSpPr>
        <p:sp>
          <p:nvSpPr>
            <p:cNvPr id="19" name="object 19"/>
            <p:cNvSpPr/>
            <p:nvPr/>
          </p:nvSpPr>
          <p:spPr>
            <a:xfrm>
              <a:off x="685787" y="4219574"/>
              <a:ext cx="7505700" cy="9525"/>
            </a:xfrm>
            <a:custGeom>
              <a:avLst/>
              <a:gdLst/>
              <a:ahLst/>
              <a:cxnLst/>
              <a:rect l="l" t="t" r="r" b="b"/>
              <a:pathLst>
                <a:path w="7505700" h="9525">
                  <a:moveTo>
                    <a:pt x="34290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429000" y="9525"/>
                  </a:lnTo>
                  <a:lnTo>
                    <a:pt x="3429000" y="0"/>
                  </a:lnTo>
                  <a:close/>
                </a:path>
                <a:path w="7505700" h="9525">
                  <a:moveTo>
                    <a:pt x="4819650" y="0"/>
                  </a:moveTo>
                  <a:lnTo>
                    <a:pt x="3448050" y="0"/>
                  </a:lnTo>
                  <a:lnTo>
                    <a:pt x="3448050" y="9525"/>
                  </a:lnTo>
                  <a:lnTo>
                    <a:pt x="4819650" y="9525"/>
                  </a:lnTo>
                  <a:lnTo>
                    <a:pt x="4819650" y="0"/>
                  </a:lnTo>
                  <a:close/>
                </a:path>
                <a:path w="7505700" h="9525">
                  <a:moveTo>
                    <a:pt x="6162675" y="0"/>
                  </a:moveTo>
                  <a:lnTo>
                    <a:pt x="4838700" y="0"/>
                  </a:lnTo>
                  <a:lnTo>
                    <a:pt x="4838700" y="9525"/>
                  </a:lnTo>
                  <a:lnTo>
                    <a:pt x="6162675" y="9525"/>
                  </a:lnTo>
                  <a:lnTo>
                    <a:pt x="6162675" y="0"/>
                  </a:lnTo>
                  <a:close/>
                </a:path>
                <a:path w="7505700" h="9525">
                  <a:moveTo>
                    <a:pt x="7505700" y="0"/>
                  </a:moveTo>
                  <a:lnTo>
                    <a:pt x="6181725" y="0"/>
                  </a:lnTo>
                  <a:lnTo>
                    <a:pt x="6181725" y="9525"/>
                  </a:lnTo>
                  <a:lnTo>
                    <a:pt x="7505700" y="9525"/>
                  </a:lnTo>
                  <a:lnTo>
                    <a:pt x="7505700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210548" y="3952869"/>
              <a:ext cx="1333500" cy="271780"/>
            </a:xfrm>
            <a:custGeom>
              <a:avLst/>
              <a:gdLst/>
              <a:ahLst/>
              <a:cxnLst/>
              <a:rect l="l" t="t" r="r" b="b"/>
              <a:pathLst>
                <a:path w="1333500" h="271779">
                  <a:moveTo>
                    <a:pt x="1300451" y="271452"/>
                  </a:moveTo>
                  <a:lnTo>
                    <a:pt x="33047" y="271452"/>
                  </a:lnTo>
                  <a:lnTo>
                    <a:pt x="28187" y="270597"/>
                  </a:lnTo>
                  <a:lnTo>
                    <a:pt x="0" y="242543"/>
                  </a:lnTo>
                  <a:lnTo>
                    <a:pt x="0" y="238124"/>
                  </a:lnTo>
                  <a:lnTo>
                    <a:pt x="0" y="33030"/>
                  </a:lnTo>
                  <a:lnTo>
                    <a:pt x="28187" y="958"/>
                  </a:lnTo>
                  <a:lnTo>
                    <a:pt x="33047" y="0"/>
                  </a:lnTo>
                  <a:lnTo>
                    <a:pt x="1300451" y="0"/>
                  </a:lnTo>
                  <a:lnTo>
                    <a:pt x="1332533" y="28165"/>
                  </a:lnTo>
                  <a:lnTo>
                    <a:pt x="1333499" y="33030"/>
                  </a:lnTo>
                  <a:lnTo>
                    <a:pt x="1333499" y="242543"/>
                  </a:lnTo>
                  <a:lnTo>
                    <a:pt x="1305312" y="270597"/>
                  </a:lnTo>
                  <a:lnTo>
                    <a:pt x="1300451" y="271452"/>
                  </a:lnTo>
                  <a:close/>
                </a:path>
              </a:pathLst>
            </a:custGeom>
            <a:solidFill>
              <a:srgbClr val="81C7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212239" y="4201985"/>
              <a:ext cx="4018279" cy="27305"/>
            </a:xfrm>
            <a:custGeom>
              <a:avLst/>
              <a:gdLst/>
              <a:ahLst/>
              <a:cxnLst/>
              <a:rect l="l" t="t" r="r" b="b"/>
              <a:pathLst>
                <a:path w="4018279" h="27304">
                  <a:moveTo>
                    <a:pt x="1330109" y="0"/>
                  </a:moveTo>
                  <a:lnTo>
                    <a:pt x="1293698" y="17602"/>
                  </a:lnTo>
                  <a:lnTo>
                    <a:pt x="36398" y="17602"/>
                  </a:lnTo>
                  <a:lnTo>
                    <a:pt x="0" y="0"/>
                  </a:lnTo>
                  <a:lnTo>
                    <a:pt x="1092" y="3657"/>
                  </a:lnTo>
                  <a:lnTo>
                    <a:pt x="36398" y="27127"/>
                  </a:lnTo>
                  <a:lnTo>
                    <a:pt x="1293698" y="27127"/>
                  </a:lnTo>
                  <a:lnTo>
                    <a:pt x="1301305" y="26428"/>
                  </a:lnTo>
                  <a:lnTo>
                    <a:pt x="1308328" y="24333"/>
                  </a:lnTo>
                  <a:lnTo>
                    <a:pt x="1314780" y="20853"/>
                  </a:lnTo>
                  <a:lnTo>
                    <a:pt x="1318679" y="17602"/>
                  </a:lnTo>
                  <a:lnTo>
                    <a:pt x="1320647" y="15963"/>
                  </a:lnTo>
                  <a:lnTo>
                    <a:pt x="1325524" y="10096"/>
                  </a:lnTo>
                  <a:lnTo>
                    <a:pt x="1329016" y="3657"/>
                  </a:lnTo>
                  <a:lnTo>
                    <a:pt x="1330109" y="0"/>
                  </a:lnTo>
                  <a:close/>
                </a:path>
                <a:path w="4018279" h="27304">
                  <a:moveTo>
                    <a:pt x="2674823" y="17589"/>
                  </a:moveTo>
                  <a:lnTo>
                    <a:pt x="1350848" y="17589"/>
                  </a:lnTo>
                  <a:lnTo>
                    <a:pt x="1350848" y="27114"/>
                  </a:lnTo>
                  <a:lnTo>
                    <a:pt x="2674823" y="27114"/>
                  </a:lnTo>
                  <a:lnTo>
                    <a:pt x="2674823" y="17589"/>
                  </a:lnTo>
                  <a:close/>
                </a:path>
                <a:path w="4018279" h="27304">
                  <a:moveTo>
                    <a:pt x="4017848" y="17589"/>
                  </a:moveTo>
                  <a:lnTo>
                    <a:pt x="2693873" y="17589"/>
                  </a:lnTo>
                  <a:lnTo>
                    <a:pt x="2693873" y="27114"/>
                  </a:lnTo>
                  <a:lnTo>
                    <a:pt x="4017848" y="27114"/>
                  </a:lnTo>
                  <a:lnTo>
                    <a:pt x="4017848" y="1758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5787" y="4267199"/>
              <a:ext cx="11544300" cy="286385"/>
            </a:xfrm>
            <a:custGeom>
              <a:avLst/>
              <a:gdLst/>
              <a:ahLst/>
              <a:cxnLst/>
              <a:rect l="l" t="t" r="r" b="b"/>
              <a:pathLst>
                <a:path w="11544300" h="286385">
                  <a:moveTo>
                    <a:pt x="34290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3429000" y="285750"/>
                  </a:lnTo>
                  <a:lnTo>
                    <a:pt x="3429000" y="0"/>
                  </a:lnTo>
                  <a:close/>
                </a:path>
                <a:path w="11544300" h="286385">
                  <a:moveTo>
                    <a:pt x="4819650" y="0"/>
                  </a:moveTo>
                  <a:lnTo>
                    <a:pt x="3448050" y="0"/>
                  </a:lnTo>
                  <a:lnTo>
                    <a:pt x="3448050" y="285750"/>
                  </a:lnTo>
                  <a:lnTo>
                    <a:pt x="4819650" y="285750"/>
                  </a:lnTo>
                  <a:lnTo>
                    <a:pt x="4819650" y="0"/>
                  </a:lnTo>
                  <a:close/>
                </a:path>
                <a:path w="11544300" h="286385">
                  <a:moveTo>
                    <a:pt x="6162675" y="0"/>
                  </a:moveTo>
                  <a:lnTo>
                    <a:pt x="4838700" y="0"/>
                  </a:lnTo>
                  <a:lnTo>
                    <a:pt x="4838700" y="285750"/>
                  </a:lnTo>
                  <a:lnTo>
                    <a:pt x="6162675" y="285750"/>
                  </a:lnTo>
                  <a:lnTo>
                    <a:pt x="6162675" y="0"/>
                  </a:lnTo>
                  <a:close/>
                </a:path>
                <a:path w="11544300" h="286385">
                  <a:moveTo>
                    <a:pt x="7505700" y="0"/>
                  </a:moveTo>
                  <a:lnTo>
                    <a:pt x="6181725" y="0"/>
                  </a:lnTo>
                  <a:lnTo>
                    <a:pt x="6181725" y="285750"/>
                  </a:lnTo>
                  <a:lnTo>
                    <a:pt x="7505700" y="285750"/>
                  </a:lnTo>
                  <a:lnTo>
                    <a:pt x="7505700" y="0"/>
                  </a:lnTo>
                  <a:close/>
                </a:path>
                <a:path w="11544300" h="286385">
                  <a:moveTo>
                    <a:pt x="10201275" y="38112"/>
                  </a:moveTo>
                  <a:lnTo>
                    <a:pt x="10177805" y="2794"/>
                  </a:lnTo>
                  <a:lnTo>
                    <a:pt x="10163175" y="12"/>
                  </a:lnTo>
                  <a:lnTo>
                    <a:pt x="7562850" y="12"/>
                  </a:lnTo>
                  <a:lnTo>
                    <a:pt x="7527544" y="23482"/>
                  </a:lnTo>
                  <a:lnTo>
                    <a:pt x="7524750" y="38112"/>
                  </a:lnTo>
                  <a:lnTo>
                    <a:pt x="7524750" y="247662"/>
                  </a:lnTo>
                  <a:lnTo>
                    <a:pt x="7548232" y="282968"/>
                  </a:lnTo>
                  <a:lnTo>
                    <a:pt x="7562850" y="285762"/>
                  </a:lnTo>
                  <a:lnTo>
                    <a:pt x="10163175" y="285762"/>
                  </a:lnTo>
                  <a:lnTo>
                    <a:pt x="10198494" y="262280"/>
                  </a:lnTo>
                  <a:lnTo>
                    <a:pt x="10201275" y="247662"/>
                  </a:lnTo>
                  <a:lnTo>
                    <a:pt x="10201275" y="38112"/>
                  </a:lnTo>
                  <a:close/>
                </a:path>
                <a:path w="11544300" h="286385">
                  <a:moveTo>
                    <a:pt x="11544300" y="0"/>
                  </a:moveTo>
                  <a:lnTo>
                    <a:pt x="10220325" y="0"/>
                  </a:lnTo>
                  <a:lnTo>
                    <a:pt x="10220325" y="285750"/>
                  </a:lnTo>
                  <a:lnTo>
                    <a:pt x="11544300" y="285750"/>
                  </a:lnTo>
                  <a:lnTo>
                    <a:pt x="11544300" y="0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85787" y="4543424"/>
              <a:ext cx="7505700" cy="9525"/>
            </a:xfrm>
            <a:custGeom>
              <a:avLst/>
              <a:gdLst/>
              <a:ahLst/>
              <a:cxnLst/>
              <a:rect l="l" t="t" r="r" b="b"/>
              <a:pathLst>
                <a:path w="7505700" h="9525">
                  <a:moveTo>
                    <a:pt x="34290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429000" y="9525"/>
                  </a:lnTo>
                  <a:lnTo>
                    <a:pt x="3429000" y="0"/>
                  </a:lnTo>
                  <a:close/>
                </a:path>
                <a:path w="7505700" h="9525">
                  <a:moveTo>
                    <a:pt x="4819650" y="0"/>
                  </a:moveTo>
                  <a:lnTo>
                    <a:pt x="3448050" y="0"/>
                  </a:lnTo>
                  <a:lnTo>
                    <a:pt x="3448050" y="9525"/>
                  </a:lnTo>
                  <a:lnTo>
                    <a:pt x="4819650" y="9525"/>
                  </a:lnTo>
                  <a:lnTo>
                    <a:pt x="4819650" y="0"/>
                  </a:lnTo>
                  <a:close/>
                </a:path>
                <a:path w="7505700" h="9525">
                  <a:moveTo>
                    <a:pt x="6162675" y="0"/>
                  </a:moveTo>
                  <a:lnTo>
                    <a:pt x="4838700" y="0"/>
                  </a:lnTo>
                  <a:lnTo>
                    <a:pt x="4838700" y="9525"/>
                  </a:lnTo>
                  <a:lnTo>
                    <a:pt x="6162675" y="9525"/>
                  </a:lnTo>
                  <a:lnTo>
                    <a:pt x="6162675" y="0"/>
                  </a:lnTo>
                  <a:close/>
                </a:path>
                <a:path w="7505700" h="9525">
                  <a:moveTo>
                    <a:pt x="7505700" y="0"/>
                  </a:moveTo>
                  <a:lnTo>
                    <a:pt x="6181725" y="0"/>
                  </a:lnTo>
                  <a:lnTo>
                    <a:pt x="6181725" y="9525"/>
                  </a:lnTo>
                  <a:lnTo>
                    <a:pt x="7505700" y="9525"/>
                  </a:lnTo>
                  <a:lnTo>
                    <a:pt x="7505700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210548" y="4267194"/>
              <a:ext cx="2676525" cy="281305"/>
            </a:xfrm>
            <a:custGeom>
              <a:avLst/>
              <a:gdLst/>
              <a:ahLst/>
              <a:cxnLst/>
              <a:rect l="l" t="t" r="r" b="b"/>
              <a:pathLst>
                <a:path w="2676525" h="281304">
                  <a:moveTo>
                    <a:pt x="2643477" y="280977"/>
                  </a:moveTo>
                  <a:lnTo>
                    <a:pt x="33047" y="280977"/>
                  </a:lnTo>
                  <a:lnTo>
                    <a:pt x="28187" y="280122"/>
                  </a:lnTo>
                  <a:lnTo>
                    <a:pt x="0" y="252068"/>
                  </a:lnTo>
                  <a:lnTo>
                    <a:pt x="0" y="247649"/>
                  </a:lnTo>
                  <a:lnTo>
                    <a:pt x="0" y="33040"/>
                  </a:lnTo>
                  <a:lnTo>
                    <a:pt x="28187" y="958"/>
                  </a:lnTo>
                  <a:lnTo>
                    <a:pt x="33047" y="0"/>
                  </a:lnTo>
                  <a:lnTo>
                    <a:pt x="2643477" y="0"/>
                  </a:lnTo>
                  <a:lnTo>
                    <a:pt x="2675556" y="28174"/>
                  </a:lnTo>
                  <a:lnTo>
                    <a:pt x="2676524" y="33040"/>
                  </a:lnTo>
                  <a:lnTo>
                    <a:pt x="2676524" y="252068"/>
                  </a:lnTo>
                  <a:lnTo>
                    <a:pt x="2648336" y="280122"/>
                  </a:lnTo>
                  <a:lnTo>
                    <a:pt x="2643477" y="280977"/>
                  </a:lnTo>
                  <a:close/>
                </a:path>
              </a:pathLst>
            </a:custGeom>
            <a:solidFill>
              <a:srgbClr val="9474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212239" y="4525835"/>
              <a:ext cx="4018279" cy="27305"/>
            </a:xfrm>
            <a:custGeom>
              <a:avLst/>
              <a:gdLst/>
              <a:ahLst/>
              <a:cxnLst/>
              <a:rect l="l" t="t" r="r" b="b"/>
              <a:pathLst>
                <a:path w="4018279" h="27304">
                  <a:moveTo>
                    <a:pt x="2673134" y="0"/>
                  </a:moveTo>
                  <a:lnTo>
                    <a:pt x="2636723" y="17602"/>
                  </a:lnTo>
                  <a:lnTo>
                    <a:pt x="36398" y="17602"/>
                  </a:lnTo>
                  <a:lnTo>
                    <a:pt x="0" y="0"/>
                  </a:lnTo>
                  <a:lnTo>
                    <a:pt x="1092" y="3657"/>
                  </a:lnTo>
                  <a:lnTo>
                    <a:pt x="36398" y="27127"/>
                  </a:lnTo>
                  <a:lnTo>
                    <a:pt x="2636723" y="27127"/>
                  </a:lnTo>
                  <a:lnTo>
                    <a:pt x="2644330" y="26428"/>
                  </a:lnTo>
                  <a:lnTo>
                    <a:pt x="2651353" y="24333"/>
                  </a:lnTo>
                  <a:lnTo>
                    <a:pt x="2657805" y="20853"/>
                  </a:lnTo>
                  <a:lnTo>
                    <a:pt x="2661704" y="17602"/>
                  </a:lnTo>
                  <a:lnTo>
                    <a:pt x="2663672" y="15963"/>
                  </a:lnTo>
                  <a:lnTo>
                    <a:pt x="2668549" y="10096"/>
                  </a:lnTo>
                  <a:lnTo>
                    <a:pt x="2672042" y="3657"/>
                  </a:lnTo>
                  <a:lnTo>
                    <a:pt x="2673134" y="0"/>
                  </a:lnTo>
                  <a:close/>
                </a:path>
                <a:path w="4018279" h="27304">
                  <a:moveTo>
                    <a:pt x="4017848" y="17589"/>
                  </a:moveTo>
                  <a:lnTo>
                    <a:pt x="2693873" y="17589"/>
                  </a:lnTo>
                  <a:lnTo>
                    <a:pt x="2693873" y="27114"/>
                  </a:lnTo>
                  <a:lnTo>
                    <a:pt x="4017848" y="27114"/>
                  </a:lnTo>
                  <a:lnTo>
                    <a:pt x="4017848" y="1758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685799" y="4591044"/>
            <a:ext cx="11544300" cy="591185"/>
            <a:chOff x="685799" y="4591044"/>
            <a:chExt cx="11544300" cy="591185"/>
          </a:xfrm>
        </p:grpSpPr>
        <p:sp>
          <p:nvSpPr>
            <p:cNvPr id="27" name="object 27"/>
            <p:cNvSpPr/>
            <p:nvPr/>
          </p:nvSpPr>
          <p:spPr>
            <a:xfrm>
              <a:off x="685787" y="4857749"/>
              <a:ext cx="7505700" cy="9525"/>
            </a:xfrm>
            <a:custGeom>
              <a:avLst/>
              <a:gdLst/>
              <a:ahLst/>
              <a:cxnLst/>
              <a:rect l="l" t="t" r="r" b="b"/>
              <a:pathLst>
                <a:path w="7505700" h="9525">
                  <a:moveTo>
                    <a:pt x="34290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429000" y="9525"/>
                  </a:lnTo>
                  <a:lnTo>
                    <a:pt x="3429000" y="0"/>
                  </a:lnTo>
                  <a:close/>
                </a:path>
                <a:path w="7505700" h="9525">
                  <a:moveTo>
                    <a:pt x="4819650" y="0"/>
                  </a:moveTo>
                  <a:lnTo>
                    <a:pt x="3448050" y="0"/>
                  </a:lnTo>
                  <a:lnTo>
                    <a:pt x="3448050" y="9525"/>
                  </a:lnTo>
                  <a:lnTo>
                    <a:pt x="4819650" y="9525"/>
                  </a:lnTo>
                  <a:lnTo>
                    <a:pt x="4819650" y="0"/>
                  </a:lnTo>
                  <a:close/>
                </a:path>
                <a:path w="7505700" h="9525">
                  <a:moveTo>
                    <a:pt x="6162675" y="0"/>
                  </a:moveTo>
                  <a:lnTo>
                    <a:pt x="4838700" y="0"/>
                  </a:lnTo>
                  <a:lnTo>
                    <a:pt x="4838700" y="9525"/>
                  </a:lnTo>
                  <a:lnTo>
                    <a:pt x="6162675" y="9525"/>
                  </a:lnTo>
                  <a:lnTo>
                    <a:pt x="6162675" y="0"/>
                  </a:lnTo>
                  <a:close/>
                </a:path>
                <a:path w="7505700" h="9525">
                  <a:moveTo>
                    <a:pt x="7505700" y="0"/>
                  </a:moveTo>
                  <a:lnTo>
                    <a:pt x="6181725" y="0"/>
                  </a:lnTo>
                  <a:lnTo>
                    <a:pt x="6181725" y="9525"/>
                  </a:lnTo>
                  <a:lnTo>
                    <a:pt x="7505700" y="9525"/>
                  </a:lnTo>
                  <a:lnTo>
                    <a:pt x="7505700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210548" y="4591044"/>
              <a:ext cx="2676525" cy="271780"/>
            </a:xfrm>
            <a:custGeom>
              <a:avLst/>
              <a:gdLst/>
              <a:ahLst/>
              <a:cxnLst/>
              <a:rect l="l" t="t" r="r" b="b"/>
              <a:pathLst>
                <a:path w="2676525" h="271779">
                  <a:moveTo>
                    <a:pt x="2643477" y="271452"/>
                  </a:moveTo>
                  <a:lnTo>
                    <a:pt x="33047" y="271452"/>
                  </a:lnTo>
                  <a:lnTo>
                    <a:pt x="28187" y="270597"/>
                  </a:lnTo>
                  <a:lnTo>
                    <a:pt x="0" y="242534"/>
                  </a:lnTo>
                  <a:lnTo>
                    <a:pt x="0" y="238124"/>
                  </a:lnTo>
                  <a:lnTo>
                    <a:pt x="0" y="33030"/>
                  </a:lnTo>
                  <a:lnTo>
                    <a:pt x="28187" y="958"/>
                  </a:lnTo>
                  <a:lnTo>
                    <a:pt x="33047" y="0"/>
                  </a:lnTo>
                  <a:lnTo>
                    <a:pt x="2643477" y="0"/>
                  </a:lnTo>
                  <a:lnTo>
                    <a:pt x="2675556" y="28165"/>
                  </a:lnTo>
                  <a:lnTo>
                    <a:pt x="2676524" y="33030"/>
                  </a:lnTo>
                  <a:lnTo>
                    <a:pt x="2676524" y="242534"/>
                  </a:lnTo>
                  <a:lnTo>
                    <a:pt x="2648336" y="270597"/>
                  </a:lnTo>
                  <a:lnTo>
                    <a:pt x="2643477" y="271452"/>
                  </a:lnTo>
                  <a:close/>
                </a:path>
              </a:pathLst>
            </a:custGeom>
            <a:solidFill>
              <a:srgbClr val="64B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212239" y="4840160"/>
              <a:ext cx="4018279" cy="27305"/>
            </a:xfrm>
            <a:custGeom>
              <a:avLst/>
              <a:gdLst/>
              <a:ahLst/>
              <a:cxnLst/>
              <a:rect l="l" t="t" r="r" b="b"/>
              <a:pathLst>
                <a:path w="4018279" h="27304">
                  <a:moveTo>
                    <a:pt x="2673134" y="0"/>
                  </a:moveTo>
                  <a:lnTo>
                    <a:pt x="2636723" y="17602"/>
                  </a:lnTo>
                  <a:lnTo>
                    <a:pt x="36398" y="17602"/>
                  </a:lnTo>
                  <a:lnTo>
                    <a:pt x="0" y="0"/>
                  </a:lnTo>
                  <a:lnTo>
                    <a:pt x="1092" y="3657"/>
                  </a:lnTo>
                  <a:lnTo>
                    <a:pt x="36398" y="27127"/>
                  </a:lnTo>
                  <a:lnTo>
                    <a:pt x="2636723" y="27127"/>
                  </a:lnTo>
                  <a:lnTo>
                    <a:pt x="2644330" y="26428"/>
                  </a:lnTo>
                  <a:lnTo>
                    <a:pt x="2651353" y="24333"/>
                  </a:lnTo>
                  <a:lnTo>
                    <a:pt x="2657805" y="20853"/>
                  </a:lnTo>
                  <a:lnTo>
                    <a:pt x="2661704" y="17602"/>
                  </a:lnTo>
                  <a:lnTo>
                    <a:pt x="2663672" y="15963"/>
                  </a:lnTo>
                  <a:lnTo>
                    <a:pt x="2668549" y="10096"/>
                  </a:lnTo>
                  <a:lnTo>
                    <a:pt x="2672042" y="3657"/>
                  </a:lnTo>
                  <a:lnTo>
                    <a:pt x="2673134" y="0"/>
                  </a:lnTo>
                  <a:close/>
                </a:path>
                <a:path w="4018279" h="27304">
                  <a:moveTo>
                    <a:pt x="4017848" y="17589"/>
                  </a:moveTo>
                  <a:lnTo>
                    <a:pt x="2693873" y="17589"/>
                  </a:lnTo>
                  <a:lnTo>
                    <a:pt x="2693873" y="27114"/>
                  </a:lnTo>
                  <a:lnTo>
                    <a:pt x="4017848" y="27114"/>
                  </a:lnTo>
                  <a:lnTo>
                    <a:pt x="4017848" y="1758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85787" y="4905374"/>
              <a:ext cx="11544300" cy="276860"/>
            </a:xfrm>
            <a:custGeom>
              <a:avLst/>
              <a:gdLst/>
              <a:ahLst/>
              <a:cxnLst/>
              <a:rect l="l" t="t" r="r" b="b"/>
              <a:pathLst>
                <a:path w="11544300" h="276860">
                  <a:moveTo>
                    <a:pt x="342900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3429000" y="276225"/>
                  </a:lnTo>
                  <a:lnTo>
                    <a:pt x="3429000" y="0"/>
                  </a:lnTo>
                  <a:close/>
                </a:path>
                <a:path w="11544300" h="276860">
                  <a:moveTo>
                    <a:pt x="4819650" y="0"/>
                  </a:moveTo>
                  <a:lnTo>
                    <a:pt x="3448050" y="0"/>
                  </a:lnTo>
                  <a:lnTo>
                    <a:pt x="3448050" y="276225"/>
                  </a:lnTo>
                  <a:lnTo>
                    <a:pt x="4819650" y="276225"/>
                  </a:lnTo>
                  <a:lnTo>
                    <a:pt x="4819650" y="0"/>
                  </a:lnTo>
                  <a:close/>
                </a:path>
                <a:path w="11544300" h="276860">
                  <a:moveTo>
                    <a:pt x="6162675" y="0"/>
                  </a:moveTo>
                  <a:lnTo>
                    <a:pt x="4838700" y="0"/>
                  </a:lnTo>
                  <a:lnTo>
                    <a:pt x="4838700" y="276225"/>
                  </a:lnTo>
                  <a:lnTo>
                    <a:pt x="6162675" y="276225"/>
                  </a:lnTo>
                  <a:lnTo>
                    <a:pt x="6162675" y="0"/>
                  </a:lnTo>
                  <a:close/>
                </a:path>
                <a:path w="11544300" h="276860">
                  <a:moveTo>
                    <a:pt x="7505700" y="0"/>
                  </a:moveTo>
                  <a:lnTo>
                    <a:pt x="6181725" y="0"/>
                  </a:lnTo>
                  <a:lnTo>
                    <a:pt x="6181725" y="276225"/>
                  </a:lnTo>
                  <a:lnTo>
                    <a:pt x="7505700" y="276225"/>
                  </a:lnTo>
                  <a:lnTo>
                    <a:pt x="7505700" y="0"/>
                  </a:lnTo>
                  <a:close/>
                </a:path>
                <a:path w="11544300" h="276860">
                  <a:moveTo>
                    <a:pt x="8858250" y="0"/>
                  </a:moveTo>
                  <a:lnTo>
                    <a:pt x="7524750" y="0"/>
                  </a:lnTo>
                  <a:lnTo>
                    <a:pt x="7524750" y="276225"/>
                  </a:lnTo>
                  <a:lnTo>
                    <a:pt x="8858250" y="276225"/>
                  </a:lnTo>
                  <a:lnTo>
                    <a:pt x="8858250" y="0"/>
                  </a:lnTo>
                  <a:close/>
                </a:path>
                <a:path w="11544300" h="276860">
                  <a:moveTo>
                    <a:pt x="11544300" y="38112"/>
                  </a:moveTo>
                  <a:lnTo>
                    <a:pt x="11520830" y="2794"/>
                  </a:lnTo>
                  <a:lnTo>
                    <a:pt x="11506200" y="12"/>
                  </a:lnTo>
                  <a:lnTo>
                    <a:pt x="8915400" y="12"/>
                  </a:lnTo>
                  <a:lnTo>
                    <a:pt x="8880094" y="23482"/>
                  </a:lnTo>
                  <a:lnTo>
                    <a:pt x="8877300" y="38112"/>
                  </a:lnTo>
                  <a:lnTo>
                    <a:pt x="8877300" y="238137"/>
                  </a:lnTo>
                  <a:lnTo>
                    <a:pt x="8900782" y="273443"/>
                  </a:lnTo>
                  <a:lnTo>
                    <a:pt x="8915400" y="276237"/>
                  </a:lnTo>
                  <a:lnTo>
                    <a:pt x="11506200" y="276237"/>
                  </a:lnTo>
                  <a:lnTo>
                    <a:pt x="11541519" y="252755"/>
                  </a:lnTo>
                  <a:lnTo>
                    <a:pt x="11544300" y="238137"/>
                  </a:lnTo>
                  <a:lnTo>
                    <a:pt x="11544300" y="38112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85787" y="5172074"/>
              <a:ext cx="8858250" cy="9525"/>
            </a:xfrm>
            <a:custGeom>
              <a:avLst/>
              <a:gdLst/>
              <a:ahLst/>
              <a:cxnLst/>
              <a:rect l="l" t="t" r="r" b="b"/>
              <a:pathLst>
                <a:path w="8858250" h="9525">
                  <a:moveTo>
                    <a:pt x="34290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429000" y="9525"/>
                  </a:lnTo>
                  <a:lnTo>
                    <a:pt x="3429000" y="0"/>
                  </a:lnTo>
                  <a:close/>
                </a:path>
                <a:path w="8858250" h="9525">
                  <a:moveTo>
                    <a:pt x="4819650" y="0"/>
                  </a:moveTo>
                  <a:lnTo>
                    <a:pt x="3448050" y="0"/>
                  </a:lnTo>
                  <a:lnTo>
                    <a:pt x="3448050" y="9525"/>
                  </a:lnTo>
                  <a:lnTo>
                    <a:pt x="4819650" y="9525"/>
                  </a:lnTo>
                  <a:lnTo>
                    <a:pt x="4819650" y="0"/>
                  </a:lnTo>
                  <a:close/>
                </a:path>
                <a:path w="8858250" h="9525">
                  <a:moveTo>
                    <a:pt x="6162675" y="0"/>
                  </a:moveTo>
                  <a:lnTo>
                    <a:pt x="4838700" y="0"/>
                  </a:lnTo>
                  <a:lnTo>
                    <a:pt x="4838700" y="9525"/>
                  </a:lnTo>
                  <a:lnTo>
                    <a:pt x="6162675" y="9525"/>
                  </a:lnTo>
                  <a:lnTo>
                    <a:pt x="6162675" y="0"/>
                  </a:lnTo>
                  <a:close/>
                </a:path>
                <a:path w="8858250" h="9525">
                  <a:moveTo>
                    <a:pt x="7505700" y="0"/>
                  </a:moveTo>
                  <a:lnTo>
                    <a:pt x="6181725" y="0"/>
                  </a:lnTo>
                  <a:lnTo>
                    <a:pt x="6181725" y="9525"/>
                  </a:lnTo>
                  <a:lnTo>
                    <a:pt x="7505700" y="9525"/>
                  </a:lnTo>
                  <a:lnTo>
                    <a:pt x="7505700" y="0"/>
                  </a:lnTo>
                  <a:close/>
                </a:path>
                <a:path w="8858250" h="9525">
                  <a:moveTo>
                    <a:pt x="8858250" y="0"/>
                  </a:moveTo>
                  <a:lnTo>
                    <a:pt x="7524750" y="0"/>
                  </a:lnTo>
                  <a:lnTo>
                    <a:pt x="7524750" y="9525"/>
                  </a:lnTo>
                  <a:lnTo>
                    <a:pt x="8858250" y="9525"/>
                  </a:lnTo>
                  <a:lnTo>
                    <a:pt x="8858250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63099" y="4905375"/>
              <a:ext cx="2666999" cy="26669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9564800" y="5154476"/>
              <a:ext cx="2663825" cy="27305"/>
            </a:xfrm>
            <a:custGeom>
              <a:avLst/>
              <a:gdLst/>
              <a:ahLst/>
              <a:cxnLst/>
              <a:rect l="l" t="t" r="r" b="b"/>
              <a:pathLst>
                <a:path w="2663825" h="27304">
                  <a:moveTo>
                    <a:pt x="2627199" y="27130"/>
                  </a:moveTo>
                  <a:lnTo>
                    <a:pt x="36399" y="27130"/>
                  </a:lnTo>
                  <a:lnTo>
                    <a:pt x="28797" y="26432"/>
                  </a:lnTo>
                  <a:lnTo>
                    <a:pt x="0" y="0"/>
                  </a:lnTo>
                  <a:lnTo>
                    <a:pt x="2019" y="3655"/>
                  </a:lnTo>
                  <a:lnTo>
                    <a:pt x="9458" y="9235"/>
                  </a:lnTo>
                  <a:lnTo>
                    <a:pt x="15326" y="12897"/>
                  </a:lnTo>
                  <a:lnTo>
                    <a:pt x="21772" y="15512"/>
                  </a:lnTo>
                  <a:lnTo>
                    <a:pt x="28797" y="17081"/>
                  </a:lnTo>
                  <a:lnTo>
                    <a:pt x="36399" y="17605"/>
                  </a:lnTo>
                  <a:lnTo>
                    <a:pt x="2652173" y="17605"/>
                  </a:lnTo>
                  <a:lnTo>
                    <a:pt x="2648270" y="20852"/>
                  </a:lnTo>
                  <a:lnTo>
                    <a:pt x="2641824" y="24340"/>
                  </a:lnTo>
                  <a:lnTo>
                    <a:pt x="2634800" y="26432"/>
                  </a:lnTo>
                  <a:lnTo>
                    <a:pt x="2627199" y="27130"/>
                  </a:lnTo>
                  <a:close/>
                </a:path>
                <a:path w="2663825" h="27304">
                  <a:moveTo>
                    <a:pt x="2652173" y="17605"/>
                  </a:moveTo>
                  <a:lnTo>
                    <a:pt x="2627199" y="17605"/>
                  </a:lnTo>
                  <a:lnTo>
                    <a:pt x="2634800" y="17081"/>
                  </a:lnTo>
                  <a:lnTo>
                    <a:pt x="2641824" y="15512"/>
                  </a:lnTo>
                  <a:lnTo>
                    <a:pt x="2648270" y="12897"/>
                  </a:lnTo>
                  <a:lnTo>
                    <a:pt x="2654138" y="9235"/>
                  </a:lnTo>
                  <a:lnTo>
                    <a:pt x="2661577" y="3655"/>
                  </a:lnTo>
                  <a:lnTo>
                    <a:pt x="2663597" y="0"/>
                  </a:lnTo>
                  <a:lnTo>
                    <a:pt x="2662508" y="3655"/>
                  </a:lnTo>
                  <a:lnTo>
                    <a:pt x="2659020" y="10102"/>
                  </a:lnTo>
                  <a:lnTo>
                    <a:pt x="2654138" y="15970"/>
                  </a:lnTo>
                  <a:lnTo>
                    <a:pt x="2652173" y="17605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685799" y="5219694"/>
            <a:ext cx="11544300" cy="581025"/>
            <a:chOff x="685799" y="5219694"/>
            <a:chExt cx="11544300" cy="581025"/>
          </a:xfrm>
        </p:grpSpPr>
        <p:sp>
          <p:nvSpPr>
            <p:cNvPr id="35" name="object 35"/>
            <p:cNvSpPr/>
            <p:nvPr/>
          </p:nvSpPr>
          <p:spPr>
            <a:xfrm>
              <a:off x="685787" y="5486399"/>
              <a:ext cx="10201275" cy="9525"/>
            </a:xfrm>
            <a:custGeom>
              <a:avLst/>
              <a:gdLst/>
              <a:ahLst/>
              <a:cxnLst/>
              <a:rect l="l" t="t" r="r" b="b"/>
              <a:pathLst>
                <a:path w="10201275" h="9525">
                  <a:moveTo>
                    <a:pt x="34290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429000" y="9525"/>
                  </a:lnTo>
                  <a:lnTo>
                    <a:pt x="3429000" y="0"/>
                  </a:lnTo>
                  <a:close/>
                </a:path>
                <a:path w="10201275" h="9525">
                  <a:moveTo>
                    <a:pt x="4819650" y="0"/>
                  </a:moveTo>
                  <a:lnTo>
                    <a:pt x="3448050" y="0"/>
                  </a:lnTo>
                  <a:lnTo>
                    <a:pt x="3448050" y="9525"/>
                  </a:lnTo>
                  <a:lnTo>
                    <a:pt x="4819650" y="9525"/>
                  </a:lnTo>
                  <a:lnTo>
                    <a:pt x="4819650" y="0"/>
                  </a:lnTo>
                  <a:close/>
                </a:path>
                <a:path w="10201275" h="9525">
                  <a:moveTo>
                    <a:pt x="6162675" y="0"/>
                  </a:moveTo>
                  <a:lnTo>
                    <a:pt x="4838700" y="0"/>
                  </a:lnTo>
                  <a:lnTo>
                    <a:pt x="4838700" y="9525"/>
                  </a:lnTo>
                  <a:lnTo>
                    <a:pt x="6162675" y="9525"/>
                  </a:lnTo>
                  <a:lnTo>
                    <a:pt x="6162675" y="0"/>
                  </a:lnTo>
                  <a:close/>
                </a:path>
                <a:path w="10201275" h="9525">
                  <a:moveTo>
                    <a:pt x="7505700" y="0"/>
                  </a:moveTo>
                  <a:lnTo>
                    <a:pt x="6181725" y="0"/>
                  </a:lnTo>
                  <a:lnTo>
                    <a:pt x="6181725" y="9525"/>
                  </a:lnTo>
                  <a:lnTo>
                    <a:pt x="7505700" y="9525"/>
                  </a:lnTo>
                  <a:lnTo>
                    <a:pt x="7505700" y="0"/>
                  </a:lnTo>
                  <a:close/>
                </a:path>
                <a:path w="10201275" h="9525">
                  <a:moveTo>
                    <a:pt x="8858250" y="0"/>
                  </a:moveTo>
                  <a:lnTo>
                    <a:pt x="7524750" y="0"/>
                  </a:lnTo>
                  <a:lnTo>
                    <a:pt x="7524750" y="9525"/>
                  </a:lnTo>
                  <a:lnTo>
                    <a:pt x="8858250" y="9525"/>
                  </a:lnTo>
                  <a:lnTo>
                    <a:pt x="8858250" y="0"/>
                  </a:lnTo>
                  <a:close/>
                </a:path>
                <a:path w="10201275" h="9525">
                  <a:moveTo>
                    <a:pt x="10201275" y="0"/>
                  </a:moveTo>
                  <a:lnTo>
                    <a:pt x="8877300" y="0"/>
                  </a:lnTo>
                  <a:lnTo>
                    <a:pt x="8877300" y="9525"/>
                  </a:lnTo>
                  <a:lnTo>
                    <a:pt x="10201275" y="9525"/>
                  </a:lnTo>
                  <a:lnTo>
                    <a:pt x="10201275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0906122" y="5219694"/>
              <a:ext cx="1323975" cy="271780"/>
            </a:xfrm>
            <a:custGeom>
              <a:avLst/>
              <a:gdLst/>
              <a:ahLst/>
              <a:cxnLst/>
              <a:rect l="l" t="t" r="r" b="b"/>
              <a:pathLst>
                <a:path w="1323975" h="271779">
                  <a:moveTo>
                    <a:pt x="1290928" y="271452"/>
                  </a:moveTo>
                  <a:lnTo>
                    <a:pt x="33047" y="271452"/>
                  </a:lnTo>
                  <a:lnTo>
                    <a:pt x="28187" y="270597"/>
                  </a:lnTo>
                  <a:lnTo>
                    <a:pt x="0" y="242534"/>
                  </a:lnTo>
                  <a:lnTo>
                    <a:pt x="1" y="238124"/>
                  </a:lnTo>
                  <a:lnTo>
                    <a:pt x="0" y="33048"/>
                  </a:lnTo>
                  <a:lnTo>
                    <a:pt x="28187" y="967"/>
                  </a:lnTo>
                  <a:lnTo>
                    <a:pt x="33047" y="0"/>
                  </a:lnTo>
                  <a:lnTo>
                    <a:pt x="1290928" y="0"/>
                  </a:lnTo>
                  <a:lnTo>
                    <a:pt x="1323007" y="28184"/>
                  </a:lnTo>
                  <a:lnTo>
                    <a:pt x="1323974" y="33048"/>
                  </a:lnTo>
                  <a:lnTo>
                    <a:pt x="1323974" y="242534"/>
                  </a:lnTo>
                  <a:lnTo>
                    <a:pt x="1295787" y="270597"/>
                  </a:lnTo>
                  <a:lnTo>
                    <a:pt x="1290928" y="271452"/>
                  </a:lnTo>
                  <a:close/>
                </a:path>
              </a:pathLst>
            </a:custGeom>
            <a:solidFill>
              <a:srgbClr val="FFB6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0907824" y="5468802"/>
              <a:ext cx="1320800" cy="27305"/>
            </a:xfrm>
            <a:custGeom>
              <a:avLst/>
              <a:gdLst/>
              <a:ahLst/>
              <a:cxnLst/>
              <a:rect l="l" t="t" r="r" b="b"/>
              <a:pathLst>
                <a:path w="1320800" h="27304">
                  <a:moveTo>
                    <a:pt x="1284174" y="27129"/>
                  </a:moveTo>
                  <a:lnTo>
                    <a:pt x="36399" y="27129"/>
                  </a:lnTo>
                  <a:lnTo>
                    <a:pt x="28797" y="26431"/>
                  </a:lnTo>
                  <a:lnTo>
                    <a:pt x="0" y="0"/>
                  </a:lnTo>
                  <a:lnTo>
                    <a:pt x="2018" y="3655"/>
                  </a:lnTo>
                  <a:lnTo>
                    <a:pt x="9457" y="9234"/>
                  </a:lnTo>
                  <a:lnTo>
                    <a:pt x="15326" y="12896"/>
                  </a:lnTo>
                  <a:lnTo>
                    <a:pt x="21772" y="15511"/>
                  </a:lnTo>
                  <a:lnTo>
                    <a:pt x="28797" y="17081"/>
                  </a:lnTo>
                  <a:lnTo>
                    <a:pt x="36399" y="17604"/>
                  </a:lnTo>
                  <a:lnTo>
                    <a:pt x="1309149" y="17604"/>
                  </a:lnTo>
                  <a:lnTo>
                    <a:pt x="1305245" y="20851"/>
                  </a:lnTo>
                  <a:lnTo>
                    <a:pt x="1298799" y="24339"/>
                  </a:lnTo>
                  <a:lnTo>
                    <a:pt x="1291775" y="26431"/>
                  </a:lnTo>
                  <a:lnTo>
                    <a:pt x="1284174" y="27129"/>
                  </a:lnTo>
                  <a:close/>
                </a:path>
                <a:path w="1320800" h="27304">
                  <a:moveTo>
                    <a:pt x="1309149" y="17604"/>
                  </a:moveTo>
                  <a:lnTo>
                    <a:pt x="1284174" y="17604"/>
                  </a:lnTo>
                  <a:lnTo>
                    <a:pt x="1291775" y="17081"/>
                  </a:lnTo>
                  <a:lnTo>
                    <a:pt x="1298799" y="15511"/>
                  </a:lnTo>
                  <a:lnTo>
                    <a:pt x="1305245" y="12896"/>
                  </a:lnTo>
                  <a:lnTo>
                    <a:pt x="1311113" y="9234"/>
                  </a:lnTo>
                  <a:lnTo>
                    <a:pt x="1318553" y="3655"/>
                  </a:lnTo>
                  <a:lnTo>
                    <a:pt x="1320572" y="0"/>
                  </a:lnTo>
                  <a:lnTo>
                    <a:pt x="1319483" y="3655"/>
                  </a:lnTo>
                  <a:lnTo>
                    <a:pt x="1315996" y="10101"/>
                  </a:lnTo>
                  <a:lnTo>
                    <a:pt x="1311113" y="15969"/>
                  </a:lnTo>
                  <a:lnTo>
                    <a:pt x="1309149" y="17604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85787" y="5534024"/>
              <a:ext cx="11544300" cy="267335"/>
            </a:xfrm>
            <a:custGeom>
              <a:avLst/>
              <a:gdLst/>
              <a:ahLst/>
              <a:cxnLst/>
              <a:rect l="l" t="t" r="r" b="b"/>
              <a:pathLst>
                <a:path w="11544300" h="267335">
                  <a:moveTo>
                    <a:pt x="342900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3429000" y="266700"/>
                  </a:lnTo>
                  <a:lnTo>
                    <a:pt x="3429000" y="0"/>
                  </a:lnTo>
                  <a:close/>
                </a:path>
                <a:path w="11544300" h="267335">
                  <a:moveTo>
                    <a:pt x="4819650" y="0"/>
                  </a:moveTo>
                  <a:lnTo>
                    <a:pt x="3448050" y="0"/>
                  </a:lnTo>
                  <a:lnTo>
                    <a:pt x="3448050" y="266700"/>
                  </a:lnTo>
                  <a:lnTo>
                    <a:pt x="4819650" y="266700"/>
                  </a:lnTo>
                  <a:lnTo>
                    <a:pt x="4819650" y="0"/>
                  </a:lnTo>
                  <a:close/>
                </a:path>
                <a:path w="11544300" h="267335">
                  <a:moveTo>
                    <a:pt x="6162675" y="0"/>
                  </a:moveTo>
                  <a:lnTo>
                    <a:pt x="4838700" y="0"/>
                  </a:lnTo>
                  <a:lnTo>
                    <a:pt x="4838700" y="266700"/>
                  </a:lnTo>
                  <a:lnTo>
                    <a:pt x="6162675" y="266700"/>
                  </a:lnTo>
                  <a:lnTo>
                    <a:pt x="6162675" y="0"/>
                  </a:lnTo>
                  <a:close/>
                </a:path>
                <a:path w="11544300" h="267335">
                  <a:moveTo>
                    <a:pt x="7505700" y="0"/>
                  </a:moveTo>
                  <a:lnTo>
                    <a:pt x="6181725" y="0"/>
                  </a:lnTo>
                  <a:lnTo>
                    <a:pt x="6181725" y="266700"/>
                  </a:lnTo>
                  <a:lnTo>
                    <a:pt x="7505700" y="266700"/>
                  </a:lnTo>
                  <a:lnTo>
                    <a:pt x="7505700" y="0"/>
                  </a:lnTo>
                  <a:close/>
                </a:path>
                <a:path w="11544300" h="267335">
                  <a:moveTo>
                    <a:pt x="8858250" y="0"/>
                  </a:moveTo>
                  <a:lnTo>
                    <a:pt x="7524750" y="0"/>
                  </a:lnTo>
                  <a:lnTo>
                    <a:pt x="7524750" y="266700"/>
                  </a:lnTo>
                  <a:lnTo>
                    <a:pt x="8858250" y="266700"/>
                  </a:lnTo>
                  <a:lnTo>
                    <a:pt x="8858250" y="0"/>
                  </a:lnTo>
                  <a:close/>
                </a:path>
                <a:path w="11544300" h="267335">
                  <a:moveTo>
                    <a:pt x="10201275" y="0"/>
                  </a:moveTo>
                  <a:lnTo>
                    <a:pt x="8877300" y="0"/>
                  </a:lnTo>
                  <a:lnTo>
                    <a:pt x="8877300" y="266700"/>
                  </a:lnTo>
                  <a:lnTo>
                    <a:pt x="10201275" y="266700"/>
                  </a:lnTo>
                  <a:lnTo>
                    <a:pt x="10201275" y="0"/>
                  </a:lnTo>
                  <a:close/>
                </a:path>
                <a:path w="11544300" h="267335">
                  <a:moveTo>
                    <a:pt x="11544300" y="38112"/>
                  </a:moveTo>
                  <a:lnTo>
                    <a:pt x="11520830" y="2794"/>
                  </a:lnTo>
                  <a:lnTo>
                    <a:pt x="11506200" y="12"/>
                  </a:lnTo>
                  <a:lnTo>
                    <a:pt x="10258425" y="12"/>
                  </a:lnTo>
                  <a:lnTo>
                    <a:pt x="10223119" y="23482"/>
                  </a:lnTo>
                  <a:lnTo>
                    <a:pt x="10220325" y="38112"/>
                  </a:lnTo>
                  <a:lnTo>
                    <a:pt x="10220325" y="228612"/>
                  </a:lnTo>
                  <a:lnTo>
                    <a:pt x="10243807" y="263918"/>
                  </a:lnTo>
                  <a:lnTo>
                    <a:pt x="10258425" y="266712"/>
                  </a:lnTo>
                  <a:lnTo>
                    <a:pt x="11506200" y="266712"/>
                  </a:lnTo>
                  <a:lnTo>
                    <a:pt x="11541519" y="243230"/>
                  </a:lnTo>
                  <a:lnTo>
                    <a:pt x="11544300" y="228612"/>
                  </a:lnTo>
                  <a:lnTo>
                    <a:pt x="11544300" y="38112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0906122" y="5534019"/>
              <a:ext cx="1323975" cy="266700"/>
            </a:xfrm>
            <a:custGeom>
              <a:avLst/>
              <a:gdLst/>
              <a:ahLst/>
              <a:cxnLst/>
              <a:rect l="l" t="t" r="r" b="b"/>
              <a:pathLst>
                <a:path w="1323975" h="266700">
                  <a:moveTo>
                    <a:pt x="1290928" y="266690"/>
                  </a:moveTo>
                  <a:lnTo>
                    <a:pt x="33047" y="266690"/>
                  </a:lnTo>
                  <a:lnTo>
                    <a:pt x="28187" y="265723"/>
                  </a:lnTo>
                  <a:lnTo>
                    <a:pt x="966" y="238487"/>
                  </a:lnTo>
                  <a:lnTo>
                    <a:pt x="0" y="233632"/>
                  </a:lnTo>
                  <a:lnTo>
                    <a:pt x="1" y="228599"/>
                  </a:lnTo>
                  <a:lnTo>
                    <a:pt x="0" y="33040"/>
                  </a:lnTo>
                  <a:lnTo>
                    <a:pt x="28187" y="967"/>
                  </a:lnTo>
                  <a:lnTo>
                    <a:pt x="33047" y="0"/>
                  </a:lnTo>
                  <a:lnTo>
                    <a:pt x="1290928" y="0"/>
                  </a:lnTo>
                  <a:lnTo>
                    <a:pt x="1323007" y="28174"/>
                  </a:lnTo>
                  <a:lnTo>
                    <a:pt x="1323974" y="33040"/>
                  </a:lnTo>
                  <a:lnTo>
                    <a:pt x="1323974" y="233632"/>
                  </a:lnTo>
                  <a:lnTo>
                    <a:pt x="1295787" y="265723"/>
                  </a:lnTo>
                  <a:lnTo>
                    <a:pt x="1290928" y="266690"/>
                  </a:lnTo>
                  <a:close/>
                </a:path>
              </a:pathLst>
            </a:custGeom>
            <a:solidFill>
              <a:srgbClr val="8FA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0520" rIns="0" bIns="0" rtlCol="0">
            <a:spAutoFit/>
          </a:bodyPr>
          <a:lstStyle/>
          <a:p>
            <a:pPr marL="58674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Project</a:t>
            </a:r>
            <a:r>
              <a:rPr spc="-140" dirty="0"/>
              <a:t> </a:t>
            </a:r>
            <a:r>
              <a:rPr spc="-65" dirty="0"/>
              <a:t>Timeline</a:t>
            </a:r>
            <a:r>
              <a:rPr spc="-140" dirty="0"/>
              <a:t> </a:t>
            </a:r>
            <a:r>
              <a:rPr dirty="0"/>
              <a:t>&amp;</a:t>
            </a:r>
            <a:r>
              <a:rPr spc="-135" dirty="0"/>
              <a:t> </a:t>
            </a:r>
            <a:r>
              <a:rPr spc="-50" dirty="0"/>
              <a:t>Milestones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4747865" y="2111375"/>
            <a:ext cx="34201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B0BEC4"/>
                </a:solidFill>
                <a:latin typeface="Segoe UI"/>
                <a:cs typeface="Segoe UI"/>
              </a:rPr>
              <a:t>5-</a:t>
            </a:r>
            <a:r>
              <a:rPr sz="1050" dirty="0">
                <a:solidFill>
                  <a:srgbClr val="B0BEC4"/>
                </a:solidFill>
                <a:latin typeface="Segoe UI"/>
                <a:cs typeface="Segoe UI"/>
              </a:rPr>
              <a:t>week</a:t>
            </a:r>
            <a:r>
              <a:rPr sz="1050" spc="-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B0BEC4"/>
                </a:solidFill>
                <a:latin typeface="Segoe UI"/>
                <a:cs typeface="Segoe UI"/>
              </a:rPr>
              <a:t>development</a:t>
            </a:r>
            <a:r>
              <a:rPr sz="1050" spc="-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B0BEC4"/>
                </a:solidFill>
                <a:latin typeface="Segoe UI"/>
                <a:cs typeface="Segoe UI"/>
              </a:rPr>
              <a:t>sprint</a:t>
            </a:r>
            <a:r>
              <a:rPr sz="1050" spc="-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B0BEC4"/>
                </a:solidFill>
                <a:latin typeface="Segoe UI"/>
                <a:cs typeface="Segoe UI"/>
              </a:rPr>
              <a:t>—</a:t>
            </a:r>
            <a:r>
              <a:rPr sz="1050" spc="-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B0BEC4"/>
                </a:solidFill>
                <a:latin typeface="Segoe UI"/>
                <a:cs typeface="Segoe UI"/>
              </a:rPr>
              <a:t>early</a:t>
            </a:r>
            <a:r>
              <a:rPr sz="1050" spc="-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B0BEC4"/>
                </a:solidFill>
                <a:latin typeface="Segoe UI"/>
                <a:cs typeface="Segoe UI"/>
              </a:rPr>
              <a:t>June</a:t>
            </a:r>
            <a:r>
              <a:rPr sz="1050" spc="-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B0BEC4"/>
                </a:solidFill>
                <a:latin typeface="Segoe UI"/>
                <a:cs typeface="Segoe UI"/>
              </a:rPr>
              <a:t>to</a:t>
            </a:r>
            <a:r>
              <a:rPr sz="1050" spc="-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B0BEC4"/>
                </a:solidFill>
                <a:latin typeface="Segoe UI"/>
                <a:cs typeface="Segoe UI"/>
              </a:rPr>
              <a:t>late</a:t>
            </a:r>
            <a:r>
              <a:rPr sz="1050" spc="-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B0BEC4"/>
                </a:solidFill>
                <a:latin typeface="Segoe UI"/>
                <a:cs typeface="Segoe UI"/>
              </a:rPr>
              <a:t>July</a:t>
            </a:r>
            <a:r>
              <a:rPr sz="1050" spc="-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B0BEC4"/>
                </a:solidFill>
                <a:latin typeface="Segoe UI"/>
                <a:cs typeface="Segoe UI"/>
              </a:rPr>
              <a:t>2026</a:t>
            </a:r>
            <a:endParaRPr sz="1050">
              <a:latin typeface="Segoe UI"/>
              <a:cs typeface="Segoe UI"/>
            </a:endParaRPr>
          </a:p>
        </p:txBody>
      </p: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685799" y="2366957"/>
          <a:ext cx="11544300" cy="271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3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14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b="1" spc="-2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Task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47625" marB="0">
                    <a:lnR w="19050">
                      <a:solidFill>
                        <a:srgbClr val="1A1A2E"/>
                      </a:solidFill>
                      <a:prstDash val="solid"/>
                    </a:lnR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b="1" spc="-1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Owner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1A1A2E"/>
                      </a:solidFill>
                      <a:prstDash val="solid"/>
                    </a:lnL>
                    <a:lnR w="19050">
                      <a:solidFill>
                        <a:srgbClr val="1A1A2E"/>
                      </a:solidFill>
                      <a:prstDash val="solid"/>
                    </a:lnR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44069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b="1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Week</a:t>
                      </a:r>
                      <a:r>
                        <a:rPr sz="1050" b="1" spc="-3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b="1" spc="-5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1A1A2E"/>
                      </a:solidFill>
                      <a:prstDash val="solid"/>
                    </a:lnL>
                    <a:lnR w="19050">
                      <a:solidFill>
                        <a:srgbClr val="1A1A2E"/>
                      </a:solidFill>
                      <a:prstDash val="solid"/>
                    </a:lnR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44259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b="1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Week</a:t>
                      </a:r>
                      <a:r>
                        <a:rPr sz="1050" b="1" spc="-3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b="1" spc="-5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2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1A1A2E"/>
                      </a:solidFill>
                      <a:prstDash val="solid"/>
                    </a:lnL>
                    <a:lnR w="19050">
                      <a:solidFill>
                        <a:srgbClr val="1A1A2E"/>
                      </a:solidFill>
                      <a:prstDash val="solid"/>
                    </a:lnR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b="1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Week</a:t>
                      </a:r>
                      <a:r>
                        <a:rPr sz="1050" b="1" spc="-3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b="1" spc="-5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3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1A1A2E"/>
                      </a:solidFill>
                      <a:prstDash val="solid"/>
                    </a:lnL>
                    <a:lnR w="19050">
                      <a:solidFill>
                        <a:srgbClr val="1A1A2E"/>
                      </a:solidFill>
                      <a:prstDash val="solid"/>
                    </a:lnR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43688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b="1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Week</a:t>
                      </a:r>
                      <a:r>
                        <a:rPr sz="1050" b="1" spc="-3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b="1" spc="-5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4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1A1A2E"/>
                      </a:solidFill>
                      <a:prstDash val="solid"/>
                    </a:lnL>
                    <a:lnR w="19050">
                      <a:solidFill>
                        <a:srgbClr val="1A1A2E"/>
                      </a:solidFill>
                      <a:prstDash val="solid"/>
                    </a:lnR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438784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b="1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Week</a:t>
                      </a:r>
                      <a:r>
                        <a:rPr sz="1050" b="1" spc="-3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b="1" spc="-5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5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1A1A2E"/>
                      </a:solidFill>
                      <a:prstDash val="solid"/>
                    </a:lnL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" name="object 43"/>
          <p:cNvSpPr txBox="1"/>
          <p:nvPr/>
        </p:nvSpPr>
        <p:spPr>
          <a:xfrm>
            <a:off x="749299" y="2720975"/>
            <a:ext cx="23272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Data</a:t>
            </a:r>
            <a:r>
              <a:rPr sz="10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Curation</a:t>
            </a:r>
            <a:r>
              <a:rPr sz="10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Pipeline</a:t>
            </a:r>
            <a:r>
              <a:rPr sz="10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(xView</a:t>
            </a:r>
            <a:r>
              <a:rPr sz="10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+</a:t>
            </a:r>
            <a:r>
              <a:rPr sz="10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AIDER)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645769" y="2720975"/>
            <a:ext cx="3479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spc="-10" dirty="0">
                <a:solidFill>
                  <a:srgbClr val="FFCC80"/>
                </a:solidFill>
                <a:latin typeface="Segoe UI"/>
                <a:cs typeface="Segoe UI"/>
              </a:rPr>
              <a:t>Abrar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030167" y="2720975"/>
            <a:ext cx="3149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A1A2E"/>
                </a:solidFill>
                <a:latin typeface="Segoe UI Semibold"/>
                <a:cs typeface="Segoe UI Semibold"/>
              </a:rPr>
              <a:t>Wk </a:t>
            </a:r>
            <a:r>
              <a:rPr sz="1050" spc="-50" dirty="0">
                <a:solidFill>
                  <a:srgbClr val="1A1A2E"/>
                </a:solidFill>
                <a:latin typeface="Segoe UI Semibold"/>
                <a:cs typeface="Segoe UI Semibold"/>
              </a:rPr>
              <a:t>1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49299" y="3044825"/>
            <a:ext cx="103124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Literature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Review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652168" y="3044825"/>
            <a:ext cx="3352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spc="-20" dirty="0">
                <a:solidFill>
                  <a:srgbClr val="B0BEC4"/>
                </a:solidFill>
                <a:latin typeface="Segoe UI"/>
                <a:cs typeface="Segoe UI"/>
              </a:rPr>
              <a:t>Team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364858" y="3044825"/>
            <a:ext cx="3352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A1A2E"/>
                </a:solidFill>
                <a:latin typeface="Segoe UI Semibold"/>
                <a:cs typeface="Segoe UI Semibold"/>
              </a:rPr>
              <a:t>Wk </a:t>
            </a:r>
            <a:r>
              <a:rPr sz="1050" spc="-50" dirty="0">
                <a:solidFill>
                  <a:srgbClr val="1A1A2E"/>
                </a:solidFill>
                <a:latin typeface="Segoe UI Semibold"/>
                <a:cs typeface="Segoe UI Semibold"/>
              </a:rPr>
              <a:t>2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49299" y="3359150"/>
            <a:ext cx="15405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Proposed Solution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Report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652168" y="3359150"/>
            <a:ext cx="3352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spc="-20" dirty="0">
                <a:solidFill>
                  <a:srgbClr val="B0BEC4"/>
                </a:solidFill>
                <a:latin typeface="Segoe UI"/>
                <a:cs typeface="Segoe UI"/>
              </a:rPr>
              <a:t>Team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709669" y="3359150"/>
            <a:ext cx="3352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A1A2E"/>
                </a:solidFill>
                <a:latin typeface="Segoe UI Semibold"/>
                <a:cs typeface="Segoe UI Semibold"/>
              </a:rPr>
              <a:t>Wk </a:t>
            </a:r>
            <a:r>
              <a:rPr sz="1050" spc="-50" dirty="0">
                <a:solidFill>
                  <a:srgbClr val="1A1A2E"/>
                </a:solidFill>
                <a:latin typeface="Segoe UI Semibold"/>
                <a:cs typeface="Segoe UI Semibold"/>
              </a:rPr>
              <a:t>3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49299" y="3673475"/>
            <a:ext cx="28587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DisasterM3</a:t>
            </a:r>
            <a:r>
              <a:rPr sz="1050" spc="-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Reproduction</a:t>
            </a:r>
            <a:r>
              <a:rPr sz="1050" spc="-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(Train</a:t>
            </a:r>
            <a:r>
              <a:rPr sz="1050" spc="-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+</a:t>
            </a:r>
            <a:r>
              <a:rPr sz="1050" spc="-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Merge</a:t>
            </a:r>
            <a:r>
              <a:rPr sz="1050" spc="-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+</a:t>
            </a:r>
            <a:r>
              <a:rPr sz="1050" spc="-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Eval)</a:t>
            </a:r>
            <a:endParaRPr sz="1050" dirty="0">
              <a:latin typeface="Segoe UI"/>
              <a:cs typeface="Segoe U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645769" y="3673475"/>
            <a:ext cx="3479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spc="-10" dirty="0">
                <a:solidFill>
                  <a:srgbClr val="FFCC80"/>
                </a:solidFill>
                <a:latin typeface="Segoe UI"/>
                <a:cs typeface="Segoe UI"/>
              </a:rPr>
              <a:t>Abrar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310340" y="3673475"/>
            <a:ext cx="4787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A1A2E"/>
                </a:solidFill>
                <a:latin typeface="Segoe UI Semibold"/>
                <a:cs typeface="Segoe UI Semibold"/>
              </a:rPr>
              <a:t>Wk 3–</a:t>
            </a:r>
            <a:r>
              <a:rPr sz="1050" spc="-50" dirty="0">
                <a:solidFill>
                  <a:srgbClr val="1A1A2E"/>
                </a:solidFill>
                <a:latin typeface="Segoe UI Semibold"/>
                <a:cs typeface="Segoe UI Semibold"/>
              </a:rPr>
              <a:t>4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49299" y="3987800"/>
            <a:ext cx="188404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Super-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Resolution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Pipeline</a:t>
            </a:r>
            <a:r>
              <a:rPr sz="10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DFDFDF"/>
                </a:solidFill>
                <a:latin typeface="Segoe UI"/>
                <a:cs typeface="Segoe UI"/>
              </a:rPr>
              <a:t>(VRT)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590405" y="3987800"/>
            <a:ext cx="45910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spc="-10" dirty="0">
                <a:solidFill>
                  <a:srgbClr val="A5D5A6"/>
                </a:solidFill>
                <a:latin typeface="Segoe UI"/>
                <a:cs typeface="Segoe UI"/>
              </a:rPr>
              <a:t>Noman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709669" y="3987800"/>
            <a:ext cx="3352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A1A2E"/>
                </a:solidFill>
                <a:latin typeface="Segoe UI Semibold"/>
                <a:cs typeface="Segoe UI Semibold"/>
              </a:rPr>
              <a:t>Wk </a:t>
            </a:r>
            <a:r>
              <a:rPr sz="1050" spc="-50" dirty="0">
                <a:solidFill>
                  <a:srgbClr val="1A1A2E"/>
                </a:solidFill>
                <a:latin typeface="Segoe UI Semibold"/>
                <a:cs typeface="Segoe UI Semibold"/>
              </a:rPr>
              <a:t>3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49299" y="4302125"/>
            <a:ext cx="1844039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DisasTeller</a:t>
            </a:r>
            <a:r>
              <a:rPr sz="1050" spc="-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Multi-Agent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 System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640262" y="4302125"/>
            <a:ext cx="3594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spc="-10" dirty="0">
                <a:solidFill>
                  <a:srgbClr val="B39DDA"/>
                </a:solidFill>
                <a:latin typeface="Segoe UI"/>
                <a:cs typeface="Segoe UI"/>
              </a:rPr>
              <a:t>Ridita</a:t>
            </a:r>
            <a:endParaRPr sz="1050" dirty="0">
              <a:latin typeface="Segoe UI"/>
              <a:cs typeface="Segoe U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9310340" y="4302125"/>
            <a:ext cx="4787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A1A2E"/>
                </a:solidFill>
                <a:latin typeface="Segoe UI Semibold"/>
                <a:cs typeface="Segoe UI Semibold"/>
              </a:rPr>
              <a:t>Wk 3–</a:t>
            </a:r>
            <a:r>
              <a:rPr sz="1050" spc="-50" dirty="0">
                <a:solidFill>
                  <a:srgbClr val="1A1A2E"/>
                </a:solidFill>
                <a:latin typeface="Segoe UI Semibold"/>
                <a:cs typeface="Segoe UI Semibold"/>
              </a:rPr>
              <a:t>4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49299" y="4625975"/>
            <a:ext cx="1942464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U-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Net Segmentation</a:t>
            </a:r>
            <a:r>
              <a:rPr sz="10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(Prototype)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633862" y="4625975"/>
            <a:ext cx="3721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spc="-10" dirty="0">
                <a:solidFill>
                  <a:srgbClr val="8FCAF9"/>
                </a:solidFill>
                <a:latin typeface="Segoe UI"/>
                <a:cs typeface="Segoe UI"/>
              </a:rPr>
              <a:t>Aryan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9310340" y="4625975"/>
            <a:ext cx="4787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A1A2E"/>
                </a:solidFill>
                <a:latin typeface="Segoe UI Semibold"/>
                <a:cs typeface="Segoe UI Semibold"/>
              </a:rPr>
              <a:t>Wk 3–</a:t>
            </a:r>
            <a:r>
              <a:rPr sz="1050" spc="-50" dirty="0">
                <a:solidFill>
                  <a:srgbClr val="1A1A2E"/>
                </a:solidFill>
                <a:latin typeface="Segoe UI Semibold"/>
                <a:cs typeface="Segoe UI Semibold"/>
              </a:rPr>
              <a:t>4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49299" y="4940300"/>
            <a:ext cx="212788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Production</a:t>
            </a:r>
            <a:r>
              <a:rPr sz="10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U-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Net +</a:t>
            </a:r>
            <a:r>
              <a:rPr sz="1050" spc="-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Hybrid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Pipeline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384575" y="4940300"/>
            <a:ext cx="87058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dirty="0">
                <a:solidFill>
                  <a:srgbClr val="C4CAE8"/>
                </a:solidFill>
                <a:latin typeface="Segoe UI"/>
                <a:cs typeface="Segoe UI"/>
              </a:rPr>
              <a:t>Aryan</a:t>
            </a:r>
            <a:r>
              <a:rPr sz="1050" i="1" spc="-10" dirty="0">
                <a:solidFill>
                  <a:srgbClr val="C4CAE8"/>
                </a:solidFill>
                <a:latin typeface="Segoe UI"/>
                <a:cs typeface="Segoe UI"/>
              </a:rPr>
              <a:t> </a:t>
            </a:r>
            <a:r>
              <a:rPr sz="1050" i="1" dirty="0">
                <a:solidFill>
                  <a:srgbClr val="C4CAE8"/>
                </a:solidFill>
                <a:latin typeface="Segoe UI"/>
                <a:cs typeface="Segoe UI"/>
              </a:rPr>
              <a:t>&amp;</a:t>
            </a:r>
            <a:r>
              <a:rPr sz="1050" i="1" spc="-10" dirty="0">
                <a:solidFill>
                  <a:srgbClr val="C4CAE8"/>
                </a:solidFill>
                <a:latin typeface="Segoe UI"/>
                <a:cs typeface="Segoe UI"/>
              </a:rPr>
              <a:t> Abrar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0655299" y="4940300"/>
            <a:ext cx="4787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A1A2E"/>
                </a:solidFill>
                <a:latin typeface="Segoe UI Semibold"/>
                <a:cs typeface="Segoe UI Semibold"/>
              </a:rPr>
              <a:t>Wk 4–</a:t>
            </a:r>
            <a:r>
              <a:rPr sz="1050" spc="-50" dirty="0">
                <a:solidFill>
                  <a:srgbClr val="1A1A2E"/>
                </a:solidFill>
                <a:latin typeface="Segoe UI Semibold"/>
                <a:cs typeface="Segoe UI Semibold"/>
              </a:rPr>
              <a:t>5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49299" y="5254625"/>
            <a:ext cx="20923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DisasterVQA</a:t>
            </a:r>
            <a:r>
              <a:rPr sz="1050" spc="-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Cross-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Benchmark</a:t>
            </a:r>
            <a:r>
              <a:rPr sz="1050" spc="-2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DFDFDF"/>
                </a:solidFill>
                <a:latin typeface="Segoe UI"/>
                <a:cs typeface="Segoe UI"/>
              </a:rPr>
              <a:t>Eval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645769" y="5254625"/>
            <a:ext cx="3479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spc="-10" dirty="0">
                <a:solidFill>
                  <a:srgbClr val="FFCC80"/>
                </a:solidFill>
                <a:latin typeface="Segoe UI"/>
                <a:cs typeface="Segoe UI"/>
              </a:rPr>
              <a:t>Abrar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1399439" y="5254625"/>
            <a:ext cx="3352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A1A2E"/>
                </a:solidFill>
                <a:latin typeface="Segoe UI Semibold"/>
                <a:cs typeface="Segoe UI Semibold"/>
              </a:rPr>
              <a:t>Wk </a:t>
            </a:r>
            <a:r>
              <a:rPr sz="1050" spc="-50" dirty="0">
                <a:solidFill>
                  <a:srgbClr val="1A1A2E"/>
                </a:solidFill>
                <a:latin typeface="Segoe UI Semibold"/>
                <a:cs typeface="Segoe UI Semibold"/>
              </a:rPr>
              <a:t>5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49299" y="5568950"/>
            <a:ext cx="132016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Final</a:t>
            </a:r>
            <a:r>
              <a:rPr sz="1050" spc="-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Results</a:t>
            </a:r>
            <a:r>
              <a:rPr sz="1050" spc="-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DFDFDF"/>
                </a:solidFill>
                <a:latin typeface="Segoe UI"/>
                <a:cs typeface="Segoe UI"/>
              </a:rPr>
              <a:t>&amp;</a:t>
            </a:r>
            <a:r>
              <a:rPr sz="1050" spc="-2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Segoe UI"/>
                <a:cs typeface="Segoe UI"/>
              </a:rPr>
              <a:t>Report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652168" y="5568950"/>
            <a:ext cx="3352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spc="-20" dirty="0">
                <a:solidFill>
                  <a:srgbClr val="B0BEC4"/>
                </a:solidFill>
                <a:latin typeface="Segoe UI"/>
                <a:cs typeface="Segoe UI"/>
              </a:rPr>
              <a:t>Team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1399439" y="5568950"/>
            <a:ext cx="3352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A1A2E"/>
                </a:solidFill>
                <a:latin typeface="Segoe UI Semibold"/>
                <a:cs typeface="Segoe UI Semibold"/>
              </a:rPr>
              <a:t>Wk </a:t>
            </a:r>
            <a:r>
              <a:rPr sz="1050" spc="-50" dirty="0">
                <a:solidFill>
                  <a:srgbClr val="1A1A2E"/>
                </a:solidFill>
                <a:latin typeface="Segoe UI Semibold"/>
                <a:cs typeface="Segoe UI Semibold"/>
              </a:rPr>
              <a:t>5</a:t>
            </a:r>
            <a:endParaRPr sz="1050">
              <a:latin typeface="Segoe UI Semibold"/>
              <a:cs typeface="Segoe UI Semibold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0" y="6629394"/>
            <a:ext cx="314325" cy="266700"/>
          </a:xfrm>
          <a:custGeom>
            <a:avLst/>
            <a:gdLst/>
            <a:ahLst/>
            <a:cxnLst/>
            <a:rect l="l" t="t" r="r" b="b"/>
            <a:pathLst>
              <a:path w="314325" h="266700">
                <a:moveTo>
                  <a:pt x="314324" y="266699"/>
                </a:moveTo>
                <a:lnTo>
                  <a:pt x="0" y="266699"/>
                </a:lnTo>
                <a:lnTo>
                  <a:pt x="0" y="0"/>
                </a:lnTo>
                <a:lnTo>
                  <a:pt x="314324" y="0"/>
                </a:lnTo>
                <a:lnTo>
                  <a:pt x="31432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081193C-4E9C-3F99-9CCD-DA921C5EC095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8A39D6D-C0CE-45DE-20E7-0C000DAED667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EA5B3E4-F75D-682B-9F8A-72C94E9E041D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75063" y="2132330"/>
            <a:ext cx="3977004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Key</a:t>
            </a:r>
            <a:r>
              <a:rPr spc="-140" dirty="0"/>
              <a:t> </a:t>
            </a:r>
            <a:r>
              <a:rPr spc="-65" dirty="0"/>
              <a:t>Findings</a:t>
            </a:r>
            <a:r>
              <a:rPr spc="-140" dirty="0"/>
              <a:t> </a:t>
            </a:r>
            <a:r>
              <a:rPr dirty="0"/>
              <a:t>&amp;</a:t>
            </a:r>
            <a:r>
              <a:rPr spc="-135" dirty="0"/>
              <a:t> </a:t>
            </a:r>
            <a:r>
              <a:rPr spc="-55" dirty="0"/>
              <a:t>Limitations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9249" y="2700020"/>
            <a:ext cx="931544" cy="2336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35" dirty="0">
                <a:solidFill>
                  <a:srgbClr val="81C783"/>
                </a:solidFill>
                <a:latin typeface="Segoe UI"/>
                <a:cs typeface="Segoe UI"/>
              </a:rPr>
              <a:t>Key</a:t>
            </a:r>
            <a:r>
              <a:rPr sz="1350" spc="-70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350" spc="-30" dirty="0">
                <a:solidFill>
                  <a:srgbClr val="81C783"/>
                </a:solidFill>
                <a:latin typeface="Segoe UI"/>
                <a:cs typeface="Segoe UI"/>
              </a:rPr>
              <a:t>Findings</a:t>
            </a:r>
            <a:endParaRPr sz="135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899" y="3200394"/>
            <a:ext cx="66675" cy="666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3899" y="3705219"/>
            <a:ext cx="66675" cy="666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3899" y="4210044"/>
            <a:ext cx="66675" cy="666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3899" y="4714869"/>
            <a:ext cx="66675" cy="6666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03485" y="3089020"/>
            <a:ext cx="5462270" cy="1987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61645">
              <a:lnSpc>
                <a:spcPct val="111100"/>
              </a:lnSpc>
              <a:spcBef>
                <a:spcPts val="95"/>
              </a:spcBef>
            </a:pP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Classification</a:t>
            </a:r>
            <a:r>
              <a:rPr sz="1350" b="1" spc="2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vs.</a:t>
            </a:r>
            <a:r>
              <a:rPr sz="1350" b="1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Counting</a:t>
            </a:r>
            <a:r>
              <a:rPr sz="1350" b="1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Split:</a:t>
            </a:r>
            <a:r>
              <a:rPr sz="1350" b="1" spc="2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QLoRA</a:t>
            </a:r>
            <a:r>
              <a:rPr sz="135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improves</a:t>
            </a:r>
            <a:r>
              <a:rPr sz="135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classification;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resolution</a:t>
            </a:r>
            <a:r>
              <a:rPr sz="1350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cap</a:t>
            </a:r>
            <a:r>
              <a:rPr sz="1350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hurts</a:t>
            </a:r>
            <a:r>
              <a:rPr sz="1350" spc="2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counting</a:t>
            </a:r>
            <a:endParaRPr sz="1350">
              <a:latin typeface="Segoe UI"/>
              <a:cs typeface="Segoe UI"/>
            </a:endParaRPr>
          </a:p>
          <a:p>
            <a:pPr marL="12700" marR="38735">
              <a:lnSpc>
                <a:spcPct val="111100"/>
              </a:lnSpc>
              <a:spcBef>
                <a:spcPts val="375"/>
              </a:spcBef>
            </a:pP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Data</a:t>
            </a:r>
            <a:r>
              <a:rPr sz="1350" b="1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Volume</a:t>
            </a:r>
            <a:r>
              <a:rPr sz="1350" b="1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Paradox:</a:t>
            </a:r>
            <a:r>
              <a:rPr sz="1350" b="1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Excluded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40%</a:t>
            </a:r>
            <a:r>
              <a:rPr sz="13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of</a:t>
            </a:r>
            <a:r>
              <a:rPr sz="13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training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data</a:t>
            </a:r>
            <a:r>
              <a:rPr sz="13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(no</a:t>
            </a:r>
            <a:r>
              <a:rPr sz="13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text</a:t>
            </a:r>
            <a:r>
              <a:rPr sz="1350" spc="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targets)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yet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still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improved</a:t>
            </a:r>
            <a:endParaRPr sz="1350">
              <a:latin typeface="Segoe UI"/>
              <a:cs typeface="Segoe UI"/>
            </a:endParaRPr>
          </a:p>
          <a:p>
            <a:pPr marL="12700" marR="5080">
              <a:lnSpc>
                <a:spcPct val="106500"/>
              </a:lnSpc>
              <a:spcBef>
                <a:spcPts val="450"/>
              </a:spcBef>
            </a:pP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Spatial Blindness Confirmed: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BDC −10.62% traces directly to the </a:t>
            </a:r>
            <a:r>
              <a:rPr sz="1350" spc="-20" dirty="0">
                <a:solidFill>
                  <a:srgbClr val="DFDFDF"/>
                </a:solidFill>
                <a:latin typeface="Segoe UI"/>
                <a:cs typeface="Segoe UI"/>
              </a:rPr>
              <a:t>512-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token</a:t>
            </a:r>
            <a:r>
              <a:rPr sz="1350" spc="2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vision</a:t>
            </a:r>
            <a:r>
              <a:rPr sz="1350" spc="2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25" dirty="0">
                <a:solidFill>
                  <a:srgbClr val="DFDFDF"/>
                </a:solidFill>
                <a:latin typeface="Segoe UI"/>
                <a:cs typeface="Segoe UI"/>
              </a:rPr>
              <a:t>cap</a:t>
            </a:r>
            <a:endParaRPr sz="1350">
              <a:latin typeface="Segoe UI"/>
              <a:cs typeface="Segoe UI"/>
            </a:endParaRPr>
          </a:p>
          <a:p>
            <a:pPr marL="12700" marR="342265">
              <a:lnSpc>
                <a:spcPct val="106500"/>
              </a:lnSpc>
              <a:spcBef>
                <a:spcPts val="525"/>
              </a:spcBef>
            </a:pP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Cross-Benchmark</a:t>
            </a:r>
            <a:r>
              <a:rPr sz="1350" b="1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Transfer:</a:t>
            </a:r>
            <a:r>
              <a:rPr sz="1350" b="1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DisasterM3</a:t>
            </a:r>
            <a:r>
              <a:rPr sz="13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fine-tuning</a:t>
            </a:r>
            <a:r>
              <a:rPr sz="13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generalizes</a:t>
            </a:r>
            <a:r>
              <a:rPr sz="135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25" dirty="0">
                <a:solidFill>
                  <a:srgbClr val="DFDFDF"/>
                </a:solidFill>
                <a:latin typeface="Segoe UI"/>
                <a:cs typeface="Segoe UI"/>
              </a:rPr>
              <a:t>to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DisasterVQA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with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no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extra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training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40500" y="2700020"/>
            <a:ext cx="809625" cy="2336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35" dirty="0">
                <a:solidFill>
                  <a:srgbClr val="EF9999"/>
                </a:solidFill>
                <a:latin typeface="Segoe UI"/>
                <a:cs typeface="Segoe UI"/>
              </a:rPr>
              <a:t>Limitations</a:t>
            </a:r>
            <a:endParaRPr sz="1350">
              <a:latin typeface="Segoe UI"/>
              <a:cs typeface="Segoe U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15149" y="3200394"/>
            <a:ext cx="66675" cy="666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15149" y="3476619"/>
            <a:ext cx="66675" cy="6666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15149" y="3762369"/>
            <a:ext cx="66675" cy="6666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915149" y="4038594"/>
            <a:ext cx="66675" cy="6666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15149" y="4314819"/>
            <a:ext cx="66675" cy="6666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094735" y="3041395"/>
            <a:ext cx="4603750" cy="1416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95"/>
              </a:spcBef>
            </a:pP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Resolution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cap</a:t>
            </a:r>
            <a:r>
              <a:rPr sz="135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is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a</a:t>
            </a:r>
            <a:r>
              <a:rPr sz="135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hard</a:t>
            </a:r>
            <a:r>
              <a:rPr sz="1350" b="1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ceiling</a:t>
            </a:r>
            <a:r>
              <a:rPr sz="1350" b="1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—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needs</a:t>
            </a:r>
            <a:r>
              <a:rPr sz="135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more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VRAM</a:t>
            </a:r>
            <a:r>
              <a:rPr sz="135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to</a:t>
            </a:r>
            <a:r>
              <a:rPr sz="1350" spc="1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20" dirty="0">
                <a:solidFill>
                  <a:srgbClr val="DFDFDF"/>
                </a:solidFill>
                <a:latin typeface="Segoe UI"/>
                <a:cs typeface="Segoe UI"/>
              </a:rPr>
              <a:t>lift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Open-ended</a:t>
            </a:r>
            <a:r>
              <a:rPr sz="135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eval</a:t>
            </a:r>
            <a:r>
              <a:rPr sz="135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excluded</a:t>
            </a:r>
            <a:r>
              <a:rPr sz="135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($300</a:t>
            </a:r>
            <a:r>
              <a:rPr sz="135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GPT-4.1</a:t>
            </a:r>
            <a:r>
              <a:rPr sz="135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judging</a:t>
            </a:r>
            <a:r>
              <a:rPr sz="135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cost)</a:t>
            </a:r>
            <a:endParaRPr sz="1350">
              <a:latin typeface="Segoe UI"/>
              <a:cs typeface="Segoe UI"/>
            </a:endParaRPr>
          </a:p>
          <a:p>
            <a:pPr marL="12700" marR="801370">
              <a:lnSpc>
                <a:spcPct val="134300"/>
              </a:lnSpc>
              <a:spcBef>
                <a:spcPts val="75"/>
              </a:spcBef>
            </a:pP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U-Net</a:t>
            </a:r>
            <a:r>
              <a:rPr sz="1350" spc="2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minority-class</a:t>
            </a:r>
            <a:r>
              <a:rPr sz="1350" spc="2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IoU</a:t>
            </a:r>
            <a:r>
              <a:rPr sz="135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low</a:t>
            </a:r>
            <a:r>
              <a:rPr sz="1350" spc="2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(Destroyed:</a:t>
            </a:r>
            <a:r>
              <a:rPr sz="135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16.58%) DisasTeller</a:t>
            </a:r>
            <a:r>
              <a:rPr sz="135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requires</a:t>
            </a:r>
            <a:r>
              <a:rPr sz="1350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internet</a:t>
            </a:r>
            <a:r>
              <a:rPr sz="135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(no</a:t>
            </a:r>
            <a:r>
              <a:rPr sz="1350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offline</a:t>
            </a:r>
            <a:r>
              <a:rPr sz="135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mode)</a:t>
            </a:r>
            <a:endParaRPr sz="13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13</a:t>
            </a:r>
            <a:r>
              <a:rPr sz="1350" b="1" spc="2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DFDFDF"/>
                </a:solidFill>
                <a:latin typeface="Segoe UI"/>
                <a:cs typeface="Segoe UI"/>
              </a:rPr>
              <a:t>deviations</a:t>
            </a:r>
            <a:r>
              <a:rPr sz="1350" b="1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formally</a:t>
            </a:r>
            <a:r>
              <a:rPr sz="135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documented</a:t>
            </a:r>
            <a:r>
              <a:rPr sz="135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in</a:t>
            </a:r>
            <a:r>
              <a:rPr sz="1350" spc="3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spc="-10" dirty="0">
                <a:solidFill>
                  <a:srgbClr val="DFDFDF"/>
                </a:solidFill>
                <a:latin typeface="Segoe UI"/>
                <a:cs typeface="Segoe UI"/>
              </a:rPr>
              <a:t>DEVIATIONS.md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6629393"/>
            <a:ext cx="314325" cy="266700"/>
          </a:xfrm>
          <a:custGeom>
            <a:avLst/>
            <a:gdLst/>
            <a:ahLst/>
            <a:cxnLst/>
            <a:rect l="l" t="t" r="r" b="b"/>
            <a:pathLst>
              <a:path w="314325" h="266700">
                <a:moveTo>
                  <a:pt x="314324" y="266699"/>
                </a:moveTo>
                <a:lnTo>
                  <a:pt x="0" y="266699"/>
                </a:lnTo>
                <a:lnTo>
                  <a:pt x="0" y="0"/>
                </a:lnTo>
                <a:lnTo>
                  <a:pt x="314324" y="0"/>
                </a:lnTo>
                <a:lnTo>
                  <a:pt x="31432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CFFDC57-2249-1364-211C-C1A2FD5C65C5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1E3DAB9-8EF7-E4C0-8CF5-BCEB2424F986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04FEC4E-7941-C1DB-3D1D-D9AE946C875F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527277" y="1960880"/>
            <a:ext cx="1872614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Future</a:t>
            </a:r>
            <a:r>
              <a:rPr spc="-155" dirty="0"/>
              <a:t> </a:t>
            </a:r>
            <a:r>
              <a:rPr spc="-55" dirty="0"/>
              <a:t>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4743" y="2519121"/>
            <a:ext cx="11831955" cy="3168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9390" marR="58419" indent="-187325">
              <a:lnSpc>
                <a:spcPct val="111600"/>
              </a:lnSpc>
              <a:spcBef>
                <a:spcPts val="95"/>
              </a:spcBef>
              <a:buFont typeface="Segoe UI"/>
              <a:buAutoNum type="arabicPeriod"/>
              <a:tabLst>
                <a:tab pos="199390" algn="l"/>
              </a:tabLst>
            </a:pP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Resolution</a:t>
            </a:r>
            <a:r>
              <a:rPr sz="1400" b="1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Unlocking:</a:t>
            </a:r>
            <a:r>
              <a:rPr sz="1400" b="1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Evaluate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with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unbounded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resolution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on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higher-VRAM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free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GPUs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(Colab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L4,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Kaggle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P100)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to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quantify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Deviation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D4’s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DFDFDF"/>
                </a:solidFill>
                <a:latin typeface="Segoe UI"/>
                <a:cs typeface="Segoe UI"/>
              </a:rPr>
              <a:t>exact impact</a:t>
            </a:r>
            <a:endParaRPr sz="1400">
              <a:latin typeface="Segoe UI"/>
              <a:cs typeface="Segoe UI"/>
            </a:endParaRPr>
          </a:p>
          <a:p>
            <a:pPr marL="199390" marR="86360" indent="-187325">
              <a:lnSpc>
                <a:spcPct val="111600"/>
              </a:lnSpc>
              <a:spcBef>
                <a:spcPts val="675"/>
              </a:spcBef>
              <a:buFont typeface="Segoe UI"/>
              <a:buAutoNum type="arabicPeriod"/>
              <a:tabLst>
                <a:tab pos="199390" algn="l"/>
              </a:tabLst>
            </a:pP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Textual</a:t>
            </a:r>
            <a:r>
              <a:rPr sz="1400" b="1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Bridge</a:t>
            </a:r>
            <a:r>
              <a:rPr sz="1400" b="1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Prompting:</a:t>
            </a:r>
            <a:r>
              <a:rPr sz="1400" b="1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Inject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U-Net</a:t>
            </a:r>
            <a:r>
              <a:rPr sz="140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spatial</a:t>
            </a:r>
            <a:r>
              <a:rPr sz="140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findings</a:t>
            </a:r>
            <a:r>
              <a:rPr sz="140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(building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counts,</a:t>
            </a:r>
            <a:r>
              <a:rPr sz="140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damage</a:t>
            </a:r>
            <a:r>
              <a:rPr sz="140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distributions)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as</a:t>
            </a:r>
            <a:r>
              <a:rPr sz="140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structured</a:t>
            </a:r>
            <a:r>
              <a:rPr sz="140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text</a:t>
            </a:r>
            <a:r>
              <a:rPr sz="140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into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VLM</a:t>
            </a:r>
            <a:r>
              <a:rPr sz="140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prompts</a:t>
            </a:r>
            <a:r>
              <a:rPr sz="140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for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DFDFDF"/>
                </a:solidFill>
                <a:latin typeface="Segoe UI"/>
                <a:cs typeface="Segoe UI"/>
              </a:rPr>
              <a:t>precise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spatial</a:t>
            </a:r>
            <a:r>
              <a:rPr sz="1400" spc="4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DFDFDF"/>
                </a:solidFill>
                <a:latin typeface="Segoe UI"/>
                <a:cs typeface="Segoe UI"/>
              </a:rPr>
              <a:t>reasoning</a:t>
            </a:r>
            <a:endParaRPr sz="1400">
              <a:latin typeface="Segoe UI"/>
              <a:cs typeface="Segoe UI"/>
            </a:endParaRPr>
          </a:p>
          <a:p>
            <a:pPr marL="199390" indent="-186690">
              <a:lnSpc>
                <a:spcPct val="100000"/>
              </a:lnSpc>
              <a:spcBef>
                <a:spcPts val="870"/>
              </a:spcBef>
              <a:buFont typeface="Segoe UI"/>
              <a:buAutoNum type="arabicPeriod"/>
              <a:tabLst>
                <a:tab pos="199390" algn="l"/>
              </a:tabLst>
            </a:pP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Survivability</a:t>
            </a:r>
            <a:r>
              <a:rPr sz="1400" b="1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Heatmaps:</a:t>
            </a:r>
            <a:r>
              <a:rPr sz="1400" b="1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Apply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distance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transforms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over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damage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masks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to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produce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continuous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spatial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gradients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for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field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DFDFDF"/>
                </a:solidFill>
                <a:latin typeface="Segoe UI"/>
                <a:cs typeface="Segoe UI"/>
              </a:rPr>
              <a:t>responders</a:t>
            </a:r>
            <a:endParaRPr sz="1400">
              <a:latin typeface="Segoe UI"/>
              <a:cs typeface="Segoe UI"/>
            </a:endParaRPr>
          </a:p>
          <a:p>
            <a:pPr marL="199390" marR="5080" indent="-187325">
              <a:lnSpc>
                <a:spcPct val="111600"/>
              </a:lnSpc>
              <a:spcBef>
                <a:spcPts val="675"/>
              </a:spcBef>
              <a:buFont typeface="Segoe UI"/>
              <a:buAutoNum type="arabicPeriod"/>
              <a:tabLst>
                <a:tab pos="199390" algn="l"/>
              </a:tabLst>
            </a:pP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7B</a:t>
            </a:r>
            <a:r>
              <a:rPr sz="1400" b="1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→</a:t>
            </a:r>
            <a:r>
              <a:rPr sz="1400" b="1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3B</a:t>
            </a:r>
            <a:r>
              <a:rPr sz="1400" b="1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Distillation:</a:t>
            </a:r>
            <a:r>
              <a:rPr sz="1400" b="1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Generate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chain-of-thought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traces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from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the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7B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model,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fine-tune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Qwen2.5-VL-3B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for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edge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deployment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(~6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GB</a:t>
            </a:r>
            <a:r>
              <a:rPr sz="1400" spc="6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VRAM,</a:t>
            </a:r>
            <a:r>
              <a:rPr sz="1400" spc="6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DFDFDF"/>
                </a:solidFill>
                <a:latin typeface="Segoe UI"/>
                <a:cs typeface="Segoe UI"/>
              </a:rPr>
              <a:t>rescue laptops)</a:t>
            </a:r>
            <a:endParaRPr sz="1400">
              <a:latin typeface="Segoe UI"/>
              <a:cs typeface="Segoe UI"/>
            </a:endParaRPr>
          </a:p>
          <a:p>
            <a:pPr marL="199390" indent="-186690">
              <a:lnSpc>
                <a:spcPct val="100000"/>
              </a:lnSpc>
              <a:spcBef>
                <a:spcPts val="870"/>
              </a:spcBef>
              <a:buFont typeface="Segoe UI"/>
              <a:buAutoNum type="arabicPeriod"/>
              <a:tabLst>
                <a:tab pos="199390" algn="l"/>
              </a:tabLst>
            </a:pP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DisasTeller</a:t>
            </a:r>
            <a:r>
              <a:rPr sz="1400" b="1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Backend</a:t>
            </a:r>
            <a:r>
              <a:rPr sz="1400" b="1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Swap:</a:t>
            </a:r>
            <a:r>
              <a:rPr sz="1400" b="1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Replace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the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Gemini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API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backend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with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our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fine-tuned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Qwen2.5-VL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for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a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fully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autonomous,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offline-capable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DFDFDF"/>
                </a:solidFill>
                <a:latin typeface="Segoe UI"/>
                <a:cs typeface="Segoe UI"/>
              </a:rPr>
              <a:t>system</a:t>
            </a:r>
            <a:endParaRPr sz="1400">
              <a:latin typeface="Segoe UI"/>
              <a:cs typeface="Segoe UI"/>
            </a:endParaRPr>
          </a:p>
          <a:p>
            <a:pPr marL="199390" marR="99695" indent="-187325">
              <a:lnSpc>
                <a:spcPct val="107100"/>
              </a:lnSpc>
              <a:spcBef>
                <a:spcPts val="825"/>
              </a:spcBef>
              <a:buFont typeface="Segoe UI"/>
              <a:buAutoNum type="arabicPeriod"/>
              <a:tabLst>
                <a:tab pos="199390" algn="l"/>
              </a:tabLst>
            </a:pP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Physics-Informed</a:t>
            </a:r>
            <a:r>
              <a:rPr sz="1400" b="1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Reverse</a:t>
            </a:r>
            <a:r>
              <a:rPr sz="1400" b="1" spc="7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Simulation:</a:t>
            </a:r>
            <a:r>
              <a:rPr sz="1400" b="1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Integrate</a:t>
            </a:r>
            <a:r>
              <a:rPr sz="1400" spc="7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PINNs</a:t>
            </a:r>
            <a:r>
              <a:rPr sz="1400" spc="7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with</a:t>
            </a:r>
            <a:r>
              <a:rPr sz="140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the</a:t>
            </a:r>
            <a:r>
              <a:rPr sz="1400" spc="7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segmentation</a:t>
            </a:r>
            <a:r>
              <a:rPr sz="1400" spc="7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pipeline</a:t>
            </a:r>
            <a:r>
              <a:rPr sz="140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to</a:t>
            </a:r>
            <a:r>
              <a:rPr sz="1400" spc="7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reverse-simulate</a:t>
            </a:r>
            <a:r>
              <a:rPr sz="1400" spc="7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structural</a:t>
            </a:r>
            <a:r>
              <a:rPr sz="1400" spc="7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collapse</a:t>
            </a:r>
            <a:r>
              <a:rPr sz="1400" spc="7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trajectories</a:t>
            </a:r>
            <a:r>
              <a:rPr sz="1400" spc="7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spc="-20" dirty="0">
                <a:solidFill>
                  <a:srgbClr val="DFDFDF"/>
                </a:solidFill>
                <a:latin typeface="Segoe UI"/>
                <a:cs typeface="Segoe UI"/>
              </a:rPr>
              <a:t>from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rubble</a:t>
            </a:r>
            <a:r>
              <a:rPr sz="140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patterns,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identifying</a:t>
            </a:r>
            <a:r>
              <a:rPr sz="140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void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spaces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where</a:t>
            </a:r>
            <a:r>
              <a:rPr sz="140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survivors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may</a:t>
            </a:r>
            <a:r>
              <a:rPr sz="1400" spc="5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be</a:t>
            </a:r>
            <a:r>
              <a:rPr sz="1400" spc="5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DFDFDF"/>
                </a:solidFill>
                <a:latin typeface="Segoe UI"/>
                <a:cs typeface="Segoe UI"/>
              </a:rPr>
              <a:t>trapped</a:t>
            </a:r>
            <a:endParaRPr sz="1400">
              <a:latin typeface="Segoe UI"/>
              <a:cs typeface="Segoe UI"/>
            </a:endParaRPr>
          </a:p>
          <a:p>
            <a:pPr marL="199390" indent="-186690">
              <a:lnSpc>
                <a:spcPct val="100000"/>
              </a:lnSpc>
              <a:spcBef>
                <a:spcPts val="944"/>
              </a:spcBef>
              <a:buFont typeface="Segoe UI"/>
              <a:buAutoNum type="arabicPeriod"/>
              <a:tabLst>
                <a:tab pos="199390" algn="l"/>
              </a:tabLst>
            </a:pP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Full</a:t>
            </a:r>
            <a:r>
              <a:rPr sz="1400" b="1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Unified</a:t>
            </a:r>
            <a:r>
              <a:rPr sz="1400" b="1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FDFDF"/>
                </a:solidFill>
                <a:latin typeface="Segoe UI"/>
                <a:cs typeface="Segoe UI"/>
              </a:rPr>
              <a:t>Deployment:</a:t>
            </a:r>
            <a:r>
              <a:rPr sz="1400" b="1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Package</a:t>
            </a:r>
            <a:r>
              <a:rPr sz="140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VRT</a:t>
            </a:r>
            <a:r>
              <a:rPr sz="140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+</a:t>
            </a:r>
            <a:r>
              <a:rPr sz="140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U-Net</a:t>
            </a:r>
            <a:r>
              <a:rPr sz="140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+</a:t>
            </a:r>
            <a:r>
              <a:rPr sz="140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VLM</a:t>
            </a:r>
            <a:r>
              <a:rPr sz="140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+</a:t>
            </a:r>
            <a:r>
              <a:rPr sz="140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DisasTeller</a:t>
            </a:r>
            <a:r>
              <a:rPr sz="140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into</a:t>
            </a:r>
            <a:r>
              <a:rPr sz="140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a</a:t>
            </a:r>
            <a:r>
              <a:rPr sz="140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single</a:t>
            </a:r>
            <a:r>
              <a:rPr sz="140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containerized</a:t>
            </a:r>
            <a:r>
              <a:rPr sz="140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service</a:t>
            </a:r>
            <a:r>
              <a:rPr sz="140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with</a:t>
            </a:r>
            <a:r>
              <a:rPr sz="140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real-time</a:t>
            </a:r>
            <a:r>
              <a:rPr sz="1400" spc="3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FDFDF"/>
                </a:solidFill>
                <a:latin typeface="Segoe UI"/>
                <a:cs typeface="Segoe UI"/>
              </a:rPr>
              <a:t>drone-feed</a:t>
            </a:r>
            <a:r>
              <a:rPr sz="1400" spc="4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DFDFDF"/>
                </a:solidFill>
                <a:latin typeface="Segoe UI"/>
                <a:cs typeface="Segoe UI"/>
              </a:rPr>
              <a:t>ingestion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629393"/>
            <a:ext cx="314325" cy="266700"/>
          </a:xfrm>
          <a:custGeom>
            <a:avLst/>
            <a:gdLst/>
            <a:ahLst/>
            <a:cxnLst/>
            <a:rect l="l" t="t" r="r" b="b"/>
            <a:pathLst>
              <a:path w="314325" h="266700">
                <a:moveTo>
                  <a:pt x="314324" y="266699"/>
                </a:moveTo>
                <a:lnTo>
                  <a:pt x="0" y="266699"/>
                </a:lnTo>
                <a:lnTo>
                  <a:pt x="0" y="0"/>
                </a:lnTo>
                <a:lnTo>
                  <a:pt x="314324" y="0"/>
                </a:lnTo>
                <a:lnTo>
                  <a:pt x="31432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2754797-DFFF-915E-8A6B-18250AA51DC0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40814F-D96E-A1D5-9838-00FD4EFD27DD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A135948-5849-0AC6-92F7-6E99CDF1C560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93431" y="2122805"/>
            <a:ext cx="2940050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20" dirty="0"/>
              <a:t>Team</a:t>
            </a:r>
            <a:r>
              <a:rPr spc="-155" dirty="0"/>
              <a:t> </a:t>
            </a:r>
            <a:r>
              <a:rPr spc="-65" dirty="0"/>
              <a:t>Contributions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61949" y="2705093"/>
          <a:ext cx="12192635" cy="203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60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250" b="1" spc="-2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Name</a:t>
                      </a:r>
                      <a:endParaRPr sz="1250">
                        <a:latin typeface="Segoe UI"/>
                        <a:cs typeface="Segoe UI"/>
                      </a:endParaRPr>
                    </a:p>
                  </a:txBody>
                  <a:tcPr marL="0" marR="0" marT="60325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250" b="1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Role</a:t>
                      </a:r>
                      <a:r>
                        <a:rPr sz="1250" b="1" spc="-1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b="1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/</a:t>
                      </a:r>
                      <a:r>
                        <a:rPr sz="1250" b="1" spc="-5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b="1" spc="-10" dirty="0">
                          <a:solidFill>
                            <a:srgbClr val="E7D5B6"/>
                          </a:solidFill>
                          <a:latin typeface="Segoe UI"/>
                          <a:cs typeface="Segoe UI"/>
                        </a:rPr>
                        <a:t>Contribution</a:t>
                      </a:r>
                      <a:endParaRPr sz="1250">
                        <a:latin typeface="Segoe UI"/>
                        <a:cs typeface="Segoe UI"/>
                      </a:endParaRPr>
                    </a:p>
                  </a:txBody>
                  <a:tcPr marL="0" marR="0" marT="60325" marB="0">
                    <a:lnB w="9525">
                      <a:solidFill>
                        <a:srgbClr val="E7D5B6"/>
                      </a:solidFill>
                      <a:prstDash val="solid"/>
                    </a:lnB>
                    <a:solidFill>
                      <a:srgbClr val="29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715">
                <a:tc>
                  <a:txBody>
                    <a:bodyPr/>
                    <a:lstStyle/>
                    <a:p>
                      <a:pPr marL="95250" marR="271780">
                        <a:lnSpc>
                          <a:spcPct val="110000"/>
                        </a:lnSpc>
                        <a:spcBef>
                          <a:spcPts val="285"/>
                        </a:spcBef>
                      </a:pPr>
                      <a:r>
                        <a:rPr sz="1250" b="1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Abrar</a:t>
                      </a:r>
                      <a:r>
                        <a:rPr sz="1250" b="1" spc="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b="1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Mohammed</a:t>
                      </a:r>
                      <a:r>
                        <a:rPr sz="1250" b="1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b="1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Tanzim Alam</a:t>
                      </a:r>
                      <a:endParaRPr sz="1250">
                        <a:latin typeface="Segoe UI"/>
                        <a:cs typeface="Segoe UI"/>
                      </a:endParaRPr>
                    </a:p>
                  </a:txBody>
                  <a:tcPr marL="0" marR="0" marT="36195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0" marR="945515">
                        <a:lnSpc>
                          <a:spcPct val="110000"/>
                        </a:lnSpc>
                        <a:spcBef>
                          <a:spcPts val="285"/>
                        </a:spcBef>
                      </a:pP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Pipeline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lead: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QLoRA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training,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multi-session</a:t>
                      </a:r>
                      <a:r>
                        <a:rPr sz="1250" spc="1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infra,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model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merge,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vLLM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evaluation,</a:t>
                      </a:r>
                      <a:r>
                        <a:rPr sz="1250" spc="1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hybrid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triage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pipeline,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production</a:t>
                      </a:r>
                      <a:r>
                        <a:rPr sz="1250" spc="1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U-</a:t>
                      </a:r>
                      <a:r>
                        <a:rPr sz="125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Net,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DisasterVQA</a:t>
                      </a:r>
                      <a:r>
                        <a:rPr sz="1250" spc="-1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eval</a:t>
                      </a:r>
                      <a:endParaRPr sz="1250">
                        <a:latin typeface="Segoe UI"/>
                        <a:cs typeface="Segoe UI"/>
                      </a:endParaRPr>
                    </a:p>
                  </a:txBody>
                  <a:tcPr marL="0" marR="0" marT="36195" marB="0">
                    <a:lnT w="9525">
                      <a:solidFill>
                        <a:srgbClr val="E7D5B6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50" b="1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Aryan</a:t>
                      </a:r>
                      <a:r>
                        <a:rPr sz="1250" b="1" spc="6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b="1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Sami</a:t>
                      </a:r>
                      <a:endParaRPr sz="1250">
                        <a:latin typeface="Segoe UI"/>
                        <a:cs typeface="Segoe UI"/>
                      </a:endParaRPr>
                    </a:p>
                  </a:txBody>
                  <a:tcPr marL="0" marR="0" marT="5524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U-Net</a:t>
                      </a:r>
                      <a:r>
                        <a:rPr sz="1250" spc="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segmentation</a:t>
                      </a:r>
                      <a:r>
                        <a:rPr sz="1250" spc="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prototype</a:t>
                      </a:r>
                      <a:r>
                        <a:rPr sz="1250" spc="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(initial</a:t>
                      </a:r>
                      <a:r>
                        <a:rPr sz="1250" spc="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architecture</a:t>
                      </a:r>
                      <a:r>
                        <a:rPr sz="1250" spc="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exploration,</a:t>
                      </a:r>
                      <a:r>
                        <a:rPr sz="1250" spc="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class-imbalance</a:t>
                      </a:r>
                      <a:r>
                        <a:rPr sz="1250" spc="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identification)</a:t>
                      </a:r>
                      <a:endParaRPr sz="1250">
                        <a:latin typeface="Segoe UI"/>
                        <a:cs typeface="Segoe UI"/>
                      </a:endParaRPr>
                    </a:p>
                  </a:txBody>
                  <a:tcPr marL="0" marR="0" marT="5524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50" b="1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Ridita</a:t>
                      </a:r>
                      <a:r>
                        <a:rPr sz="1250" b="1" spc="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b="1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Afrin</a:t>
                      </a:r>
                      <a:r>
                        <a:rPr sz="1250" b="1" spc="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b="1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Riya</a:t>
                      </a:r>
                      <a:endParaRPr sz="1250" dirty="0">
                        <a:latin typeface="Segoe UI"/>
                        <a:cs typeface="Segoe UI"/>
                      </a:endParaRPr>
                    </a:p>
                  </a:txBody>
                  <a:tcPr marL="0" marR="0" marT="5524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5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DisasTeller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multi-agent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framework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(CrewAI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+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RAG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+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Gemini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integration)</a:t>
                      </a:r>
                      <a:endParaRPr sz="1250">
                        <a:latin typeface="Segoe UI"/>
                        <a:cs typeface="Segoe UI"/>
                      </a:endParaRPr>
                    </a:p>
                  </a:txBody>
                  <a:tcPr marL="0" marR="0" marT="5524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50" b="1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Tamanna</a:t>
                      </a:r>
                      <a:r>
                        <a:rPr sz="1250" b="1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b="1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Akter</a:t>
                      </a:r>
                      <a:r>
                        <a:rPr sz="1250" b="1" spc="-1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b="1" spc="-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Mou</a:t>
                      </a:r>
                      <a:endParaRPr sz="1250">
                        <a:latin typeface="Segoe UI"/>
                        <a:cs typeface="Segoe UI"/>
                      </a:endParaRPr>
                    </a:p>
                  </a:txBody>
                  <a:tcPr marL="0" marR="0" marT="5524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DisasterVQA</a:t>
                      </a:r>
                      <a:r>
                        <a:rPr sz="1250" spc="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evaluation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pipeline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setup,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literature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review</a:t>
                      </a:r>
                      <a:endParaRPr sz="1250">
                        <a:latin typeface="Segoe UI"/>
                        <a:cs typeface="Segoe UI"/>
                      </a:endParaRPr>
                    </a:p>
                  </a:txBody>
                  <a:tcPr marL="0" marR="0" marT="55244" marB="0"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>
                        <a:alpha val="313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95250">
                        <a:lnSpc>
                          <a:spcPts val="1465"/>
                        </a:lnSpc>
                        <a:spcBef>
                          <a:spcPts val="434"/>
                        </a:spcBef>
                      </a:pPr>
                      <a:r>
                        <a:rPr sz="1250" b="1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Abdullah</a:t>
                      </a:r>
                      <a:r>
                        <a:rPr sz="1250" b="1" spc="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b="1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Al</a:t>
                      </a:r>
                      <a:r>
                        <a:rPr sz="1250" b="1" spc="2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b="1" spc="-2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Noman</a:t>
                      </a:r>
                      <a:endParaRPr sz="1250">
                        <a:latin typeface="Segoe UI"/>
                        <a:cs typeface="Segoe UI"/>
                      </a:endParaRPr>
                    </a:p>
                  </a:txBody>
                  <a:tcPr marL="0" marR="0" marT="55244" marB="0">
                    <a:lnT w="9525">
                      <a:solidFill>
                        <a:srgbClr val="33333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1465"/>
                        </a:lnSpc>
                        <a:spcBef>
                          <a:spcPts val="434"/>
                        </a:spcBef>
                      </a:pP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VRT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super-resolution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feasibility</a:t>
                      </a:r>
                      <a:r>
                        <a:rPr sz="1250" spc="1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study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(pseudo-video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preprocessing,</a:t>
                      </a:r>
                      <a:r>
                        <a:rPr sz="1250" spc="15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4×</a:t>
                      </a:r>
                      <a:r>
                        <a:rPr sz="1250" spc="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50" spc="-10" dirty="0">
                          <a:solidFill>
                            <a:srgbClr val="DFDFDF"/>
                          </a:solidFill>
                          <a:latin typeface="Segoe UI"/>
                          <a:cs typeface="Segoe UI"/>
                        </a:rPr>
                        <a:t>upscaling)</a:t>
                      </a:r>
                      <a:endParaRPr sz="1250">
                        <a:latin typeface="Segoe UI"/>
                        <a:cs typeface="Segoe UI"/>
                      </a:endParaRPr>
                    </a:p>
                  </a:txBody>
                  <a:tcPr marL="0" marR="0" marT="55244" marB="0">
                    <a:lnT w="9525">
                      <a:solidFill>
                        <a:srgbClr val="333333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424187" y="4951824"/>
            <a:ext cx="6068060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All</a:t>
            </a:r>
            <a:r>
              <a:rPr sz="12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code,</a:t>
            </a:r>
            <a:r>
              <a:rPr sz="12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checkpoints,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and</a:t>
            </a:r>
            <a:r>
              <a:rPr sz="12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documentation</a:t>
            </a:r>
            <a:r>
              <a:rPr sz="12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are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publicly</a:t>
            </a:r>
            <a:r>
              <a:rPr sz="12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available</a:t>
            </a:r>
            <a:r>
              <a:rPr sz="1250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on</a:t>
            </a:r>
            <a:r>
              <a:rPr sz="12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dirty="0">
                <a:solidFill>
                  <a:srgbClr val="B0BEC4"/>
                </a:solidFill>
                <a:latin typeface="Segoe UI"/>
                <a:cs typeface="Segoe UI"/>
              </a:rPr>
              <a:t>HuggingFace</a:t>
            </a:r>
            <a:r>
              <a:rPr sz="1250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250" spc="-20" dirty="0">
                <a:solidFill>
                  <a:srgbClr val="B0BEC4"/>
                </a:solidFill>
                <a:latin typeface="Segoe UI"/>
                <a:cs typeface="Segoe UI"/>
              </a:rPr>
              <a:t>Hub.</a:t>
            </a:r>
            <a:endParaRPr sz="1250">
              <a:latin typeface="Segoe UI"/>
              <a:cs typeface="Segoe U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6629393"/>
            <a:ext cx="314325" cy="266700"/>
          </a:xfrm>
          <a:custGeom>
            <a:avLst/>
            <a:gdLst/>
            <a:ahLst/>
            <a:cxnLst/>
            <a:rect l="l" t="t" r="r" b="b"/>
            <a:pathLst>
              <a:path w="314325" h="266700">
                <a:moveTo>
                  <a:pt x="314324" y="266699"/>
                </a:moveTo>
                <a:lnTo>
                  <a:pt x="0" y="266699"/>
                </a:lnTo>
                <a:lnTo>
                  <a:pt x="0" y="0"/>
                </a:lnTo>
                <a:lnTo>
                  <a:pt x="314324" y="0"/>
                </a:lnTo>
                <a:lnTo>
                  <a:pt x="31432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B7D52E2-1E6C-0640-18FA-95FA8F915186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634E9F9-3C4F-D699-922F-1CA7D5F26767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FE34A4D-41CF-DBFE-0357-27A8A6B6F655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417294" y="2231389"/>
            <a:ext cx="2096135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spc="-100" dirty="0"/>
              <a:t>Thank</a:t>
            </a:r>
            <a:r>
              <a:rPr sz="3750" spc="-180" dirty="0"/>
              <a:t> </a:t>
            </a:r>
            <a:r>
              <a:rPr sz="3750" spc="-135" dirty="0"/>
              <a:t>You</a:t>
            </a:r>
            <a:endParaRPr sz="3750"/>
          </a:p>
        </p:txBody>
      </p:sp>
      <p:sp>
        <p:nvSpPr>
          <p:cNvPr id="3" name="object 3"/>
          <p:cNvSpPr txBox="1"/>
          <p:nvPr/>
        </p:nvSpPr>
        <p:spPr>
          <a:xfrm>
            <a:off x="3913683" y="2974720"/>
            <a:ext cx="5088890" cy="233235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sz="1350" i="1" dirty="0">
                <a:solidFill>
                  <a:srgbClr val="B0BEC4"/>
                </a:solidFill>
                <a:latin typeface="Segoe UI"/>
                <a:cs typeface="Segoe UI"/>
              </a:rPr>
              <a:t>“Can</a:t>
            </a:r>
            <a:r>
              <a:rPr sz="1350" i="1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i="1" dirty="0">
                <a:solidFill>
                  <a:srgbClr val="B0BEC4"/>
                </a:solidFill>
                <a:latin typeface="Segoe UI"/>
                <a:cs typeface="Segoe UI"/>
              </a:rPr>
              <a:t>a</a:t>
            </a:r>
            <a:r>
              <a:rPr sz="1350" i="1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i="1" dirty="0">
                <a:solidFill>
                  <a:srgbClr val="B0BEC4"/>
                </a:solidFill>
                <a:latin typeface="Segoe UI"/>
                <a:cs typeface="Segoe UI"/>
              </a:rPr>
              <a:t>student</a:t>
            </a:r>
            <a:r>
              <a:rPr sz="1350" i="1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i="1" dirty="0">
                <a:solidFill>
                  <a:srgbClr val="B0BEC4"/>
                </a:solidFill>
                <a:latin typeface="Segoe UI"/>
                <a:cs typeface="Segoe UI"/>
              </a:rPr>
              <a:t>team,</a:t>
            </a:r>
            <a:r>
              <a:rPr sz="1350" i="1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i="1" dirty="0">
                <a:solidFill>
                  <a:srgbClr val="B0BEC4"/>
                </a:solidFill>
                <a:latin typeface="Segoe UI"/>
                <a:cs typeface="Segoe UI"/>
              </a:rPr>
              <a:t>with</a:t>
            </a:r>
            <a:r>
              <a:rPr sz="1350" i="1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i="1" dirty="0">
                <a:solidFill>
                  <a:srgbClr val="B0BEC4"/>
                </a:solidFill>
                <a:latin typeface="Segoe UI"/>
                <a:cs typeface="Segoe UI"/>
              </a:rPr>
              <a:t>zero</a:t>
            </a:r>
            <a:r>
              <a:rPr sz="1350" i="1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i="1" dirty="0">
                <a:solidFill>
                  <a:srgbClr val="B0BEC4"/>
                </a:solidFill>
                <a:latin typeface="Segoe UI"/>
                <a:cs typeface="Segoe UI"/>
              </a:rPr>
              <a:t>budget</a:t>
            </a:r>
            <a:r>
              <a:rPr sz="1350" i="1" spc="10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i="1" dirty="0">
                <a:solidFill>
                  <a:srgbClr val="B0BEC4"/>
                </a:solidFill>
                <a:latin typeface="Segoe UI"/>
                <a:cs typeface="Segoe UI"/>
              </a:rPr>
              <a:t>and</a:t>
            </a:r>
            <a:r>
              <a:rPr sz="1350" i="1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i="1" dirty="0">
                <a:solidFill>
                  <a:srgbClr val="B0BEC4"/>
                </a:solidFill>
                <a:latin typeface="Segoe UI"/>
                <a:cs typeface="Segoe UI"/>
              </a:rPr>
              <a:t>free-tier</a:t>
            </a:r>
            <a:r>
              <a:rPr sz="1350" i="1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i="1" spc="-10" dirty="0">
                <a:solidFill>
                  <a:srgbClr val="B0BEC4"/>
                </a:solidFill>
                <a:latin typeface="Segoe UI"/>
                <a:cs typeface="Segoe UI"/>
              </a:rPr>
              <a:t>GPUs,</a:t>
            </a:r>
            <a:endParaRPr sz="135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180"/>
              </a:spcBef>
            </a:pPr>
            <a:r>
              <a:rPr sz="1350" i="1" dirty="0">
                <a:solidFill>
                  <a:srgbClr val="B0BEC4"/>
                </a:solidFill>
                <a:latin typeface="Segoe UI"/>
                <a:cs typeface="Segoe UI"/>
              </a:rPr>
              <a:t>build an</a:t>
            </a:r>
            <a:r>
              <a:rPr sz="1350" i="1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i="1" dirty="0">
                <a:solidFill>
                  <a:srgbClr val="B0BEC4"/>
                </a:solidFill>
                <a:latin typeface="Segoe UI"/>
                <a:cs typeface="Segoe UI"/>
              </a:rPr>
              <a:t>AI system</a:t>
            </a:r>
            <a:r>
              <a:rPr sz="1350" i="1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i="1" dirty="0">
                <a:solidFill>
                  <a:srgbClr val="B0BEC4"/>
                </a:solidFill>
                <a:latin typeface="Segoe UI"/>
                <a:cs typeface="Segoe UI"/>
              </a:rPr>
              <a:t>that meaningfully</a:t>
            </a:r>
            <a:r>
              <a:rPr sz="1350" i="1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i="1" dirty="0">
                <a:solidFill>
                  <a:srgbClr val="B0BEC4"/>
                </a:solidFill>
                <a:latin typeface="Segoe UI"/>
                <a:cs typeface="Segoe UI"/>
              </a:rPr>
              <a:t>assists</a:t>
            </a:r>
            <a:r>
              <a:rPr sz="1350" i="1" spc="5" dirty="0">
                <a:solidFill>
                  <a:srgbClr val="B0BEC4"/>
                </a:solidFill>
                <a:latin typeface="Segoe UI"/>
                <a:cs typeface="Segoe UI"/>
              </a:rPr>
              <a:t> </a:t>
            </a:r>
            <a:r>
              <a:rPr sz="1350" i="1" dirty="0">
                <a:solidFill>
                  <a:srgbClr val="B0BEC4"/>
                </a:solidFill>
                <a:latin typeface="Segoe UI"/>
                <a:cs typeface="Segoe UI"/>
              </a:rPr>
              <a:t>disaster </a:t>
            </a:r>
            <a:r>
              <a:rPr sz="1350" i="1" spc="-10" dirty="0">
                <a:solidFill>
                  <a:srgbClr val="B0BEC4"/>
                </a:solidFill>
                <a:latin typeface="Segoe UI"/>
                <a:cs typeface="Segoe UI"/>
              </a:rPr>
              <a:t>response?”</a:t>
            </a:r>
            <a:endParaRPr sz="135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1605"/>
              </a:spcBef>
            </a:pP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The</a:t>
            </a:r>
            <a:r>
              <a:rPr sz="135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answer</a:t>
            </a:r>
            <a:r>
              <a:rPr sz="135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is</a:t>
            </a:r>
            <a:r>
              <a:rPr sz="1350" spc="20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dirty="0">
                <a:solidFill>
                  <a:srgbClr val="DFDFDF"/>
                </a:solidFill>
                <a:latin typeface="Segoe UI"/>
                <a:cs typeface="Segoe UI"/>
              </a:rPr>
              <a:t>a</a:t>
            </a:r>
            <a:r>
              <a:rPr sz="1350" spc="15" dirty="0">
                <a:solidFill>
                  <a:srgbClr val="DFDFDF"/>
                </a:solidFill>
                <a:latin typeface="Segoe UI"/>
                <a:cs typeface="Segoe UI"/>
              </a:rPr>
              <a:t> </a:t>
            </a:r>
            <a:r>
              <a:rPr sz="1350" b="1" dirty="0">
                <a:solidFill>
                  <a:srgbClr val="81C783"/>
                </a:solidFill>
                <a:latin typeface="Segoe UI"/>
                <a:cs typeface="Segoe UI"/>
              </a:rPr>
              <a:t>qualified</a:t>
            </a:r>
            <a:r>
              <a:rPr sz="1350" b="1" spc="15" dirty="0">
                <a:solidFill>
                  <a:srgbClr val="81C783"/>
                </a:solidFill>
                <a:latin typeface="Segoe UI"/>
                <a:cs typeface="Segoe UI"/>
              </a:rPr>
              <a:t> </a:t>
            </a:r>
            <a:r>
              <a:rPr sz="1350" b="1" spc="-20" dirty="0">
                <a:solidFill>
                  <a:srgbClr val="81C783"/>
                </a:solidFill>
                <a:latin typeface="Segoe UI"/>
                <a:cs typeface="Segoe UI"/>
              </a:rPr>
              <a:t>yes</a:t>
            </a:r>
            <a:r>
              <a:rPr sz="1350" spc="-20" dirty="0">
                <a:solidFill>
                  <a:srgbClr val="DFDFDF"/>
                </a:solidFill>
                <a:latin typeface="Segoe UI"/>
                <a:cs typeface="Segoe UI"/>
              </a:rPr>
              <a:t>.</a:t>
            </a:r>
            <a:endParaRPr sz="13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350">
              <a:latin typeface="Segoe UI"/>
              <a:cs typeface="Segoe UI"/>
            </a:endParaRPr>
          </a:p>
          <a:p>
            <a:pPr marL="10795" algn="ctr">
              <a:lnSpc>
                <a:spcPct val="100000"/>
              </a:lnSpc>
            </a:pPr>
            <a:r>
              <a:rPr sz="2800" spc="-10" dirty="0">
                <a:solidFill>
                  <a:srgbClr val="64B4F5"/>
                </a:solidFill>
                <a:latin typeface="Segoe UI"/>
                <a:cs typeface="Segoe UI"/>
              </a:rPr>
              <a:t>Questions?</a:t>
            </a:r>
            <a:endParaRPr sz="2800">
              <a:latin typeface="Segoe UI"/>
              <a:cs typeface="Segoe UI"/>
            </a:endParaRPr>
          </a:p>
          <a:p>
            <a:pPr marL="463550" marR="455930" algn="ctr">
              <a:lnSpc>
                <a:spcPct val="113100"/>
              </a:lnSpc>
              <a:spcBef>
                <a:spcPts val="1375"/>
              </a:spcBef>
            </a:pP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Model: </a:t>
            </a:r>
            <a:r>
              <a:rPr sz="1050" dirty="0">
                <a:solidFill>
                  <a:srgbClr val="64B4F5"/>
                </a:solidFill>
                <a:latin typeface="Segoe UI"/>
                <a:cs typeface="Segoe UI"/>
                <a:hlinkClick r:id="rId2"/>
              </a:rPr>
              <a:t>huggingface.co/AbrarAlam/disasterm3-qwen2.5vl7b-</a:t>
            </a:r>
            <a:r>
              <a:rPr sz="1050" spc="-10" dirty="0">
                <a:solidFill>
                  <a:srgbClr val="64B4F5"/>
                </a:solidFill>
                <a:latin typeface="Segoe UI"/>
                <a:cs typeface="Segoe UI"/>
                <a:hlinkClick r:id="rId2"/>
              </a:rPr>
              <a:t>mergedFP</a:t>
            </a:r>
            <a:r>
              <a:rPr sz="1050" spc="-10" dirty="0">
                <a:solidFill>
                  <a:srgbClr val="64B4F5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U-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Net:</a:t>
            </a:r>
            <a:r>
              <a:rPr sz="1050" spc="-1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4B4F5"/>
                </a:solidFill>
                <a:latin typeface="Segoe UI"/>
                <a:cs typeface="Segoe UI"/>
                <a:hlinkClick r:id="rId3"/>
              </a:rPr>
              <a:t>huggingface.co/AbrarAlam/disasterm3-unet-checkpoints-</a:t>
            </a:r>
            <a:r>
              <a:rPr sz="1050" spc="-50" dirty="0">
                <a:solidFill>
                  <a:srgbClr val="64B4F5"/>
                </a:solidFill>
                <a:latin typeface="Segoe UI"/>
                <a:cs typeface="Segoe UI"/>
                <a:hlinkClick r:id="rId3"/>
              </a:rPr>
              <a:t>2</a:t>
            </a:r>
            <a:endParaRPr sz="105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All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components</a:t>
            </a:r>
            <a:r>
              <a:rPr sz="1050" spc="-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open-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source</a:t>
            </a:r>
            <a:r>
              <a:rPr sz="1050" spc="-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•</a:t>
            </a:r>
            <a:r>
              <a:rPr sz="1050" spc="-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Every</a:t>
            </a:r>
            <a:r>
              <a:rPr sz="1050" spc="-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checkpoint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hosted</a:t>
            </a:r>
            <a:r>
              <a:rPr sz="1050" spc="-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•</a:t>
            </a:r>
            <a:r>
              <a:rPr sz="1050" spc="-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Every</a:t>
            </a:r>
            <a:r>
              <a:rPr sz="1050" spc="-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878787"/>
                </a:solidFill>
                <a:latin typeface="Segoe UI"/>
                <a:cs typeface="Segoe UI"/>
              </a:rPr>
              <a:t>deviation</a:t>
            </a:r>
            <a:r>
              <a:rPr sz="1050" spc="-5" dirty="0">
                <a:solidFill>
                  <a:srgbClr val="878787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878787"/>
                </a:solidFill>
                <a:latin typeface="Segoe UI"/>
                <a:cs typeface="Segoe UI"/>
              </a:rPr>
              <a:t>documented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629393"/>
            <a:ext cx="314325" cy="266700"/>
          </a:xfrm>
          <a:custGeom>
            <a:avLst/>
            <a:gdLst/>
            <a:ahLst/>
            <a:cxnLst/>
            <a:rect l="l" t="t" r="r" b="b"/>
            <a:pathLst>
              <a:path w="314325" h="266700">
                <a:moveTo>
                  <a:pt x="314324" y="266699"/>
                </a:moveTo>
                <a:lnTo>
                  <a:pt x="0" y="266699"/>
                </a:lnTo>
                <a:lnTo>
                  <a:pt x="0" y="0"/>
                </a:lnTo>
                <a:lnTo>
                  <a:pt x="314324" y="0"/>
                </a:lnTo>
                <a:lnTo>
                  <a:pt x="314324" y="266699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F1C8E4-35D6-4A17-7C59-A85967E605C6}"/>
              </a:ext>
            </a:extLst>
          </p:cNvPr>
          <p:cNvGrpSpPr/>
          <p:nvPr/>
        </p:nvGrpSpPr>
        <p:grpSpPr>
          <a:xfrm>
            <a:off x="0" y="6838330"/>
            <a:ext cx="12915900" cy="426052"/>
            <a:chOff x="0" y="6838330"/>
            <a:chExt cx="12915900" cy="42605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65FD569-6981-D9A4-40DB-85377E73FD6B}"/>
                </a:ext>
              </a:extLst>
            </p:cNvPr>
            <p:cNvSpPr/>
            <p:nvPr/>
          </p:nvSpPr>
          <p:spPr>
            <a:xfrm>
              <a:off x="0" y="6838330"/>
              <a:ext cx="12915900" cy="426052"/>
            </a:xfrm>
            <a:prstGeom prst="rect">
              <a:avLst/>
            </a:prstGeom>
            <a:solidFill>
              <a:srgbClr val="10102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none" lIns="203200" rIns="20320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Group 5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5E9B3D1-4D85-99B5-ECE9-84E25571EAF9}"/>
                </a:ext>
              </a:extLst>
            </p:cNvPr>
            <p:cNvSpPr txBox="1"/>
            <p:nvPr/>
          </p:nvSpPr>
          <p:spPr>
            <a:xfrm>
              <a:off x="6991350" y="6908801"/>
              <a:ext cx="5791200" cy="228615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00" b="0">
                  <a:solidFill>
                    <a:srgbClr val="888888"/>
                  </a:solidFill>
                  <a:latin typeface="Segoe UI"/>
                </a:defRPr>
              </a:pP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888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Abdullah Al Noman · Tamanna Akter Mou · Aryan Sami · Ridita Afrin Riya · Abrar Mohammed Tanzim Alam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4B4F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1319</TotalTime>
  <Words>2730</Words>
  <Application>Microsoft Office PowerPoint</Application>
  <PresentationFormat>Custom</PresentationFormat>
  <Paragraphs>467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 MT</vt:lpstr>
      <vt:lpstr>Aptos</vt:lpstr>
      <vt:lpstr>Calibri</vt:lpstr>
      <vt:lpstr>Cambria Math</vt:lpstr>
      <vt:lpstr>Segoe UI</vt:lpstr>
      <vt:lpstr>Segoe UI Semibold</vt:lpstr>
      <vt:lpstr>Office Theme</vt:lpstr>
      <vt:lpstr>Resource-Efficient Neural Architectures for Post-Disaster Damage Assessment and Rescue Guidance</vt:lpstr>
      <vt:lpstr>Introduction</vt:lpstr>
      <vt:lpstr>Problem Statement</vt:lpstr>
      <vt:lpstr>Project Goals</vt:lpstr>
      <vt:lpstr>The DisasterM3 Benchmark</vt:lpstr>
      <vt:lpstr>Literature Review &amp; Existing Solutions</vt:lpstr>
      <vt:lpstr>System Architecture</vt:lpstr>
      <vt:lpstr>Tools &amp; Technologies</vt:lpstr>
      <vt:lpstr>QLoRA Fine-Tuning: Paper vs. Ours</vt:lpstr>
      <vt:lpstr>Multi-Session Training</vt:lpstr>
      <vt:lpstr>VLM Spatial Blindness</vt:lpstr>
      <vt:lpstr>Hybrid Triage Pipeline</vt:lpstr>
      <vt:lpstr>U-Net Segmentation Results</vt:lpstr>
      <vt:lpstr>Supporting Modules</vt:lpstr>
      <vt:lpstr>DisasTeller — Multi-Agent Framework</vt:lpstr>
      <vt:lpstr>VRT Super-Resolution — Feasibility Study</vt:lpstr>
      <vt:lpstr>Reproduction Results</vt:lpstr>
      <vt:lpstr>Cross-Benchmark Generalization</vt:lpstr>
      <vt:lpstr>Compute Efficiency</vt:lpstr>
      <vt:lpstr>Project Timeline &amp; Milestones</vt:lpstr>
      <vt:lpstr>Key Findings &amp; Limitations</vt:lpstr>
      <vt:lpstr>Future Work</vt:lpstr>
      <vt:lpstr>Team Contributions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CSE499A Final Presentation -- Group 5</dc:title>
  <cp:lastModifiedBy>Abrar Mohammed Tanzim Alam</cp:lastModifiedBy>
  <cp:revision>2</cp:revision>
  <dcterms:created xsi:type="dcterms:W3CDTF">2026-08-29T05:27:09Z</dcterms:created>
  <dcterms:modified xsi:type="dcterms:W3CDTF">2026-08-30T11:26:05Z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2026-08-29T00:00:00Z</vt:filetime>
  </property>
  <property fmtid="{D5CDD505-2E9C-101B-9397-08002B2CF9AE}" pid="4" name="Creator">
    <vt:lpwstr>Mozilla/5.0 (Windows NT 10.0; Win64; x64) AppleWebKit/537.36 (KHTML, like Gecko) Chrome/151.0.0.0 Safari/537.36 Edg/151.0.0.0</vt:lpwstr>
  </property>
  <property fmtid="{D5CDD505-2E9C-101B-9397-08002B2CF9AE}" pid="5" name="LastSaved">
    <vt:filetime>2026-08-29T00:00:00Z</vt:filetime>
  </property>
  <property fmtid="{D5CDD505-2E9C-101B-9397-08002B2CF9AE}" pid="6" name="Producer">
    <vt:lpwstr>Skia/PDF m151</vt:lpwstr>
  </property>
</Properties>
</file>