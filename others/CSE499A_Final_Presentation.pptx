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92000" cy="6858000"/>
  <p:notesSz cx="6858000" cy="12192000"/>
  <p:embeddedFontLst>
    <p:embeddedFont>
      <p:font typeface="Bitter" panose="020B0604020202020204" charset="0"/>
      <p:regular r:id="rId20"/>
    </p:embeddedFont>
    <p:embeddedFont>
      <p:font typeface="Bitter Bold" panose="020B0604020202020204" charset="0"/>
      <p:regular r:id="rId21"/>
    </p:embeddedFont>
    <p:embeddedFont>
      <p:font typeface="Consolas" panose="020B0609020204030204" pitchFamily="49" charset="0"/>
      <p:regular r:id="rId22"/>
      <p:bold r:id="rId23"/>
      <p:italic r:id="rId24"/>
      <p:boldItalic r:id="rId25"/>
    </p:embeddedFont>
    <p:embeddedFont>
      <p:font typeface="Outfit Bold" panose="020B0604020202020204" charset="0"/>
      <p:regular r:id="rId26"/>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2" d="100"/>
          <a:sy n="112" d="100"/>
        </p:scale>
        <p:origin x="516"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7.fntdata"/><Relationship Id="rId3" Type="http://schemas.openxmlformats.org/officeDocument/2006/relationships/slide" Target="slides/slide2.xml"/><Relationship Id="rId21" Type="http://schemas.openxmlformats.org/officeDocument/2006/relationships/font" Target="fonts/font2.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6.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1.fntdata"/><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5.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4.fntdata"/><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3.fntdata"/><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848532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master 1">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012"/>
          </a:solidFill>
          <a:ln/>
        </p:spPr>
        <p:txBody>
          <a:bodyPr/>
          <a:lstStyle/>
          <a:p>
            <a:endParaRPr lang="en-US"/>
          </a:p>
        </p:txBody>
      </p:sp>
      <p:sp>
        <p:nvSpPr>
          <p:cNvPr id="3" name="Shape 1"/>
          <p:cNvSpPr/>
          <p:nvPr/>
        </p:nvSpPr>
        <p:spPr>
          <a:xfrm>
            <a:off x="0" y="0"/>
            <a:ext cx="12191695" cy="6858000"/>
          </a:xfrm>
          <a:prstGeom prst="rect">
            <a:avLst/>
          </a:prstGeom>
          <a:solidFill>
            <a:srgbClr val="1C1D1F"/>
          </a:solidFill>
          <a:ln/>
        </p:spPr>
        <p:txBody>
          <a:bodyPr/>
          <a:lstStyle/>
          <a:p>
            <a:endParaRPr lang="en-US"/>
          </a:p>
        </p:txBody>
      </p:sp>
      <p:pic>
        <p:nvPicPr>
          <p:cNvPr id="4" name="Image 0" descr="preencoded.png"/>
          <p:cNvPicPr>
            <a:picLocks noChangeAspect="1"/>
          </p:cNvPicPr>
          <p:nvPr/>
        </p:nvPicPr>
        <p:blipFill>
          <a:blip r:embed="rId2"/>
          <a:stretch>
            <a:fillRect/>
          </a:stretch>
        </p:blipFill>
        <p:spPr>
          <a:xfrm>
            <a:off x="0" y="0"/>
            <a:ext cx="12191695" cy="6858000"/>
          </a:xfrm>
          <a:prstGeom prst="rect">
            <a:avLst/>
          </a:prstGeom>
        </p:spPr>
      </p:pic>
      <p:sp>
        <p:nvSpPr>
          <p:cNvPr id="5" name="Shape 2"/>
          <p:cNvSpPr/>
          <p:nvPr/>
        </p:nvSpPr>
        <p:spPr>
          <a:xfrm>
            <a:off x="0" y="0"/>
            <a:ext cx="12191695" cy="6858000"/>
          </a:xfrm>
          <a:prstGeom prst="rect">
            <a:avLst/>
          </a:prstGeom>
          <a:solidFill>
            <a:srgbClr val="1C1D1F">
              <a:alpha val="80000"/>
            </a:srgbClr>
          </a:solidFill>
          <a:ln/>
        </p:spPr>
        <p:txBody>
          <a:bodyPr/>
          <a:lstStyle/>
          <a:p>
            <a:endParaRPr lang="en-US"/>
          </a:p>
        </p:txBody>
      </p:sp>
      <p:pic>
        <p:nvPicPr>
          <p:cNvPr id="6" name="Image 1" descr="preencoded.png">
            <a:hlinkClick r:id="rId3"/>
          </p:cNvPr>
          <p:cNvPicPr>
            <a:picLocks noChangeAspect="1"/>
          </p:cNvPicPr>
          <p:nvPr/>
        </p:nvPicPr>
        <p:blipFill>
          <a:blip r:embed="rId4"/>
          <a:stretch>
            <a:fillRect/>
          </a:stretch>
        </p:blipFill>
        <p:spPr>
          <a:xfrm>
            <a:off x="11076875" y="6558991"/>
            <a:ext cx="1071843" cy="256032"/>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master 2">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012"/>
          </a:solidFill>
          <a:ln/>
        </p:spPr>
      </p:sp>
      <p:sp>
        <p:nvSpPr>
          <p:cNvPr id="3" name="Shape 1"/>
          <p:cNvSpPr/>
          <p:nvPr/>
        </p:nvSpPr>
        <p:spPr>
          <a:xfrm>
            <a:off x="0" y="0"/>
            <a:ext cx="12191695" cy="6858000"/>
          </a:xfrm>
          <a:prstGeom prst="rect">
            <a:avLst/>
          </a:prstGeom>
          <a:solidFill>
            <a:srgbClr val="1C1D1F"/>
          </a:solidFill>
          <a:ln/>
        </p:spPr>
      </p:sp>
      <p:pic>
        <p:nvPicPr>
          <p:cNvPr id="4" name="Image 0" descr="preencoded.png">
            <a:hlinkClick r:id="rId2"/>
          </p:cNvPr>
          <p:cNvPicPr>
            <a:picLocks noChangeAspect="1"/>
          </p:cNvPicPr>
          <p:nvPr/>
        </p:nvPicPr>
        <p:blipFill>
          <a:blip r:embed="rId3"/>
          <a:stretch>
            <a:fillRect/>
          </a:stretch>
        </p:blipFill>
        <p:spPr>
          <a:xfrm>
            <a:off x="11076875" y="6558991"/>
            <a:ext cx="1071843" cy="256032"/>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master 3">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012"/>
          </a:solidFill>
          <a:ln/>
        </p:spPr>
      </p:sp>
      <p:sp>
        <p:nvSpPr>
          <p:cNvPr id="3" name="Shape 1"/>
          <p:cNvSpPr/>
          <p:nvPr/>
        </p:nvSpPr>
        <p:spPr>
          <a:xfrm>
            <a:off x="0" y="0"/>
            <a:ext cx="12191695" cy="6858000"/>
          </a:xfrm>
          <a:prstGeom prst="rect">
            <a:avLst/>
          </a:prstGeom>
          <a:solidFill>
            <a:srgbClr val="4D4D4D"/>
          </a:solidFill>
          <a:ln/>
        </p:spPr>
      </p:sp>
      <p:pic>
        <p:nvPicPr>
          <p:cNvPr id="4" name="Image 0" descr="preencoded.png">
            <a:hlinkClick r:id="rId2"/>
          </p:cNvPr>
          <p:cNvPicPr>
            <a:picLocks noChangeAspect="1"/>
          </p:cNvPicPr>
          <p:nvPr/>
        </p:nvPicPr>
        <p:blipFill>
          <a:blip r:embed="rId3"/>
          <a:stretch>
            <a:fillRect/>
          </a:stretch>
        </p:blipFill>
        <p:spPr>
          <a:xfrm>
            <a:off x="11076875" y="6558991"/>
            <a:ext cx="1071843" cy="256032"/>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notesSlide" Target="../notesSlides/notesSlide4.xml"/><Relationship Id="rId1" Type="http://schemas.openxmlformats.org/officeDocument/2006/relationships/slideLayout" Target="../slideLayouts/slideLayout3.xml"/><Relationship Id="rId5" Type="http://schemas.openxmlformats.org/officeDocument/2006/relationships/image" Target="../media/image6.svg"/><Relationship Id="rId4" Type="http://schemas.openxmlformats.org/officeDocument/2006/relationships/image" Target="../media/image5.svg"/></Relationships>
</file>

<file path=ppt/slides/_rels/slide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3.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image" Target="../media/image13.svg"/><Relationship Id="rId7" Type="http://schemas.openxmlformats.org/officeDocument/2006/relationships/image" Target="../media/image17.sv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16.svg"/><Relationship Id="rId5" Type="http://schemas.openxmlformats.org/officeDocument/2006/relationships/image" Target="../media/image15.svg"/><Relationship Id="rId4" Type="http://schemas.openxmlformats.org/officeDocument/2006/relationships/image" Target="../media/image14.svg"/></Relationships>
</file>

<file path=ppt/slides/_rels/slide10.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15.xml"/><Relationship Id="rId1" Type="http://schemas.openxmlformats.org/officeDocument/2006/relationships/slideLayout" Target="../slideLayouts/slideLayout3.xml"/><Relationship Id="rId5" Type="http://schemas.openxmlformats.org/officeDocument/2006/relationships/image" Target="../media/image22.svg"/><Relationship Id="rId4" Type="http://schemas.openxmlformats.org/officeDocument/2006/relationships/image" Target="../media/image21.svg"/></Relationships>
</file>

<file path=ppt/slides/_rels/slide16.xml.rels><?xml version="1.0" encoding="UTF-8" standalone="yes"?>
<Relationships xmlns="http://schemas.openxmlformats.org/package/2006/relationships"><Relationship Id="rId8" Type="http://schemas.openxmlformats.org/officeDocument/2006/relationships/image" Target="../media/image28.svg"/><Relationship Id="rId3" Type="http://schemas.openxmlformats.org/officeDocument/2006/relationships/image" Target="../media/image23.svg"/><Relationship Id="rId7" Type="http://schemas.openxmlformats.org/officeDocument/2006/relationships/image" Target="../media/image27.sv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26.svg"/><Relationship Id="rId5" Type="http://schemas.openxmlformats.org/officeDocument/2006/relationships/image" Target="../media/image25.svg"/><Relationship Id="rId10" Type="http://schemas.openxmlformats.org/officeDocument/2006/relationships/image" Target="../media/image30.svg"/><Relationship Id="rId4" Type="http://schemas.openxmlformats.org/officeDocument/2006/relationships/image" Target="../media/image24.svg"/><Relationship Id="rId9" Type="http://schemas.openxmlformats.org/officeDocument/2006/relationships/image" Target="../media/image29.sv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61475" y="744041"/>
            <a:ext cx="10868745" cy="1630363"/>
          </a:xfrm>
          <a:prstGeom prst="rect">
            <a:avLst/>
          </a:prstGeom>
          <a:noFill/>
          <a:ln/>
        </p:spPr>
        <p:txBody>
          <a:bodyPr wrap="square" lIns="0" tIns="0" rIns="0" bIns="0" rtlCol="0" anchor="t">
            <a:normAutofit/>
          </a:bodyPr>
          <a:lstStyle/>
          <a:p>
            <a:pPr marL="0" indent="0" algn="l">
              <a:lnSpc>
                <a:spcPct val="104000"/>
              </a:lnSpc>
              <a:buNone/>
            </a:pPr>
            <a:r>
              <a:rPr lang="en-US" sz="5100" b="1" dirty="0">
                <a:solidFill>
                  <a:srgbClr val="E1E5CD"/>
                </a:solidFill>
                <a:latin typeface="Outfit Bold" pitchFamily="34" charset="0"/>
                <a:ea typeface="Outfit Bold" pitchFamily="34" charset="-122"/>
                <a:cs typeface="Outfit Bold" pitchFamily="34" charset="-120"/>
              </a:rPr>
              <a:t>Post-Disaster Rescue Guidance via Fine-Tuning VLMs</a:t>
            </a:r>
            <a:endParaRPr lang="en-US" sz="5100" dirty="0"/>
          </a:p>
        </p:txBody>
      </p:sp>
      <p:sp>
        <p:nvSpPr>
          <p:cNvPr id="3" name="Text 1"/>
          <p:cNvSpPr/>
          <p:nvPr/>
        </p:nvSpPr>
        <p:spPr>
          <a:xfrm>
            <a:off x="661475" y="2657872"/>
            <a:ext cx="10868745" cy="817463"/>
          </a:xfrm>
          <a:prstGeom prst="rect">
            <a:avLst/>
          </a:prstGeom>
          <a:noFill/>
          <a:ln/>
        </p:spPr>
        <p:txBody>
          <a:bodyPr wrap="square" lIns="0" tIns="0" rIns="0" bIns="0" rtlCol="0" anchor="t"/>
          <a:lstStyle/>
          <a:p>
            <a:pPr marL="0" indent="0" algn="l">
              <a:lnSpc>
                <a:spcPct val="133000"/>
              </a:lnSpc>
              <a:spcAft>
                <a:spcPts val="1650"/>
              </a:spcAft>
              <a:buNone/>
            </a:pPr>
            <a:endParaRPr lang="en-US" sz="1450" dirty="0"/>
          </a:p>
          <a:p>
            <a:pPr marL="0" indent="0" algn="l">
              <a:lnSpc>
                <a:spcPct val="133000"/>
              </a:lnSpc>
              <a:buNone/>
            </a:pPr>
            <a:r>
              <a:rPr lang="en-US" sz="1450" b="1" dirty="0">
                <a:solidFill>
                  <a:srgbClr val="C2C4B5"/>
                </a:solidFill>
                <a:latin typeface="Bitter Bold" pitchFamily="34" charset="0"/>
                <a:ea typeface="Bitter Bold" pitchFamily="34" charset="-122"/>
                <a:cs typeface="Bitter Bold" pitchFamily="34" charset="-120"/>
              </a:rPr>
              <a:t>CSE499 · Section 15 · Group 5</a:t>
            </a:r>
            <a:endParaRPr lang="en-US" sz="1450" dirty="0"/>
          </a:p>
        </p:txBody>
      </p:sp>
      <p:sp>
        <p:nvSpPr>
          <p:cNvPr id="4" name="Text 2"/>
          <p:cNvSpPr/>
          <p:nvPr/>
        </p:nvSpPr>
        <p:spPr>
          <a:xfrm>
            <a:off x="661475" y="3758803"/>
            <a:ext cx="10868745" cy="295275"/>
          </a:xfrm>
          <a:prstGeom prst="rect">
            <a:avLst/>
          </a:prstGeom>
          <a:noFill/>
          <a:ln/>
        </p:spPr>
        <p:txBody>
          <a:bodyPr wrap="none" lIns="0" tIns="0" rIns="0" bIns="0" rtlCol="0" anchor="t"/>
          <a:lstStyle/>
          <a:p>
            <a:pPr marL="0" indent="0" algn="l">
              <a:lnSpc>
                <a:spcPct val="104000"/>
              </a:lnSpc>
              <a:buNone/>
            </a:pPr>
            <a:r>
              <a:rPr lang="en-US" sz="1850" b="1" dirty="0">
                <a:solidFill>
                  <a:srgbClr val="E1E5CD"/>
                </a:solidFill>
                <a:latin typeface="Outfit Bold" pitchFamily="34" charset="0"/>
                <a:ea typeface="Outfit Bold" pitchFamily="34" charset="-122"/>
                <a:cs typeface="Outfit Bold" pitchFamily="34" charset="-120"/>
              </a:rPr>
              <a:t>Group Members:</a:t>
            </a:r>
            <a:endParaRPr lang="en-US" sz="1850" dirty="0"/>
          </a:p>
        </p:txBody>
      </p:sp>
      <p:sp>
        <p:nvSpPr>
          <p:cNvPr id="5" name="Text 3"/>
          <p:cNvSpPr/>
          <p:nvPr/>
        </p:nvSpPr>
        <p:spPr>
          <a:xfrm>
            <a:off x="661475" y="4337546"/>
            <a:ext cx="10868745" cy="1776413"/>
          </a:xfrm>
          <a:prstGeom prst="rect">
            <a:avLst/>
          </a:prstGeom>
          <a:noFill/>
          <a:ln/>
        </p:spPr>
        <p:txBody>
          <a:bodyPr wrap="square" lIns="0" tIns="75608" rIns="0" bIns="0" rtlCol="0" anchor="t">
            <a:normAutofit/>
          </a:bodyPr>
          <a:lstStyle/>
          <a:p>
            <a:pPr marL="294640" indent="-294640" algn="l">
              <a:lnSpc>
                <a:spcPct val="133000"/>
              </a:lnSpc>
              <a:buSzPct val="100000"/>
              <a:buChar char="•"/>
            </a:pPr>
            <a:r>
              <a:rPr lang="en-US" sz="1450" dirty="0">
                <a:solidFill>
                  <a:srgbClr val="C2C4B5"/>
                </a:solidFill>
                <a:latin typeface="Bitter" pitchFamily="34" charset="0"/>
                <a:ea typeface="Bitter" pitchFamily="34" charset="-122"/>
                <a:cs typeface="Bitter" pitchFamily="34" charset="-120"/>
              </a:rPr>
              <a:t>Abdullah Al Noman (2022095042)</a:t>
            </a:r>
            <a:endParaRPr lang="en-US" sz="1450" dirty="0"/>
          </a:p>
          <a:p>
            <a:pPr marL="294640" indent="-294640" algn="l">
              <a:lnSpc>
                <a:spcPct val="133000"/>
              </a:lnSpc>
              <a:buSzPct val="100000"/>
              <a:buChar char="•"/>
            </a:pPr>
            <a:r>
              <a:rPr lang="en-US" sz="1450" dirty="0">
                <a:solidFill>
                  <a:srgbClr val="C2C4B5"/>
                </a:solidFill>
                <a:latin typeface="Bitter" pitchFamily="34" charset="0"/>
                <a:ea typeface="Bitter" pitchFamily="34" charset="-122"/>
                <a:cs typeface="Bitter" pitchFamily="34" charset="-120"/>
              </a:rPr>
              <a:t>Tamanna Akter Mou (2211951042)</a:t>
            </a:r>
            <a:endParaRPr lang="en-US" sz="1450" dirty="0"/>
          </a:p>
          <a:p>
            <a:pPr marL="294640" indent="-294640" algn="l">
              <a:lnSpc>
                <a:spcPct val="133000"/>
              </a:lnSpc>
              <a:buSzPct val="100000"/>
              <a:buChar char="•"/>
            </a:pPr>
            <a:r>
              <a:rPr lang="en-US" sz="1450" dirty="0">
                <a:solidFill>
                  <a:srgbClr val="C2C4B5"/>
                </a:solidFill>
                <a:latin typeface="Bitter" pitchFamily="34" charset="0"/>
                <a:ea typeface="Bitter" pitchFamily="34" charset="-122"/>
                <a:cs typeface="Bitter" pitchFamily="34" charset="-120"/>
              </a:rPr>
              <a:t>Aryan Sami (2231407042)</a:t>
            </a:r>
            <a:endParaRPr lang="en-US" sz="1450" dirty="0"/>
          </a:p>
          <a:p>
            <a:pPr marL="294640" indent="-294640" algn="l">
              <a:lnSpc>
                <a:spcPct val="133000"/>
              </a:lnSpc>
              <a:buSzPct val="100000"/>
              <a:buChar char="•"/>
            </a:pPr>
            <a:r>
              <a:rPr lang="en-US" sz="1450" dirty="0">
                <a:solidFill>
                  <a:srgbClr val="C2C4B5"/>
                </a:solidFill>
                <a:latin typeface="Bitter" pitchFamily="34" charset="0"/>
                <a:ea typeface="Bitter" pitchFamily="34" charset="-122"/>
                <a:cs typeface="Bitter" pitchFamily="34" charset="-120"/>
              </a:rPr>
              <a:t>Ridita Afrin Riya (2211622042)</a:t>
            </a:r>
            <a:endParaRPr lang="en-US" sz="1450" dirty="0"/>
          </a:p>
          <a:p>
            <a:pPr marL="294640" indent="-294640" algn="l">
              <a:lnSpc>
                <a:spcPct val="133000"/>
              </a:lnSpc>
              <a:buSzPct val="100000"/>
              <a:buChar char="•"/>
            </a:pPr>
            <a:r>
              <a:rPr lang="en-US" sz="1450" dirty="0">
                <a:solidFill>
                  <a:srgbClr val="C2C4B5"/>
                </a:solidFill>
                <a:latin typeface="Bitter" pitchFamily="34" charset="0"/>
                <a:ea typeface="Bitter" pitchFamily="34" charset="-122"/>
                <a:cs typeface="Bitter" pitchFamily="34" charset="-120"/>
              </a:rPr>
              <a:t>Abrar Mohammed Tanzim Alam (2222864042)</a:t>
            </a:r>
            <a:endParaRPr lang="en-US" sz="14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61475" y="1644055"/>
            <a:ext cx="10868745" cy="590649"/>
          </a:xfrm>
          <a:prstGeom prst="rect">
            <a:avLst/>
          </a:prstGeom>
          <a:noFill/>
          <a:ln/>
        </p:spPr>
        <p:txBody>
          <a:bodyPr wrap="none" lIns="0" tIns="0" rIns="0" bIns="0" rtlCol="0" anchor="t"/>
          <a:lstStyle/>
          <a:p>
            <a:pPr marL="0" indent="0" algn="l">
              <a:lnSpc>
                <a:spcPct val="104000"/>
              </a:lnSpc>
              <a:buNone/>
            </a:pPr>
            <a:r>
              <a:rPr lang="en-US" sz="3700" b="1" dirty="0">
                <a:solidFill>
                  <a:srgbClr val="E1E5CD"/>
                </a:solidFill>
                <a:latin typeface="Outfit Bold" pitchFamily="34" charset="0"/>
                <a:ea typeface="Outfit Bold" pitchFamily="34" charset="-122"/>
                <a:cs typeface="Outfit Bold" pitchFamily="34" charset="-120"/>
              </a:rPr>
              <a:t>Introduction</a:t>
            </a:r>
            <a:endParaRPr lang="en-US" sz="3700" dirty="0"/>
          </a:p>
        </p:txBody>
      </p:sp>
      <p:sp>
        <p:nvSpPr>
          <p:cNvPr id="3" name="Shape 1"/>
          <p:cNvSpPr/>
          <p:nvPr/>
        </p:nvSpPr>
        <p:spPr>
          <a:xfrm>
            <a:off x="661475" y="2612727"/>
            <a:ext cx="3496877" cy="2601218"/>
          </a:xfrm>
          <a:prstGeom prst="roundRect">
            <a:avLst>
              <a:gd name="adj" fmla="val 1090"/>
            </a:avLst>
          </a:prstGeom>
          <a:solidFill>
            <a:srgbClr val="3B3C3E"/>
          </a:solidFill>
          <a:ln/>
        </p:spPr>
        <p:txBody>
          <a:bodyPr/>
          <a:lstStyle/>
          <a:p>
            <a:endParaRPr lang="en-US"/>
          </a:p>
        </p:txBody>
      </p:sp>
      <p:sp>
        <p:nvSpPr>
          <p:cNvPr id="4" name="Text 2"/>
          <p:cNvSpPr/>
          <p:nvPr/>
        </p:nvSpPr>
        <p:spPr>
          <a:xfrm>
            <a:off x="850482" y="2801739"/>
            <a:ext cx="3118863" cy="295275"/>
          </a:xfrm>
          <a:prstGeom prst="rect">
            <a:avLst/>
          </a:prstGeom>
          <a:noFill/>
          <a:ln/>
        </p:spPr>
        <p:txBody>
          <a:bodyPr wrap="none" lIns="0" tIns="0" rIns="0" bIns="0" rtlCol="0" anchor="t"/>
          <a:lstStyle/>
          <a:p>
            <a:pPr marL="0" indent="0" algn="l">
              <a:lnSpc>
                <a:spcPct val="104000"/>
              </a:lnSpc>
              <a:buNone/>
            </a:pPr>
            <a:r>
              <a:rPr lang="en-US" sz="1850" b="1" dirty="0">
                <a:solidFill>
                  <a:srgbClr val="C2C4B5"/>
                </a:solidFill>
                <a:latin typeface="Outfit Bold" pitchFamily="34" charset="0"/>
                <a:ea typeface="Outfit Bold" pitchFamily="34" charset="-122"/>
                <a:cs typeface="Outfit Bold" pitchFamily="34" charset="-120"/>
              </a:rPr>
              <a:t>Challenge</a:t>
            </a:r>
            <a:endParaRPr lang="en-US" sz="1850" dirty="0"/>
          </a:p>
        </p:txBody>
      </p:sp>
      <p:sp>
        <p:nvSpPr>
          <p:cNvPr id="5" name="Text 3"/>
          <p:cNvSpPr/>
          <p:nvPr/>
        </p:nvSpPr>
        <p:spPr>
          <a:xfrm>
            <a:off x="850482" y="3210421"/>
            <a:ext cx="3118863" cy="1209675"/>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C2C4B5"/>
                </a:solidFill>
                <a:latin typeface="Bitter" pitchFamily="34" charset="0"/>
                <a:ea typeface="Bitter" pitchFamily="34" charset="-122"/>
                <a:cs typeface="Bitter" pitchFamily="34" charset="-120"/>
              </a:rPr>
              <a:t>Natural disasters create chaotic and dangerous conditions, making it hard for rescue teams to assess scenes quickly.</a:t>
            </a:r>
            <a:endParaRPr lang="en-US" sz="1450" dirty="0"/>
          </a:p>
        </p:txBody>
      </p:sp>
      <p:sp>
        <p:nvSpPr>
          <p:cNvPr id="6" name="Shape 4"/>
          <p:cNvSpPr/>
          <p:nvPr/>
        </p:nvSpPr>
        <p:spPr>
          <a:xfrm>
            <a:off x="4347359" y="2612727"/>
            <a:ext cx="3496877" cy="2601218"/>
          </a:xfrm>
          <a:prstGeom prst="roundRect">
            <a:avLst>
              <a:gd name="adj" fmla="val 1090"/>
            </a:avLst>
          </a:prstGeom>
          <a:solidFill>
            <a:srgbClr val="3B3C3E"/>
          </a:solidFill>
          <a:ln/>
        </p:spPr>
        <p:txBody>
          <a:bodyPr/>
          <a:lstStyle/>
          <a:p>
            <a:endParaRPr lang="en-US"/>
          </a:p>
        </p:txBody>
      </p:sp>
      <p:sp>
        <p:nvSpPr>
          <p:cNvPr id="7" name="Text 5"/>
          <p:cNvSpPr/>
          <p:nvPr/>
        </p:nvSpPr>
        <p:spPr>
          <a:xfrm>
            <a:off x="4536366" y="2801739"/>
            <a:ext cx="3118863" cy="295275"/>
          </a:xfrm>
          <a:prstGeom prst="rect">
            <a:avLst/>
          </a:prstGeom>
          <a:noFill/>
          <a:ln/>
        </p:spPr>
        <p:txBody>
          <a:bodyPr wrap="none" lIns="0" tIns="0" rIns="0" bIns="0" rtlCol="0" anchor="t"/>
          <a:lstStyle/>
          <a:p>
            <a:pPr marL="0" indent="0" algn="l">
              <a:lnSpc>
                <a:spcPct val="104000"/>
              </a:lnSpc>
              <a:buNone/>
            </a:pPr>
            <a:r>
              <a:rPr lang="en-US" sz="1850" b="1" dirty="0">
                <a:solidFill>
                  <a:srgbClr val="C2C4B5"/>
                </a:solidFill>
                <a:latin typeface="Outfit Bold" pitchFamily="34" charset="0"/>
                <a:ea typeface="Outfit Bold" pitchFamily="34" charset="-122"/>
                <a:cs typeface="Outfit Bold" pitchFamily="34" charset="-120"/>
              </a:rPr>
              <a:t>Project Focus</a:t>
            </a:r>
            <a:endParaRPr lang="en-US" sz="1850" dirty="0"/>
          </a:p>
        </p:txBody>
      </p:sp>
      <p:sp>
        <p:nvSpPr>
          <p:cNvPr id="8" name="Text 6"/>
          <p:cNvSpPr/>
          <p:nvPr/>
        </p:nvSpPr>
        <p:spPr>
          <a:xfrm>
            <a:off x="4536366" y="3210421"/>
            <a:ext cx="3118863" cy="1814513"/>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C2C4B5"/>
                </a:solidFill>
                <a:latin typeface="Bitter" pitchFamily="34" charset="0"/>
                <a:ea typeface="Bitter" pitchFamily="34" charset="-122"/>
                <a:cs typeface="Bitter" pitchFamily="34" charset="-120"/>
              </a:rPr>
              <a:t>This project explores </a:t>
            </a:r>
            <a:r>
              <a:rPr lang="en-US" sz="1450" b="1" dirty="0">
                <a:solidFill>
                  <a:srgbClr val="C2C4B5"/>
                </a:solidFill>
                <a:latin typeface="Bitter Bold" pitchFamily="34" charset="0"/>
                <a:ea typeface="Bitter Bold" pitchFamily="34" charset="-122"/>
                <a:cs typeface="Bitter Bold" pitchFamily="34" charset="-120"/>
              </a:rPr>
              <a:t>Post-Disaster Rescue Guidance using Fine-Tuned Vision Language Models (VLMs)</a:t>
            </a:r>
            <a:r>
              <a:rPr lang="en-US" sz="1450" dirty="0">
                <a:solidFill>
                  <a:srgbClr val="C2C4B5"/>
                </a:solidFill>
                <a:latin typeface="Bitter" pitchFamily="34" charset="0"/>
                <a:ea typeface="Bitter" pitchFamily="34" charset="-122"/>
                <a:cs typeface="Bitter" pitchFamily="34" charset="-120"/>
              </a:rPr>
              <a:t> to analyze disaster images and provide useful response guidance.</a:t>
            </a:r>
            <a:endParaRPr lang="en-US" sz="1450" dirty="0"/>
          </a:p>
        </p:txBody>
      </p:sp>
      <p:sp>
        <p:nvSpPr>
          <p:cNvPr id="9" name="Shape 7"/>
          <p:cNvSpPr/>
          <p:nvPr/>
        </p:nvSpPr>
        <p:spPr>
          <a:xfrm>
            <a:off x="8033244" y="2612727"/>
            <a:ext cx="3496877" cy="2601218"/>
          </a:xfrm>
          <a:prstGeom prst="roundRect">
            <a:avLst>
              <a:gd name="adj" fmla="val 1090"/>
            </a:avLst>
          </a:prstGeom>
          <a:solidFill>
            <a:srgbClr val="3B3C3E"/>
          </a:solidFill>
          <a:ln/>
        </p:spPr>
        <p:txBody>
          <a:bodyPr/>
          <a:lstStyle/>
          <a:p>
            <a:endParaRPr lang="en-US"/>
          </a:p>
        </p:txBody>
      </p:sp>
      <p:sp>
        <p:nvSpPr>
          <p:cNvPr id="10" name="Text 8"/>
          <p:cNvSpPr/>
          <p:nvPr/>
        </p:nvSpPr>
        <p:spPr>
          <a:xfrm>
            <a:off x="8222251" y="2801739"/>
            <a:ext cx="3118863" cy="295275"/>
          </a:xfrm>
          <a:prstGeom prst="rect">
            <a:avLst/>
          </a:prstGeom>
          <a:noFill/>
          <a:ln/>
        </p:spPr>
        <p:txBody>
          <a:bodyPr wrap="none" lIns="0" tIns="0" rIns="0" bIns="0" rtlCol="0" anchor="t"/>
          <a:lstStyle/>
          <a:p>
            <a:pPr marL="0" indent="0" algn="l">
              <a:lnSpc>
                <a:spcPct val="104000"/>
              </a:lnSpc>
              <a:buNone/>
            </a:pPr>
            <a:r>
              <a:rPr lang="en-US" sz="1850" b="1" dirty="0">
                <a:solidFill>
                  <a:srgbClr val="C2C4B5"/>
                </a:solidFill>
                <a:latin typeface="Outfit Bold" pitchFamily="34" charset="0"/>
                <a:ea typeface="Outfit Bold" pitchFamily="34" charset="-122"/>
                <a:cs typeface="Outfit Bold" pitchFamily="34" charset="-120"/>
              </a:rPr>
              <a:t>Why It Matters</a:t>
            </a:r>
            <a:endParaRPr lang="en-US" sz="1850" dirty="0"/>
          </a:p>
        </p:txBody>
      </p:sp>
      <p:sp>
        <p:nvSpPr>
          <p:cNvPr id="11" name="Text 9"/>
          <p:cNvSpPr/>
          <p:nvPr/>
        </p:nvSpPr>
        <p:spPr>
          <a:xfrm>
            <a:off x="8222251" y="3210421"/>
            <a:ext cx="3118863" cy="1512094"/>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C2C4B5"/>
                </a:solidFill>
                <a:latin typeface="Bitter" pitchFamily="34" charset="0"/>
                <a:ea typeface="Bitter" pitchFamily="34" charset="-122"/>
                <a:cs typeface="Bitter" pitchFamily="34" charset="-120"/>
              </a:rPr>
              <a:t>This matters because faster, more accurate guidance can improve rescue efficiency and help save lives by supporting responders in critical moments.</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61475" y="540345"/>
            <a:ext cx="10868745" cy="283468"/>
          </a:xfrm>
          <a:prstGeom prst="rect">
            <a:avLst/>
          </a:prstGeom>
          <a:noFill/>
          <a:ln/>
        </p:spPr>
        <p:txBody>
          <a:bodyPr wrap="none" lIns="0" tIns="0" rIns="0" bIns="0" rtlCol="0" anchor="t"/>
          <a:lstStyle/>
          <a:p>
            <a:pPr marL="0" indent="0" algn="l">
              <a:lnSpc>
                <a:spcPct val="104000"/>
              </a:lnSpc>
              <a:buNone/>
            </a:pPr>
            <a:r>
              <a:rPr lang="en-US" sz="1750" b="1" dirty="0">
                <a:solidFill>
                  <a:srgbClr val="E1E5CD"/>
                </a:solidFill>
                <a:latin typeface="Outfit Bold" pitchFamily="34" charset="0"/>
                <a:ea typeface="Outfit Bold" pitchFamily="34" charset="-122"/>
                <a:cs typeface="Outfit Bold" pitchFamily="34" charset="-120"/>
              </a:rPr>
              <a:t>Introduction and Background</a:t>
            </a:r>
            <a:endParaRPr lang="en-US" sz="1750" dirty="0"/>
          </a:p>
        </p:txBody>
      </p:sp>
      <p:sp>
        <p:nvSpPr>
          <p:cNvPr id="3" name="Shape 1"/>
          <p:cNvSpPr/>
          <p:nvPr/>
        </p:nvSpPr>
        <p:spPr>
          <a:xfrm>
            <a:off x="552635" y="1005185"/>
            <a:ext cx="5467610" cy="1457722"/>
          </a:xfrm>
          <a:prstGeom prst="roundRect">
            <a:avLst>
              <a:gd name="adj" fmla="val 1556"/>
            </a:avLst>
          </a:prstGeom>
          <a:solidFill>
            <a:srgbClr val="1B1B27"/>
          </a:solidFill>
          <a:ln/>
        </p:spPr>
        <p:txBody>
          <a:bodyPr/>
          <a:lstStyle/>
          <a:p>
            <a:endParaRPr lang="en-US"/>
          </a:p>
        </p:txBody>
      </p:sp>
      <p:sp>
        <p:nvSpPr>
          <p:cNvPr id="4" name="Text 2"/>
          <p:cNvSpPr/>
          <p:nvPr/>
        </p:nvSpPr>
        <p:spPr>
          <a:xfrm>
            <a:off x="703840" y="1126133"/>
            <a:ext cx="5165199" cy="236240"/>
          </a:xfrm>
          <a:prstGeom prst="rect">
            <a:avLst/>
          </a:prstGeom>
          <a:noFill/>
          <a:ln/>
        </p:spPr>
        <p:txBody>
          <a:bodyPr wrap="none" lIns="0" tIns="0" rIns="0" bIns="0" rtlCol="0" anchor="t"/>
          <a:lstStyle/>
          <a:p>
            <a:pPr marL="0" indent="0" algn="l">
              <a:lnSpc>
                <a:spcPct val="104000"/>
              </a:lnSpc>
              <a:buNone/>
            </a:pPr>
            <a:r>
              <a:rPr lang="en-US" sz="1450" b="1" dirty="0">
                <a:solidFill>
                  <a:srgbClr val="E1E5CD"/>
                </a:solidFill>
                <a:latin typeface="Outfit Bold" pitchFamily="34" charset="0"/>
                <a:ea typeface="Outfit Bold" pitchFamily="34" charset="-122"/>
                <a:cs typeface="Outfit Bold" pitchFamily="34" charset="-120"/>
              </a:rPr>
              <a:t>The Challenge</a:t>
            </a:r>
            <a:endParaRPr lang="en-US" sz="1450" dirty="0"/>
          </a:p>
        </p:txBody>
      </p:sp>
      <p:sp>
        <p:nvSpPr>
          <p:cNvPr id="5" name="Text 3"/>
          <p:cNvSpPr/>
          <p:nvPr/>
        </p:nvSpPr>
        <p:spPr>
          <a:xfrm>
            <a:off x="703840" y="1483320"/>
            <a:ext cx="5165199" cy="870744"/>
          </a:xfrm>
          <a:prstGeom prst="rect">
            <a:avLst/>
          </a:prstGeom>
          <a:noFill/>
          <a:ln/>
        </p:spPr>
        <p:txBody>
          <a:bodyPr wrap="square" lIns="0" tIns="0" rIns="0" bIns="0" rtlCol="0" anchor="t">
            <a:normAutofit/>
          </a:bodyPr>
          <a:lstStyle/>
          <a:p>
            <a:pPr marL="0" indent="0" algn="l">
              <a:lnSpc>
                <a:spcPct val="120000"/>
              </a:lnSpc>
              <a:buNone/>
            </a:pPr>
            <a:r>
              <a:rPr lang="en-US" sz="1150" dirty="0">
                <a:solidFill>
                  <a:srgbClr val="C2C4B5"/>
                </a:solidFill>
                <a:latin typeface="Bitter" pitchFamily="34" charset="0"/>
                <a:ea typeface="Bitter" pitchFamily="34" charset="-122"/>
                <a:cs typeface="Bitter" pitchFamily="34" charset="-120"/>
              </a:rPr>
              <a:t>Rapid disaster assessment from aerial and satellite imagery is extremely difficult because affected areas are visually complex, chaotic, and constantly changing. Standard tools and generic models are ill-equipped to handle the scale, noise, and urgency of post-disaster environments.</a:t>
            </a:r>
            <a:endParaRPr lang="en-US" sz="1150" dirty="0"/>
          </a:p>
        </p:txBody>
      </p:sp>
      <p:sp>
        <p:nvSpPr>
          <p:cNvPr id="6" name="Text 4"/>
          <p:cNvSpPr/>
          <p:nvPr/>
        </p:nvSpPr>
        <p:spPr>
          <a:xfrm>
            <a:off x="6286640" y="1126133"/>
            <a:ext cx="5249930" cy="236240"/>
          </a:xfrm>
          <a:prstGeom prst="rect">
            <a:avLst/>
          </a:prstGeom>
          <a:noFill/>
          <a:ln/>
        </p:spPr>
        <p:txBody>
          <a:bodyPr wrap="none" lIns="0" tIns="0" rIns="0" bIns="0" rtlCol="0" anchor="t"/>
          <a:lstStyle/>
          <a:p>
            <a:pPr marL="0" indent="0" algn="l">
              <a:lnSpc>
                <a:spcPct val="104000"/>
              </a:lnSpc>
              <a:buNone/>
            </a:pPr>
            <a:r>
              <a:rPr lang="en-US" sz="1450" b="1" dirty="0">
                <a:solidFill>
                  <a:srgbClr val="E1E5CD"/>
                </a:solidFill>
                <a:latin typeface="Outfit Bold" pitchFamily="34" charset="0"/>
                <a:ea typeface="Outfit Bold" pitchFamily="34" charset="-122"/>
                <a:cs typeface="Outfit Bold" pitchFamily="34" charset="-120"/>
              </a:rPr>
              <a:t>Our Approach</a:t>
            </a:r>
            <a:endParaRPr lang="en-US" sz="1450" dirty="0"/>
          </a:p>
        </p:txBody>
      </p:sp>
      <p:sp>
        <p:nvSpPr>
          <p:cNvPr id="7" name="Text 5"/>
          <p:cNvSpPr/>
          <p:nvPr/>
        </p:nvSpPr>
        <p:spPr>
          <a:xfrm>
            <a:off x="6286640" y="1483320"/>
            <a:ext cx="5249930" cy="870744"/>
          </a:xfrm>
          <a:prstGeom prst="rect">
            <a:avLst/>
          </a:prstGeom>
          <a:noFill/>
          <a:ln/>
        </p:spPr>
        <p:txBody>
          <a:bodyPr wrap="square" lIns="0" tIns="0" rIns="0" bIns="0" rtlCol="0" anchor="t">
            <a:normAutofit/>
          </a:bodyPr>
          <a:lstStyle/>
          <a:p>
            <a:pPr marL="0" indent="0" algn="l">
              <a:lnSpc>
                <a:spcPct val="120000"/>
              </a:lnSpc>
              <a:buNone/>
            </a:pPr>
            <a:r>
              <a:rPr lang="en-US" sz="1150" dirty="0">
                <a:solidFill>
                  <a:srgbClr val="C2C4B5"/>
                </a:solidFill>
                <a:latin typeface="Bitter" pitchFamily="34" charset="0"/>
                <a:ea typeface="Bitter" pitchFamily="34" charset="-122"/>
                <a:cs typeface="Bitter" pitchFamily="34" charset="-120"/>
              </a:rPr>
              <a:t>We introduce a comprehensive, multi-phase pipeline. We combine super-resolution, specialized spatial segmentation, a fine-tuned Vision-Language Model (VLM), and an autonomous Multi-Agent command center to turn chaotic images into actionable rescue guidance.</a:t>
            </a:r>
            <a:endParaRPr lang="en-US" sz="1150" dirty="0"/>
          </a:p>
        </p:txBody>
      </p:sp>
      <p:pic>
        <p:nvPicPr>
          <p:cNvPr id="8" name="Image 0" descr="preencoded.png"/>
          <p:cNvPicPr>
            <a:picLocks noChangeAspect="1"/>
          </p:cNvPicPr>
          <p:nvPr/>
        </p:nvPicPr>
        <p:blipFill>
          <a:blip r:embed="rId3"/>
          <a:stretch>
            <a:fillRect/>
          </a:stretch>
        </p:blipFill>
        <p:spPr>
          <a:xfrm>
            <a:off x="1784206" y="2598936"/>
            <a:ext cx="8623283" cy="3718620"/>
          </a:xfrm>
          <a:prstGeom prst="rect">
            <a:avLst/>
          </a:prstGeom>
        </p:spPr>
      </p:pic>
      <p:sp>
        <p:nvSpPr>
          <p:cNvPr id="9" name="Text 6"/>
          <p:cNvSpPr/>
          <p:nvPr/>
        </p:nvSpPr>
        <p:spPr>
          <a:xfrm>
            <a:off x="2364495" y="5612366"/>
            <a:ext cx="2396622" cy="244546"/>
          </a:xfrm>
          <a:prstGeom prst="rect">
            <a:avLst/>
          </a:prstGeom>
          <a:noFill/>
          <a:ln/>
        </p:spPr>
        <p:txBody>
          <a:bodyPr wrap="none" lIns="0" tIns="0" rIns="0" bIns="0" rtlCol="0" anchor="t"/>
          <a:lstStyle/>
          <a:p>
            <a:pPr marL="0" indent="0" algn="l">
              <a:lnSpc>
                <a:spcPct val="104000"/>
              </a:lnSpc>
              <a:buNone/>
            </a:pPr>
            <a:r>
              <a:rPr lang="en-US" sz="1500" b="1" dirty="0">
                <a:solidFill>
                  <a:srgbClr val="000000"/>
                </a:solidFill>
                <a:latin typeface="Outfit Bold" pitchFamily="34" charset="0"/>
                <a:ea typeface="Outfit Bold" pitchFamily="34" charset="-122"/>
                <a:cs typeface="Outfit Bold" pitchFamily="34" charset="-120"/>
              </a:rPr>
              <a:t>Multi-Agent Orchestration</a:t>
            </a:r>
            <a:endParaRPr lang="en-US" sz="1500" dirty="0"/>
          </a:p>
        </p:txBody>
      </p:sp>
      <p:sp>
        <p:nvSpPr>
          <p:cNvPr id="10" name="Text 7"/>
          <p:cNvSpPr/>
          <p:nvPr/>
        </p:nvSpPr>
        <p:spPr>
          <a:xfrm>
            <a:off x="2364495" y="4751566"/>
            <a:ext cx="1956315" cy="244546"/>
          </a:xfrm>
          <a:prstGeom prst="rect">
            <a:avLst/>
          </a:prstGeom>
          <a:noFill/>
          <a:ln/>
        </p:spPr>
        <p:txBody>
          <a:bodyPr wrap="none" lIns="0" tIns="0" rIns="0" bIns="0" rtlCol="0" anchor="t"/>
          <a:lstStyle/>
          <a:p>
            <a:pPr marL="0" indent="0" algn="l">
              <a:lnSpc>
                <a:spcPct val="104000"/>
              </a:lnSpc>
              <a:buNone/>
            </a:pPr>
            <a:r>
              <a:rPr lang="en-US" sz="1500" b="1" dirty="0">
                <a:solidFill>
                  <a:srgbClr val="000000"/>
                </a:solidFill>
                <a:latin typeface="Outfit Bold" pitchFamily="34" charset="0"/>
                <a:ea typeface="Outfit Bold" pitchFamily="34" charset="-122"/>
                <a:cs typeface="Outfit Bold" pitchFamily="34" charset="-120"/>
              </a:rPr>
              <a:t>VLM Reasoning</a:t>
            </a:r>
            <a:endParaRPr lang="en-US" sz="1500" dirty="0"/>
          </a:p>
        </p:txBody>
      </p:sp>
      <p:sp>
        <p:nvSpPr>
          <p:cNvPr id="11" name="Text 8"/>
          <p:cNvSpPr/>
          <p:nvPr/>
        </p:nvSpPr>
        <p:spPr>
          <a:xfrm>
            <a:off x="2364495" y="3899460"/>
            <a:ext cx="1956315" cy="244546"/>
          </a:xfrm>
          <a:prstGeom prst="rect">
            <a:avLst/>
          </a:prstGeom>
          <a:noFill/>
          <a:ln/>
        </p:spPr>
        <p:txBody>
          <a:bodyPr wrap="none" lIns="0" tIns="0" rIns="0" bIns="0" rtlCol="0" anchor="t"/>
          <a:lstStyle/>
          <a:p>
            <a:pPr marL="0" indent="0" algn="l">
              <a:lnSpc>
                <a:spcPct val="104000"/>
              </a:lnSpc>
              <a:buNone/>
            </a:pPr>
            <a:r>
              <a:rPr lang="en-US" sz="1500" b="1" dirty="0">
                <a:solidFill>
                  <a:srgbClr val="000000"/>
                </a:solidFill>
                <a:latin typeface="Outfit Bold" pitchFamily="34" charset="0"/>
                <a:ea typeface="Outfit Bold" pitchFamily="34" charset="-122"/>
                <a:cs typeface="Outfit Bold" pitchFamily="34" charset="-120"/>
              </a:rPr>
              <a:t>U-Net Segmentation</a:t>
            </a:r>
            <a:endParaRPr lang="en-US" sz="1500" dirty="0"/>
          </a:p>
        </p:txBody>
      </p:sp>
      <p:sp>
        <p:nvSpPr>
          <p:cNvPr id="12" name="Text 9"/>
          <p:cNvSpPr/>
          <p:nvPr/>
        </p:nvSpPr>
        <p:spPr>
          <a:xfrm>
            <a:off x="2364495" y="3038660"/>
            <a:ext cx="1956315" cy="244546"/>
          </a:xfrm>
          <a:prstGeom prst="rect">
            <a:avLst/>
          </a:prstGeom>
          <a:noFill/>
          <a:ln/>
        </p:spPr>
        <p:txBody>
          <a:bodyPr wrap="none" lIns="0" tIns="0" rIns="0" bIns="0" rtlCol="0" anchor="t"/>
          <a:lstStyle/>
          <a:p>
            <a:pPr marL="0" indent="0" algn="l">
              <a:lnSpc>
                <a:spcPct val="104000"/>
              </a:lnSpc>
              <a:buNone/>
            </a:pPr>
            <a:r>
              <a:rPr lang="en-US" sz="1500" b="1" dirty="0">
                <a:solidFill>
                  <a:srgbClr val="000000"/>
                </a:solidFill>
                <a:latin typeface="Outfit Bold" pitchFamily="34" charset="0"/>
                <a:ea typeface="Outfit Bold" pitchFamily="34" charset="-122"/>
                <a:cs typeface="Outfit Bold" pitchFamily="34" charset="-120"/>
              </a:rPr>
              <a:t>Super-Resolution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61475" y="963612"/>
            <a:ext cx="10868745" cy="590649"/>
          </a:xfrm>
          <a:prstGeom prst="rect">
            <a:avLst/>
          </a:prstGeom>
          <a:noFill/>
          <a:ln/>
        </p:spPr>
        <p:txBody>
          <a:bodyPr wrap="none" lIns="0" tIns="0" rIns="0" bIns="0" rtlCol="0" anchor="t"/>
          <a:lstStyle/>
          <a:p>
            <a:pPr marL="0" indent="0" algn="l">
              <a:lnSpc>
                <a:spcPct val="104000"/>
              </a:lnSpc>
              <a:buNone/>
            </a:pPr>
            <a:r>
              <a:rPr lang="en-US" sz="3700" b="1" dirty="0">
                <a:solidFill>
                  <a:srgbClr val="E1E5CD"/>
                </a:solidFill>
                <a:latin typeface="Outfit Bold" pitchFamily="34" charset="0"/>
                <a:ea typeface="Outfit Bold" pitchFamily="34" charset="-122"/>
                <a:cs typeface="Outfit Bold" pitchFamily="34" charset="-120"/>
              </a:rPr>
              <a:t>Problem Statement</a:t>
            </a:r>
            <a:endParaRPr lang="en-US" sz="3700" dirty="0"/>
          </a:p>
        </p:txBody>
      </p:sp>
      <p:sp>
        <p:nvSpPr>
          <p:cNvPr id="3" name="Shape 1"/>
          <p:cNvSpPr/>
          <p:nvPr/>
        </p:nvSpPr>
        <p:spPr>
          <a:xfrm>
            <a:off x="661475" y="1932285"/>
            <a:ext cx="3496877" cy="3962102"/>
          </a:xfrm>
          <a:prstGeom prst="roundRect">
            <a:avLst>
              <a:gd name="adj" fmla="val 811"/>
            </a:avLst>
          </a:prstGeom>
          <a:solidFill>
            <a:srgbClr val="3B3C3E"/>
          </a:solidFill>
          <a:ln/>
        </p:spPr>
        <p:txBody>
          <a:bodyPr/>
          <a:lstStyle/>
          <a:p>
            <a:endParaRPr lang="en-US"/>
          </a:p>
        </p:txBody>
      </p:sp>
      <p:sp>
        <p:nvSpPr>
          <p:cNvPr id="4" name="Shape 2"/>
          <p:cNvSpPr/>
          <p:nvPr/>
        </p:nvSpPr>
        <p:spPr>
          <a:xfrm>
            <a:off x="850482" y="2121297"/>
            <a:ext cx="567021" cy="567035"/>
          </a:xfrm>
          <a:prstGeom prst="ellipse">
            <a:avLst/>
          </a:prstGeom>
          <a:solidFill>
            <a:srgbClr val="9FA582"/>
          </a:solidFill>
          <a:ln/>
        </p:spPr>
        <p:txBody>
          <a:bodyPr/>
          <a:lstStyle/>
          <a:p>
            <a:endParaRPr lang="en-US"/>
          </a:p>
        </p:txBody>
      </p:sp>
      <p:pic>
        <p:nvPicPr>
          <p:cNvPr id="5"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06450" y="2277170"/>
            <a:ext cx="255085" cy="255091"/>
          </a:xfrm>
          <a:prstGeom prst="rect">
            <a:avLst/>
          </a:prstGeom>
        </p:spPr>
      </p:pic>
      <p:sp>
        <p:nvSpPr>
          <p:cNvPr id="6" name="Text 3"/>
          <p:cNvSpPr/>
          <p:nvPr/>
        </p:nvSpPr>
        <p:spPr>
          <a:xfrm>
            <a:off x="850482" y="2877344"/>
            <a:ext cx="3118863" cy="295275"/>
          </a:xfrm>
          <a:prstGeom prst="rect">
            <a:avLst/>
          </a:prstGeom>
          <a:noFill/>
          <a:ln/>
        </p:spPr>
        <p:txBody>
          <a:bodyPr wrap="none" lIns="0" tIns="0" rIns="0" bIns="0" rtlCol="0" anchor="t"/>
          <a:lstStyle/>
          <a:p>
            <a:pPr marL="0" indent="0" algn="l">
              <a:lnSpc>
                <a:spcPct val="104000"/>
              </a:lnSpc>
              <a:buNone/>
            </a:pPr>
            <a:r>
              <a:rPr lang="en-US" sz="1850" b="1" dirty="0">
                <a:solidFill>
                  <a:srgbClr val="C2C4B5"/>
                </a:solidFill>
                <a:latin typeface="Outfit Bold" pitchFamily="34" charset="0"/>
                <a:ea typeface="Outfit Bold" pitchFamily="34" charset="-122"/>
                <a:cs typeface="Outfit Bold" pitchFamily="34" charset="-120"/>
              </a:rPr>
              <a:t>Why this is hard</a:t>
            </a:r>
            <a:endParaRPr lang="en-US" sz="1850" dirty="0"/>
          </a:p>
        </p:txBody>
      </p:sp>
      <p:sp>
        <p:nvSpPr>
          <p:cNvPr id="7" name="Text 4"/>
          <p:cNvSpPr/>
          <p:nvPr/>
        </p:nvSpPr>
        <p:spPr>
          <a:xfrm>
            <a:off x="850482" y="3286026"/>
            <a:ext cx="3118863" cy="1512094"/>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C2C4B5"/>
                </a:solidFill>
                <a:latin typeface="Bitter" pitchFamily="34" charset="0"/>
                <a:ea typeface="Bitter" pitchFamily="34" charset="-122"/>
                <a:cs typeface="Bitter" pitchFamily="34" charset="-120"/>
              </a:rPr>
              <a:t>Rapid disaster assessment from aerial and satellite imagery is difficult because affected areas are large, visually complex, and changing quickly.</a:t>
            </a:r>
            <a:endParaRPr lang="en-US" sz="1450" dirty="0"/>
          </a:p>
        </p:txBody>
      </p:sp>
      <p:sp>
        <p:nvSpPr>
          <p:cNvPr id="8" name="Shape 5"/>
          <p:cNvSpPr/>
          <p:nvPr/>
        </p:nvSpPr>
        <p:spPr>
          <a:xfrm>
            <a:off x="4347359" y="1932285"/>
            <a:ext cx="3496877" cy="3962102"/>
          </a:xfrm>
          <a:prstGeom prst="roundRect">
            <a:avLst>
              <a:gd name="adj" fmla="val 811"/>
            </a:avLst>
          </a:prstGeom>
          <a:solidFill>
            <a:srgbClr val="3B3C3E"/>
          </a:solidFill>
          <a:ln/>
        </p:spPr>
        <p:txBody>
          <a:bodyPr/>
          <a:lstStyle/>
          <a:p>
            <a:endParaRPr lang="en-US"/>
          </a:p>
        </p:txBody>
      </p:sp>
      <p:sp>
        <p:nvSpPr>
          <p:cNvPr id="9" name="Shape 6"/>
          <p:cNvSpPr/>
          <p:nvPr/>
        </p:nvSpPr>
        <p:spPr>
          <a:xfrm>
            <a:off x="4536366" y="2121297"/>
            <a:ext cx="567021" cy="567035"/>
          </a:xfrm>
          <a:prstGeom prst="ellipse">
            <a:avLst/>
          </a:prstGeom>
          <a:solidFill>
            <a:srgbClr val="9FA582"/>
          </a:solidFill>
          <a:ln/>
        </p:spPr>
        <p:txBody>
          <a:bodyPr/>
          <a:lstStyle/>
          <a:p>
            <a:endParaRPr lang="en-US"/>
          </a:p>
        </p:txBody>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692334" y="2277170"/>
            <a:ext cx="255085" cy="255091"/>
          </a:xfrm>
          <a:prstGeom prst="rect">
            <a:avLst/>
          </a:prstGeom>
        </p:spPr>
      </p:pic>
      <p:sp>
        <p:nvSpPr>
          <p:cNvPr id="11" name="Text 7"/>
          <p:cNvSpPr/>
          <p:nvPr/>
        </p:nvSpPr>
        <p:spPr>
          <a:xfrm>
            <a:off x="4536366" y="2877344"/>
            <a:ext cx="3118863" cy="295275"/>
          </a:xfrm>
          <a:prstGeom prst="rect">
            <a:avLst/>
          </a:prstGeom>
          <a:noFill/>
          <a:ln/>
        </p:spPr>
        <p:txBody>
          <a:bodyPr wrap="none" lIns="0" tIns="0" rIns="0" bIns="0" rtlCol="0" anchor="t"/>
          <a:lstStyle/>
          <a:p>
            <a:pPr marL="0" indent="0" algn="l">
              <a:lnSpc>
                <a:spcPct val="104000"/>
              </a:lnSpc>
              <a:buNone/>
            </a:pPr>
            <a:r>
              <a:rPr lang="en-US" sz="1850" b="1" dirty="0">
                <a:solidFill>
                  <a:srgbClr val="C2C4B5"/>
                </a:solidFill>
                <a:latin typeface="Outfit Bold" pitchFamily="34" charset="0"/>
                <a:ea typeface="Outfit Bold" pitchFamily="34" charset="-122"/>
                <a:cs typeface="Outfit Bold" pitchFamily="34" charset="-120"/>
              </a:rPr>
              <a:t>What current methods miss</a:t>
            </a:r>
            <a:endParaRPr lang="en-US" sz="1850" dirty="0"/>
          </a:p>
        </p:txBody>
      </p:sp>
      <p:sp>
        <p:nvSpPr>
          <p:cNvPr id="12" name="Text 8"/>
          <p:cNvSpPr/>
          <p:nvPr/>
        </p:nvSpPr>
        <p:spPr>
          <a:xfrm>
            <a:off x="4536366" y="3286026"/>
            <a:ext cx="3118863" cy="1814513"/>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C2C4B5"/>
                </a:solidFill>
                <a:latin typeface="Bitter" pitchFamily="34" charset="0"/>
                <a:ea typeface="Bitter" pitchFamily="34" charset="-122"/>
                <a:cs typeface="Bitter" pitchFamily="34" charset="-120"/>
              </a:rPr>
              <a:t>Current methods often stop at basic detection or classification, leaving responders to manually interpret debris, flooding, smoke, collapsed structures, and blocked roads at scale.</a:t>
            </a:r>
            <a:endParaRPr lang="en-US" sz="1450" dirty="0"/>
          </a:p>
        </p:txBody>
      </p:sp>
      <p:sp>
        <p:nvSpPr>
          <p:cNvPr id="13" name="Shape 9"/>
          <p:cNvSpPr/>
          <p:nvPr/>
        </p:nvSpPr>
        <p:spPr>
          <a:xfrm>
            <a:off x="8033244" y="1932285"/>
            <a:ext cx="3496877" cy="3962102"/>
          </a:xfrm>
          <a:prstGeom prst="roundRect">
            <a:avLst>
              <a:gd name="adj" fmla="val 811"/>
            </a:avLst>
          </a:prstGeom>
          <a:solidFill>
            <a:srgbClr val="3B3C3E"/>
          </a:solidFill>
          <a:ln/>
        </p:spPr>
        <p:txBody>
          <a:bodyPr/>
          <a:lstStyle/>
          <a:p>
            <a:endParaRPr lang="en-US"/>
          </a:p>
        </p:txBody>
      </p:sp>
      <p:sp>
        <p:nvSpPr>
          <p:cNvPr id="14" name="Shape 10"/>
          <p:cNvSpPr/>
          <p:nvPr/>
        </p:nvSpPr>
        <p:spPr>
          <a:xfrm>
            <a:off x="8222251" y="2121297"/>
            <a:ext cx="567021" cy="567035"/>
          </a:xfrm>
          <a:prstGeom prst="ellipse">
            <a:avLst/>
          </a:prstGeom>
          <a:solidFill>
            <a:srgbClr val="9FA582"/>
          </a:solidFill>
          <a:ln/>
        </p:spPr>
        <p:txBody>
          <a:bodyPr/>
          <a:lstStyle/>
          <a:p>
            <a:endParaRPr lang="en-US"/>
          </a:p>
        </p:txBody>
      </p:sp>
      <p:pic>
        <p:nvPicPr>
          <p:cNvPr id="15"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78219" y="2277170"/>
            <a:ext cx="255085" cy="255091"/>
          </a:xfrm>
          <a:prstGeom prst="rect">
            <a:avLst/>
          </a:prstGeom>
        </p:spPr>
      </p:pic>
      <p:sp>
        <p:nvSpPr>
          <p:cNvPr id="16" name="Text 11"/>
          <p:cNvSpPr/>
          <p:nvPr/>
        </p:nvSpPr>
        <p:spPr>
          <a:xfrm>
            <a:off x="8222251" y="2877344"/>
            <a:ext cx="3118863" cy="295275"/>
          </a:xfrm>
          <a:prstGeom prst="rect">
            <a:avLst/>
          </a:prstGeom>
          <a:noFill/>
          <a:ln/>
        </p:spPr>
        <p:txBody>
          <a:bodyPr wrap="none" lIns="0" tIns="0" rIns="0" bIns="0" rtlCol="0" anchor="t"/>
          <a:lstStyle/>
          <a:p>
            <a:pPr marL="0" indent="0" algn="l">
              <a:lnSpc>
                <a:spcPct val="104000"/>
              </a:lnSpc>
              <a:buNone/>
            </a:pPr>
            <a:r>
              <a:rPr lang="en-US" sz="1850" b="1" dirty="0">
                <a:solidFill>
                  <a:srgbClr val="C2C4B5"/>
                </a:solidFill>
                <a:latin typeface="Outfit Bold" pitchFamily="34" charset="0"/>
                <a:ea typeface="Outfit Bold" pitchFamily="34" charset="-122"/>
                <a:cs typeface="Outfit Bold" pitchFamily="34" charset="-120"/>
              </a:rPr>
              <a:t>What’s needed</a:t>
            </a:r>
            <a:endParaRPr lang="en-US" sz="1850" dirty="0"/>
          </a:p>
        </p:txBody>
      </p:sp>
      <p:sp>
        <p:nvSpPr>
          <p:cNvPr id="17" name="Text 12"/>
          <p:cNvSpPr/>
          <p:nvPr/>
        </p:nvSpPr>
        <p:spPr>
          <a:xfrm>
            <a:off x="8222251" y="3286026"/>
            <a:ext cx="3118863" cy="2419350"/>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C2C4B5"/>
                </a:solidFill>
                <a:latin typeface="Bitter" pitchFamily="34" charset="0"/>
                <a:ea typeface="Bitter" pitchFamily="34" charset="-122"/>
                <a:cs typeface="Bitter" pitchFamily="34" charset="-120"/>
              </a:rPr>
              <a:t>What’s needed is an automated system that can turn disaster imagery into actionable rescue guidance. It should identify critical hazards, damaged infrastructure, and possible trapped victims to help teams make faster, more informed decisions.</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61475" y="766564"/>
            <a:ext cx="10868745" cy="425252"/>
          </a:xfrm>
          <a:prstGeom prst="rect">
            <a:avLst/>
          </a:prstGeom>
          <a:noFill/>
          <a:ln/>
        </p:spPr>
        <p:txBody>
          <a:bodyPr wrap="none" lIns="0" tIns="0" rIns="0" bIns="0" rtlCol="0" anchor="t"/>
          <a:lstStyle/>
          <a:p>
            <a:pPr marL="0" indent="0" algn="l">
              <a:lnSpc>
                <a:spcPct val="104000"/>
              </a:lnSpc>
              <a:buNone/>
            </a:pPr>
            <a:r>
              <a:rPr lang="en-US" sz="2650" b="1" dirty="0">
                <a:solidFill>
                  <a:srgbClr val="E1E5CD"/>
                </a:solidFill>
                <a:latin typeface="Outfit Bold" pitchFamily="34" charset="0"/>
                <a:ea typeface="Outfit Bold" pitchFamily="34" charset="-122"/>
                <a:cs typeface="Outfit Bold" pitchFamily="34" charset="-120"/>
              </a:rPr>
              <a:t>Project Goals and Objectives</a:t>
            </a:r>
            <a:endParaRPr lang="en-US" sz="2650" dirty="0"/>
          </a:p>
        </p:txBody>
      </p:sp>
      <p:sp>
        <p:nvSpPr>
          <p:cNvPr id="3" name="Text 1"/>
          <p:cNvSpPr/>
          <p:nvPr/>
        </p:nvSpPr>
        <p:spPr>
          <a:xfrm>
            <a:off x="661475" y="1498005"/>
            <a:ext cx="11478330" cy="258564"/>
          </a:xfrm>
          <a:prstGeom prst="rect">
            <a:avLst/>
          </a:prstGeom>
          <a:noFill/>
          <a:ln/>
        </p:spPr>
        <p:txBody>
          <a:bodyPr wrap="none" lIns="0" tIns="0" rIns="0" bIns="0" rtlCol="0" anchor="t"/>
          <a:lstStyle/>
          <a:p>
            <a:pPr marL="0" indent="0" algn="l">
              <a:lnSpc>
                <a:spcPct val="127000"/>
              </a:lnSpc>
              <a:buNone/>
            </a:pPr>
            <a:r>
              <a:rPr lang="en-US" sz="1300" dirty="0">
                <a:solidFill>
                  <a:srgbClr val="C2C4B5"/>
                </a:solidFill>
                <a:latin typeface="Bitter" pitchFamily="34" charset="0"/>
                <a:ea typeface="Bitter" pitchFamily="34" charset="-122"/>
                <a:cs typeface="Bitter" pitchFamily="34" charset="-120"/>
              </a:rPr>
              <a:t>The system is designed around four core technical objectives, each addressing a distinct gap in current disaster response capabilities.</a:t>
            </a:r>
            <a:endParaRPr lang="en-US" sz="1300" dirty="0"/>
          </a:p>
        </p:txBody>
      </p:sp>
      <p:pic>
        <p:nvPicPr>
          <p:cNvPr id="4"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1475" y="1928813"/>
            <a:ext cx="5357778" cy="2004715"/>
          </a:xfrm>
          <a:prstGeom prst="rect">
            <a:avLst/>
          </a:prstGeom>
        </p:spPr>
      </p:pic>
      <p:sp>
        <p:nvSpPr>
          <p:cNvPr id="5" name="Text 2"/>
          <p:cNvSpPr/>
          <p:nvPr/>
        </p:nvSpPr>
        <p:spPr>
          <a:xfrm>
            <a:off x="3212821" y="2043509"/>
            <a:ext cx="255085" cy="318889"/>
          </a:xfrm>
          <a:prstGeom prst="rect">
            <a:avLst/>
          </a:prstGeom>
          <a:noFill/>
          <a:ln/>
        </p:spPr>
        <p:txBody>
          <a:bodyPr wrap="none" lIns="0" tIns="0" rIns="0" bIns="0" rtlCol="0" anchor="ctr"/>
          <a:lstStyle/>
          <a:p>
            <a:pPr marL="0" indent="0" algn="ctr">
              <a:lnSpc>
                <a:spcPct val="100000"/>
              </a:lnSpc>
              <a:buNone/>
            </a:pPr>
            <a:r>
              <a:rPr lang="en-US" sz="2000" b="1" dirty="0">
                <a:solidFill>
                  <a:srgbClr val="C2C4B5"/>
                </a:solidFill>
                <a:latin typeface="Outfit Bold" pitchFamily="34" charset="0"/>
                <a:ea typeface="Outfit Bold" pitchFamily="34" charset="-122"/>
                <a:cs typeface="Outfit Bold" pitchFamily="34" charset="-120"/>
              </a:rPr>
              <a:t>1</a:t>
            </a:r>
            <a:endParaRPr lang="en-US" sz="2000" dirty="0"/>
          </a:p>
        </p:txBody>
      </p:sp>
      <p:sp>
        <p:nvSpPr>
          <p:cNvPr id="6" name="Text 3"/>
          <p:cNvSpPr/>
          <p:nvPr/>
        </p:nvSpPr>
        <p:spPr>
          <a:xfrm>
            <a:off x="850581" y="2611239"/>
            <a:ext cx="4979565" cy="265708"/>
          </a:xfrm>
          <a:prstGeom prst="rect">
            <a:avLst/>
          </a:prstGeom>
          <a:noFill/>
          <a:ln/>
        </p:spPr>
        <p:txBody>
          <a:bodyPr wrap="none" lIns="0" tIns="0" rIns="0" bIns="0" rtlCol="0" anchor="t"/>
          <a:lstStyle/>
          <a:p>
            <a:pPr marL="0" indent="0" algn="l">
              <a:lnSpc>
                <a:spcPct val="104000"/>
              </a:lnSpc>
              <a:buNone/>
            </a:pPr>
            <a:r>
              <a:rPr lang="en-US" sz="1650" b="1" dirty="0">
                <a:solidFill>
                  <a:srgbClr val="C2C4B5"/>
                </a:solidFill>
                <a:latin typeface="Outfit Bold" pitchFamily="34" charset="0"/>
                <a:ea typeface="Outfit Bold" pitchFamily="34" charset="-122"/>
                <a:cs typeface="Outfit Bold" pitchFamily="34" charset="-120"/>
              </a:rPr>
              <a:t>Enhance Visibility</a:t>
            </a:r>
            <a:endParaRPr lang="en-US" sz="1650" dirty="0"/>
          </a:p>
        </p:txBody>
      </p:sp>
      <p:sp>
        <p:nvSpPr>
          <p:cNvPr id="7" name="Text 4"/>
          <p:cNvSpPr/>
          <p:nvPr/>
        </p:nvSpPr>
        <p:spPr>
          <a:xfrm>
            <a:off x="850581" y="2968724"/>
            <a:ext cx="4979565" cy="775692"/>
          </a:xfrm>
          <a:prstGeom prst="rect">
            <a:avLst/>
          </a:prstGeom>
          <a:noFill/>
          <a:ln/>
        </p:spPr>
        <p:txBody>
          <a:bodyPr wrap="square" lIns="0" tIns="0" rIns="0" bIns="0" rtlCol="0" anchor="t">
            <a:normAutofit/>
          </a:bodyPr>
          <a:lstStyle/>
          <a:p>
            <a:pPr marL="0" indent="0" algn="l">
              <a:lnSpc>
                <a:spcPct val="127000"/>
              </a:lnSpc>
              <a:buNone/>
            </a:pPr>
            <a:r>
              <a:rPr lang="en-US" sz="1300" dirty="0">
                <a:solidFill>
                  <a:srgbClr val="C2C4B5"/>
                </a:solidFill>
                <a:latin typeface="Bitter" pitchFamily="34" charset="0"/>
                <a:ea typeface="Bitter" pitchFamily="34" charset="-122"/>
                <a:cs typeface="Bitter" pitchFamily="34" charset="-120"/>
              </a:rPr>
              <a:t>Upscale low-resolution aerial images using </a:t>
            </a:r>
            <a:r>
              <a:rPr lang="en-US" sz="1300" b="1" dirty="0">
                <a:solidFill>
                  <a:srgbClr val="C2C4B5"/>
                </a:solidFill>
                <a:latin typeface="Bitter Bold" pitchFamily="34" charset="0"/>
                <a:ea typeface="Bitter Bold" pitchFamily="34" charset="-122"/>
                <a:cs typeface="Bitter Bold" pitchFamily="34" charset="-120"/>
              </a:rPr>
              <a:t>Super-Resolution</a:t>
            </a:r>
            <a:r>
              <a:rPr lang="en-US" sz="1300" dirty="0">
                <a:solidFill>
                  <a:srgbClr val="C2C4B5"/>
                </a:solidFill>
                <a:latin typeface="Bitter" pitchFamily="34" charset="0"/>
                <a:ea typeface="Bitter" pitchFamily="34" charset="-122"/>
                <a:cs typeface="Bitter" pitchFamily="34" charset="-120"/>
              </a:rPr>
              <a:t> techniques to recover structural detail lost during capture or transmission.</a:t>
            </a:r>
            <a:endParaRPr lang="en-US" sz="1300" dirty="0"/>
          </a:p>
        </p:txBody>
      </p:sp>
      <p:pic>
        <p:nvPicPr>
          <p:cNvPr id="8" name="Image 1"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172343" y="1928813"/>
            <a:ext cx="5357877" cy="2004715"/>
          </a:xfrm>
          <a:prstGeom prst="rect">
            <a:avLst/>
          </a:prstGeom>
        </p:spPr>
      </p:pic>
      <p:sp>
        <p:nvSpPr>
          <p:cNvPr id="9" name="Text 5"/>
          <p:cNvSpPr/>
          <p:nvPr/>
        </p:nvSpPr>
        <p:spPr>
          <a:xfrm>
            <a:off x="8723690" y="2043509"/>
            <a:ext cx="255085" cy="318889"/>
          </a:xfrm>
          <a:prstGeom prst="rect">
            <a:avLst/>
          </a:prstGeom>
          <a:noFill/>
          <a:ln/>
        </p:spPr>
        <p:txBody>
          <a:bodyPr wrap="none" lIns="0" tIns="0" rIns="0" bIns="0" rtlCol="0" anchor="ctr"/>
          <a:lstStyle/>
          <a:p>
            <a:pPr marL="0" indent="0" algn="ctr">
              <a:lnSpc>
                <a:spcPct val="100000"/>
              </a:lnSpc>
              <a:buNone/>
            </a:pPr>
            <a:r>
              <a:rPr lang="en-US" sz="2000" b="1" dirty="0">
                <a:solidFill>
                  <a:srgbClr val="C2C4B5"/>
                </a:solidFill>
                <a:latin typeface="Outfit Bold" pitchFamily="34" charset="0"/>
                <a:ea typeface="Outfit Bold" pitchFamily="34" charset="-122"/>
                <a:cs typeface="Outfit Bold" pitchFamily="34" charset="-120"/>
              </a:rPr>
              <a:t>2</a:t>
            </a:r>
            <a:endParaRPr lang="en-US" sz="2000" dirty="0"/>
          </a:p>
        </p:txBody>
      </p:sp>
      <p:sp>
        <p:nvSpPr>
          <p:cNvPr id="10" name="Text 6"/>
          <p:cNvSpPr/>
          <p:nvPr/>
        </p:nvSpPr>
        <p:spPr>
          <a:xfrm>
            <a:off x="6361449" y="2611239"/>
            <a:ext cx="4979664" cy="265708"/>
          </a:xfrm>
          <a:prstGeom prst="rect">
            <a:avLst/>
          </a:prstGeom>
          <a:noFill/>
          <a:ln/>
        </p:spPr>
        <p:txBody>
          <a:bodyPr wrap="none" lIns="0" tIns="0" rIns="0" bIns="0" rtlCol="0" anchor="t"/>
          <a:lstStyle/>
          <a:p>
            <a:pPr marL="0" indent="0" algn="l">
              <a:lnSpc>
                <a:spcPct val="104000"/>
              </a:lnSpc>
              <a:buNone/>
            </a:pPr>
            <a:r>
              <a:rPr lang="en-US" sz="1650" b="1" dirty="0">
                <a:solidFill>
                  <a:srgbClr val="C2C4B5"/>
                </a:solidFill>
                <a:latin typeface="Outfit Bold" pitchFamily="34" charset="0"/>
                <a:ea typeface="Outfit Bold" pitchFamily="34" charset="-122"/>
                <a:cs typeface="Outfit Bold" pitchFamily="34" charset="-120"/>
              </a:rPr>
              <a:t>Spatial Grounding</a:t>
            </a:r>
            <a:endParaRPr lang="en-US" sz="1650" dirty="0"/>
          </a:p>
        </p:txBody>
      </p:sp>
      <p:sp>
        <p:nvSpPr>
          <p:cNvPr id="11" name="Text 7"/>
          <p:cNvSpPr/>
          <p:nvPr/>
        </p:nvSpPr>
        <p:spPr>
          <a:xfrm>
            <a:off x="6361449" y="2968724"/>
            <a:ext cx="4979664" cy="775692"/>
          </a:xfrm>
          <a:prstGeom prst="rect">
            <a:avLst/>
          </a:prstGeom>
          <a:noFill/>
          <a:ln/>
        </p:spPr>
        <p:txBody>
          <a:bodyPr wrap="square" lIns="0" tIns="0" rIns="0" bIns="0" rtlCol="0" anchor="t">
            <a:normAutofit/>
          </a:bodyPr>
          <a:lstStyle/>
          <a:p>
            <a:pPr marL="0" indent="0" algn="l">
              <a:lnSpc>
                <a:spcPct val="127000"/>
              </a:lnSpc>
              <a:buNone/>
            </a:pPr>
            <a:r>
              <a:rPr lang="en-US" sz="1300" dirty="0">
                <a:solidFill>
                  <a:srgbClr val="C2C4B5"/>
                </a:solidFill>
                <a:latin typeface="Bitter" pitchFamily="34" charset="0"/>
                <a:ea typeface="Bitter" pitchFamily="34" charset="-122"/>
                <a:cs typeface="Bitter" pitchFamily="34" charset="-120"/>
              </a:rPr>
              <a:t>Accurately detect and count damaged structures using </a:t>
            </a:r>
            <a:r>
              <a:rPr lang="en-US" sz="1300" b="1" dirty="0">
                <a:solidFill>
                  <a:srgbClr val="C2C4B5"/>
                </a:solidFill>
                <a:latin typeface="Bitter Bold" pitchFamily="34" charset="0"/>
                <a:ea typeface="Bitter Bold" pitchFamily="34" charset="-122"/>
                <a:cs typeface="Bitter Bold" pitchFamily="34" charset="-120"/>
              </a:rPr>
              <a:t>semantic segmentation</a:t>
            </a:r>
            <a:r>
              <a:rPr lang="en-US" sz="1300" dirty="0">
                <a:solidFill>
                  <a:srgbClr val="C2C4B5"/>
                </a:solidFill>
                <a:latin typeface="Bitter" pitchFamily="34" charset="0"/>
                <a:ea typeface="Bitter" pitchFamily="34" charset="-122"/>
                <a:cs typeface="Bitter" pitchFamily="34" charset="-120"/>
              </a:rPr>
              <a:t>, providing precise spatial localization of damage zones.</a:t>
            </a:r>
            <a:endParaRPr lang="en-US" sz="1300" dirty="0"/>
          </a:p>
        </p:txBody>
      </p:sp>
      <p:pic>
        <p:nvPicPr>
          <p:cNvPr id="12" name="Image 2"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1475" y="4086622"/>
            <a:ext cx="5357778" cy="2004715"/>
          </a:xfrm>
          <a:prstGeom prst="rect">
            <a:avLst/>
          </a:prstGeom>
        </p:spPr>
      </p:pic>
      <p:sp>
        <p:nvSpPr>
          <p:cNvPr id="13" name="Text 8"/>
          <p:cNvSpPr/>
          <p:nvPr/>
        </p:nvSpPr>
        <p:spPr>
          <a:xfrm>
            <a:off x="3212821" y="4201319"/>
            <a:ext cx="255085" cy="318889"/>
          </a:xfrm>
          <a:prstGeom prst="rect">
            <a:avLst/>
          </a:prstGeom>
          <a:noFill/>
          <a:ln/>
        </p:spPr>
        <p:txBody>
          <a:bodyPr wrap="none" lIns="0" tIns="0" rIns="0" bIns="0" rtlCol="0" anchor="ctr"/>
          <a:lstStyle/>
          <a:p>
            <a:pPr marL="0" indent="0" algn="ctr">
              <a:lnSpc>
                <a:spcPct val="100000"/>
              </a:lnSpc>
              <a:buNone/>
            </a:pPr>
            <a:r>
              <a:rPr lang="en-US" sz="2000" b="1" dirty="0">
                <a:solidFill>
                  <a:srgbClr val="C2C4B5"/>
                </a:solidFill>
                <a:latin typeface="Outfit Bold" pitchFamily="34" charset="0"/>
                <a:ea typeface="Outfit Bold" pitchFamily="34" charset="-122"/>
                <a:cs typeface="Outfit Bold" pitchFamily="34" charset="-120"/>
              </a:rPr>
              <a:t>3</a:t>
            </a:r>
            <a:endParaRPr lang="en-US" sz="2000" dirty="0"/>
          </a:p>
        </p:txBody>
      </p:sp>
      <p:sp>
        <p:nvSpPr>
          <p:cNvPr id="14" name="Text 9"/>
          <p:cNvSpPr/>
          <p:nvPr/>
        </p:nvSpPr>
        <p:spPr>
          <a:xfrm>
            <a:off x="850581" y="4769048"/>
            <a:ext cx="4979565" cy="265708"/>
          </a:xfrm>
          <a:prstGeom prst="rect">
            <a:avLst/>
          </a:prstGeom>
          <a:noFill/>
          <a:ln/>
        </p:spPr>
        <p:txBody>
          <a:bodyPr wrap="none" lIns="0" tIns="0" rIns="0" bIns="0" rtlCol="0" anchor="t"/>
          <a:lstStyle/>
          <a:p>
            <a:pPr marL="0" indent="0" algn="l">
              <a:lnSpc>
                <a:spcPct val="104000"/>
              </a:lnSpc>
              <a:buNone/>
            </a:pPr>
            <a:r>
              <a:rPr lang="en-US" sz="1650" b="1" dirty="0">
                <a:solidFill>
                  <a:srgbClr val="C2C4B5"/>
                </a:solidFill>
                <a:latin typeface="Outfit Bold" pitchFamily="34" charset="0"/>
                <a:ea typeface="Outfit Bold" pitchFamily="34" charset="-122"/>
                <a:cs typeface="Outfit Bold" pitchFamily="34" charset="-120"/>
              </a:rPr>
              <a:t>Disaster Reasoning</a:t>
            </a:r>
            <a:endParaRPr lang="en-US" sz="1650" dirty="0"/>
          </a:p>
        </p:txBody>
      </p:sp>
      <p:sp>
        <p:nvSpPr>
          <p:cNvPr id="15" name="Text 10"/>
          <p:cNvSpPr/>
          <p:nvPr/>
        </p:nvSpPr>
        <p:spPr>
          <a:xfrm>
            <a:off x="850581" y="5126534"/>
            <a:ext cx="4979565" cy="775692"/>
          </a:xfrm>
          <a:prstGeom prst="rect">
            <a:avLst/>
          </a:prstGeom>
          <a:noFill/>
          <a:ln/>
        </p:spPr>
        <p:txBody>
          <a:bodyPr wrap="square" lIns="0" tIns="0" rIns="0" bIns="0" rtlCol="0" anchor="t">
            <a:normAutofit/>
          </a:bodyPr>
          <a:lstStyle/>
          <a:p>
            <a:pPr marL="0" indent="0" algn="l">
              <a:lnSpc>
                <a:spcPct val="127000"/>
              </a:lnSpc>
              <a:buNone/>
            </a:pPr>
            <a:r>
              <a:rPr lang="en-US" sz="1300" dirty="0">
                <a:solidFill>
                  <a:srgbClr val="C2C4B5"/>
                </a:solidFill>
                <a:latin typeface="Bitter" pitchFamily="34" charset="0"/>
                <a:ea typeface="Bitter" pitchFamily="34" charset="-122"/>
                <a:cs typeface="Bitter" pitchFamily="34" charset="-120"/>
              </a:rPr>
              <a:t>Fine-tune a </a:t>
            </a:r>
            <a:r>
              <a:rPr lang="en-US" sz="1300" b="1" dirty="0">
                <a:solidFill>
                  <a:srgbClr val="C2C4B5"/>
                </a:solidFill>
                <a:latin typeface="Bitter Bold" pitchFamily="34" charset="0"/>
                <a:ea typeface="Bitter Bold" pitchFamily="34" charset="-122"/>
                <a:cs typeface="Bitter Bold" pitchFamily="34" charset="-120"/>
              </a:rPr>
              <a:t>Large Vision-Language Model (VLM)</a:t>
            </a:r>
            <a:r>
              <a:rPr lang="en-US" sz="1300" dirty="0">
                <a:solidFill>
                  <a:srgbClr val="C2C4B5"/>
                </a:solidFill>
                <a:latin typeface="Bitter" pitchFamily="34" charset="0"/>
                <a:ea typeface="Bitter" pitchFamily="34" charset="-122"/>
                <a:cs typeface="Bitter" pitchFamily="34" charset="-120"/>
              </a:rPr>
              <a:t> specifically on disaster datasets (DisasterM3) to enable domain-specific contextual reasoning.</a:t>
            </a:r>
            <a:endParaRPr lang="en-US" sz="1300" dirty="0"/>
          </a:p>
        </p:txBody>
      </p:sp>
      <p:pic>
        <p:nvPicPr>
          <p:cNvPr id="16" name="Image 3"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172343" y="4086622"/>
            <a:ext cx="5357877" cy="2004715"/>
          </a:xfrm>
          <a:prstGeom prst="rect">
            <a:avLst/>
          </a:prstGeom>
        </p:spPr>
      </p:pic>
      <p:sp>
        <p:nvSpPr>
          <p:cNvPr id="17" name="Text 11"/>
          <p:cNvSpPr/>
          <p:nvPr/>
        </p:nvSpPr>
        <p:spPr>
          <a:xfrm>
            <a:off x="8723690" y="4201319"/>
            <a:ext cx="255085" cy="318889"/>
          </a:xfrm>
          <a:prstGeom prst="rect">
            <a:avLst/>
          </a:prstGeom>
          <a:noFill/>
          <a:ln/>
        </p:spPr>
        <p:txBody>
          <a:bodyPr wrap="none" lIns="0" tIns="0" rIns="0" bIns="0" rtlCol="0" anchor="ctr"/>
          <a:lstStyle/>
          <a:p>
            <a:pPr marL="0" indent="0" algn="ctr">
              <a:lnSpc>
                <a:spcPct val="100000"/>
              </a:lnSpc>
              <a:buNone/>
            </a:pPr>
            <a:r>
              <a:rPr lang="en-US" sz="2000" b="1" dirty="0">
                <a:solidFill>
                  <a:srgbClr val="C2C4B5"/>
                </a:solidFill>
                <a:latin typeface="Outfit Bold" pitchFamily="34" charset="0"/>
                <a:ea typeface="Outfit Bold" pitchFamily="34" charset="-122"/>
                <a:cs typeface="Outfit Bold" pitchFamily="34" charset="-120"/>
              </a:rPr>
              <a:t>4</a:t>
            </a:r>
            <a:endParaRPr lang="en-US" sz="2000" dirty="0"/>
          </a:p>
        </p:txBody>
      </p:sp>
      <p:sp>
        <p:nvSpPr>
          <p:cNvPr id="18" name="Text 12"/>
          <p:cNvSpPr/>
          <p:nvPr/>
        </p:nvSpPr>
        <p:spPr>
          <a:xfrm>
            <a:off x="6361449" y="4769048"/>
            <a:ext cx="4979664" cy="265708"/>
          </a:xfrm>
          <a:prstGeom prst="rect">
            <a:avLst/>
          </a:prstGeom>
          <a:noFill/>
          <a:ln/>
        </p:spPr>
        <p:txBody>
          <a:bodyPr wrap="none" lIns="0" tIns="0" rIns="0" bIns="0" rtlCol="0" anchor="t"/>
          <a:lstStyle/>
          <a:p>
            <a:pPr marL="0" indent="0" algn="l">
              <a:lnSpc>
                <a:spcPct val="104000"/>
              </a:lnSpc>
              <a:buNone/>
            </a:pPr>
            <a:r>
              <a:rPr lang="en-US" sz="1650" b="1" dirty="0">
                <a:solidFill>
                  <a:srgbClr val="C2C4B5"/>
                </a:solidFill>
                <a:latin typeface="Outfit Bold" pitchFamily="34" charset="0"/>
                <a:ea typeface="Outfit Bold" pitchFamily="34" charset="-122"/>
                <a:cs typeface="Outfit Bold" pitchFamily="34" charset="-120"/>
              </a:rPr>
              <a:t>Autonomous Triage</a:t>
            </a:r>
            <a:endParaRPr lang="en-US" sz="1650" dirty="0"/>
          </a:p>
        </p:txBody>
      </p:sp>
      <p:sp>
        <p:nvSpPr>
          <p:cNvPr id="19" name="Text 13"/>
          <p:cNvSpPr/>
          <p:nvPr/>
        </p:nvSpPr>
        <p:spPr>
          <a:xfrm>
            <a:off x="6361449" y="5126534"/>
            <a:ext cx="4979664" cy="775692"/>
          </a:xfrm>
          <a:prstGeom prst="rect">
            <a:avLst/>
          </a:prstGeom>
          <a:noFill/>
          <a:ln/>
        </p:spPr>
        <p:txBody>
          <a:bodyPr wrap="square" lIns="0" tIns="0" rIns="0" bIns="0" rtlCol="0" anchor="t">
            <a:normAutofit/>
          </a:bodyPr>
          <a:lstStyle/>
          <a:p>
            <a:pPr marL="0" indent="0" algn="l">
              <a:lnSpc>
                <a:spcPct val="127000"/>
              </a:lnSpc>
              <a:buNone/>
            </a:pPr>
            <a:r>
              <a:rPr lang="en-US" sz="1300" dirty="0">
                <a:solidFill>
                  <a:srgbClr val="C2C4B5"/>
                </a:solidFill>
                <a:latin typeface="Bitter" pitchFamily="34" charset="0"/>
                <a:ea typeface="Bitter" pitchFamily="34" charset="-122"/>
                <a:cs typeface="Bitter" pitchFamily="34" charset="-120"/>
              </a:rPr>
              <a:t>Orchestrate VLM outputs into a </a:t>
            </a:r>
            <a:r>
              <a:rPr lang="en-US" sz="1300" b="1" dirty="0">
                <a:solidFill>
                  <a:srgbClr val="C2C4B5"/>
                </a:solidFill>
                <a:latin typeface="Bitter Bold" pitchFamily="34" charset="0"/>
                <a:ea typeface="Bitter Bold" pitchFamily="34" charset="-122"/>
                <a:cs typeface="Bitter Bold" pitchFamily="34" charset="-120"/>
              </a:rPr>
              <a:t>multi-agent system</a:t>
            </a:r>
            <a:r>
              <a:rPr lang="en-US" sz="1300" dirty="0">
                <a:solidFill>
                  <a:srgbClr val="C2C4B5"/>
                </a:solidFill>
                <a:latin typeface="Bitter" pitchFamily="34" charset="0"/>
                <a:ea typeface="Bitter" pitchFamily="34" charset="-122"/>
                <a:cs typeface="Bitter" pitchFamily="34" charset="-120"/>
              </a:rPr>
              <a:t> to automate public alerts and resource allocation without human bottlenecks.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661475" y="524966"/>
            <a:ext cx="10325239" cy="5808067"/>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61475" y="543421"/>
            <a:ext cx="10868745" cy="561181"/>
          </a:xfrm>
          <a:prstGeom prst="rect">
            <a:avLst/>
          </a:prstGeom>
          <a:noFill/>
          <a:ln/>
        </p:spPr>
        <p:txBody>
          <a:bodyPr wrap="none" lIns="0" tIns="0" rIns="0" bIns="0" rtlCol="0" anchor="t"/>
          <a:lstStyle/>
          <a:p>
            <a:pPr marL="0" indent="0" algn="l">
              <a:lnSpc>
                <a:spcPct val="104000"/>
              </a:lnSpc>
              <a:buNone/>
            </a:pPr>
            <a:r>
              <a:rPr lang="en-US" sz="3500" b="1" dirty="0">
                <a:solidFill>
                  <a:srgbClr val="E1E5CD"/>
                </a:solidFill>
                <a:latin typeface="Outfit Bold" pitchFamily="34" charset="0"/>
                <a:ea typeface="Outfit Bold" pitchFamily="34" charset="-122"/>
                <a:cs typeface="Outfit Bold" pitchFamily="34" charset="-120"/>
              </a:rPr>
              <a:t>System Architecture</a:t>
            </a:r>
            <a:endParaRPr lang="en-US" sz="3500" dirty="0"/>
          </a:p>
        </p:txBody>
      </p:sp>
      <p:sp>
        <p:nvSpPr>
          <p:cNvPr id="3" name="Shape 1"/>
          <p:cNvSpPr/>
          <p:nvPr/>
        </p:nvSpPr>
        <p:spPr>
          <a:xfrm>
            <a:off x="6083148" y="1917700"/>
            <a:ext cx="25399" cy="4396879"/>
          </a:xfrm>
          <a:prstGeom prst="roundRect">
            <a:avLst>
              <a:gd name="adj" fmla="val 50001"/>
            </a:avLst>
          </a:prstGeom>
          <a:solidFill>
            <a:srgbClr val="545557"/>
          </a:solidFill>
          <a:ln/>
        </p:spPr>
        <p:txBody>
          <a:bodyPr/>
          <a:lstStyle/>
          <a:p>
            <a:endParaRPr lang="en-US"/>
          </a:p>
        </p:txBody>
      </p:sp>
      <p:sp>
        <p:nvSpPr>
          <p:cNvPr id="4" name="Shape 2"/>
          <p:cNvSpPr/>
          <p:nvPr/>
        </p:nvSpPr>
        <p:spPr>
          <a:xfrm>
            <a:off x="5762183" y="2107009"/>
            <a:ext cx="359064" cy="25400"/>
          </a:xfrm>
          <a:prstGeom prst="roundRect">
            <a:avLst>
              <a:gd name="adj" fmla="val 49999"/>
            </a:avLst>
          </a:prstGeom>
          <a:solidFill>
            <a:srgbClr val="545557"/>
          </a:solidFill>
          <a:ln/>
        </p:spPr>
        <p:txBody>
          <a:bodyPr/>
          <a:lstStyle/>
          <a:p>
            <a:endParaRPr lang="en-US"/>
          </a:p>
        </p:txBody>
      </p:sp>
      <p:sp>
        <p:nvSpPr>
          <p:cNvPr id="5" name="Shape 3"/>
          <p:cNvSpPr/>
          <p:nvPr/>
        </p:nvSpPr>
        <p:spPr>
          <a:xfrm>
            <a:off x="6028529" y="2052389"/>
            <a:ext cx="134636" cy="134640"/>
          </a:xfrm>
          <a:prstGeom prst="ellipse">
            <a:avLst/>
          </a:prstGeom>
          <a:solidFill>
            <a:srgbClr val="9FA582"/>
          </a:solidFill>
          <a:ln/>
        </p:spPr>
        <p:txBody>
          <a:bodyPr/>
          <a:lstStyle/>
          <a:p>
            <a:endParaRPr lang="en-US"/>
          </a:p>
        </p:txBody>
      </p:sp>
      <p:sp>
        <p:nvSpPr>
          <p:cNvPr id="6" name="Text 4"/>
          <p:cNvSpPr/>
          <p:nvPr/>
        </p:nvSpPr>
        <p:spPr>
          <a:xfrm>
            <a:off x="661475" y="1979414"/>
            <a:ext cx="4716146" cy="280491"/>
          </a:xfrm>
          <a:prstGeom prst="rect">
            <a:avLst/>
          </a:prstGeom>
          <a:noFill/>
          <a:ln/>
        </p:spPr>
        <p:txBody>
          <a:bodyPr wrap="none" lIns="0" tIns="0" rIns="0" bIns="0" rtlCol="0" anchor="t"/>
          <a:lstStyle/>
          <a:p>
            <a:pPr marL="0" indent="0" algn="r">
              <a:lnSpc>
                <a:spcPct val="104000"/>
              </a:lnSpc>
              <a:buNone/>
            </a:pPr>
            <a:r>
              <a:rPr lang="en-US" sz="1750" b="1" dirty="0">
                <a:solidFill>
                  <a:srgbClr val="C2C4B5"/>
                </a:solidFill>
                <a:latin typeface="Outfit Bold" pitchFamily="34" charset="0"/>
                <a:ea typeface="Outfit Bold" pitchFamily="34" charset="-122"/>
                <a:cs typeface="Outfit Bold" pitchFamily="34" charset="-120"/>
              </a:rPr>
              <a:t>High-Res Image Input</a:t>
            </a:r>
            <a:endParaRPr lang="en-US" sz="1750" dirty="0"/>
          </a:p>
        </p:txBody>
      </p:sp>
      <p:sp>
        <p:nvSpPr>
          <p:cNvPr id="7" name="Text 5"/>
          <p:cNvSpPr/>
          <p:nvPr/>
        </p:nvSpPr>
        <p:spPr>
          <a:xfrm>
            <a:off x="661475" y="2362200"/>
            <a:ext cx="4716146" cy="280095"/>
          </a:xfrm>
          <a:prstGeom prst="rect">
            <a:avLst/>
          </a:prstGeom>
          <a:noFill/>
          <a:ln/>
        </p:spPr>
        <p:txBody>
          <a:bodyPr wrap="none" lIns="0" tIns="0" rIns="0" bIns="0" rtlCol="0" anchor="t"/>
          <a:lstStyle/>
          <a:p>
            <a:pPr marL="0" indent="0" algn="r">
              <a:lnSpc>
                <a:spcPct val="130000"/>
              </a:lnSpc>
              <a:buNone/>
            </a:pPr>
            <a:r>
              <a:rPr lang="en-US" sz="1400" dirty="0">
                <a:solidFill>
                  <a:srgbClr val="C2C4B5"/>
                </a:solidFill>
                <a:latin typeface="Bitter" pitchFamily="34" charset="0"/>
                <a:ea typeface="Bitter" pitchFamily="34" charset="-122"/>
                <a:cs typeface="Bitter" pitchFamily="34" charset="-120"/>
              </a:rPr>
              <a:t>VRT-enhanced aerial image fed into triage module</a:t>
            </a:r>
            <a:endParaRPr lang="en-US" sz="1400" dirty="0"/>
          </a:p>
        </p:txBody>
      </p:sp>
      <p:sp>
        <p:nvSpPr>
          <p:cNvPr id="8" name="Shape 6"/>
          <p:cNvSpPr/>
          <p:nvPr/>
        </p:nvSpPr>
        <p:spPr>
          <a:xfrm>
            <a:off x="6070448" y="3166368"/>
            <a:ext cx="359064" cy="25400"/>
          </a:xfrm>
          <a:prstGeom prst="roundRect">
            <a:avLst>
              <a:gd name="adj" fmla="val 49999"/>
            </a:avLst>
          </a:prstGeom>
          <a:solidFill>
            <a:srgbClr val="545557"/>
          </a:solidFill>
          <a:ln/>
        </p:spPr>
        <p:txBody>
          <a:bodyPr/>
          <a:lstStyle/>
          <a:p>
            <a:endParaRPr lang="en-US"/>
          </a:p>
        </p:txBody>
      </p:sp>
      <p:sp>
        <p:nvSpPr>
          <p:cNvPr id="9" name="Shape 7"/>
          <p:cNvSpPr/>
          <p:nvPr/>
        </p:nvSpPr>
        <p:spPr>
          <a:xfrm>
            <a:off x="6028529" y="3111748"/>
            <a:ext cx="134636" cy="134640"/>
          </a:xfrm>
          <a:prstGeom prst="ellipse">
            <a:avLst/>
          </a:prstGeom>
          <a:solidFill>
            <a:srgbClr val="9FA582"/>
          </a:solidFill>
          <a:ln/>
        </p:spPr>
        <p:txBody>
          <a:bodyPr/>
          <a:lstStyle/>
          <a:p>
            <a:endParaRPr lang="en-US"/>
          </a:p>
        </p:txBody>
      </p:sp>
      <p:sp>
        <p:nvSpPr>
          <p:cNvPr id="10" name="Text 8"/>
          <p:cNvSpPr/>
          <p:nvPr/>
        </p:nvSpPr>
        <p:spPr>
          <a:xfrm>
            <a:off x="6814074" y="3038773"/>
            <a:ext cx="4716146" cy="280491"/>
          </a:xfrm>
          <a:prstGeom prst="rect">
            <a:avLst/>
          </a:prstGeom>
          <a:noFill/>
          <a:ln/>
        </p:spPr>
        <p:txBody>
          <a:bodyPr wrap="none" lIns="0" tIns="0" rIns="0" bIns="0" rtlCol="0" anchor="t"/>
          <a:lstStyle/>
          <a:p>
            <a:pPr marL="0" indent="0" algn="l">
              <a:lnSpc>
                <a:spcPct val="104000"/>
              </a:lnSpc>
              <a:buNone/>
            </a:pPr>
            <a:r>
              <a:rPr lang="en-US" sz="1750" b="1" dirty="0">
                <a:solidFill>
                  <a:srgbClr val="C2C4B5"/>
                </a:solidFill>
                <a:latin typeface="Outfit Bold" pitchFamily="34" charset="0"/>
                <a:ea typeface="Outfit Bold" pitchFamily="34" charset="-122"/>
                <a:cs typeface="Outfit Bold" pitchFamily="34" charset="-120"/>
              </a:rPr>
              <a:t>U-Net Bounding Boxes</a:t>
            </a:r>
            <a:endParaRPr lang="en-US" sz="1750" dirty="0"/>
          </a:p>
        </p:txBody>
      </p:sp>
      <p:sp>
        <p:nvSpPr>
          <p:cNvPr id="11" name="Text 9"/>
          <p:cNvSpPr/>
          <p:nvPr/>
        </p:nvSpPr>
        <p:spPr>
          <a:xfrm>
            <a:off x="6814074" y="3421559"/>
            <a:ext cx="4716146" cy="560189"/>
          </a:xfrm>
          <a:prstGeom prst="rect">
            <a:avLst/>
          </a:prstGeom>
          <a:noFill/>
          <a:ln/>
        </p:spPr>
        <p:txBody>
          <a:bodyPr wrap="square" lIns="0" tIns="0" rIns="0" bIns="0" rtlCol="0" anchor="t">
            <a:normAutofit/>
          </a:bodyPr>
          <a:lstStyle/>
          <a:p>
            <a:pPr marL="0" indent="0" algn="l">
              <a:lnSpc>
                <a:spcPct val="130000"/>
              </a:lnSpc>
              <a:buNone/>
            </a:pPr>
            <a:r>
              <a:rPr lang="en-US" sz="1400" dirty="0">
                <a:solidFill>
                  <a:srgbClr val="C2C4B5"/>
                </a:solidFill>
                <a:latin typeface="Bitter" pitchFamily="34" charset="0"/>
                <a:ea typeface="Bitter" pitchFamily="34" charset="-122"/>
                <a:cs typeface="Bitter" pitchFamily="34" charset="-120"/>
              </a:rPr>
              <a:t>Lightweight 21M-parameter U-Net outputs spatial bounding boxes around damaged structures</a:t>
            </a:r>
            <a:endParaRPr lang="en-US" sz="1400" dirty="0"/>
          </a:p>
        </p:txBody>
      </p:sp>
      <p:sp>
        <p:nvSpPr>
          <p:cNvPr id="12" name="Shape 10"/>
          <p:cNvSpPr/>
          <p:nvPr/>
        </p:nvSpPr>
        <p:spPr>
          <a:xfrm>
            <a:off x="5762183" y="4086027"/>
            <a:ext cx="359064" cy="25400"/>
          </a:xfrm>
          <a:prstGeom prst="roundRect">
            <a:avLst>
              <a:gd name="adj" fmla="val 49999"/>
            </a:avLst>
          </a:prstGeom>
          <a:solidFill>
            <a:srgbClr val="545557"/>
          </a:solidFill>
          <a:ln/>
        </p:spPr>
        <p:txBody>
          <a:bodyPr/>
          <a:lstStyle/>
          <a:p>
            <a:endParaRPr lang="en-US"/>
          </a:p>
        </p:txBody>
      </p:sp>
      <p:sp>
        <p:nvSpPr>
          <p:cNvPr id="13" name="Shape 11"/>
          <p:cNvSpPr/>
          <p:nvPr/>
        </p:nvSpPr>
        <p:spPr>
          <a:xfrm>
            <a:off x="6028529" y="4031407"/>
            <a:ext cx="134636" cy="134640"/>
          </a:xfrm>
          <a:prstGeom prst="ellipse">
            <a:avLst/>
          </a:prstGeom>
          <a:solidFill>
            <a:srgbClr val="9FA582"/>
          </a:solidFill>
          <a:ln/>
        </p:spPr>
        <p:txBody>
          <a:bodyPr/>
          <a:lstStyle/>
          <a:p>
            <a:endParaRPr lang="en-US"/>
          </a:p>
        </p:txBody>
      </p:sp>
      <p:sp>
        <p:nvSpPr>
          <p:cNvPr id="14" name="Text 12"/>
          <p:cNvSpPr/>
          <p:nvPr/>
        </p:nvSpPr>
        <p:spPr>
          <a:xfrm>
            <a:off x="661475" y="3958431"/>
            <a:ext cx="4716146" cy="280491"/>
          </a:xfrm>
          <a:prstGeom prst="rect">
            <a:avLst/>
          </a:prstGeom>
          <a:noFill/>
          <a:ln/>
        </p:spPr>
        <p:txBody>
          <a:bodyPr wrap="none" lIns="0" tIns="0" rIns="0" bIns="0" rtlCol="0" anchor="t"/>
          <a:lstStyle/>
          <a:p>
            <a:pPr marL="0" indent="0" algn="r">
              <a:lnSpc>
                <a:spcPct val="104000"/>
              </a:lnSpc>
              <a:buNone/>
            </a:pPr>
            <a:r>
              <a:rPr lang="en-US" sz="1750" b="1" dirty="0">
                <a:solidFill>
                  <a:srgbClr val="C2C4B5"/>
                </a:solidFill>
                <a:latin typeface="Outfit Bold" pitchFamily="34" charset="0"/>
                <a:ea typeface="Outfit Bold" pitchFamily="34" charset="-122"/>
                <a:cs typeface="Outfit Bold" pitchFamily="34" charset="-120"/>
              </a:rPr>
              <a:t>Cropped Region Extraction</a:t>
            </a:r>
            <a:endParaRPr lang="en-US" sz="1750" dirty="0"/>
          </a:p>
        </p:txBody>
      </p:sp>
      <p:sp>
        <p:nvSpPr>
          <p:cNvPr id="15" name="Text 13"/>
          <p:cNvSpPr/>
          <p:nvPr/>
        </p:nvSpPr>
        <p:spPr>
          <a:xfrm>
            <a:off x="661475" y="4341217"/>
            <a:ext cx="4716146" cy="560189"/>
          </a:xfrm>
          <a:prstGeom prst="rect">
            <a:avLst/>
          </a:prstGeom>
          <a:noFill/>
          <a:ln/>
        </p:spPr>
        <p:txBody>
          <a:bodyPr wrap="square" lIns="0" tIns="0" rIns="0" bIns="0" rtlCol="0" anchor="t">
            <a:normAutofit/>
          </a:bodyPr>
          <a:lstStyle/>
          <a:p>
            <a:pPr marL="0" indent="0" algn="r">
              <a:lnSpc>
                <a:spcPct val="130000"/>
              </a:lnSpc>
              <a:buNone/>
            </a:pPr>
            <a:r>
              <a:rPr lang="en-US" sz="1400" dirty="0">
                <a:solidFill>
                  <a:srgbClr val="C2C4B5"/>
                </a:solidFill>
                <a:latin typeface="Bitter" pitchFamily="34" charset="0"/>
                <a:ea typeface="Bitter" pitchFamily="34" charset="-122"/>
                <a:cs typeface="Bitter" pitchFamily="34" charset="-120"/>
              </a:rPr>
              <a:t>Bounding box crops isolate damage zones for focused analysis</a:t>
            </a:r>
            <a:endParaRPr lang="en-US" sz="1400" dirty="0"/>
          </a:p>
        </p:txBody>
      </p:sp>
      <p:sp>
        <p:nvSpPr>
          <p:cNvPr id="16" name="Shape 14"/>
          <p:cNvSpPr/>
          <p:nvPr/>
        </p:nvSpPr>
        <p:spPr>
          <a:xfrm>
            <a:off x="6070448" y="5005685"/>
            <a:ext cx="359064" cy="25400"/>
          </a:xfrm>
          <a:prstGeom prst="roundRect">
            <a:avLst>
              <a:gd name="adj" fmla="val 49999"/>
            </a:avLst>
          </a:prstGeom>
          <a:solidFill>
            <a:srgbClr val="545557"/>
          </a:solidFill>
          <a:ln/>
        </p:spPr>
        <p:txBody>
          <a:bodyPr/>
          <a:lstStyle/>
          <a:p>
            <a:endParaRPr lang="en-US"/>
          </a:p>
        </p:txBody>
      </p:sp>
      <p:sp>
        <p:nvSpPr>
          <p:cNvPr id="17" name="Shape 15"/>
          <p:cNvSpPr/>
          <p:nvPr/>
        </p:nvSpPr>
        <p:spPr>
          <a:xfrm>
            <a:off x="6028529" y="4951065"/>
            <a:ext cx="134636" cy="134640"/>
          </a:xfrm>
          <a:prstGeom prst="ellipse">
            <a:avLst/>
          </a:prstGeom>
          <a:solidFill>
            <a:srgbClr val="9FA582"/>
          </a:solidFill>
          <a:ln/>
        </p:spPr>
        <p:txBody>
          <a:bodyPr/>
          <a:lstStyle/>
          <a:p>
            <a:endParaRPr lang="en-US"/>
          </a:p>
        </p:txBody>
      </p:sp>
      <p:sp>
        <p:nvSpPr>
          <p:cNvPr id="18" name="Text 16"/>
          <p:cNvSpPr/>
          <p:nvPr/>
        </p:nvSpPr>
        <p:spPr>
          <a:xfrm>
            <a:off x="6814074" y="4878090"/>
            <a:ext cx="4716146" cy="280491"/>
          </a:xfrm>
          <a:prstGeom prst="rect">
            <a:avLst/>
          </a:prstGeom>
          <a:noFill/>
          <a:ln/>
        </p:spPr>
        <p:txBody>
          <a:bodyPr wrap="none" lIns="0" tIns="0" rIns="0" bIns="0" rtlCol="0" anchor="t"/>
          <a:lstStyle/>
          <a:p>
            <a:pPr marL="0" indent="0" algn="l">
              <a:lnSpc>
                <a:spcPct val="104000"/>
              </a:lnSpc>
              <a:buNone/>
            </a:pPr>
            <a:r>
              <a:rPr lang="en-US" sz="1750" b="1" dirty="0">
                <a:solidFill>
                  <a:srgbClr val="C2C4B5"/>
                </a:solidFill>
                <a:latin typeface="Outfit Bold" pitchFamily="34" charset="0"/>
                <a:ea typeface="Outfit Bold" pitchFamily="34" charset="-122"/>
                <a:cs typeface="Outfit Bold" pitchFamily="34" charset="-120"/>
              </a:rPr>
              <a:t>Qwen2.5-VL Reasoning</a:t>
            </a:r>
            <a:endParaRPr lang="en-US" sz="1750" dirty="0"/>
          </a:p>
        </p:txBody>
      </p:sp>
      <p:sp>
        <p:nvSpPr>
          <p:cNvPr id="19" name="Text 17"/>
          <p:cNvSpPr/>
          <p:nvPr/>
        </p:nvSpPr>
        <p:spPr>
          <a:xfrm>
            <a:off x="6814074" y="5260876"/>
            <a:ext cx="4716146" cy="560189"/>
          </a:xfrm>
          <a:prstGeom prst="rect">
            <a:avLst/>
          </a:prstGeom>
          <a:noFill/>
          <a:ln/>
        </p:spPr>
        <p:txBody>
          <a:bodyPr wrap="square" lIns="0" tIns="0" rIns="0" bIns="0" rtlCol="0" anchor="t">
            <a:normAutofit/>
          </a:bodyPr>
          <a:lstStyle/>
          <a:p>
            <a:pPr marL="0" indent="0" algn="l">
              <a:lnSpc>
                <a:spcPct val="130000"/>
              </a:lnSpc>
              <a:buNone/>
            </a:pPr>
            <a:r>
              <a:rPr lang="en-US" sz="1400" dirty="0">
                <a:solidFill>
                  <a:srgbClr val="C2C4B5"/>
                </a:solidFill>
                <a:latin typeface="Bitter" pitchFamily="34" charset="0"/>
                <a:ea typeface="Bitter" pitchFamily="34" charset="-122"/>
                <a:cs typeface="Bitter" pitchFamily="34" charset="-120"/>
              </a:rPr>
              <a:t>VLM performs detailed damage classification and contextual reasoning on each crop</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61475" y="539552"/>
            <a:ext cx="10868745" cy="590649"/>
          </a:xfrm>
          <a:prstGeom prst="rect">
            <a:avLst/>
          </a:prstGeom>
          <a:noFill/>
          <a:ln/>
        </p:spPr>
        <p:txBody>
          <a:bodyPr wrap="none" lIns="0" tIns="0" rIns="0" bIns="0" rtlCol="0" anchor="t"/>
          <a:lstStyle/>
          <a:p>
            <a:pPr marL="0" indent="0" algn="l">
              <a:lnSpc>
                <a:spcPct val="104000"/>
              </a:lnSpc>
              <a:buNone/>
            </a:pPr>
            <a:r>
              <a:rPr lang="en-US" sz="3700" b="1" dirty="0">
                <a:solidFill>
                  <a:srgbClr val="E1E5CD"/>
                </a:solidFill>
                <a:latin typeface="Outfit Bold" pitchFamily="34" charset="0"/>
                <a:ea typeface="Outfit Bold" pitchFamily="34" charset="-122"/>
                <a:cs typeface="Outfit Bold" pitchFamily="34" charset="-120"/>
              </a:rPr>
              <a:t>The Limitation of Vision-Language Models (VLMs)</a:t>
            </a:r>
            <a:endParaRPr lang="en-US" sz="3700" dirty="0"/>
          </a:p>
        </p:txBody>
      </p:sp>
      <p:sp>
        <p:nvSpPr>
          <p:cNvPr id="3" name="Text 1"/>
          <p:cNvSpPr/>
          <p:nvPr/>
        </p:nvSpPr>
        <p:spPr>
          <a:xfrm>
            <a:off x="661475" y="1508224"/>
            <a:ext cx="11478330" cy="302419"/>
          </a:xfrm>
          <a:prstGeom prst="rect">
            <a:avLst/>
          </a:prstGeom>
          <a:noFill/>
          <a:ln/>
        </p:spPr>
        <p:txBody>
          <a:bodyPr wrap="none" lIns="0" tIns="0" rIns="0" bIns="0" rtlCol="0" anchor="t"/>
          <a:lstStyle/>
          <a:p>
            <a:pPr marL="0" indent="0" algn="l">
              <a:lnSpc>
                <a:spcPct val="133000"/>
              </a:lnSpc>
              <a:buNone/>
            </a:pPr>
            <a:r>
              <a:rPr lang="en-US" sz="1450" dirty="0">
                <a:solidFill>
                  <a:srgbClr val="C2C4B5"/>
                </a:solidFill>
                <a:latin typeface="Bitter" pitchFamily="34" charset="0"/>
                <a:ea typeface="Bitter" pitchFamily="34" charset="-122"/>
                <a:cs typeface="Bitter" pitchFamily="34" charset="-120"/>
              </a:rPr>
              <a:t>Understanding the spatial bottleneck is crucial for effective disaster response.</a:t>
            </a:r>
            <a:endParaRPr lang="en-US" sz="1450" dirty="0"/>
          </a:p>
        </p:txBody>
      </p:sp>
      <p:pic>
        <p:nvPicPr>
          <p:cNvPr id="4" name="Image 0" descr="preencoded.png"/>
          <p:cNvPicPr>
            <a:picLocks noChangeAspect="1"/>
          </p:cNvPicPr>
          <p:nvPr/>
        </p:nvPicPr>
        <p:blipFill>
          <a:blip r:embed="rId3"/>
          <a:stretch>
            <a:fillRect/>
          </a:stretch>
        </p:blipFill>
        <p:spPr>
          <a:xfrm>
            <a:off x="661475" y="2023269"/>
            <a:ext cx="5434373" cy="756047"/>
          </a:xfrm>
          <a:prstGeom prst="rect">
            <a:avLst/>
          </a:prstGeom>
        </p:spPr>
      </p:pic>
      <p:sp>
        <p:nvSpPr>
          <p:cNvPr id="5" name="Text 2"/>
          <p:cNvSpPr/>
          <p:nvPr/>
        </p:nvSpPr>
        <p:spPr>
          <a:xfrm>
            <a:off x="850482" y="2968327"/>
            <a:ext cx="5056359" cy="295275"/>
          </a:xfrm>
          <a:prstGeom prst="rect">
            <a:avLst/>
          </a:prstGeom>
          <a:noFill/>
          <a:ln/>
        </p:spPr>
        <p:txBody>
          <a:bodyPr wrap="none" lIns="0" tIns="0" rIns="0" bIns="0" rtlCol="0" anchor="t"/>
          <a:lstStyle/>
          <a:p>
            <a:pPr marL="0" indent="0" algn="l">
              <a:lnSpc>
                <a:spcPct val="104000"/>
              </a:lnSpc>
              <a:buNone/>
            </a:pPr>
            <a:r>
              <a:rPr lang="en-US" sz="1850" b="1" dirty="0">
                <a:solidFill>
                  <a:srgbClr val="C2C4B5"/>
                </a:solidFill>
                <a:latin typeface="Outfit Bold" pitchFamily="34" charset="0"/>
                <a:ea typeface="Outfit Bold" pitchFamily="34" charset="-122"/>
                <a:cs typeface="Outfit Bold" pitchFamily="34" charset="-120"/>
              </a:rPr>
              <a:t>The Goal</a:t>
            </a:r>
            <a:endParaRPr lang="en-US" sz="1850" dirty="0"/>
          </a:p>
        </p:txBody>
      </p:sp>
      <p:sp>
        <p:nvSpPr>
          <p:cNvPr id="6" name="Text 3"/>
          <p:cNvSpPr/>
          <p:nvPr/>
        </p:nvSpPr>
        <p:spPr>
          <a:xfrm>
            <a:off x="850482" y="3377009"/>
            <a:ext cx="5056359" cy="604838"/>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C2C4B5"/>
                </a:solidFill>
                <a:latin typeface="Bitter" pitchFamily="34" charset="0"/>
                <a:ea typeface="Bitter" pitchFamily="34" charset="-122"/>
                <a:cs typeface="Bitter" pitchFamily="34" charset="-120"/>
              </a:rPr>
              <a:t>Rapidly assess disaster zones to deploy emergency resources</a:t>
            </a:r>
            <a:endParaRPr lang="en-US" sz="1450" dirty="0"/>
          </a:p>
        </p:txBody>
      </p:sp>
      <p:pic>
        <p:nvPicPr>
          <p:cNvPr id="7" name="Image 1" descr="preencoded.png"/>
          <p:cNvPicPr>
            <a:picLocks noChangeAspect="1"/>
          </p:cNvPicPr>
          <p:nvPr/>
        </p:nvPicPr>
        <p:blipFill>
          <a:blip r:embed="rId4"/>
          <a:stretch>
            <a:fillRect/>
          </a:stretch>
        </p:blipFill>
        <p:spPr>
          <a:xfrm>
            <a:off x="6095848" y="2023269"/>
            <a:ext cx="5434373" cy="756047"/>
          </a:xfrm>
          <a:prstGeom prst="rect">
            <a:avLst/>
          </a:prstGeom>
        </p:spPr>
      </p:pic>
      <p:sp>
        <p:nvSpPr>
          <p:cNvPr id="8" name="Text 4"/>
          <p:cNvSpPr/>
          <p:nvPr/>
        </p:nvSpPr>
        <p:spPr>
          <a:xfrm>
            <a:off x="6284854" y="2968327"/>
            <a:ext cx="5056359" cy="295275"/>
          </a:xfrm>
          <a:prstGeom prst="rect">
            <a:avLst/>
          </a:prstGeom>
          <a:noFill/>
          <a:ln/>
        </p:spPr>
        <p:txBody>
          <a:bodyPr wrap="none" lIns="0" tIns="0" rIns="0" bIns="0" rtlCol="0" anchor="t"/>
          <a:lstStyle/>
          <a:p>
            <a:pPr marL="0" indent="0" algn="l">
              <a:lnSpc>
                <a:spcPct val="104000"/>
              </a:lnSpc>
              <a:buNone/>
            </a:pPr>
            <a:r>
              <a:rPr lang="en-US" sz="1850" b="1" dirty="0">
                <a:solidFill>
                  <a:srgbClr val="C2C4B5"/>
                </a:solidFill>
                <a:latin typeface="Outfit Bold" pitchFamily="34" charset="0"/>
                <a:ea typeface="Outfit Bold" pitchFamily="34" charset="-122"/>
                <a:cs typeface="Outfit Bold" pitchFamily="34" charset="-120"/>
              </a:rPr>
              <a:t>The Problem</a:t>
            </a:r>
            <a:endParaRPr lang="en-US" sz="1850" dirty="0"/>
          </a:p>
        </p:txBody>
      </p:sp>
      <p:sp>
        <p:nvSpPr>
          <p:cNvPr id="9" name="Text 5"/>
          <p:cNvSpPr/>
          <p:nvPr/>
        </p:nvSpPr>
        <p:spPr>
          <a:xfrm>
            <a:off x="6284854" y="3377009"/>
            <a:ext cx="5056359" cy="604838"/>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C2C4B5"/>
                </a:solidFill>
                <a:latin typeface="Bitter" pitchFamily="34" charset="0"/>
                <a:ea typeface="Bitter" pitchFamily="34" charset="-122"/>
                <a:cs typeface="Bitter" pitchFamily="34" charset="-120"/>
              </a:rPr>
              <a:t>VLMs excel at reasoning but struggle with precise geometric mapping</a:t>
            </a:r>
            <a:endParaRPr lang="en-US" sz="1450" dirty="0"/>
          </a:p>
        </p:txBody>
      </p:sp>
      <p:pic>
        <p:nvPicPr>
          <p:cNvPr id="10" name="Image 2" descr="preencoded.png"/>
          <p:cNvPicPr>
            <a:picLocks noChangeAspect="1"/>
          </p:cNvPicPr>
          <p:nvPr/>
        </p:nvPicPr>
        <p:blipFill>
          <a:blip r:embed="rId5"/>
          <a:stretch>
            <a:fillRect/>
          </a:stretch>
        </p:blipFill>
        <p:spPr>
          <a:xfrm>
            <a:off x="661475" y="4170859"/>
            <a:ext cx="5434373" cy="756047"/>
          </a:xfrm>
          <a:prstGeom prst="rect">
            <a:avLst/>
          </a:prstGeom>
        </p:spPr>
      </p:pic>
      <p:sp>
        <p:nvSpPr>
          <p:cNvPr id="11" name="Text 6"/>
          <p:cNvSpPr/>
          <p:nvPr/>
        </p:nvSpPr>
        <p:spPr>
          <a:xfrm>
            <a:off x="850482" y="5115917"/>
            <a:ext cx="5056359" cy="295275"/>
          </a:xfrm>
          <a:prstGeom prst="rect">
            <a:avLst/>
          </a:prstGeom>
          <a:noFill/>
          <a:ln/>
        </p:spPr>
        <p:txBody>
          <a:bodyPr wrap="none" lIns="0" tIns="0" rIns="0" bIns="0" rtlCol="0" anchor="t"/>
          <a:lstStyle/>
          <a:p>
            <a:pPr marL="0" indent="0" algn="l">
              <a:lnSpc>
                <a:spcPct val="104000"/>
              </a:lnSpc>
              <a:buNone/>
            </a:pPr>
            <a:r>
              <a:rPr lang="en-US" sz="1850" b="1" dirty="0">
                <a:solidFill>
                  <a:srgbClr val="C2C4B5"/>
                </a:solidFill>
                <a:latin typeface="Outfit Bold" pitchFamily="34" charset="0"/>
                <a:ea typeface="Outfit Bold" pitchFamily="34" charset="-122"/>
                <a:cs typeface="Outfit Bold" pitchFamily="34" charset="-120"/>
              </a:rPr>
              <a:t>The Spatial Bottleneck</a:t>
            </a:r>
            <a:endParaRPr lang="en-US" sz="1850" dirty="0"/>
          </a:p>
        </p:txBody>
      </p:sp>
      <p:sp>
        <p:nvSpPr>
          <p:cNvPr id="12" name="Text 7"/>
          <p:cNvSpPr/>
          <p:nvPr/>
        </p:nvSpPr>
        <p:spPr>
          <a:xfrm>
            <a:off x="850482" y="5524599"/>
            <a:ext cx="5056359" cy="604838"/>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C2C4B5"/>
                </a:solidFill>
                <a:latin typeface="Bitter" pitchFamily="34" charset="0"/>
                <a:ea typeface="Bitter" pitchFamily="34" charset="-122"/>
                <a:cs typeface="Bitter" pitchFamily="34" charset="-120"/>
              </a:rPr>
              <a:t>VLMs can identify collapsed buildings but cannot generate exact geographical bounding boxes</a:t>
            </a:r>
            <a:endParaRPr lang="en-US" sz="1450" dirty="0"/>
          </a:p>
        </p:txBody>
      </p:sp>
      <p:pic>
        <p:nvPicPr>
          <p:cNvPr id="13" name="Image 3" descr="preencoded.png"/>
          <p:cNvPicPr>
            <a:picLocks noChangeAspect="1"/>
          </p:cNvPicPr>
          <p:nvPr/>
        </p:nvPicPr>
        <p:blipFill>
          <a:blip r:embed="rId6"/>
          <a:stretch>
            <a:fillRect/>
          </a:stretch>
        </p:blipFill>
        <p:spPr>
          <a:xfrm>
            <a:off x="6095848" y="4170859"/>
            <a:ext cx="5434373" cy="756047"/>
          </a:xfrm>
          <a:prstGeom prst="rect">
            <a:avLst/>
          </a:prstGeom>
        </p:spPr>
      </p:pic>
      <p:sp>
        <p:nvSpPr>
          <p:cNvPr id="14" name="Text 8"/>
          <p:cNvSpPr/>
          <p:nvPr/>
        </p:nvSpPr>
        <p:spPr>
          <a:xfrm>
            <a:off x="6284854" y="5115917"/>
            <a:ext cx="5056359" cy="295275"/>
          </a:xfrm>
          <a:prstGeom prst="rect">
            <a:avLst/>
          </a:prstGeom>
          <a:noFill/>
          <a:ln/>
        </p:spPr>
        <p:txBody>
          <a:bodyPr wrap="none" lIns="0" tIns="0" rIns="0" bIns="0" rtlCol="0" anchor="t"/>
          <a:lstStyle/>
          <a:p>
            <a:pPr marL="0" indent="0" algn="l">
              <a:lnSpc>
                <a:spcPct val="104000"/>
              </a:lnSpc>
              <a:buNone/>
            </a:pPr>
            <a:r>
              <a:rPr lang="en-US" sz="1850" b="1" dirty="0">
                <a:solidFill>
                  <a:srgbClr val="C2C4B5"/>
                </a:solidFill>
                <a:latin typeface="Outfit Bold" pitchFamily="34" charset="0"/>
                <a:ea typeface="Outfit Bold" pitchFamily="34" charset="-122"/>
                <a:cs typeface="Outfit Bold" pitchFamily="34" charset="-120"/>
              </a:rPr>
              <a:t>The Risk</a:t>
            </a:r>
            <a:endParaRPr lang="en-US" sz="1850" dirty="0"/>
          </a:p>
        </p:txBody>
      </p:sp>
      <p:sp>
        <p:nvSpPr>
          <p:cNvPr id="15" name="Text 9"/>
          <p:cNvSpPr/>
          <p:nvPr/>
        </p:nvSpPr>
        <p:spPr>
          <a:xfrm>
            <a:off x="6284854" y="5524599"/>
            <a:ext cx="5056359" cy="604838"/>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C2C4B5"/>
                </a:solidFill>
                <a:latin typeface="Bitter" pitchFamily="34" charset="0"/>
                <a:ea typeface="Bitter" pitchFamily="34" charset="-122"/>
                <a:cs typeface="Bitter" pitchFamily="34" charset="-120"/>
              </a:rPr>
              <a:t>Relying solely on VLMs leads to spatial hallucinations and dangerous misrouting</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61475" y="579735"/>
            <a:ext cx="10868745" cy="590649"/>
          </a:xfrm>
          <a:prstGeom prst="rect">
            <a:avLst/>
          </a:prstGeom>
          <a:noFill/>
          <a:ln/>
        </p:spPr>
        <p:txBody>
          <a:bodyPr wrap="none" lIns="0" tIns="0" rIns="0" bIns="0" rtlCol="0" anchor="t"/>
          <a:lstStyle/>
          <a:p>
            <a:pPr marL="0" indent="0" algn="l">
              <a:lnSpc>
                <a:spcPct val="104000"/>
              </a:lnSpc>
              <a:buNone/>
            </a:pPr>
            <a:r>
              <a:rPr lang="en-US" sz="3700" b="1" dirty="0">
                <a:solidFill>
                  <a:srgbClr val="E1E5CD"/>
                </a:solidFill>
                <a:latin typeface="Outfit Bold" pitchFamily="34" charset="0"/>
                <a:ea typeface="Outfit Bold" pitchFamily="34" charset="-122"/>
                <a:cs typeface="Outfit Bold" pitchFamily="34" charset="-120"/>
              </a:rPr>
              <a:t>Hybrid Triage Pipeline: U-Net Spatial Grounding</a:t>
            </a:r>
            <a:endParaRPr lang="en-US" sz="3700" dirty="0"/>
          </a:p>
        </p:txBody>
      </p:sp>
      <p:pic>
        <p:nvPicPr>
          <p:cNvPr id="3"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1475" y="1548408"/>
            <a:ext cx="472468" cy="472480"/>
          </a:xfrm>
          <a:prstGeom prst="rect">
            <a:avLst/>
          </a:prstGeom>
        </p:spPr>
      </p:pic>
      <p:sp>
        <p:nvSpPr>
          <p:cNvPr id="4" name="Text 1"/>
          <p:cNvSpPr/>
          <p:nvPr/>
        </p:nvSpPr>
        <p:spPr>
          <a:xfrm>
            <a:off x="661475" y="2257127"/>
            <a:ext cx="3465426" cy="295275"/>
          </a:xfrm>
          <a:prstGeom prst="rect">
            <a:avLst/>
          </a:prstGeom>
          <a:noFill/>
          <a:ln/>
        </p:spPr>
        <p:txBody>
          <a:bodyPr wrap="none" lIns="0" tIns="0" rIns="0" bIns="0" rtlCol="0" anchor="t"/>
          <a:lstStyle/>
          <a:p>
            <a:pPr marL="0" indent="0" algn="l">
              <a:lnSpc>
                <a:spcPct val="104000"/>
              </a:lnSpc>
              <a:buNone/>
            </a:pPr>
            <a:r>
              <a:rPr lang="en-US" sz="1850" b="1" dirty="0">
                <a:solidFill>
                  <a:srgbClr val="C2C4B5"/>
                </a:solidFill>
                <a:latin typeface="Outfit Bold" pitchFamily="34" charset="0"/>
                <a:ea typeface="Outfit Bold" pitchFamily="34" charset="-122"/>
                <a:cs typeface="Outfit Bold" pitchFamily="34" charset="-120"/>
              </a:rPr>
              <a:t>The Approach</a:t>
            </a:r>
            <a:endParaRPr lang="en-US" sz="1850" dirty="0"/>
          </a:p>
        </p:txBody>
      </p:sp>
      <p:sp>
        <p:nvSpPr>
          <p:cNvPr id="5" name="Text 2"/>
          <p:cNvSpPr/>
          <p:nvPr/>
        </p:nvSpPr>
        <p:spPr>
          <a:xfrm>
            <a:off x="661475" y="2665809"/>
            <a:ext cx="3465426" cy="1209675"/>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C2C4B5"/>
                </a:solidFill>
                <a:latin typeface="Bitter" pitchFamily="34" charset="0"/>
                <a:ea typeface="Bitter" pitchFamily="34" charset="-122"/>
                <a:cs typeface="Bitter" pitchFamily="34" charset="-120"/>
              </a:rPr>
              <a:t>Splitting the workload with a lightweight Semantic Segmentation model as Stage 1 for exact geography, Stage 2 (VLM) for reasoning.</a:t>
            </a:r>
            <a:endParaRPr lang="en-US" sz="1450" dirty="0"/>
          </a:p>
        </p:txBody>
      </p:sp>
      <p:pic>
        <p:nvPicPr>
          <p:cNvPr id="6"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363135" y="1548408"/>
            <a:ext cx="472468" cy="472480"/>
          </a:xfrm>
          <a:prstGeom prst="rect">
            <a:avLst/>
          </a:prstGeom>
        </p:spPr>
      </p:pic>
      <p:sp>
        <p:nvSpPr>
          <p:cNvPr id="7" name="Text 3"/>
          <p:cNvSpPr/>
          <p:nvPr/>
        </p:nvSpPr>
        <p:spPr>
          <a:xfrm>
            <a:off x="4363135" y="2257127"/>
            <a:ext cx="3465426" cy="295275"/>
          </a:xfrm>
          <a:prstGeom prst="rect">
            <a:avLst/>
          </a:prstGeom>
          <a:noFill/>
          <a:ln/>
        </p:spPr>
        <p:txBody>
          <a:bodyPr wrap="none" lIns="0" tIns="0" rIns="0" bIns="0" rtlCol="0" anchor="t"/>
          <a:lstStyle/>
          <a:p>
            <a:pPr marL="0" indent="0" algn="l">
              <a:lnSpc>
                <a:spcPct val="104000"/>
              </a:lnSpc>
              <a:buNone/>
            </a:pPr>
            <a:r>
              <a:rPr lang="en-US" sz="1850" b="1" dirty="0">
                <a:solidFill>
                  <a:srgbClr val="C2C4B5"/>
                </a:solidFill>
                <a:latin typeface="Outfit Bold" pitchFamily="34" charset="0"/>
                <a:ea typeface="Outfit Bold" pitchFamily="34" charset="-122"/>
                <a:cs typeface="Outfit Bold" pitchFamily="34" charset="-120"/>
              </a:rPr>
              <a:t>Architecture</a:t>
            </a:r>
            <a:endParaRPr lang="en-US" sz="1850" dirty="0"/>
          </a:p>
        </p:txBody>
      </p:sp>
      <p:sp>
        <p:nvSpPr>
          <p:cNvPr id="8" name="Text 4"/>
          <p:cNvSpPr/>
          <p:nvPr/>
        </p:nvSpPr>
        <p:spPr>
          <a:xfrm>
            <a:off x="4363135" y="2665809"/>
            <a:ext cx="3465426" cy="604838"/>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C2C4B5"/>
                </a:solidFill>
                <a:latin typeface="Bitter" pitchFamily="34" charset="0"/>
                <a:ea typeface="Bitter" pitchFamily="34" charset="-122"/>
                <a:cs typeface="Bitter" pitchFamily="34" charset="-120"/>
              </a:rPr>
              <a:t>ResNet34-backed U-Net chosen for proven ImageNet feature extraction.</a:t>
            </a:r>
            <a:endParaRPr lang="en-US" sz="1450" dirty="0"/>
          </a:p>
        </p:txBody>
      </p:sp>
      <p:pic>
        <p:nvPicPr>
          <p:cNvPr id="9"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064794" y="1548408"/>
            <a:ext cx="472468" cy="472480"/>
          </a:xfrm>
          <a:prstGeom prst="rect">
            <a:avLst/>
          </a:prstGeom>
        </p:spPr>
      </p:pic>
      <p:sp>
        <p:nvSpPr>
          <p:cNvPr id="10" name="Text 5"/>
          <p:cNvSpPr/>
          <p:nvPr/>
        </p:nvSpPr>
        <p:spPr>
          <a:xfrm>
            <a:off x="8064794" y="2257127"/>
            <a:ext cx="3465426" cy="295275"/>
          </a:xfrm>
          <a:prstGeom prst="rect">
            <a:avLst/>
          </a:prstGeom>
          <a:noFill/>
          <a:ln/>
        </p:spPr>
        <p:txBody>
          <a:bodyPr wrap="none" lIns="0" tIns="0" rIns="0" bIns="0" rtlCol="0" anchor="t"/>
          <a:lstStyle/>
          <a:p>
            <a:pPr marL="0" indent="0" algn="l">
              <a:lnSpc>
                <a:spcPct val="104000"/>
              </a:lnSpc>
              <a:buNone/>
            </a:pPr>
            <a:r>
              <a:rPr lang="en-US" sz="1850" b="1" dirty="0">
                <a:solidFill>
                  <a:srgbClr val="C2C4B5"/>
                </a:solidFill>
                <a:latin typeface="Outfit Bold" pitchFamily="34" charset="0"/>
                <a:ea typeface="Outfit Bold" pitchFamily="34" charset="-122"/>
                <a:cs typeface="Outfit Bold" pitchFamily="34" charset="-120"/>
              </a:rPr>
              <a:t>Dataset</a:t>
            </a:r>
            <a:endParaRPr lang="en-US" sz="1850" dirty="0"/>
          </a:p>
        </p:txBody>
      </p:sp>
      <p:sp>
        <p:nvSpPr>
          <p:cNvPr id="11" name="Text 6"/>
          <p:cNvSpPr/>
          <p:nvPr/>
        </p:nvSpPr>
        <p:spPr>
          <a:xfrm>
            <a:off x="8064794" y="2665809"/>
            <a:ext cx="3465426" cy="604838"/>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C2C4B5"/>
                </a:solidFill>
                <a:latin typeface="Bitter" pitchFamily="34" charset="0"/>
                <a:ea typeface="Bitter" pitchFamily="34" charset="-122"/>
                <a:cs typeface="Bitter" pitchFamily="34" charset="-120"/>
              </a:rPr>
              <a:t>37,204 high-resolution images from DisasterM3 dataset.</a:t>
            </a:r>
            <a:endParaRPr lang="en-US" sz="1450" dirty="0"/>
          </a:p>
        </p:txBody>
      </p:sp>
      <p:pic>
        <p:nvPicPr>
          <p:cNvPr id="12"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61475" y="4253508"/>
            <a:ext cx="472468" cy="472480"/>
          </a:xfrm>
          <a:prstGeom prst="rect">
            <a:avLst/>
          </a:prstGeom>
        </p:spPr>
      </p:pic>
      <p:sp>
        <p:nvSpPr>
          <p:cNvPr id="13" name="Text 7"/>
          <p:cNvSpPr/>
          <p:nvPr/>
        </p:nvSpPr>
        <p:spPr>
          <a:xfrm>
            <a:off x="661475" y="4962227"/>
            <a:ext cx="3465426" cy="295275"/>
          </a:xfrm>
          <a:prstGeom prst="rect">
            <a:avLst/>
          </a:prstGeom>
          <a:noFill/>
          <a:ln/>
        </p:spPr>
        <p:txBody>
          <a:bodyPr wrap="none" lIns="0" tIns="0" rIns="0" bIns="0" rtlCol="0" anchor="t"/>
          <a:lstStyle/>
          <a:p>
            <a:pPr marL="0" indent="0" algn="l">
              <a:lnSpc>
                <a:spcPct val="104000"/>
              </a:lnSpc>
              <a:buNone/>
            </a:pPr>
            <a:r>
              <a:rPr lang="en-US" sz="1850" b="1" dirty="0">
                <a:solidFill>
                  <a:srgbClr val="C2C4B5"/>
                </a:solidFill>
                <a:latin typeface="Outfit Bold" pitchFamily="34" charset="0"/>
                <a:ea typeface="Outfit Bold" pitchFamily="34" charset="-122"/>
                <a:cs typeface="Outfit Bold" pitchFamily="34" charset="-120"/>
              </a:rPr>
              <a:t>The Task</a:t>
            </a:r>
            <a:endParaRPr lang="en-US" sz="1850" dirty="0"/>
          </a:p>
        </p:txBody>
      </p:sp>
      <p:sp>
        <p:nvSpPr>
          <p:cNvPr id="14" name="Text 8"/>
          <p:cNvSpPr/>
          <p:nvPr/>
        </p:nvSpPr>
        <p:spPr>
          <a:xfrm>
            <a:off x="661475" y="5370909"/>
            <a:ext cx="3465426" cy="907256"/>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C2C4B5"/>
                </a:solidFill>
                <a:latin typeface="Bitter" pitchFamily="34" charset="0"/>
                <a:ea typeface="Bitter" pitchFamily="34" charset="-122"/>
                <a:cs typeface="Bitter" pitchFamily="34" charset="-120"/>
              </a:rPr>
              <a:t>Pixel-by-pixel classification into 4 structural states (Background, Intact, Damaged, Destroyed).</a:t>
            </a:r>
            <a:endParaRPr lang="en-US" sz="1450" dirty="0"/>
          </a:p>
        </p:txBody>
      </p:sp>
      <p:pic>
        <p:nvPicPr>
          <p:cNvPr id="15"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363135" y="4253508"/>
            <a:ext cx="472468" cy="472480"/>
          </a:xfrm>
          <a:prstGeom prst="rect">
            <a:avLst/>
          </a:prstGeom>
        </p:spPr>
      </p:pic>
      <p:sp>
        <p:nvSpPr>
          <p:cNvPr id="16" name="Text 9"/>
          <p:cNvSpPr/>
          <p:nvPr/>
        </p:nvSpPr>
        <p:spPr>
          <a:xfrm>
            <a:off x="4363135" y="4962227"/>
            <a:ext cx="3465426" cy="295275"/>
          </a:xfrm>
          <a:prstGeom prst="rect">
            <a:avLst/>
          </a:prstGeom>
          <a:noFill/>
          <a:ln/>
        </p:spPr>
        <p:txBody>
          <a:bodyPr wrap="none" lIns="0" tIns="0" rIns="0" bIns="0" rtlCol="0" anchor="t"/>
          <a:lstStyle/>
          <a:p>
            <a:pPr marL="0" indent="0" algn="l">
              <a:lnSpc>
                <a:spcPct val="104000"/>
              </a:lnSpc>
              <a:buNone/>
            </a:pPr>
            <a:r>
              <a:rPr lang="en-US" sz="1850" b="1" dirty="0">
                <a:solidFill>
                  <a:srgbClr val="C2C4B5"/>
                </a:solidFill>
                <a:latin typeface="Outfit Bold" pitchFamily="34" charset="0"/>
                <a:ea typeface="Outfit Bold" pitchFamily="34" charset="-122"/>
                <a:cs typeface="Outfit Bold" pitchFamily="34" charset="-120"/>
              </a:rPr>
              <a:t>Output</a:t>
            </a:r>
            <a:endParaRPr lang="en-US" sz="1850" dirty="0"/>
          </a:p>
        </p:txBody>
      </p:sp>
      <p:sp>
        <p:nvSpPr>
          <p:cNvPr id="17" name="Text 10"/>
          <p:cNvSpPr/>
          <p:nvPr/>
        </p:nvSpPr>
        <p:spPr>
          <a:xfrm>
            <a:off x="4363135" y="5370909"/>
            <a:ext cx="3465426" cy="907256"/>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C2C4B5"/>
                </a:solidFill>
                <a:latin typeface="Bitter" pitchFamily="34" charset="0"/>
                <a:ea typeface="Bitter" pitchFamily="34" charset="-122"/>
                <a:cs typeface="Bitter" pitchFamily="34" charset="-120"/>
              </a:rPr>
              <a:t>Generates a deterministic, color-coded damage map as spatial truth for downstream VLM.</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61475" y="966589"/>
            <a:ext cx="10868745" cy="590649"/>
          </a:xfrm>
          <a:prstGeom prst="rect">
            <a:avLst/>
          </a:prstGeom>
          <a:noFill/>
          <a:ln/>
        </p:spPr>
        <p:txBody>
          <a:bodyPr wrap="none" lIns="0" tIns="0" rIns="0" bIns="0" rtlCol="0" anchor="t"/>
          <a:lstStyle/>
          <a:p>
            <a:pPr marL="0" indent="0" algn="l">
              <a:lnSpc>
                <a:spcPct val="104000"/>
              </a:lnSpc>
              <a:buNone/>
            </a:pPr>
            <a:r>
              <a:rPr lang="en-US" sz="3700" b="1" dirty="0">
                <a:solidFill>
                  <a:srgbClr val="E1E5CD"/>
                </a:solidFill>
                <a:latin typeface="Outfit Bold" pitchFamily="34" charset="0"/>
                <a:ea typeface="Outfit Bold" pitchFamily="34" charset="-122"/>
                <a:cs typeface="Outfit Bold" pitchFamily="34" charset="-120"/>
              </a:rPr>
              <a:t>Overcoming Hardware &amp; Data Constraints</a:t>
            </a:r>
            <a:endParaRPr lang="en-US" sz="3700" dirty="0"/>
          </a:p>
        </p:txBody>
      </p:sp>
      <p:pic>
        <p:nvPicPr>
          <p:cNvPr id="3"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1475" y="1935262"/>
            <a:ext cx="3496877" cy="3956050"/>
          </a:xfrm>
          <a:prstGeom prst="rect">
            <a:avLst/>
          </a:prstGeom>
        </p:spPr>
      </p:pic>
      <p:sp>
        <p:nvSpPr>
          <p:cNvPr id="4" name="Text 1"/>
          <p:cNvSpPr/>
          <p:nvPr/>
        </p:nvSpPr>
        <p:spPr>
          <a:xfrm>
            <a:off x="2268183" y="2066925"/>
            <a:ext cx="283461" cy="354409"/>
          </a:xfrm>
          <a:prstGeom prst="rect">
            <a:avLst/>
          </a:prstGeom>
          <a:noFill/>
          <a:ln/>
        </p:spPr>
        <p:txBody>
          <a:bodyPr wrap="none" lIns="0" tIns="0" rIns="0" bIns="0" rtlCol="0" anchor="ctr"/>
          <a:lstStyle/>
          <a:p>
            <a:pPr marL="0" indent="0" algn="ctr">
              <a:lnSpc>
                <a:spcPct val="100000"/>
              </a:lnSpc>
              <a:buNone/>
            </a:pPr>
            <a:r>
              <a:rPr lang="en-US" sz="2200" b="1" dirty="0">
                <a:solidFill>
                  <a:srgbClr val="C2C4B5"/>
                </a:solidFill>
                <a:latin typeface="Outfit Bold" pitchFamily="34" charset="0"/>
                <a:ea typeface="Outfit Bold" pitchFamily="34" charset="-122"/>
                <a:cs typeface="Outfit Bold" pitchFamily="34" charset="-120"/>
              </a:rPr>
              <a:t>1</a:t>
            </a:r>
            <a:endParaRPr lang="en-US" sz="2200" dirty="0"/>
          </a:p>
        </p:txBody>
      </p:sp>
      <p:sp>
        <p:nvSpPr>
          <p:cNvPr id="5" name="Text 2"/>
          <p:cNvSpPr/>
          <p:nvPr/>
        </p:nvSpPr>
        <p:spPr>
          <a:xfrm>
            <a:off x="875881" y="2716709"/>
            <a:ext cx="3068065" cy="295275"/>
          </a:xfrm>
          <a:prstGeom prst="rect">
            <a:avLst/>
          </a:prstGeom>
          <a:noFill/>
          <a:ln/>
        </p:spPr>
        <p:txBody>
          <a:bodyPr wrap="none" lIns="0" tIns="0" rIns="0" bIns="0" rtlCol="0" anchor="t"/>
          <a:lstStyle/>
          <a:p>
            <a:pPr marL="0" indent="0" algn="l">
              <a:lnSpc>
                <a:spcPct val="104000"/>
              </a:lnSpc>
              <a:buNone/>
            </a:pPr>
            <a:r>
              <a:rPr lang="en-US" sz="1850" b="1" dirty="0">
                <a:solidFill>
                  <a:srgbClr val="C2C4B5"/>
                </a:solidFill>
                <a:latin typeface="Outfit Bold" pitchFamily="34" charset="0"/>
                <a:ea typeface="Outfit Bold" pitchFamily="34" charset="-122"/>
                <a:cs typeface="Outfit Bold" pitchFamily="34" charset="-120"/>
              </a:rPr>
              <a:t>Challenge 1 &amp; Solution 1</a:t>
            </a:r>
            <a:endParaRPr lang="en-US" sz="1850" dirty="0"/>
          </a:p>
        </p:txBody>
      </p:sp>
      <p:sp>
        <p:nvSpPr>
          <p:cNvPr id="6" name="Text 3"/>
          <p:cNvSpPr/>
          <p:nvPr/>
        </p:nvSpPr>
        <p:spPr>
          <a:xfrm>
            <a:off x="875881" y="3125391"/>
            <a:ext cx="3068065" cy="2532757"/>
          </a:xfrm>
          <a:prstGeom prst="rect">
            <a:avLst/>
          </a:prstGeom>
          <a:noFill/>
          <a:ln/>
        </p:spPr>
        <p:txBody>
          <a:bodyPr wrap="square" lIns="0" tIns="0" rIns="0" bIns="0" rtlCol="0" anchor="t">
            <a:normAutofit/>
          </a:bodyPr>
          <a:lstStyle/>
          <a:p>
            <a:pPr marL="0" indent="0" algn="l">
              <a:lnSpc>
                <a:spcPct val="133000"/>
              </a:lnSpc>
              <a:spcAft>
                <a:spcPts val="850"/>
              </a:spcAft>
              <a:buNone/>
            </a:pPr>
            <a:r>
              <a:rPr lang="en-US" sz="1450" b="1" dirty="0">
                <a:solidFill>
                  <a:srgbClr val="C2C4B5"/>
                </a:solidFill>
                <a:latin typeface="Bitter Bold" pitchFamily="34" charset="0"/>
                <a:ea typeface="Bitter Bold" pitchFamily="34" charset="-122"/>
                <a:cs typeface="Bitter Bold" pitchFamily="34" charset="-120"/>
              </a:rPr>
              <a:t>Challenge:</a:t>
            </a:r>
            <a:r>
              <a:rPr lang="en-US" sz="1450" dirty="0">
                <a:solidFill>
                  <a:srgbClr val="C2C4B5"/>
                </a:solidFill>
                <a:latin typeface="Bitter" pitchFamily="34" charset="0"/>
                <a:ea typeface="Bitter" pitchFamily="34" charset="-122"/>
                <a:cs typeface="Bitter" pitchFamily="34" charset="-120"/>
              </a:rPr>
              <a:t> Extreme Class Imbalance (6.2 Billion Background pixels vs. 22 Million Destroyed pixels)</a:t>
            </a:r>
            <a:endParaRPr lang="en-US" sz="1450" dirty="0"/>
          </a:p>
          <a:p>
            <a:pPr marL="0" indent="0" algn="l">
              <a:lnSpc>
                <a:spcPct val="133000"/>
              </a:lnSpc>
              <a:buNone/>
            </a:pPr>
            <a:r>
              <a:rPr lang="en-US" sz="1450" b="1" dirty="0">
                <a:solidFill>
                  <a:srgbClr val="C2C4B5"/>
                </a:solidFill>
                <a:latin typeface="Bitter Bold" pitchFamily="34" charset="0"/>
                <a:ea typeface="Bitter Bold" pitchFamily="34" charset="-122"/>
                <a:cs typeface="Bitter Bold" pitchFamily="34" charset="-120"/>
              </a:rPr>
              <a:t>Solution:</a:t>
            </a:r>
            <a:r>
              <a:rPr lang="en-US" sz="1450" dirty="0">
                <a:solidFill>
                  <a:srgbClr val="C2C4B5"/>
                </a:solidFill>
                <a:latin typeface="Bitter" pitchFamily="34" charset="0"/>
                <a:ea typeface="Bitter" pitchFamily="34" charset="-122"/>
                <a:cs typeface="Bitter" pitchFamily="34" charset="-120"/>
              </a:rPr>
              <a:t> Implemented custom Combined Loss function (Cross-Entropy + Dice Loss) to prioritize rare destroyed structures</a:t>
            </a:r>
            <a:endParaRPr lang="en-US" sz="1450" dirty="0"/>
          </a:p>
        </p:txBody>
      </p:sp>
      <p:pic>
        <p:nvPicPr>
          <p:cNvPr id="7" name="Image 1"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347359" y="1935262"/>
            <a:ext cx="3496877" cy="3956050"/>
          </a:xfrm>
          <a:prstGeom prst="rect">
            <a:avLst/>
          </a:prstGeom>
        </p:spPr>
      </p:pic>
      <p:sp>
        <p:nvSpPr>
          <p:cNvPr id="8" name="Text 4"/>
          <p:cNvSpPr/>
          <p:nvPr/>
        </p:nvSpPr>
        <p:spPr>
          <a:xfrm>
            <a:off x="5954067" y="2066925"/>
            <a:ext cx="283461" cy="354409"/>
          </a:xfrm>
          <a:prstGeom prst="rect">
            <a:avLst/>
          </a:prstGeom>
          <a:noFill/>
          <a:ln/>
        </p:spPr>
        <p:txBody>
          <a:bodyPr wrap="none" lIns="0" tIns="0" rIns="0" bIns="0" rtlCol="0" anchor="ctr"/>
          <a:lstStyle/>
          <a:p>
            <a:pPr marL="0" indent="0" algn="ctr">
              <a:lnSpc>
                <a:spcPct val="100000"/>
              </a:lnSpc>
              <a:buNone/>
            </a:pPr>
            <a:r>
              <a:rPr lang="en-US" sz="2200" b="1" dirty="0">
                <a:solidFill>
                  <a:srgbClr val="C2C4B5"/>
                </a:solidFill>
                <a:latin typeface="Outfit Bold" pitchFamily="34" charset="0"/>
                <a:ea typeface="Outfit Bold" pitchFamily="34" charset="-122"/>
                <a:cs typeface="Outfit Bold" pitchFamily="34" charset="-120"/>
              </a:rPr>
              <a:t>2</a:t>
            </a:r>
            <a:endParaRPr lang="en-US" sz="2200" dirty="0"/>
          </a:p>
        </p:txBody>
      </p:sp>
      <p:sp>
        <p:nvSpPr>
          <p:cNvPr id="9" name="Text 5"/>
          <p:cNvSpPr/>
          <p:nvPr/>
        </p:nvSpPr>
        <p:spPr>
          <a:xfrm>
            <a:off x="4561766" y="2716709"/>
            <a:ext cx="3068065" cy="295275"/>
          </a:xfrm>
          <a:prstGeom prst="rect">
            <a:avLst/>
          </a:prstGeom>
          <a:noFill/>
          <a:ln/>
        </p:spPr>
        <p:txBody>
          <a:bodyPr wrap="none" lIns="0" tIns="0" rIns="0" bIns="0" rtlCol="0" anchor="t"/>
          <a:lstStyle/>
          <a:p>
            <a:pPr marL="0" indent="0" algn="l">
              <a:lnSpc>
                <a:spcPct val="104000"/>
              </a:lnSpc>
              <a:buNone/>
            </a:pPr>
            <a:r>
              <a:rPr lang="en-US" sz="1850" b="1" dirty="0">
                <a:solidFill>
                  <a:srgbClr val="C2C4B5"/>
                </a:solidFill>
                <a:latin typeface="Outfit Bold" pitchFamily="34" charset="0"/>
                <a:ea typeface="Outfit Bold" pitchFamily="34" charset="-122"/>
                <a:cs typeface="Outfit Bold" pitchFamily="34" charset="-120"/>
              </a:rPr>
              <a:t>Challenge 2 &amp; Solution 2</a:t>
            </a:r>
            <a:endParaRPr lang="en-US" sz="1850" dirty="0"/>
          </a:p>
        </p:txBody>
      </p:sp>
      <p:sp>
        <p:nvSpPr>
          <p:cNvPr id="10" name="Text 6"/>
          <p:cNvSpPr/>
          <p:nvPr/>
        </p:nvSpPr>
        <p:spPr>
          <a:xfrm>
            <a:off x="4561766" y="3125391"/>
            <a:ext cx="3068065" cy="1927920"/>
          </a:xfrm>
          <a:prstGeom prst="rect">
            <a:avLst/>
          </a:prstGeom>
          <a:noFill/>
          <a:ln/>
        </p:spPr>
        <p:txBody>
          <a:bodyPr wrap="square" lIns="0" tIns="0" rIns="0" bIns="0" rtlCol="0" anchor="t">
            <a:normAutofit/>
          </a:bodyPr>
          <a:lstStyle/>
          <a:p>
            <a:pPr marL="0" indent="0" algn="l">
              <a:lnSpc>
                <a:spcPct val="133000"/>
              </a:lnSpc>
              <a:spcAft>
                <a:spcPts val="850"/>
              </a:spcAft>
              <a:buNone/>
            </a:pPr>
            <a:r>
              <a:rPr lang="en-US" sz="1450" b="1" dirty="0">
                <a:solidFill>
                  <a:srgbClr val="C2C4B5"/>
                </a:solidFill>
                <a:latin typeface="Bitter Bold" pitchFamily="34" charset="0"/>
                <a:ea typeface="Bitter Bold" pitchFamily="34" charset="-122"/>
                <a:cs typeface="Bitter Bold" pitchFamily="34" charset="-120"/>
              </a:rPr>
              <a:t>Challenge:</a:t>
            </a:r>
            <a:r>
              <a:rPr lang="en-US" sz="1450" dirty="0">
                <a:solidFill>
                  <a:srgbClr val="C2C4B5"/>
                </a:solidFill>
                <a:latin typeface="Bitter" pitchFamily="34" charset="0"/>
                <a:ea typeface="Bitter" pitchFamily="34" charset="-122"/>
                <a:cs typeface="Bitter" pitchFamily="34" charset="-120"/>
              </a:rPr>
              <a:t> Hardware Limits (Kaggle T4 16GB VRAM constraint)</a:t>
            </a:r>
            <a:endParaRPr lang="en-US" sz="1450" dirty="0"/>
          </a:p>
          <a:p>
            <a:pPr marL="0" indent="0" algn="l">
              <a:lnSpc>
                <a:spcPct val="133000"/>
              </a:lnSpc>
              <a:buNone/>
            </a:pPr>
            <a:r>
              <a:rPr lang="en-US" sz="1450" b="1" dirty="0">
                <a:solidFill>
                  <a:srgbClr val="C2C4B5"/>
                </a:solidFill>
                <a:latin typeface="Bitter Bold" pitchFamily="34" charset="0"/>
                <a:ea typeface="Bitter Bold" pitchFamily="34" charset="-122"/>
                <a:cs typeface="Bitter Bold" pitchFamily="34" charset="-120"/>
              </a:rPr>
              <a:t>Solution:</a:t>
            </a:r>
            <a:r>
              <a:rPr lang="en-US" sz="1450" dirty="0">
                <a:solidFill>
                  <a:srgbClr val="C2C4B5"/>
                </a:solidFill>
                <a:latin typeface="Bitter" pitchFamily="34" charset="0"/>
                <a:ea typeface="Bitter" pitchFamily="34" charset="-122"/>
                <a:cs typeface="Bitter" pitchFamily="34" charset="-120"/>
              </a:rPr>
              <a:t> Integrated Automatic Mixed Precision (AMP) and on-disk mask caching, doubling training speed and cutting memory by 50%</a:t>
            </a:r>
            <a:endParaRPr lang="en-US" sz="1450" dirty="0"/>
          </a:p>
        </p:txBody>
      </p:sp>
      <p:pic>
        <p:nvPicPr>
          <p:cNvPr id="11" name="Image 2"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033244" y="1935262"/>
            <a:ext cx="3496877" cy="3956050"/>
          </a:xfrm>
          <a:prstGeom prst="rect">
            <a:avLst/>
          </a:prstGeom>
        </p:spPr>
      </p:pic>
      <p:sp>
        <p:nvSpPr>
          <p:cNvPr id="12" name="Text 7"/>
          <p:cNvSpPr/>
          <p:nvPr/>
        </p:nvSpPr>
        <p:spPr>
          <a:xfrm>
            <a:off x="9639952" y="2066925"/>
            <a:ext cx="283461" cy="354409"/>
          </a:xfrm>
          <a:prstGeom prst="rect">
            <a:avLst/>
          </a:prstGeom>
          <a:noFill/>
          <a:ln/>
        </p:spPr>
        <p:txBody>
          <a:bodyPr wrap="none" lIns="0" tIns="0" rIns="0" bIns="0" rtlCol="0" anchor="ctr"/>
          <a:lstStyle/>
          <a:p>
            <a:pPr marL="0" indent="0" algn="ctr">
              <a:lnSpc>
                <a:spcPct val="100000"/>
              </a:lnSpc>
              <a:buNone/>
            </a:pPr>
            <a:r>
              <a:rPr lang="en-US" sz="2200" b="1" dirty="0">
                <a:solidFill>
                  <a:srgbClr val="C2C4B5"/>
                </a:solidFill>
                <a:latin typeface="Outfit Bold" pitchFamily="34" charset="0"/>
                <a:ea typeface="Outfit Bold" pitchFamily="34" charset="-122"/>
                <a:cs typeface="Outfit Bold" pitchFamily="34" charset="-120"/>
              </a:rPr>
              <a:t>3</a:t>
            </a:r>
            <a:endParaRPr lang="en-US" sz="2200" dirty="0"/>
          </a:p>
        </p:txBody>
      </p:sp>
      <p:sp>
        <p:nvSpPr>
          <p:cNvPr id="13" name="Text 8"/>
          <p:cNvSpPr/>
          <p:nvPr/>
        </p:nvSpPr>
        <p:spPr>
          <a:xfrm>
            <a:off x="8247650" y="2716709"/>
            <a:ext cx="3068065" cy="295275"/>
          </a:xfrm>
          <a:prstGeom prst="rect">
            <a:avLst/>
          </a:prstGeom>
          <a:noFill/>
          <a:ln/>
        </p:spPr>
        <p:txBody>
          <a:bodyPr wrap="none" lIns="0" tIns="0" rIns="0" bIns="0" rtlCol="0" anchor="t"/>
          <a:lstStyle/>
          <a:p>
            <a:pPr marL="0" indent="0" algn="l">
              <a:lnSpc>
                <a:spcPct val="104000"/>
              </a:lnSpc>
              <a:buNone/>
            </a:pPr>
            <a:r>
              <a:rPr lang="en-US" sz="1850" b="1" dirty="0">
                <a:solidFill>
                  <a:srgbClr val="C2C4B5"/>
                </a:solidFill>
                <a:latin typeface="Outfit Bold" pitchFamily="34" charset="0"/>
                <a:ea typeface="Outfit Bold" pitchFamily="34" charset="-122"/>
                <a:cs typeface="Outfit Bold" pitchFamily="34" charset="-120"/>
              </a:rPr>
              <a:t>Results</a:t>
            </a:r>
            <a:endParaRPr lang="en-US" sz="1850" dirty="0"/>
          </a:p>
        </p:txBody>
      </p:sp>
      <p:sp>
        <p:nvSpPr>
          <p:cNvPr id="14" name="Text 9"/>
          <p:cNvSpPr/>
          <p:nvPr/>
        </p:nvSpPr>
        <p:spPr>
          <a:xfrm>
            <a:off x="8247650" y="3125391"/>
            <a:ext cx="3068065" cy="2551509"/>
          </a:xfrm>
          <a:prstGeom prst="rect">
            <a:avLst/>
          </a:prstGeom>
          <a:noFill/>
          <a:ln/>
        </p:spPr>
        <p:txBody>
          <a:bodyPr wrap="square" lIns="0" tIns="75608" rIns="0" bIns="0" rtlCol="0" anchor="t">
            <a:normAutofit/>
          </a:bodyPr>
          <a:lstStyle/>
          <a:p>
            <a:pPr marL="294640" indent="-294640" algn="l">
              <a:lnSpc>
                <a:spcPct val="133000"/>
              </a:lnSpc>
              <a:buSzPct val="100000"/>
              <a:buChar char="•"/>
            </a:pPr>
            <a:r>
              <a:rPr lang="en-US" sz="1450" dirty="0">
                <a:solidFill>
                  <a:srgbClr val="C2C4B5"/>
                </a:solidFill>
                <a:latin typeface="Bitter" pitchFamily="34" charset="0"/>
                <a:ea typeface="Bitter" pitchFamily="34" charset="-122"/>
                <a:cs typeface="Bitter" pitchFamily="34" charset="-120"/>
              </a:rPr>
              <a:t>Successfully completed 25-epoch training cycle</a:t>
            </a:r>
            <a:endParaRPr lang="en-US" sz="1450" dirty="0"/>
          </a:p>
          <a:p>
            <a:pPr marL="294640" indent="-294640" algn="l">
              <a:lnSpc>
                <a:spcPct val="133000"/>
              </a:lnSpc>
              <a:buSzPct val="100000"/>
              <a:buChar char="•"/>
            </a:pPr>
            <a:r>
              <a:rPr lang="en-US" sz="1450" dirty="0">
                <a:solidFill>
                  <a:srgbClr val="C2C4B5"/>
                </a:solidFill>
                <a:latin typeface="Bitter" pitchFamily="34" charset="0"/>
                <a:ea typeface="Bitter" pitchFamily="34" charset="-122"/>
                <a:cs typeface="Bitter" pitchFamily="34" charset="-120"/>
              </a:rPr>
              <a:t>Achieved peak mIoU of 34.61% (reaching 0.4619 in V2)</a:t>
            </a:r>
            <a:endParaRPr lang="en-US" sz="1450" dirty="0"/>
          </a:p>
          <a:p>
            <a:pPr marL="294640" indent="-294640" algn="l">
              <a:lnSpc>
                <a:spcPct val="133000"/>
              </a:lnSpc>
              <a:buSzPct val="100000"/>
              <a:buChar char="•"/>
            </a:pPr>
            <a:r>
              <a:rPr lang="en-US" sz="1450" dirty="0">
                <a:solidFill>
                  <a:srgbClr val="C2C4B5"/>
                </a:solidFill>
                <a:latin typeface="Bitter" pitchFamily="34" charset="0"/>
                <a:ea typeface="Bitter" pitchFamily="34" charset="-122"/>
                <a:cs typeface="Bitter" pitchFamily="34" charset="-120"/>
              </a:rPr>
              <a:t>Proved lightweight 24M-parameter model can reliably extract spatial data without supercomputer</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61475" y="646212"/>
            <a:ext cx="10868745" cy="265708"/>
          </a:xfrm>
          <a:prstGeom prst="rect">
            <a:avLst/>
          </a:prstGeom>
          <a:noFill/>
          <a:ln/>
        </p:spPr>
        <p:txBody>
          <a:bodyPr wrap="none" lIns="0" tIns="0" rIns="0" bIns="0" rtlCol="0" anchor="t"/>
          <a:lstStyle/>
          <a:p>
            <a:pPr marL="0" indent="0" algn="l">
              <a:lnSpc>
                <a:spcPct val="104000"/>
              </a:lnSpc>
              <a:buNone/>
            </a:pPr>
            <a:r>
              <a:rPr lang="en-US" sz="1650" b="1" dirty="0">
                <a:solidFill>
                  <a:srgbClr val="F2F2F2"/>
                </a:solidFill>
                <a:latin typeface="Outfit Bold" pitchFamily="34" charset="0"/>
                <a:ea typeface="Outfit Bold" pitchFamily="34" charset="-122"/>
                <a:cs typeface="Outfit Bold" pitchFamily="34" charset="-120"/>
              </a:rPr>
              <a:t>Feasibility Analysis</a:t>
            </a:r>
            <a:endParaRPr lang="en-US" sz="1650" dirty="0"/>
          </a:p>
        </p:txBody>
      </p:sp>
      <p:sp>
        <p:nvSpPr>
          <p:cNvPr id="3" name="Text 1"/>
          <p:cNvSpPr/>
          <p:nvPr/>
        </p:nvSpPr>
        <p:spPr>
          <a:xfrm>
            <a:off x="661475" y="954385"/>
            <a:ext cx="10868745" cy="221456"/>
          </a:xfrm>
          <a:prstGeom prst="rect">
            <a:avLst/>
          </a:prstGeom>
          <a:noFill/>
          <a:ln/>
        </p:spPr>
        <p:txBody>
          <a:bodyPr wrap="none" lIns="0" tIns="0" rIns="0" bIns="0" rtlCol="0" anchor="t"/>
          <a:lstStyle/>
          <a:p>
            <a:pPr marL="0" indent="0" algn="l">
              <a:lnSpc>
                <a:spcPct val="104000"/>
              </a:lnSpc>
              <a:buNone/>
            </a:pPr>
            <a:r>
              <a:rPr lang="en-US" sz="1350" b="1" dirty="0">
                <a:solidFill>
                  <a:srgbClr val="E1E5CD"/>
                </a:solidFill>
                <a:latin typeface="Outfit Bold" pitchFamily="34" charset="0"/>
                <a:ea typeface="Outfit Bold" pitchFamily="34" charset="-122"/>
                <a:cs typeface="Outfit Bold" pitchFamily="34" charset="-120"/>
              </a:rPr>
              <a:t>Overcoming Constraints</a:t>
            </a:r>
            <a:endParaRPr lang="en-US" sz="1350" dirty="0"/>
          </a:p>
        </p:txBody>
      </p:sp>
      <p:sp>
        <p:nvSpPr>
          <p:cNvPr id="4" name="Shape 2"/>
          <p:cNvSpPr/>
          <p:nvPr/>
        </p:nvSpPr>
        <p:spPr>
          <a:xfrm>
            <a:off x="559381" y="1335286"/>
            <a:ext cx="5465626" cy="1815902"/>
          </a:xfrm>
          <a:prstGeom prst="roundRect">
            <a:avLst>
              <a:gd name="adj" fmla="val 1171"/>
            </a:avLst>
          </a:prstGeom>
          <a:solidFill>
            <a:srgbClr val="1B1B27"/>
          </a:solidFill>
          <a:ln/>
        </p:spPr>
        <p:txBody>
          <a:bodyPr/>
          <a:lstStyle/>
          <a:p>
            <a:endParaRPr lang="en-US"/>
          </a:p>
        </p:txBody>
      </p:sp>
      <p:sp>
        <p:nvSpPr>
          <p:cNvPr id="5" name="Text 3"/>
          <p:cNvSpPr/>
          <p:nvPr/>
        </p:nvSpPr>
        <p:spPr>
          <a:xfrm>
            <a:off x="701062" y="1441549"/>
            <a:ext cx="5182264" cy="221456"/>
          </a:xfrm>
          <a:prstGeom prst="rect">
            <a:avLst/>
          </a:prstGeom>
          <a:noFill/>
          <a:ln/>
        </p:spPr>
        <p:txBody>
          <a:bodyPr wrap="none" lIns="0" tIns="0" rIns="0" bIns="0" rtlCol="0" anchor="t"/>
          <a:lstStyle/>
          <a:p>
            <a:pPr marL="0" indent="0" algn="l">
              <a:lnSpc>
                <a:spcPct val="104000"/>
              </a:lnSpc>
              <a:buNone/>
            </a:pPr>
            <a:r>
              <a:rPr lang="en-US" sz="1350" b="1" dirty="0">
                <a:solidFill>
                  <a:srgbClr val="E1E5CD"/>
                </a:solidFill>
                <a:latin typeface="Outfit Bold" pitchFamily="34" charset="0"/>
                <a:ea typeface="Outfit Bold" pitchFamily="34" charset="-122"/>
                <a:cs typeface="Outfit Bold" pitchFamily="34" charset="-120"/>
              </a:rPr>
              <a:t>Hardware Limits — 16GB VRAM on Kaggle</a:t>
            </a:r>
            <a:endParaRPr lang="en-US" sz="1350" dirty="0"/>
          </a:p>
        </p:txBody>
      </p:sp>
      <p:sp>
        <p:nvSpPr>
          <p:cNvPr id="6" name="Text 4"/>
          <p:cNvSpPr/>
          <p:nvPr/>
        </p:nvSpPr>
        <p:spPr>
          <a:xfrm>
            <a:off x="701062" y="1769269"/>
            <a:ext cx="5182264" cy="1286272"/>
          </a:xfrm>
          <a:prstGeom prst="rect">
            <a:avLst/>
          </a:prstGeom>
          <a:noFill/>
          <a:ln/>
        </p:spPr>
        <p:txBody>
          <a:bodyPr wrap="square" lIns="0" tIns="0" rIns="0" bIns="0" rtlCol="0" anchor="t">
            <a:normAutofit/>
          </a:bodyPr>
          <a:lstStyle/>
          <a:p>
            <a:pPr marL="0" indent="0" algn="l">
              <a:lnSpc>
                <a:spcPct val="117000"/>
              </a:lnSpc>
              <a:spcAft>
                <a:spcPts val="750"/>
              </a:spcAft>
              <a:buNone/>
            </a:pPr>
            <a:r>
              <a:rPr lang="en-US" sz="1100" b="1" dirty="0">
                <a:solidFill>
                  <a:srgbClr val="C2C4B5"/>
                </a:solidFill>
                <a:latin typeface="Bitter Bold" pitchFamily="34" charset="0"/>
                <a:ea typeface="Bitter Bold" pitchFamily="34" charset="-122"/>
                <a:cs typeface="Bitter Bold" pitchFamily="34" charset="-120"/>
              </a:rPr>
              <a:t>Solution 1:</a:t>
            </a:r>
            <a:r>
              <a:rPr lang="en-US" sz="1100" dirty="0">
                <a:solidFill>
                  <a:srgbClr val="C2C4B5"/>
                </a:solidFill>
                <a:latin typeface="Bitter" pitchFamily="34" charset="0"/>
                <a:ea typeface="Bitter" pitchFamily="34" charset="-122"/>
                <a:cs typeface="Bitter" pitchFamily="34" charset="-120"/>
              </a:rPr>
              <a:t> Used 4-bit QLoRA and aggressive gradient accumulation to train a 7B parameter model on a single T4 GPU — making large-scale VLM fine-tuning feasible within tight memory budgets.</a:t>
            </a:r>
            <a:endParaRPr lang="en-US" sz="1100" dirty="0"/>
          </a:p>
          <a:p>
            <a:pPr marL="0" indent="0" algn="l">
              <a:lnSpc>
                <a:spcPct val="117000"/>
              </a:lnSpc>
              <a:buNone/>
            </a:pPr>
            <a:r>
              <a:rPr lang="en-US" sz="1100" b="1" dirty="0">
                <a:solidFill>
                  <a:srgbClr val="C2C4B5"/>
                </a:solidFill>
                <a:latin typeface="Bitter Bold" pitchFamily="34" charset="0"/>
                <a:ea typeface="Bitter Bold" pitchFamily="34" charset="-122"/>
                <a:cs typeface="Bitter Bold" pitchFamily="34" charset="-120"/>
              </a:rPr>
              <a:t>Solution 2:</a:t>
            </a:r>
            <a:r>
              <a:rPr lang="en-US" sz="1100" dirty="0">
                <a:solidFill>
                  <a:srgbClr val="C2C4B5"/>
                </a:solidFill>
                <a:latin typeface="Bitter" pitchFamily="34" charset="0"/>
                <a:ea typeface="Bitter" pitchFamily="34" charset="-122"/>
                <a:cs typeface="Bitter" pitchFamily="34" charset="-120"/>
              </a:rPr>
              <a:t> Used a lightweight 21M parameter U-Net instead of massive Foundation Models, achieving spatial extraction without prohibitive compute overhead.</a:t>
            </a:r>
            <a:endParaRPr lang="en-US" sz="1100" dirty="0"/>
          </a:p>
        </p:txBody>
      </p:sp>
      <p:sp>
        <p:nvSpPr>
          <p:cNvPr id="7" name="Text 5"/>
          <p:cNvSpPr/>
          <p:nvPr/>
        </p:nvSpPr>
        <p:spPr>
          <a:xfrm>
            <a:off x="6275131" y="1441549"/>
            <a:ext cx="5261439" cy="221456"/>
          </a:xfrm>
          <a:prstGeom prst="rect">
            <a:avLst/>
          </a:prstGeom>
          <a:noFill/>
          <a:ln/>
        </p:spPr>
        <p:txBody>
          <a:bodyPr wrap="none" lIns="0" tIns="0" rIns="0" bIns="0" rtlCol="0" anchor="t"/>
          <a:lstStyle/>
          <a:p>
            <a:pPr marL="0" indent="0" algn="l">
              <a:lnSpc>
                <a:spcPct val="104000"/>
              </a:lnSpc>
              <a:buNone/>
            </a:pPr>
            <a:r>
              <a:rPr lang="en-US" sz="1350" b="1" dirty="0">
                <a:solidFill>
                  <a:srgbClr val="E1E5CD"/>
                </a:solidFill>
                <a:latin typeface="Outfit Bold" pitchFamily="34" charset="0"/>
                <a:ea typeface="Outfit Bold" pitchFamily="34" charset="-122"/>
                <a:cs typeface="Outfit Bold" pitchFamily="34" charset="-120"/>
              </a:rPr>
              <a:t>API Rate Limits</a:t>
            </a:r>
            <a:endParaRPr lang="en-US" sz="1350" dirty="0"/>
          </a:p>
        </p:txBody>
      </p:sp>
      <p:sp>
        <p:nvSpPr>
          <p:cNvPr id="8" name="Text 6"/>
          <p:cNvSpPr/>
          <p:nvPr/>
        </p:nvSpPr>
        <p:spPr>
          <a:xfrm>
            <a:off x="6275131" y="1769269"/>
            <a:ext cx="5261439" cy="601663"/>
          </a:xfrm>
          <a:prstGeom prst="rect">
            <a:avLst/>
          </a:prstGeom>
          <a:noFill/>
          <a:ln/>
        </p:spPr>
        <p:txBody>
          <a:bodyPr wrap="square" lIns="0" tIns="0" rIns="0" bIns="0" rtlCol="0" anchor="t">
            <a:normAutofit/>
          </a:bodyPr>
          <a:lstStyle/>
          <a:p>
            <a:pPr marL="0" indent="0" algn="l">
              <a:lnSpc>
                <a:spcPct val="117000"/>
              </a:lnSpc>
              <a:buNone/>
            </a:pPr>
            <a:r>
              <a:rPr lang="en-US" sz="1100" b="1" dirty="0">
                <a:solidFill>
                  <a:srgbClr val="FFFFFF"/>
                </a:solidFill>
                <a:latin typeface="Bitter Bold" pitchFamily="34" charset="0"/>
                <a:ea typeface="Bitter Bold" pitchFamily="34" charset="-122"/>
                <a:cs typeface="Bitter Bold" pitchFamily="34" charset="-120"/>
              </a:rPr>
              <a:t>Solution:</a:t>
            </a:r>
            <a:r>
              <a:rPr lang="en-US" sz="1100" dirty="0">
                <a:solidFill>
                  <a:srgbClr val="FFFFFF"/>
                </a:solidFill>
                <a:latin typeface="Bitter" pitchFamily="34" charset="0"/>
                <a:ea typeface="Bitter" pitchFamily="34" charset="-122"/>
                <a:cs typeface="Bitter" pitchFamily="34" charset="-120"/>
              </a:rPr>
              <a:t> Overcame Google API Rate limits (429 errors) via custom retry logic and lightweight </a:t>
            </a:r>
            <a:r>
              <a:rPr lang="en-US" sz="1100" dirty="0">
                <a:solidFill>
                  <a:srgbClr val="FFFFFF"/>
                </a:solidFill>
                <a:highlight>
                  <a:srgbClr val="5A5A5A"/>
                </a:highlight>
                <a:latin typeface="Consolas" pitchFamily="34" charset="0"/>
                <a:ea typeface="Consolas" pitchFamily="34" charset="-122"/>
                <a:cs typeface="Consolas" pitchFamily="34" charset="-120"/>
              </a:rPr>
              <a:t>flash-lite</a:t>
            </a:r>
            <a:r>
              <a:rPr lang="en-US" sz="1100" dirty="0">
                <a:solidFill>
                  <a:srgbClr val="FFFFFF"/>
                </a:solidFill>
                <a:latin typeface="Bitter" pitchFamily="34" charset="0"/>
                <a:ea typeface="Bitter" pitchFamily="34" charset="-122"/>
                <a:cs typeface="Bitter" pitchFamily="34" charset="-120"/>
              </a:rPr>
              <a:t> inference, ensuring reliable multi-agent orchestration without service interruptions.</a:t>
            </a:r>
            <a:endParaRPr lang="en-US" sz="1100" dirty="0"/>
          </a:p>
        </p:txBody>
      </p:sp>
      <p:sp>
        <p:nvSpPr>
          <p:cNvPr id="9" name="Text 7"/>
          <p:cNvSpPr/>
          <p:nvPr/>
        </p:nvSpPr>
        <p:spPr>
          <a:xfrm>
            <a:off x="1103285" y="3341588"/>
            <a:ext cx="2650662" cy="559991"/>
          </a:xfrm>
          <a:prstGeom prst="rect">
            <a:avLst/>
          </a:prstGeom>
          <a:noFill/>
          <a:ln/>
        </p:spPr>
        <p:txBody>
          <a:bodyPr wrap="none" lIns="0" tIns="0" rIns="0" bIns="0" rtlCol="0" anchor="t"/>
          <a:lstStyle/>
          <a:p>
            <a:pPr marL="0" indent="0" algn="ctr">
              <a:lnSpc>
                <a:spcPct val="83000"/>
              </a:lnSpc>
              <a:buNone/>
            </a:pPr>
            <a:r>
              <a:rPr lang="en-US" sz="4400" b="1" dirty="0">
                <a:solidFill>
                  <a:srgbClr val="FFFFFF"/>
                </a:solidFill>
                <a:latin typeface="Outfit Bold" pitchFamily="34" charset="0"/>
                <a:ea typeface="Outfit Bold" pitchFamily="34" charset="-122"/>
                <a:cs typeface="Outfit Bold" pitchFamily="34" charset="-120"/>
              </a:rPr>
              <a:t>7B</a:t>
            </a:r>
            <a:endParaRPr lang="en-US" sz="4400" dirty="0"/>
          </a:p>
        </p:txBody>
      </p:sp>
      <p:sp>
        <p:nvSpPr>
          <p:cNvPr id="10" name="Text 8"/>
          <p:cNvSpPr/>
          <p:nvPr/>
        </p:nvSpPr>
        <p:spPr>
          <a:xfrm>
            <a:off x="661475" y="4052094"/>
            <a:ext cx="3534282" cy="221456"/>
          </a:xfrm>
          <a:prstGeom prst="rect">
            <a:avLst/>
          </a:prstGeom>
          <a:noFill/>
          <a:ln/>
        </p:spPr>
        <p:txBody>
          <a:bodyPr wrap="none" lIns="0" tIns="0" rIns="0" bIns="0" rtlCol="0" anchor="t"/>
          <a:lstStyle/>
          <a:p>
            <a:pPr marL="0" indent="0" algn="ctr">
              <a:lnSpc>
                <a:spcPct val="104000"/>
              </a:lnSpc>
              <a:buNone/>
            </a:pPr>
            <a:r>
              <a:rPr lang="en-US" sz="1350" b="1" dirty="0">
                <a:solidFill>
                  <a:srgbClr val="FFFFFF"/>
                </a:solidFill>
                <a:latin typeface="Outfit Bold" pitchFamily="34" charset="0"/>
                <a:ea typeface="Outfit Bold" pitchFamily="34" charset="-122"/>
                <a:cs typeface="Outfit Bold" pitchFamily="34" charset="-120"/>
              </a:rPr>
              <a:t>VLM Parameters</a:t>
            </a:r>
            <a:endParaRPr lang="en-US" sz="1350" dirty="0"/>
          </a:p>
        </p:txBody>
      </p:sp>
      <p:sp>
        <p:nvSpPr>
          <p:cNvPr id="11" name="Text 9"/>
          <p:cNvSpPr/>
          <p:nvPr/>
        </p:nvSpPr>
        <p:spPr>
          <a:xfrm>
            <a:off x="661475" y="4337248"/>
            <a:ext cx="3534282" cy="396875"/>
          </a:xfrm>
          <a:prstGeom prst="rect">
            <a:avLst/>
          </a:prstGeom>
          <a:noFill/>
          <a:ln/>
        </p:spPr>
        <p:txBody>
          <a:bodyPr wrap="square" lIns="0" tIns="0" rIns="0" bIns="0" rtlCol="0" anchor="t">
            <a:normAutofit/>
          </a:bodyPr>
          <a:lstStyle/>
          <a:p>
            <a:pPr marL="0" indent="0" algn="ctr">
              <a:lnSpc>
                <a:spcPct val="117000"/>
              </a:lnSpc>
              <a:buNone/>
            </a:pPr>
            <a:r>
              <a:rPr lang="en-US" sz="1100" dirty="0">
                <a:solidFill>
                  <a:srgbClr val="FFFFFF"/>
                </a:solidFill>
                <a:latin typeface="Bitter" pitchFamily="34" charset="0"/>
                <a:ea typeface="Bitter" pitchFamily="34" charset="-122"/>
                <a:cs typeface="Bitter" pitchFamily="34" charset="-120"/>
              </a:rPr>
              <a:t>Qwen2.5-VL trained via 4-bit QLoRA on a single T4 GPU</a:t>
            </a:r>
            <a:endParaRPr lang="en-US" sz="1100" dirty="0"/>
          </a:p>
        </p:txBody>
      </p:sp>
      <p:sp>
        <p:nvSpPr>
          <p:cNvPr id="12" name="Text 10"/>
          <p:cNvSpPr/>
          <p:nvPr/>
        </p:nvSpPr>
        <p:spPr>
          <a:xfrm>
            <a:off x="4770417" y="3341588"/>
            <a:ext cx="2650761" cy="559991"/>
          </a:xfrm>
          <a:prstGeom prst="rect">
            <a:avLst/>
          </a:prstGeom>
          <a:noFill/>
          <a:ln/>
        </p:spPr>
        <p:txBody>
          <a:bodyPr wrap="none" lIns="0" tIns="0" rIns="0" bIns="0" rtlCol="0" anchor="t"/>
          <a:lstStyle/>
          <a:p>
            <a:pPr marL="0" indent="0" algn="ctr">
              <a:lnSpc>
                <a:spcPct val="83000"/>
              </a:lnSpc>
              <a:buNone/>
            </a:pPr>
            <a:r>
              <a:rPr lang="en-US" sz="4400" b="1" dirty="0">
                <a:solidFill>
                  <a:srgbClr val="FFFFFF"/>
                </a:solidFill>
                <a:latin typeface="Outfit Bold" pitchFamily="34" charset="0"/>
                <a:ea typeface="Outfit Bold" pitchFamily="34" charset="-122"/>
                <a:cs typeface="Outfit Bold" pitchFamily="34" charset="-120"/>
              </a:rPr>
              <a:t>21M</a:t>
            </a:r>
            <a:endParaRPr lang="en-US" sz="4400" dirty="0"/>
          </a:p>
        </p:txBody>
      </p:sp>
      <p:sp>
        <p:nvSpPr>
          <p:cNvPr id="13" name="Text 11"/>
          <p:cNvSpPr/>
          <p:nvPr/>
        </p:nvSpPr>
        <p:spPr>
          <a:xfrm>
            <a:off x="4328607" y="4052094"/>
            <a:ext cx="3534381" cy="221456"/>
          </a:xfrm>
          <a:prstGeom prst="rect">
            <a:avLst/>
          </a:prstGeom>
          <a:noFill/>
          <a:ln/>
        </p:spPr>
        <p:txBody>
          <a:bodyPr wrap="none" lIns="0" tIns="0" rIns="0" bIns="0" rtlCol="0" anchor="t"/>
          <a:lstStyle/>
          <a:p>
            <a:pPr marL="0" indent="0" algn="ctr">
              <a:lnSpc>
                <a:spcPct val="104000"/>
              </a:lnSpc>
              <a:buNone/>
            </a:pPr>
            <a:r>
              <a:rPr lang="en-US" sz="1350" b="1" dirty="0">
                <a:solidFill>
                  <a:srgbClr val="FFFFFF"/>
                </a:solidFill>
                <a:latin typeface="Outfit Bold" pitchFamily="34" charset="0"/>
                <a:ea typeface="Outfit Bold" pitchFamily="34" charset="-122"/>
                <a:cs typeface="Outfit Bold" pitchFamily="34" charset="-120"/>
              </a:rPr>
              <a:t>U-Net Parameters</a:t>
            </a:r>
            <a:endParaRPr lang="en-US" sz="1350" dirty="0"/>
          </a:p>
        </p:txBody>
      </p:sp>
      <p:sp>
        <p:nvSpPr>
          <p:cNvPr id="14" name="Text 12"/>
          <p:cNvSpPr/>
          <p:nvPr/>
        </p:nvSpPr>
        <p:spPr>
          <a:xfrm>
            <a:off x="4328607" y="4337248"/>
            <a:ext cx="3534381" cy="396875"/>
          </a:xfrm>
          <a:prstGeom prst="rect">
            <a:avLst/>
          </a:prstGeom>
          <a:noFill/>
          <a:ln/>
        </p:spPr>
        <p:txBody>
          <a:bodyPr wrap="square" lIns="0" tIns="0" rIns="0" bIns="0" rtlCol="0" anchor="t">
            <a:normAutofit/>
          </a:bodyPr>
          <a:lstStyle/>
          <a:p>
            <a:pPr marL="0" indent="0" algn="ctr">
              <a:lnSpc>
                <a:spcPct val="117000"/>
              </a:lnSpc>
              <a:buNone/>
            </a:pPr>
            <a:r>
              <a:rPr lang="en-US" sz="1100" dirty="0">
                <a:solidFill>
                  <a:srgbClr val="FFFFFF"/>
                </a:solidFill>
                <a:latin typeface="Bitter" pitchFamily="34" charset="0"/>
                <a:ea typeface="Bitter" pitchFamily="34" charset="-122"/>
                <a:cs typeface="Bitter" pitchFamily="34" charset="-120"/>
              </a:rPr>
              <a:t>Lightweight spatial extraction replacing massive GeoFMs</a:t>
            </a:r>
            <a:endParaRPr lang="en-US" sz="1100" dirty="0"/>
          </a:p>
        </p:txBody>
      </p:sp>
      <p:sp>
        <p:nvSpPr>
          <p:cNvPr id="15" name="Text 13"/>
          <p:cNvSpPr/>
          <p:nvPr/>
        </p:nvSpPr>
        <p:spPr>
          <a:xfrm>
            <a:off x="8437649" y="3341588"/>
            <a:ext cx="2650761" cy="559991"/>
          </a:xfrm>
          <a:prstGeom prst="rect">
            <a:avLst/>
          </a:prstGeom>
          <a:noFill/>
          <a:ln/>
        </p:spPr>
        <p:txBody>
          <a:bodyPr wrap="none" lIns="0" tIns="0" rIns="0" bIns="0" rtlCol="0" anchor="t"/>
          <a:lstStyle/>
          <a:p>
            <a:pPr marL="0" indent="0" algn="ctr">
              <a:lnSpc>
                <a:spcPct val="83000"/>
              </a:lnSpc>
              <a:buNone/>
            </a:pPr>
            <a:r>
              <a:rPr lang="en-US" sz="4400" b="1" dirty="0">
                <a:solidFill>
                  <a:srgbClr val="FFFFFF"/>
                </a:solidFill>
                <a:latin typeface="Outfit Bold" pitchFamily="34" charset="0"/>
                <a:ea typeface="Outfit Bold" pitchFamily="34" charset="-122"/>
                <a:cs typeface="Outfit Bold" pitchFamily="34" charset="-120"/>
              </a:rPr>
              <a:t>16GB</a:t>
            </a:r>
            <a:endParaRPr lang="en-US" sz="4400" dirty="0"/>
          </a:p>
        </p:txBody>
      </p:sp>
      <p:sp>
        <p:nvSpPr>
          <p:cNvPr id="16" name="Text 14"/>
          <p:cNvSpPr/>
          <p:nvPr/>
        </p:nvSpPr>
        <p:spPr>
          <a:xfrm>
            <a:off x="7995839" y="4052094"/>
            <a:ext cx="3534381" cy="221456"/>
          </a:xfrm>
          <a:prstGeom prst="rect">
            <a:avLst/>
          </a:prstGeom>
          <a:noFill/>
          <a:ln/>
        </p:spPr>
        <p:txBody>
          <a:bodyPr wrap="none" lIns="0" tIns="0" rIns="0" bIns="0" rtlCol="0" anchor="t"/>
          <a:lstStyle/>
          <a:p>
            <a:pPr marL="0" indent="0" algn="ctr">
              <a:lnSpc>
                <a:spcPct val="104000"/>
              </a:lnSpc>
              <a:buNone/>
            </a:pPr>
            <a:r>
              <a:rPr lang="en-US" sz="1350" b="1" dirty="0">
                <a:solidFill>
                  <a:srgbClr val="FFFFFF"/>
                </a:solidFill>
                <a:latin typeface="Outfit Bold" pitchFamily="34" charset="0"/>
                <a:ea typeface="Outfit Bold" pitchFamily="34" charset="-122"/>
                <a:cs typeface="Outfit Bold" pitchFamily="34" charset="-120"/>
              </a:rPr>
              <a:t>VRAM Budget</a:t>
            </a:r>
            <a:endParaRPr lang="en-US" sz="1350" dirty="0"/>
          </a:p>
        </p:txBody>
      </p:sp>
      <p:sp>
        <p:nvSpPr>
          <p:cNvPr id="17" name="Text 15"/>
          <p:cNvSpPr/>
          <p:nvPr/>
        </p:nvSpPr>
        <p:spPr>
          <a:xfrm>
            <a:off x="7995839" y="4337248"/>
            <a:ext cx="3534381" cy="396875"/>
          </a:xfrm>
          <a:prstGeom prst="rect">
            <a:avLst/>
          </a:prstGeom>
          <a:noFill/>
          <a:ln/>
        </p:spPr>
        <p:txBody>
          <a:bodyPr wrap="square" lIns="0" tIns="0" rIns="0" bIns="0" rtlCol="0" anchor="t">
            <a:normAutofit/>
          </a:bodyPr>
          <a:lstStyle/>
          <a:p>
            <a:pPr marL="0" indent="0" algn="ctr">
              <a:lnSpc>
                <a:spcPct val="117000"/>
              </a:lnSpc>
              <a:buNone/>
            </a:pPr>
            <a:r>
              <a:rPr lang="en-US" sz="1100" dirty="0">
                <a:solidFill>
                  <a:srgbClr val="FFFFFF"/>
                </a:solidFill>
                <a:latin typeface="Bitter" pitchFamily="34" charset="0"/>
                <a:ea typeface="Bitter" pitchFamily="34" charset="-122"/>
                <a:cs typeface="Bitter" pitchFamily="34" charset="-120"/>
              </a:rPr>
              <a:t>Kaggle T4 constraint solved via QLoRA + gradient accumulation</a:t>
            </a:r>
            <a:endParaRPr lang="en-US" sz="1100" dirty="0"/>
          </a:p>
        </p:txBody>
      </p:sp>
      <p:sp>
        <p:nvSpPr>
          <p:cNvPr id="18" name="Text 16"/>
          <p:cNvSpPr/>
          <p:nvPr/>
        </p:nvSpPr>
        <p:spPr>
          <a:xfrm>
            <a:off x="4770417" y="5017591"/>
            <a:ext cx="2650761" cy="559991"/>
          </a:xfrm>
          <a:prstGeom prst="rect">
            <a:avLst/>
          </a:prstGeom>
          <a:noFill/>
          <a:ln/>
        </p:spPr>
        <p:txBody>
          <a:bodyPr wrap="none" lIns="0" tIns="0" rIns="0" bIns="0" rtlCol="0" anchor="t"/>
          <a:lstStyle/>
          <a:p>
            <a:pPr marL="0" indent="0" algn="ctr">
              <a:lnSpc>
                <a:spcPct val="83000"/>
              </a:lnSpc>
              <a:buNone/>
            </a:pPr>
            <a:r>
              <a:rPr lang="en-US" sz="4400" b="1" dirty="0">
                <a:solidFill>
                  <a:srgbClr val="FFFFFF"/>
                </a:solidFill>
                <a:latin typeface="Outfit Bold" pitchFamily="34" charset="0"/>
                <a:ea typeface="Outfit Bold" pitchFamily="34" charset="-122"/>
                <a:cs typeface="Outfit Bold" pitchFamily="34" charset="-120"/>
              </a:rPr>
              <a:t>4</a:t>
            </a:r>
            <a:endParaRPr lang="en-US" sz="4400" dirty="0"/>
          </a:p>
        </p:txBody>
      </p:sp>
      <p:sp>
        <p:nvSpPr>
          <p:cNvPr id="19" name="Text 17"/>
          <p:cNvSpPr/>
          <p:nvPr/>
        </p:nvSpPr>
        <p:spPr>
          <a:xfrm>
            <a:off x="4328607" y="5728097"/>
            <a:ext cx="3534381" cy="221456"/>
          </a:xfrm>
          <a:prstGeom prst="rect">
            <a:avLst/>
          </a:prstGeom>
          <a:noFill/>
          <a:ln/>
        </p:spPr>
        <p:txBody>
          <a:bodyPr wrap="none" lIns="0" tIns="0" rIns="0" bIns="0" rtlCol="0" anchor="t"/>
          <a:lstStyle/>
          <a:p>
            <a:pPr marL="0" indent="0" algn="ctr">
              <a:lnSpc>
                <a:spcPct val="104000"/>
              </a:lnSpc>
              <a:buNone/>
            </a:pPr>
            <a:r>
              <a:rPr lang="en-US" sz="1350" b="1" dirty="0">
                <a:solidFill>
                  <a:srgbClr val="FFFFFF"/>
                </a:solidFill>
                <a:latin typeface="Outfit Bold" pitchFamily="34" charset="0"/>
                <a:ea typeface="Outfit Bold" pitchFamily="34" charset="-122"/>
                <a:cs typeface="Outfit Bold" pitchFamily="34" charset="-120"/>
              </a:rPr>
              <a:t>Agents in DisasTeller</a:t>
            </a:r>
            <a:endParaRPr lang="en-US" sz="1350" dirty="0"/>
          </a:p>
        </p:txBody>
      </p:sp>
      <p:sp>
        <p:nvSpPr>
          <p:cNvPr id="20" name="Text 18"/>
          <p:cNvSpPr/>
          <p:nvPr/>
        </p:nvSpPr>
        <p:spPr>
          <a:xfrm>
            <a:off x="4328607" y="6013252"/>
            <a:ext cx="3534381" cy="198438"/>
          </a:xfrm>
          <a:prstGeom prst="rect">
            <a:avLst/>
          </a:prstGeom>
          <a:noFill/>
          <a:ln/>
        </p:spPr>
        <p:txBody>
          <a:bodyPr wrap="none" lIns="0" tIns="0" rIns="0" bIns="0" rtlCol="0" anchor="t"/>
          <a:lstStyle/>
          <a:p>
            <a:pPr marL="0" indent="0" algn="ctr">
              <a:lnSpc>
                <a:spcPct val="117000"/>
              </a:lnSpc>
              <a:buNone/>
            </a:pPr>
            <a:r>
              <a:rPr lang="en-US" sz="1100" dirty="0">
                <a:solidFill>
                  <a:srgbClr val="FFFFFF"/>
                </a:solidFill>
                <a:latin typeface="Bitter" pitchFamily="34" charset="0"/>
                <a:ea typeface="Bitter" pitchFamily="34" charset="-122"/>
                <a:cs typeface="Bitter" pitchFamily="34" charset="-120"/>
              </a:rPr>
              <a:t>CrewAI autonomous command center agents</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61475" y="965895"/>
            <a:ext cx="10868745" cy="590649"/>
          </a:xfrm>
          <a:prstGeom prst="rect">
            <a:avLst/>
          </a:prstGeom>
          <a:noFill/>
          <a:ln/>
        </p:spPr>
        <p:txBody>
          <a:bodyPr wrap="none" lIns="0" tIns="0" rIns="0" bIns="0" rtlCol="0" anchor="t"/>
          <a:lstStyle/>
          <a:p>
            <a:pPr marL="0" indent="0" algn="l">
              <a:lnSpc>
                <a:spcPct val="104000"/>
              </a:lnSpc>
              <a:buNone/>
            </a:pPr>
            <a:r>
              <a:rPr lang="en-US" sz="3700" b="1" dirty="0">
                <a:solidFill>
                  <a:srgbClr val="E1E5CD"/>
                </a:solidFill>
                <a:latin typeface="Outfit Bold" pitchFamily="34" charset="0"/>
                <a:ea typeface="Outfit Bold" pitchFamily="34" charset="-122"/>
                <a:cs typeface="Outfit Bold" pitchFamily="34" charset="-120"/>
              </a:rPr>
              <a:t>N-Comparative Technical Feasibility Matrix</a:t>
            </a:r>
            <a:endParaRPr lang="en-US" sz="37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61475" y="1934567"/>
          <a:ext cx="9143771" cy="914400"/>
        </p:xfrm>
        <a:graphic>
          <a:graphicData uri="http://schemas.openxmlformats.org/drawingml/2006/table">
            <a:tbl>
              <a:tblPr/>
              <a:tblGrid>
                <a:gridCol w="2391124">
                  <a:extLst>
                    <a:ext uri="{9D8B030D-6E8A-4147-A177-3AD203B41FA5}">
                      <a16:colId xmlns:a16="http://schemas.microsoft.com/office/drawing/2014/main" val="20000"/>
                    </a:ext>
                  </a:extLst>
                </a:gridCol>
                <a:gridCol w="3043249">
                  <a:extLst>
                    <a:ext uri="{9D8B030D-6E8A-4147-A177-3AD203B41FA5}">
                      <a16:colId xmlns:a16="http://schemas.microsoft.com/office/drawing/2014/main" val="20001"/>
                    </a:ext>
                  </a:extLst>
                </a:gridCol>
                <a:gridCol w="2608499">
                  <a:extLst>
                    <a:ext uri="{9D8B030D-6E8A-4147-A177-3AD203B41FA5}">
                      <a16:colId xmlns:a16="http://schemas.microsoft.com/office/drawing/2014/main" val="20002"/>
                    </a:ext>
                  </a:extLst>
                </a:gridCol>
                <a:gridCol w="2825874">
                  <a:extLst>
                    <a:ext uri="{9D8B030D-6E8A-4147-A177-3AD203B41FA5}">
                      <a16:colId xmlns:a16="http://schemas.microsoft.com/office/drawing/2014/main" val="20003"/>
                    </a:ext>
                  </a:extLst>
                </a:gridCol>
              </a:tblGrid>
              <a:tr h="545094">
                <a:tc>
                  <a:txBody>
                    <a:bodyPr/>
                    <a:lstStyle/>
                    <a:p>
                      <a:pPr marL="0" indent="0">
                        <a:buNone/>
                      </a:pPr>
                      <a:r>
                        <a:rPr lang="en-US" sz="1450" b="1" dirty="0">
                          <a:solidFill>
                            <a:srgbClr val="FFFFFF"/>
                          </a:solidFill>
                          <a:latin typeface="Bitter" pitchFamily="34" charset="0"/>
                          <a:ea typeface="Bitter" pitchFamily="34" charset="-122"/>
                          <a:cs typeface="Bitter" pitchFamily="34" charset="-120"/>
                        </a:rPr>
                        <a:t>Pipeline Stage</a:t>
                      </a:r>
                      <a:endParaRPr lang="en-US" sz="1450" dirty="0">
                        <a:latin typeface="Bitter" charset="0"/>
                        <a:ea typeface="Bitter" charset="0"/>
                        <a:cs typeface="Bitter" charset="0"/>
                      </a:endParaRPr>
                    </a:p>
                  </a:txBody>
                  <a:tcPr marL="189018" marR="189018" marT="6350" marB="6350" anchor="ctr">
                    <a:lnL w="12700" cap="flat" cmpd="sng" algn="ctr">
                      <a:solidFill>
                        <a:srgbClr val="525355"/>
                      </a:solidFill>
                      <a:prstDash val="solid"/>
                      <a:round/>
                      <a:headEnd type="none" w="med" len="med"/>
                      <a:tailEnd type="none" w="med" len="med"/>
                    </a:lnL>
                    <a:lnR w="12700" cap="flat" cmpd="sng" algn="ctr">
                      <a:solidFill>
                        <a:srgbClr val="525355"/>
                      </a:solidFill>
                      <a:prstDash val="solid"/>
                      <a:round/>
                      <a:headEnd type="none" w="med" len="med"/>
                      <a:tailEnd type="none" w="med" len="med"/>
                    </a:lnR>
                    <a:lnT w="12700" cap="flat" cmpd="sng" algn="ctr">
                      <a:solidFill>
                        <a:srgbClr val="525355"/>
                      </a:solidFill>
                      <a:prstDash val="solid"/>
                      <a:round/>
                      <a:headEnd type="none" w="med" len="med"/>
                      <a:tailEnd type="none" w="med" len="med"/>
                    </a:lnT>
                    <a:lnB w="12700" cap="flat" cmpd="sng" algn="ctr">
                      <a:solidFill>
                        <a:srgbClr val="525355"/>
                      </a:solidFill>
                      <a:prstDash val="solid"/>
                      <a:round/>
                      <a:headEnd type="none" w="med" len="med"/>
                      <a:tailEnd type="none" w="med" len="med"/>
                    </a:lnB>
                    <a:solidFill>
                      <a:srgbClr val="1B1B27"/>
                    </a:solidFill>
                  </a:tcPr>
                </a:tc>
                <a:tc>
                  <a:txBody>
                    <a:bodyPr/>
                    <a:lstStyle/>
                    <a:p>
                      <a:pPr marL="0" indent="0">
                        <a:buNone/>
                      </a:pPr>
                      <a:r>
                        <a:rPr lang="en-US" sz="1450" b="1" dirty="0">
                          <a:solidFill>
                            <a:srgbClr val="FFFFFF"/>
                          </a:solidFill>
                          <a:latin typeface="Bitter" pitchFamily="34" charset="0"/>
                          <a:ea typeface="Bitter" pitchFamily="34" charset="-122"/>
                          <a:cs typeface="Bitter" pitchFamily="34" charset="-120"/>
                        </a:rPr>
                        <a:t>Core Technology</a:t>
                      </a:r>
                      <a:endParaRPr lang="en-US" sz="1450" dirty="0">
                        <a:latin typeface="Bitter" charset="0"/>
                        <a:ea typeface="Bitter" charset="0"/>
                        <a:cs typeface="Bitter" charset="0"/>
                      </a:endParaRPr>
                    </a:p>
                  </a:txBody>
                  <a:tcPr marL="189018" marR="189018" marT="6350" marB="6350" anchor="ctr">
                    <a:lnL w="12700" cap="flat" cmpd="sng" algn="ctr">
                      <a:solidFill>
                        <a:srgbClr val="525355"/>
                      </a:solidFill>
                      <a:prstDash val="solid"/>
                      <a:round/>
                      <a:headEnd type="none" w="med" len="med"/>
                      <a:tailEnd type="none" w="med" len="med"/>
                    </a:lnL>
                    <a:lnR w="12700" cap="flat" cmpd="sng" algn="ctr">
                      <a:solidFill>
                        <a:srgbClr val="525355"/>
                      </a:solidFill>
                      <a:prstDash val="solid"/>
                      <a:round/>
                      <a:headEnd type="none" w="med" len="med"/>
                      <a:tailEnd type="none" w="med" len="med"/>
                    </a:lnR>
                    <a:lnT w="12700" cap="flat" cmpd="sng" algn="ctr">
                      <a:solidFill>
                        <a:srgbClr val="525355"/>
                      </a:solidFill>
                      <a:prstDash val="solid"/>
                      <a:round/>
                      <a:headEnd type="none" w="med" len="med"/>
                      <a:tailEnd type="none" w="med" len="med"/>
                    </a:lnT>
                    <a:lnB w="12700" cap="flat" cmpd="sng" algn="ctr">
                      <a:solidFill>
                        <a:srgbClr val="525355"/>
                      </a:solidFill>
                      <a:prstDash val="solid"/>
                      <a:round/>
                      <a:headEnd type="none" w="med" len="med"/>
                      <a:tailEnd type="none" w="med" len="med"/>
                    </a:lnB>
                    <a:solidFill>
                      <a:srgbClr val="1B1B27"/>
                    </a:solidFill>
                  </a:tcPr>
                </a:tc>
                <a:tc>
                  <a:txBody>
                    <a:bodyPr/>
                    <a:lstStyle/>
                    <a:p>
                      <a:pPr marL="0" indent="0">
                        <a:buNone/>
                      </a:pPr>
                      <a:r>
                        <a:rPr lang="en-US" sz="1450" b="1" dirty="0">
                          <a:solidFill>
                            <a:srgbClr val="FFFFFF"/>
                          </a:solidFill>
                          <a:latin typeface="Bitter" pitchFamily="34" charset="0"/>
                          <a:ea typeface="Bitter" pitchFamily="34" charset="-122"/>
                          <a:cs typeface="Bitter" pitchFamily="34" charset="-120"/>
                        </a:rPr>
                        <a:t>Hardware / Environment</a:t>
                      </a:r>
                      <a:endParaRPr lang="en-US" sz="1450" dirty="0">
                        <a:latin typeface="Bitter" charset="0"/>
                        <a:ea typeface="Bitter" charset="0"/>
                        <a:cs typeface="Bitter" charset="0"/>
                      </a:endParaRPr>
                    </a:p>
                  </a:txBody>
                  <a:tcPr marL="189018" marR="189018" marT="6350" marB="6350" anchor="ctr">
                    <a:lnL w="12700" cap="flat" cmpd="sng" algn="ctr">
                      <a:solidFill>
                        <a:srgbClr val="525355"/>
                      </a:solidFill>
                      <a:prstDash val="solid"/>
                      <a:round/>
                      <a:headEnd type="none" w="med" len="med"/>
                      <a:tailEnd type="none" w="med" len="med"/>
                    </a:lnL>
                    <a:lnR w="12700" cap="flat" cmpd="sng" algn="ctr">
                      <a:solidFill>
                        <a:srgbClr val="525355"/>
                      </a:solidFill>
                      <a:prstDash val="solid"/>
                      <a:round/>
                      <a:headEnd type="none" w="med" len="med"/>
                      <a:tailEnd type="none" w="med" len="med"/>
                    </a:lnR>
                    <a:lnT w="12700" cap="flat" cmpd="sng" algn="ctr">
                      <a:solidFill>
                        <a:srgbClr val="525355"/>
                      </a:solidFill>
                      <a:prstDash val="solid"/>
                      <a:round/>
                      <a:headEnd type="none" w="med" len="med"/>
                      <a:tailEnd type="none" w="med" len="med"/>
                    </a:lnT>
                    <a:lnB w="12700" cap="flat" cmpd="sng" algn="ctr">
                      <a:solidFill>
                        <a:srgbClr val="525355"/>
                      </a:solidFill>
                      <a:prstDash val="solid"/>
                      <a:round/>
                      <a:headEnd type="none" w="med" len="med"/>
                      <a:tailEnd type="none" w="med" len="med"/>
                    </a:lnB>
                    <a:solidFill>
                      <a:srgbClr val="1B1B27"/>
                    </a:solidFill>
                  </a:tcPr>
                </a:tc>
                <a:tc>
                  <a:txBody>
                    <a:bodyPr/>
                    <a:lstStyle/>
                    <a:p>
                      <a:pPr marL="0" indent="0">
                        <a:buNone/>
                      </a:pPr>
                      <a:r>
                        <a:rPr lang="en-US" sz="1450" b="1" dirty="0">
                          <a:solidFill>
                            <a:srgbClr val="FFFFFF"/>
                          </a:solidFill>
                          <a:latin typeface="Bitter" pitchFamily="34" charset="0"/>
                          <a:ea typeface="Bitter" pitchFamily="34" charset="-122"/>
                          <a:cs typeface="Bitter" pitchFamily="34" charset="-120"/>
                        </a:rPr>
                        <a:t>Key Feasibility Metric</a:t>
                      </a:r>
                      <a:endParaRPr lang="en-US" sz="1450" dirty="0">
                        <a:latin typeface="Bitter" charset="0"/>
                        <a:ea typeface="Bitter" charset="0"/>
                        <a:cs typeface="Bitter" charset="0"/>
                      </a:endParaRPr>
                    </a:p>
                  </a:txBody>
                  <a:tcPr marL="189018" marR="189018" marT="6350" marB="6350" anchor="ctr">
                    <a:lnL w="12700" cap="flat" cmpd="sng" algn="ctr">
                      <a:solidFill>
                        <a:srgbClr val="525355"/>
                      </a:solidFill>
                      <a:prstDash val="solid"/>
                      <a:round/>
                      <a:headEnd type="none" w="med" len="med"/>
                      <a:tailEnd type="none" w="med" len="med"/>
                    </a:lnL>
                    <a:lnR w="12700" cap="flat" cmpd="sng" algn="ctr">
                      <a:solidFill>
                        <a:srgbClr val="525355"/>
                      </a:solidFill>
                      <a:prstDash val="solid"/>
                      <a:round/>
                      <a:headEnd type="none" w="med" len="med"/>
                      <a:tailEnd type="none" w="med" len="med"/>
                    </a:lnR>
                    <a:lnT w="12700" cap="flat" cmpd="sng" algn="ctr">
                      <a:solidFill>
                        <a:srgbClr val="525355"/>
                      </a:solidFill>
                      <a:prstDash val="solid"/>
                      <a:round/>
                      <a:headEnd type="none" w="med" len="med"/>
                      <a:tailEnd type="none" w="med" len="med"/>
                    </a:lnT>
                    <a:lnB w="12700" cap="flat" cmpd="sng" algn="ctr">
                      <a:solidFill>
                        <a:srgbClr val="525355"/>
                      </a:solidFill>
                      <a:prstDash val="solid"/>
                      <a:round/>
                      <a:headEnd type="none" w="med" len="med"/>
                      <a:tailEnd type="none" w="med" len="med"/>
                    </a:lnB>
                    <a:solidFill>
                      <a:srgbClr val="1B1B27"/>
                    </a:solidFill>
                  </a:tcPr>
                </a:tc>
                <a:extLst>
                  <a:ext uri="{0D108BD9-81ED-4DB2-BD59-A6C34878D82A}">
                    <a16:rowId xmlns:a16="http://schemas.microsoft.com/office/drawing/2014/main" val="10000"/>
                  </a:ext>
                </a:extLst>
              </a:tr>
              <a:tr h="850680">
                <a:tc>
                  <a:txBody>
                    <a:bodyPr/>
                    <a:lstStyle/>
                    <a:p>
                      <a:pPr marL="0" indent="0">
                        <a:buNone/>
                      </a:pPr>
                      <a:r>
                        <a:rPr lang="en-US" sz="1450" dirty="0">
                          <a:solidFill>
                            <a:srgbClr val="272525"/>
                          </a:solidFill>
                          <a:latin typeface="Bitter" pitchFamily="34" charset="0"/>
                          <a:ea typeface="Bitter" pitchFamily="34" charset="-122"/>
                          <a:cs typeface="Bitter" pitchFamily="34" charset="-120"/>
                        </a:rPr>
                        <a:t>Stage 1 Enhancement</a:t>
                      </a:r>
                      <a:endParaRPr lang="en-US" sz="1450" dirty="0">
                        <a:latin typeface="Bitter" charset="0"/>
                        <a:ea typeface="Bitter" charset="0"/>
                        <a:cs typeface="Bitter" charset="0"/>
                      </a:endParaRPr>
                    </a:p>
                  </a:txBody>
                  <a:tcPr marL="189018" marR="189018" marT="6350" marB="6350" anchor="ctr">
                    <a:lnL w="12700" cap="flat" cmpd="sng" algn="ctr">
                      <a:solidFill>
                        <a:srgbClr val="525355"/>
                      </a:solidFill>
                      <a:prstDash val="solid"/>
                      <a:round/>
                      <a:headEnd type="none" w="med" len="med"/>
                      <a:tailEnd type="none" w="med" len="med"/>
                    </a:lnL>
                    <a:lnR w="12700" cap="flat" cmpd="sng" algn="ctr">
                      <a:solidFill>
                        <a:srgbClr val="525355"/>
                      </a:solidFill>
                      <a:prstDash val="solid"/>
                      <a:round/>
                      <a:headEnd type="none" w="med" len="med"/>
                      <a:tailEnd type="none" w="med" len="med"/>
                    </a:lnR>
                    <a:lnT w="12700" cap="flat" cmpd="sng" algn="ctr">
                      <a:solidFill>
                        <a:srgbClr val="525355"/>
                      </a:solidFill>
                      <a:prstDash val="solid"/>
                      <a:round/>
                      <a:headEnd type="none" w="med" len="med"/>
                      <a:tailEnd type="none" w="med" len="med"/>
                    </a:lnT>
                    <a:lnB w="12700" cap="flat" cmpd="sng" algn="ctr">
                      <a:solidFill>
                        <a:srgbClr val="525355"/>
                      </a:solidFill>
                      <a:prstDash val="solid"/>
                      <a:round/>
                      <a:headEnd type="none" w="med" len="med"/>
                      <a:tailEnd type="none" w="med" len="med"/>
                    </a:lnB>
                    <a:solidFill>
                      <a:srgbClr val="F5F7FB"/>
                    </a:solidFill>
                  </a:tcPr>
                </a:tc>
                <a:tc>
                  <a:txBody>
                    <a:bodyPr/>
                    <a:lstStyle/>
                    <a:p>
                      <a:pPr marL="0" indent="0">
                        <a:buNone/>
                      </a:pPr>
                      <a:r>
                        <a:rPr lang="en-US" sz="1450" dirty="0">
                          <a:solidFill>
                            <a:srgbClr val="272525"/>
                          </a:solidFill>
                          <a:latin typeface="Bitter" pitchFamily="34" charset="0"/>
                          <a:ea typeface="Bitter" pitchFamily="34" charset="-122"/>
                          <a:cs typeface="Bitter" pitchFamily="34" charset="-120"/>
                        </a:rPr>
                        <a:t>Vision Restoration Transformer</a:t>
                      </a:r>
                      <a:endParaRPr lang="en-US" sz="1450" dirty="0">
                        <a:latin typeface="Bitter" charset="0"/>
                        <a:ea typeface="Bitter" charset="0"/>
                        <a:cs typeface="Bitter" charset="0"/>
                      </a:endParaRPr>
                    </a:p>
                  </a:txBody>
                  <a:tcPr marL="189018" marR="189018" marT="6350" marB="6350" anchor="ctr">
                    <a:lnL w="12700" cap="flat" cmpd="sng" algn="ctr">
                      <a:solidFill>
                        <a:srgbClr val="525355"/>
                      </a:solidFill>
                      <a:prstDash val="solid"/>
                      <a:round/>
                      <a:headEnd type="none" w="med" len="med"/>
                      <a:tailEnd type="none" w="med" len="med"/>
                    </a:lnL>
                    <a:lnR w="12700" cap="flat" cmpd="sng" algn="ctr">
                      <a:solidFill>
                        <a:srgbClr val="525355"/>
                      </a:solidFill>
                      <a:prstDash val="solid"/>
                      <a:round/>
                      <a:headEnd type="none" w="med" len="med"/>
                      <a:tailEnd type="none" w="med" len="med"/>
                    </a:lnR>
                    <a:lnT w="12700" cap="flat" cmpd="sng" algn="ctr">
                      <a:solidFill>
                        <a:srgbClr val="525355"/>
                      </a:solidFill>
                      <a:prstDash val="solid"/>
                      <a:round/>
                      <a:headEnd type="none" w="med" len="med"/>
                      <a:tailEnd type="none" w="med" len="med"/>
                    </a:lnT>
                    <a:lnB w="12700" cap="flat" cmpd="sng" algn="ctr">
                      <a:solidFill>
                        <a:srgbClr val="525355"/>
                      </a:solidFill>
                      <a:prstDash val="solid"/>
                      <a:round/>
                      <a:headEnd type="none" w="med" len="med"/>
                      <a:tailEnd type="none" w="med" len="med"/>
                    </a:lnB>
                    <a:solidFill>
                      <a:srgbClr val="F5F7FB"/>
                    </a:solidFill>
                  </a:tcPr>
                </a:tc>
                <a:tc>
                  <a:txBody>
                    <a:bodyPr/>
                    <a:lstStyle/>
                    <a:p>
                      <a:pPr marL="0" indent="0">
                        <a:buNone/>
                      </a:pPr>
                      <a:r>
                        <a:rPr lang="en-US" sz="1450" dirty="0">
                          <a:solidFill>
                            <a:srgbClr val="272525"/>
                          </a:solidFill>
                          <a:latin typeface="Bitter" pitchFamily="34" charset="0"/>
                          <a:ea typeface="Bitter" pitchFamily="34" charset="-122"/>
                          <a:cs typeface="Bitter" pitchFamily="34" charset="-120"/>
                        </a:rPr>
                        <a:t>Kaggle 14 GPU (Used Windows)</a:t>
                      </a:r>
                      <a:endParaRPr lang="en-US" sz="1450" dirty="0">
                        <a:latin typeface="Bitter" charset="0"/>
                        <a:ea typeface="Bitter" charset="0"/>
                        <a:cs typeface="Bitter" charset="0"/>
                      </a:endParaRPr>
                    </a:p>
                  </a:txBody>
                  <a:tcPr marL="189018" marR="189018" marT="6350" marB="6350" anchor="ctr">
                    <a:lnL w="12700" cap="flat" cmpd="sng" algn="ctr">
                      <a:solidFill>
                        <a:srgbClr val="525355"/>
                      </a:solidFill>
                      <a:prstDash val="solid"/>
                      <a:round/>
                      <a:headEnd type="none" w="med" len="med"/>
                      <a:tailEnd type="none" w="med" len="med"/>
                    </a:lnL>
                    <a:lnR w="12700" cap="flat" cmpd="sng" algn="ctr">
                      <a:solidFill>
                        <a:srgbClr val="525355"/>
                      </a:solidFill>
                      <a:prstDash val="solid"/>
                      <a:round/>
                      <a:headEnd type="none" w="med" len="med"/>
                      <a:tailEnd type="none" w="med" len="med"/>
                    </a:lnR>
                    <a:lnT w="12700" cap="flat" cmpd="sng" algn="ctr">
                      <a:solidFill>
                        <a:srgbClr val="525355"/>
                      </a:solidFill>
                      <a:prstDash val="solid"/>
                      <a:round/>
                      <a:headEnd type="none" w="med" len="med"/>
                      <a:tailEnd type="none" w="med" len="med"/>
                    </a:lnT>
                    <a:lnB w="12700" cap="flat" cmpd="sng" algn="ctr">
                      <a:solidFill>
                        <a:srgbClr val="525355"/>
                      </a:solidFill>
                      <a:prstDash val="solid"/>
                      <a:round/>
                      <a:headEnd type="none" w="med" len="med"/>
                      <a:tailEnd type="none" w="med" len="med"/>
                    </a:lnB>
                    <a:solidFill>
                      <a:srgbClr val="F5F7FB"/>
                    </a:solidFill>
                  </a:tcPr>
                </a:tc>
                <a:tc>
                  <a:txBody>
                    <a:bodyPr/>
                    <a:lstStyle/>
                    <a:p>
                      <a:pPr marL="0" indent="0">
                        <a:buNone/>
                      </a:pPr>
                      <a:r>
                        <a:rPr lang="en-US" sz="1450" dirty="0">
                          <a:solidFill>
                            <a:srgbClr val="272525"/>
                          </a:solidFill>
                          <a:latin typeface="Bitter" pitchFamily="34" charset="0"/>
                          <a:ea typeface="Bitter" pitchFamily="34" charset="-122"/>
                          <a:cs typeface="Bitter" pitchFamily="34" charset="-120"/>
                        </a:rPr>
                        <a:t>Updates 1024*h 4089 pixels</a:t>
                      </a:r>
                      <a:endParaRPr lang="en-US" sz="1450" dirty="0">
                        <a:latin typeface="Bitter" charset="0"/>
                        <a:ea typeface="Bitter" charset="0"/>
                        <a:cs typeface="Bitter" charset="0"/>
                      </a:endParaRPr>
                    </a:p>
                  </a:txBody>
                  <a:tcPr marL="189018" marR="189018" marT="6350" marB="6350" anchor="ctr">
                    <a:lnL w="12700" cap="flat" cmpd="sng" algn="ctr">
                      <a:solidFill>
                        <a:srgbClr val="525355"/>
                      </a:solidFill>
                      <a:prstDash val="solid"/>
                      <a:round/>
                      <a:headEnd type="none" w="med" len="med"/>
                      <a:tailEnd type="none" w="med" len="med"/>
                    </a:lnL>
                    <a:lnR w="12700" cap="flat" cmpd="sng" algn="ctr">
                      <a:solidFill>
                        <a:srgbClr val="525355"/>
                      </a:solidFill>
                      <a:prstDash val="solid"/>
                      <a:round/>
                      <a:headEnd type="none" w="med" len="med"/>
                      <a:tailEnd type="none" w="med" len="med"/>
                    </a:lnR>
                    <a:lnT w="12700" cap="flat" cmpd="sng" algn="ctr">
                      <a:solidFill>
                        <a:srgbClr val="525355"/>
                      </a:solidFill>
                      <a:prstDash val="solid"/>
                      <a:round/>
                      <a:headEnd type="none" w="med" len="med"/>
                      <a:tailEnd type="none" w="med" len="med"/>
                    </a:lnT>
                    <a:lnB w="12700" cap="flat" cmpd="sng" algn="ctr">
                      <a:solidFill>
                        <a:srgbClr val="525355"/>
                      </a:solidFill>
                      <a:prstDash val="solid"/>
                      <a:round/>
                      <a:headEnd type="none" w="med" len="med"/>
                      <a:tailEnd type="none" w="med" len="med"/>
                    </a:lnB>
                    <a:solidFill>
                      <a:srgbClr val="F5F7FB"/>
                    </a:solidFill>
                  </a:tcPr>
                </a:tc>
                <a:extLst>
                  <a:ext uri="{0D108BD9-81ED-4DB2-BD59-A6C34878D82A}">
                    <a16:rowId xmlns:a16="http://schemas.microsoft.com/office/drawing/2014/main" val="10001"/>
                  </a:ext>
                </a:extLst>
              </a:tr>
              <a:tr h="850680">
                <a:tc>
                  <a:txBody>
                    <a:bodyPr/>
                    <a:lstStyle/>
                    <a:p>
                      <a:pPr marL="0" indent="0">
                        <a:buNone/>
                      </a:pPr>
                      <a:r>
                        <a:rPr lang="en-US" sz="1450" dirty="0">
                          <a:solidFill>
                            <a:srgbClr val="C2C4B5"/>
                          </a:solidFill>
                          <a:latin typeface="Bitter" pitchFamily="34" charset="0"/>
                          <a:ea typeface="Bitter" pitchFamily="34" charset="-122"/>
                          <a:cs typeface="Bitter" pitchFamily="34" charset="-120"/>
                        </a:rPr>
                        <a:t>Stage 2 Segmentation</a:t>
                      </a:r>
                      <a:endParaRPr lang="en-US" sz="1450" dirty="0">
                        <a:latin typeface="Bitter" charset="0"/>
                        <a:ea typeface="Bitter" charset="0"/>
                        <a:cs typeface="Bitter" charset="0"/>
                      </a:endParaRPr>
                    </a:p>
                  </a:txBody>
                  <a:tcPr marL="189018" marR="189018" marT="6350" marB="6350" anchor="ctr">
                    <a:lnL w="12700" cap="flat" cmpd="sng" algn="ctr">
                      <a:solidFill>
                        <a:srgbClr val="525355"/>
                      </a:solidFill>
                      <a:prstDash val="solid"/>
                      <a:round/>
                      <a:headEnd type="none" w="med" len="med"/>
                      <a:tailEnd type="none" w="med" len="med"/>
                    </a:lnL>
                    <a:lnR w="12700" cap="flat" cmpd="sng" algn="ctr">
                      <a:solidFill>
                        <a:srgbClr val="525355"/>
                      </a:solidFill>
                      <a:prstDash val="solid"/>
                      <a:round/>
                      <a:headEnd type="none" w="med" len="med"/>
                      <a:tailEnd type="none" w="med" len="med"/>
                    </a:lnR>
                    <a:lnT w="12700" cap="flat" cmpd="sng" algn="ctr">
                      <a:solidFill>
                        <a:srgbClr val="525355"/>
                      </a:solidFill>
                      <a:prstDash val="solid"/>
                      <a:round/>
                      <a:headEnd type="none" w="med" len="med"/>
                      <a:tailEnd type="none" w="med" len="med"/>
                    </a:lnT>
                    <a:lnB w="12700" cap="flat" cmpd="sng" algn="ctr">
                      <a:solidFill>
                        <a:srgbClr val="525355"/>
                      </a:solidFill>
                      <a:prstDash val="solid"/>
                      <a:round/>
                      <a:headEnd type="none" w="med" len="med"/>
                      <a:tailEnd type="none" w="med" len="med"/>
                    </a:lnB>
                    <a:solidFill>
                      <a:srgbClr val="1C1D1F"/>
                    </a:solidFill>
                  </a:tcPr>
                </a:tc>
                <a:tc>
                  <a:txBody>
                    <a:bodyPr/>
                    <a:lstStyle/>
                    <a:p>
                      <a:pPr marL="0" indent="0">
                        <a:buNone/>
                      </a:pPr>
                      <a:r>
                        <a:rPr lang="en-US" sz="1450" dirty="0">
                          <a:solidFill>
                            <a:srgbClr val="C2C4B5"/>
                          </a:solidFill>
                          <a:latin typeface="Bitter" pitchFamily="34" charset="0"/>
                          <a:ea typeface="Bitter" pitchFamily="34" charset="-122"/>
                          <a:cs typeface="Bitter" pitchFamily="34" charset="-120"/>
                        </a:rPr>
                        <a:t>ResNet34 U-Net (Combined Loss)</a:t>
                      </a:r>
                      <a:endParaRPr lang="en-US" sz="1450" dirty="0">
                        <a:latin typeface="Bitter" charset="0"/>
                        <a:ea typeface="Bitter" charset="0"/>
                        <a:cs typeface="Bitter" charset="0"/>
                      </a:endParaRPr>
                    </a:p>
                  </a:txBody>
                  <a:tcPr marL="189018" marR="189018" marT="6350" marB="6350" anchor="ctr">
                    <a:lnL w="12700" cap="flat" cmpd="sng" algn="ctr">
                      <a:solidFill>
                        <a:srgbClr val="525355"/>
                      </a:solidFill>
                      <a:prstDash val="solid"/>
                      <a:round/>
                      <a:headEnd type="none" w="med" len="med"/>
                      <a:tailEnd type="none" w="med" len="med"/>
                    </a:lnL>
                    <a:lnR w="12700" cap="flat" cmpd="sng" algn="ctr">
                      <a:solidFill>
                        <a:srgbClr val="525355"/>
                      </a:solidFill>
                      <a:prstDash val="solid"/>
                      <a:round/>
                      <a:headEnd type="none" w="med" len="med"/>
                      <a:tailEnd type="none" w="med" len="med"/>
                    </a:lnR>
                    <a:lnT w="12700" cap="flat" cmpd="sng" algn="ctr">
                      <a:solidFill>
                        <a:srgbClr val="525355"/>
                      </a:solidFill>
                      <a:prstDash val="solid"/>
                      <a:round/>
                      <a:headEnd type="none" w="med" len="med"/>
                      <a:tailEnd type="none" w="med" len="med"/>
                    </a:lnT>
                    <a:lnB w="12700" cap="flat" cmpd="sng" algn="ctr">
                      <a:solidFill>
                        <a:srgbClr val="525355"/>
                      </a:solidFill>
                      <a:prstDash val="solid"/>
                      <a:round/>
                      <a:headEnd type="none" w="med" len="med"/>
                      <a:tailEnd type="none" w="med" len="med"/>
                    </a:lnB>
                    <a:solidFill>
                      <a:srgbClr val="1C1D1F"/>
                    </a:solidFill>
                  </a:tcPr>
                </a:tc>
                <a:tc>
                  <a:txBody>
                    <a:bodyPr/>
                    <a:lstStyle/>
                    <a:p>
                      <a:pPr marL="0" indent="0">
                        <a:buNone/>
                      </a:pPr>
                      <a:r>
                        <a:rPr lang="en-US" sz="1450" dirty="0">
                          <a:solidFill>
                            <a:srgbClr val="C2C4B5"/>
                          </a:solidFill>
                          <a:latin typeface="Bitter" pitchFamily="34" charset="0"/>
                          <a:ea typeface="Bitter" pitchFamily="34" charset="-122"/>
                          <a:cs typeface="Bitter" pitchFamily="34" charset="-120"/>
                        </a:rPr>
                        <a:t>Single 14 GPU, 25 Epochs</a:t>
                      </a:r>
                      <a:endParaRPr lang="en-US" sz="1450" dirty="0">
                        <a:latin typeface="Bitter" charset="0"/>
                        <a:ea typeface="Bitter" charset="0"/>
                        <a:cs typeface="Bitter" charset="0"/>
                      </a:endParaRPr>
                    </a:p>
                  </a:txBody>
                  <a:tcPr marL="189018" marR="189018" marT="6350" marB="6350" anchor="ctr">
                    <a:lnL w="12700" cap="flat" cmpd="sng" algn="ctr">
                      <a:solidFill>
                        <a:srgbClr val="525355"/>
                      </a:solidFill>
                      <a:prstDash val="solid"/>
                      <a:round/>
                      <a:headEnd type="none" w="med" len="med"/>
                      <a:tailEnd type="none" w="med" len="med"/>
                    </a:lnL>
                    <a:lnR w="12700" cap="flat" cmpd="sng" algn="ctr">
                      <a:solidFill>
                        <a:srgbClr val="525355"/>
                      </a:solidFill>
                      <a:prstDash val="solid"/>
                      <a:round/>
                      <a:headEnd type="none" w="med" len="med"/>
                      <a:tailEnd type="none" w="med" len="med"/>
                    </a:lnR>
                    <a:lnT w="12700" cap="flat" cmpd="sng" algn="ctr">
                      <a:solidFill>
                        <a:srgbClr val="525355"/>
                      </a:solidFill>
                      <a:prstDash val="solid"/>
                      <a:round/>
                      <a:headEnd type="none" w="med" len="med"/>
                      <a:tailEnd type="none" w="med" len="med"/>
                    </a:lnT>
                    <a:lnB w="12700" cap="flat" cmpd="sng" algn="ctr">
                      <a:solidFill>
                        <a:srgbClr val="525355"/>
                      </a:solidFill>
                      <a:prstDash val="solid"/>
                      <a:round/>
                      <a:headEnd type="none" w="med" len="med"/>
                      <a:tailEnd type="none" w="med" len="med"/>
                    </a:lnB>
                    <a:solidFill>
                      <a:srgbClr val="1C1D1F"/>
                    </a:solidFill>
                  </a:tcPr>
                </a:tc>
                <a:tc>
                  <a:txBody>
                    <a:bodyPr/>
                    <a:lstStyle/>
                    <a:p>
                      <a:pPr marL="0" indent="0">
                        <a:buNone/>
                      </a:pPr>
                      <a:r>
                        <a:rPr lang="en-US" sz="1450" dirty="0">
                          <a:solidFill>
                            <a:srgbClr val="C2C4B5"/>
                          </a:solidFill>
                          <a:latin typeface="Bitter" pitchFamily="34" charset="0"/>
                          <a:ea typeface="Bitter" pitchFamily="34" charset="-122"/>
                          <a:cs typeface="Bitter" pitchFamily="34" charset="-120"/>
                        </a:rPr>
                        <a:t>34.61% peak validation mIoU</a:t>
                      </a:r>
                      <a:endParaRPr lang="en-US" sz="1450" dirty="0">
                        <a:latin typeface="Bitter" charset="0"/>
                        <a:ea typeface="Bitter" charset="0"/>
                        <a:cs typeface="Bitter" charset="0"/>
                      </a:endParaRPr>
                    </a:p>
                  </a:txBody>
                  <a:tcPr marL="189018" marR="189018" marT="6350" marB="6350" anchor="ctr">
                    <a:lnL w="12700" cap="flat" cmpd="sng" algn="ctr">
                      <a:solidFill>
                        <a:srgbClr val="525355"/>
                      </a:solidFill>
                      <a:prstDash val="solid"/>
                      <a:round/>
                      <a:headEnd type="none" w="med" len="med"/>
                      <a:tailEnd type="none" w="med" len="med"/>
                    </a:lnL>
                    <a:lnR w="12700" cap="flat" cmpd="sng" algn="ctr">
                      <a:solidFill>
                        <a:srgbClr val="525355"/>
                      </a:solidFill>
                      <a:prstDash val="solid"/>
                      <a:round/>
                      <a:headEnd type="none" w="med" len="med"/>
                      <a:tailEnd type="none" w="med" len="med"/>
                    </a:lnR>
                    <a:lnT w="12700" cap="flat" cmpd="sng" algn="ctr">
                      <a:solidFill>
                        <a:srgbClr val="525355"/>
                      </a:solidFill>
                      <a:prstDash val="solid"/>
                      <a:round/>
                      <a:headEnd type="none" w="med" len="med"/>
                      <a:tailEnd type="none" w="med" len="med"/>
                    </a:lnT>
                    <a:lnB w="12700" cap="flat" cmpd="sng" algn="ctr">
                      <a:solidFill>
                        <a:srgbClr val="525355"/>
                      </a:solidFill>
                      <a:prstDash val="solid"/>
                      <a:round/>
                      <a:headEnd type="none" w="med" len="med"/>
                      <a:tailEnd type="none" w="med" len="med"/>
                    </a:lnB>
                    <a:solidFill>
                      <a:srgbClr val="1C1D1F"/>
                    </a:solidFill>
                  </a:tcPr>
                </a:tc>
                <a:extLst>
                  <a:ext uri="{0D108BD9-81ED-4DB2-BD59-A6C34878D82A}">
                    <a16:rowId xmlns:a16="http://schemas.microsoft.com/office/drawing/2014/main" val="10002"/>
                  </a:ext>
                </a:extLst>
              </a:tr>
              <a:tr h="850680">
                <a:tc>
                  <a:txBody>
                    <a:bodyPr/>
                    <a:lstStyle/>
                    <a:p>
                      <a:pPr marL="0" indent="0">
                        <a:buNone/>
                      </a:pPr>
                      <a:r>
                        <a:rPr lang="en-US" sz="1450" dirty="0">
                          <a:solidFill>
                            <a:srgbClr val="272525"/>
                          </a:solidFill>
                          <a:latin typeface="Bitter" pitchFamily="34" charset="0"/>
                          <a:ea typeface="Bitter" pitchFamily="34" charset="-122"/>
                          <a:cs typeface="Bitter" pitchFamily="34" charset="-120"/>
                        </a:rPr>
                        <a:t>Stage 3: VLM Evaluation</a:t>
                      </a:r>
                      <a:endParaRPr lang="en-US" sz="1450" dirty="0">
                        <a:latin typeface="Bitter" charset="0"/>
                        <a:ea typeface="Bitter" charset="0"/>
                        <a:cs typeface="Bitter" charset="0"/>
                      </a:endParaRPr>
                    </a:p>
                  </a:txBody>
                  <a:tcPr marL="189018" marR="189018" marT="6350" marB="6350" anchor="ctr">
                    <a:lnL w="12700" cap="flat" cmpd="sng" algn="ctr">
                      <a:solidFill>
                        <a:srgbClr val="525355"/>
                      </a:solidFill>
                      <a:prstDash val="solid"/>
                      <a:round/>
                      <a:headEnd type="none" w="med" len="med"/>
                      <a:tailEnd type="none" w="med" len="med"/>
                    </a:lnL>
                    <a:lnR w="12700" cap="flat" cmpd="sng" algn="ctr">
                      <a:solidFill>
                        <a:srgbClr val="525355"/>
                      </a:solidFill>
                      <a:prstDash val="solid"/>
                      <a:round/>
                      <a:headEnd type="none" w="med" len="med"/>
                      <a:tailEnd type="none" w="med" len="med"/>
                    </a:lnR>
                    <a:lnT w="12700" cap="flat" cmpd="sng" algn="ctr">
                      <a:solidFill>
                        <a:srgbClr val="525355"/>
                      </a:solidFill>
                      <a:prstDash val="solid"/>
                      <a:round/>
                      <a:headEnd type="none" w="med" len="med"/>
                      <a:tailEnd type="none" w="med" len="med"/>
                    </a:lnT>
                    <a:lnB w="12700" cap="flat" cmpd="sng" algn="ctr">
                      <a:solidFill>
                        <a:srgbClr val="525355"/>
                      </a:solidFill>
                      <a:prstDash val="solid"/>
                      <a:round/>
                      <a:headEnd type="none" w="med" len="med"/>
                      <a:tailEnd type="none" w="med" len="med"/>
                    </a:lnB>
                    <a:solidFill>
                      <a:srgbClr val="F5F7FB"/>
                    </a:solidFill>
                  </a:tcPr>
                </a:tc>
                <a:tc>
                  <a:txBody>
                    <a:bodyPr/>
                    <a:lstStyle/>
                    <a:p>
                      <a:pPr marL="0" indent="0">
                        <a:buNone/>
                      </a:pPr>
                      <a:r>
                        <a:rPr lang="en-US" sz="1450" dirty="0">
                          <a:solidFill>
                            <a:srgbClr val="272525"/>
                          </a:solidFill>
                          <a:latin typeface="Bitter" pitchFamily="34" charset="0"/>
                          <a:ea typeface="Bitter" pitchFamily="34" charset="-122"/>
                          <a:cs typeface="Bitter" pitchFamily="34" charset="-120"/>
                        </a:rPr>
                        <a:t>Fine-Tuned Qwen2 5-7b (8-bit)</a:t>
                      </a:r>
                      <a:endParaRPr lang="en-US" sz="1450" dirty="0">
                        <a:latin typeface="Bitter" charset="0"/>
                        <a:ea typeface="Bitter" charset="0"/>
                        <a:cs typeface="Bitter" charset="0"/>
                      </a:endParaRPr>
                    </a:p>
                  </a:txBody>
                  <a:tcPr marL="189018" marR="189018" marT="6350" marB="6350" anchor="ctr">
                    <a:lnL w="12700" cap="flat" cmpd="sng" algn="ctr">
                      <a:solidFill>
                        <a:srgbClr val="525355"/>
                      </a:solidFill>
                      <a:prstDash val="solid"/>
                      <a:round/>
                      <a:headEnd type="none" w="med" len="med"/>
                      <a:tailEnd type="none" w="med" len="med"/>
                    </a:lnL>
                    <a:lnR w="12700" cap="flat" cmpd="sng" algn="ctr">
                      <a:solidFill>
                        <a:srgbClr val="525355"/>
                      </a:solidFill>
                      <a:prstDash val="solid"/>
                      <a:round/>
                      <a:headEnd type="none" w="med" len="med"/>
                      <a:tailEnd type="none" w="med" len="med"/>
                    </a:lnR>
                    <a:lnT w="12700" cap="flat" cmpd="sng" algn="ctr">
                      <a:solidFill>
                        <a:srgbClr val="525355"/>
                      </a:solidFill>
                      <a:prstDash val="solid"/>
                      <a:round/>
                      <a:headEnd type="none" w="med" len="med"/>
                      <a:tailEnd type="none" w="med" len="med"/>
                    </a:lnT>
                    <a:lnB w="12700" cap="flat" cmpd="sng" algn="ctr">
                      <a:solidFill>
                        <a:srgbClr val="525355"/>
                      </a:solidFill>
                      <a:prstDash val="solid"/>
                      <a:round/>
                      <a:headEnd type="none" w="med" len="med"/>
                      <a:tailEnd type="none" w="med" len="med"/>
                    </a:lnB>
                    <a:solidFill>
                      <a:srgbClr val="F5F7FB"/>
                    </a:solidFill>
                  </a:tcPr>
                </a:tc>
                <a:tc>
                  <a:txBody>
                    <a:bodyPr/>
                    <a:lstStyle/>
                    <a:p>
                      <a:pPr marL="0" indent="0">
                        <a:buNone/>
                      </a:pPr>
                      <a:r>
                        <a:rPr lang="en-US" sz="1450" dirty="0">
                          <a:solidFill>
                            <a:srgbClr val="272525"/>
                          </a:solidFill>
                          <a:latin typeface="Bitter" pitchFamily="34" charset="0"/>
                          <a:ea typeface="Bitter" pitchFamily="34" charset="-122"/>
                          <a:cs typeface="Bitter" pitchFamily="34" charset="-120"/>
                        </a:rPr>
                        <a:t>Kaggle Notebook (USB VRAM usage)</a:t>
                      </a:r>
                      <a:endParaRPr lang="en-US" sz="1450" dirty="0">
                        <a:latin typeface="Bitter" charset="0"/>
                        <a:ea typeface="Bitter" charset="0"/>
                        <a:cs typeface="Bitter" charset="0"/>
                      </a:endParaRPr>
                    </a:p>
                  </a:txBody>
                  <a:tcPr marL="189018" marR="189018" marT="6350" marB="6350" anchor="ctr">
                    <a:lnL w="12700" cap="flat" cmpd="sng" algn="ctr">
                      <a:solidFill>
                        <a:srgbClr val="525355"/>
                      </a:solidFill>
                      <a:prstDash val="solid"/>
                      <a:round/>
                      <a:headEnd type="none" w="med" len="med"/>
                      <a:tailEnd type="none" w="med" len="med"/>
                    </a:lnL>
                    <a:lnR w="12700" cap="flat" cmpd="sng" algn="ctr">
                      <a:solidFill>
                        <a:srgbClr val="525355"/>
                      </a:solidFill>
                      <a:prstDash val="solid"/>
                      <a:round/>
                      <a:headEnd type="none" w="med" len="med"/>
                      <a:tailEnd type="none" w="med" len="med"/>
                    </a:lnR>
                    <a:lnT w="12700" cap="flat" cmpd="sng" algn="ctr">
                      <a:solidFill>
                        <a:srgbClr val="525355"/>
                      </a:solidFill>
                      <a:prstDash val="solid"/>
                      <a:round/>
                      <a:headEnd type="none" w="med" len="med"/>
                      <a:tailEnd type="none" w="med" len="med"/>
                    </a:lnT>
                    <a:lnB w="12700" cap="flat" cmpd="sng" algn="ctr">
                      <a:solidFill>
                        <a:srgbClr val="525355"/>
                      </a:solidFill>
                      <a:prstDash val="solid"/>
                      <a:round/>
                      <a:headEnd type="none" w="med" len="med"/>
                      <a:tailEnd type="none" w="med" len="med"/>
                    </a:lnB>
                    <a:solidFill>
                      <a:srgbClr val="F5F7FB"/>
                    </a:solidFill>
                  </a:tcPr>
                </a:tc>
                <a:tc>
                  <a:txBody>
                    <a:bodyPr/>
                    <a:lstStyle/>
                    <a:p>
                      <a:pPr marL="0" indent="0">
                        <a:buNone/>
                      </a:pPr>
                      <a:r>
                        <a:rPr lang="en-US" sz="1450" dirty="0">
                          <a:solidFill>
                            <a:srgbClr val="272525"/>
                          </a:solidFill>
                          <a:latin typeface="Bitter" pitchFamily="34" charset="0"/>
                          <a:ea typeface="Bitter" pitchFamily="34" charset="-122"/>
                          <a:cs typeface="Bitter" pitchFamily="34" charset="-120"/>
                        </a:rPr>
                        <a:t>91.93% binary | 84.65% MCQ accuracy</a:t>
                      </a:r>
                      <a:endParaRPr lang="en-US" sz="1450" dirty="0">
                        <a:latin typeface="Bitter" charset="0"/>
                        <a:ea typeface="Bitter" charset="0"/>
                        <a:cs typeface="Bitter" charset="0"/>
                      </a:endParaRPr>
                    </a:p>
                  </a:txBody>
                  <a:tcPr marL="189018" marR="189018" marT="6350" marB="6350" anchor="ctr">
                    <a:lnL w="12700" cap="flat" cmpd="sng" algn="ctr">
                      <a:solidFill>
                        <a:srgbClr val="525355"/>
                      </a:solidFill>
                      <a:prstDash val="solid"/>
                      <a:round/>
                      <a:headEnd type="none" w="med" len="med"/>
                      <a:tailEnd type="none" w="med" len="med"/>
                    </a:lnL>
                    <a:lnR w="12700" cap="flat" cmpd="sng" algn="ctr">
                      <a:solidFill>
                        <a:srgbClr val="525355"/>
                      </a:solidFill>
                      <a:prstDash val="solid"/>
                      <a:round/>
                      <a:headEnd type="none" w="med" len="med"/>
                      <a:tailEnd type="none" w="med" len="med"/>
                    </a:lnR>
                    <a:lnT w="12700" cap="flat" cmpd="sng" algn="ctr">
                      <a:solidFill>
                        <a:srgbClr val="525355"/>
                      </a:solidFill>
                      <a:prstDash val="solid"/>
                      <a:round/>
                      <a:headEnd type="none" w="med" len="med"/>
                      <a:tailEnd type="none" w="med" len="med"/>
                    </a:lnT>
                    <a:lnB w="12700" cap="flat" cmpd="sng" algn="ctr">
                      <a:solidFill>
                        <a:srgbClr val="525355"/>
                      </a:solidFill>
                      <a:prstDash val="solid"/>
                      <a:round/>
                      <a:headEnd type="none" w="med" len="med"/>
                      <a:tailEnd type="none" w="med" len="med"/>
                    </a:lnB>
                    <a:solidFill>
                      <a:srgbClr val="F5F7FB"/>
                    </a:solidFill>
                  </a:tcPr>
                </a:tc>
                <a:extLst>
                  <a:ext uri="{0D108BD9-81ED-4DB2-BD59-A6C34878D82A}">
                    <a16:rowId xmlns:a16="http://schemas.microsoft.com/office/drawing/2014/main" val="10003"/>
                  </a:ext>
                </a:extLst>
              </a:tr>
              <a:tr h="847505">
                <a:tc>
                  <a:txBody>
                    <a:bodyPr/>
                    <a:lstStyle/>
                    <a:p>
                      <a:pPr marL="0" indent="0">
                        <a:buNone/>
                      </a:pPr>
                      <a:r>
                        <a:rPr lang="en-US" sz="1450" dirty="0">
                          <a:solidFill>
                            <a:srgbClr val="C2C4B5"/>
                          </a:solidFill>
                          <a:latin typeface="Bitter" pitchFamily="34" charset="0"/>
                          <a:ea typeface="Bitter" pitchFamily="34" charset="-122"/>
                          <a:cs typeface="Bitter" pitchFamily="34" charset="-120"/>
                        </a:rPr>
                        <a:t>Stage 4: Multi-Agent Crew</a:t>
                      </a:r>
                      <a:endParaRPr lang="en-US" sz="1450" dirty="0">
                        <a:latin typeface="Bitter" charset="0"/>
                        <a:ea typeface="Bitter" charset="0"/>
                        <a:cs typeface="Bitter" charset="0"/>
                      </a:endParaRPr>
                    </a:p>
                  </a:txBody>
                  <a:tcPr marL="189018" marR="189018" marT="6350" marB="6350" anchor="ctr">
                    <a:lnL w="12700" cap="flat" cmpd="sng" algn="ctr">
                      <a:solidFill>
                        <a:srgbClr val="525355"/>
                      </a:solidFill>
                      <a:prstDash val="solid"/>
                      <a:round/>
                      <a:headEnd type="none" w="med" len="med"/>
                      <a:tailEnd type="none" w="med" len="med"/>
                    </a:lnL>
                    <a:lnR w="12700" cap="flat" cmpd="sng" algn="ctr">
                      <a:solidFill>
                        <a:srgbClr val="525355"/>
                      </a:solidFill>
                      <a:prstDash val="solid"/>
                      <a:round/>
                      <a:headEnd type="none" w="med" len="med"/>
                      <a:tailEnd type="none" w="med" len="med"/>
                    </a:lnR>
                    <a:lnT w="12700" cap="flat" cmpd="sng" algn="ctr">
                      <a:solidFill>
                        <a:srgbClr val="525355"/>
                      </a:solidFill>
                      <a:prstDash val="solid"/>
                      <a:round/>
                      <a:headEnd type="none" w="med" len="med"/>
                      <a:tailEnd type="none" w="med" len="med"/>
                    </a:lnT>
                    <a:lnB w="12700" cap="flat" cmpd="sng" algn="ctr">
                      <a:solidFill>
                        <a:srgbClr val="525355"/>
                      </a:solidFill>
                      <a:prstDash val="solid"/>
                      <a:round/>
                      <a:headEnd type="none" w="med" len="med"/>
                      <a:tailEnd type="none" w="med" len="med"/>
                    </a:lnB>
                    <a:solidFill>
                      <a:srgbClr val="1C1D1F"/>
                    </a:solidFill>
                  </a:tcPr>
                </a:tc>
                <a:tc>
                  <a:txBody>
                    <a:bodyPr/>
                    <a:lstStyle/>
                    <a:p>
                      <a:pPr marL="0" indent="0">
                        <a:buNone/>
                      </a:pPr>
                      <a:r>
                        <a:rPr lang="en-US" sz="1450" dirty="0">
                          <a:solidFill>
                            <a:srgbClr val="C2C4B5"/>
                          </a:solidFill>
                          <a:latin typeface="Bitter" pitchFamily="34" charset="0"/>
                          <a:ea typeface="Bitter" pitchFamily="34" charset="-122"/>
                          <a:cs typeface="Bitter" pitchFamily="34" charset="-120"/>
                        </a:rPr>
                        <a:t>CrewAI &amp; Gemini 3.1 Flash-Lite</a:t>
                      </a:r>
                      <a:endParaRPr lang="en-US" sz="1450" dirty="0">
                        <a:latin typeface="Bitter" charset="0"/>
                        <a:ea typeface="Bitter" charset="0"/>
                        <a:cs typeface="Bitter" charset="0"/>
                      </a:endParaRPr>
                    </a:p>
                  </a:txBody>
                  <a:tcPr marL="189018" marR="189018" marT="6350" marB="6350" anchor="ctr">
                    <a:lnL w="12700" cap="flat" cmpd="sng" algn="ctr">
                      <a:solidFill>
                        <a:srgbClr val="525355"/>
                      </a:solidFill>
                      <a:prstDash val="solid"/>
                      <a:round/>
                      <a:headEnd type="none" w="med" len="med"/>
                      <a:tailEnd type="none" w="med" len="med"/>
                    </a:lnL>
                    <a:lnR w="12700" cap="flat" cmpd="sng" algn="ctr">
                      <a:solidFill>
                        <a:srgbClr val="525355"/>
                      </a:solidFill>
                      <a:prstDash val="solid"/>
                      <a:round/>
                      <a:headEnd type="none" w="med" len="med"/>
                      <a:tailEnd type="none" w="med" len="med"/>
                    </a:lnR>
                    <a:lnT w="12700" cap="flat" cmpd="sng" algn="ctr">
                      <a:solidFill>
                        <a:srgbClr val="525355"/>
                      </a:solidFill>
                      <a:prstDash val="solid"/>
                      <a:round/>
                      <a:headEnd type="none" w="med" len="med"/>
                      <a:tailEnd type="none" w="med" len="med"/>
                    </a:lnT>
                    <a:lnB w="12700" cap="flat" cmpd="sng" algn="ctr">
                      <a:solidFill>
                        <a:srgbClr val="525355"/>
                      </a:solidFill>
                      <a:prstDash val="solid"/>
                      <a:round/>
                      <a:headEnd type="none" w="med" len="med"/>
                      <a:tailEnd type="none" w="med" len="med"/>
                    </a:lnB>
                    <a:solidFill>
                      <a:srgbClr val="1C1D1F"/>
                    </a:solidFill>
                  </a:tcPr>
                </a:tc>
                <a:tc>
                  <a:txBody>
                    <a:bodyPr/>
                    <a:lstStyle/>
                    <a:p>
                      <a:pPr marL="0" indent="0">
                        <a:buNone/>
                      </a:pPr>
                      <a:r>
                        <a:rPr lang="en-US" sz="1450" dirty="0">
                          <a:solidFill>
                            <a:srgbClr val="C2C4B5"/>
                          </a:solidFill>
                          <a:latin typeface="Bitter" pitchFamily="34" charset="0"/>
                          <a:ea typeface="Bitter" pitchFamily="34" charset="-122"/>
                          <a:cs typeface="Bitter" pitchFamily="34" charset="-120"/>
                        </a:rPr>
                        <a:t>API-Augmented Environment</a:t>
                      </a:r>
                      <a:endParaRPr lang="en-US" sz="1450" dirty="0">
                        <a:latin typeface="Bitter" charset="0"/>
                        <a:ea typeface="Bitter" charset="0"/>
                        <a:cs typeface="Bitter" charset="0"/>
                      </a:endParaRPr>
                    </a:p>
                  </a:txBody>
                  <a:tcPr marL="189018" marR="189018" marT="6350" marB="6350" anchor="ctr">
                    <a:lnL w="12700" cap="flat" cmpd="sng" algn="ctr">
                      <a:solidFill>
                        <a:srgbClr val="525355"/>
                      </a:solidFill>
                      <a:prstDash val="solid"/>
                      <a:round/>
                      <a:headEnd type="none" w="med" len="med"/>
                      <a:tailEnd type="none" w="med" len="med"/>
                    </a:lnL>
                    <a:lnR w="12700" cap="flat" cmpd="sng" algn="ctr">
                      <a:solidFill>
                        <a:srgbClr val="525355"/>
                      </a:solidFill>
                      <a:prstDash val="solid"/>
                      <a:round/>
                      <a:headEnd type="none" w="med" len="med"/>
                      <a:tailEnd type="none" w="med" len="med"/>
                    </a:lnR>
                    <a:lnT w="12700" cap="flat" cmpd="sng" algn="ctr">
                      <a:solidFill>
                        <a:srgbClr val="525355"/>
                      </a:solidFill>
                      <a:prstDash val="solid"/>
                      <a:round/>
                      <a:headEnd type="none" w="med" len="med"/>
                      <a:tailEnd type="none" w="med" len="med"/>
                    </a:lnT>
                    <a:lnB w="12700" cap="flat" cmpd="sng" algn="ctr">
                      <a:solidFill>
                        <a:srgbClr val="525355"/>
                      </a:solidFill>
                      <a:prstDash val="solid"/>
                      <a:round/>
                      <a:headEnd type="none" w="med" len="med"/>
                      <a:tailEnd type="none" w="med" len="med"/>
                    </a:lnB>
                    <a:solidFill>
                      <a:srgbClr val="1C1D1F"/>
                    </a:solidFill>
                  </a:tcPr>
                </a:tc>
                <a:tc>
                  <a:txBody>
                    <a:bodyPr/>
                    <a:lstStyle/>
                    <a:p>
                      <a:pPr marL="0" indent="0">
                        <a:buNone/>
                      </a:pPr>
                      <a:r>
                        <a:rPr lang="en-US" sz="1450" dirty="0">
                          <a:solidFill>
                            <a:srgbClr val="C2C4B5"/>
                          </a:solidFill>
                          <a:latin typeface="Bitter" pitchFamily="34" charset="0"/>
                          <a:ea typeface="Bitter" pitchFamily="34" charset="-122"/>
                          <a:cs typeface="Bitter" pitchFamily="34" charset="-120"/>
                        </a:rPr>
                        <a:t>Zero human-coordination bottlenecks</a:t>
                      </a:r>
                      <a:endParaRPr lang="en-US" sz="1450" dirty="0">
                        <a:latin typeface="Bitter" charset="0"/>
                        <a:ea typeface="Bitter" charset="0"/>
                        <a:cs typeface="Bitter" charset="0"/>
                      </a:endParaRPr>
                    </a:p>
                  </a:txBody>
                  <a:tcPr marL="189018" marR="189018" marT="6350" marB="6350" anchor="ctr">
                    <a:lnL w="12700" cap="flat" cmpd="sng" algn="ctr">
                      <a:solidFill>
                        <a:srgbClr val="525355"/>
                      </a:solidFill>
                      <a:prstDash val="solid"/>
                      <a:round/>
                      <a:headEnd type="none" w="med" len="med"/>
                      <a:tailEnd type="none" w="med" len="med"/>
                    </a:lnL>
                    <a:lnR w="12700" cap="flat" cmpd="sng" algn="ctr">
                      <a:solidFill>
                        <a:srgbClr val="525355"/>
                      </a:solidFill>
                      <a:prstDash val="solid"/>
                      <a:round/>
                      <a:headEnd type="none" w="med" len="med"/>
                      <a:tailEnd type="none" w="med" len="med"/>
                    </a:lnR>
                    <a:lnT w="12700" cap="flat" cmpd="sng" algn="ctr">
                      <a:solidFill>
                        <a:srgbClr val="525355"/>
                      </a:solidFill>
                      <a:prstDash val="solid"/>
                      <a:round/>
                      <a:headEnd type="none" w="med" len="med"/>
                      <a:tailEnd type="none" w="med" len="med"/>
                    </a:lnT>
                    <a:lnB w="12700" cap="flat" cmpd="sng" algn="ctr">
                      <a:solidFill>
                        <a:srgbClr val="525355"/>
                      </a:solidFill>
                      <a:prstDash val="solid"/>
                      <a:round/>
                      <a:headEnd type="none" w="med" len="med"/>
                      <a:tailEnd type="none" w="med" len="med"/>
                    </a:lnB>
                    <a:solidFill>
                      <a:srgbClr val="1C1D1F"/>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661475" y="522288"/>
            <a:ext cx="9238424" cy="5162748"/>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61475" y="593229"/>
            <a:ext cx="10868745" cy="531614"/>
          </a:xfrm>
          <a:prstGeom prst="rect">
            <a:avLst/>
          </a:prstGeom>
          <a:noFill/>
          <a:ln/>
        </p:spPr>
        <p:txBody>
          <a:bodyPr wrap="none" lIns="0" tIns="0" rIns="0" bIns="0" rtlCol="0" anchor="t"/>
          <a:lstStyle/>
          <a:p>
            <a:pPr marL="0" indent="0" algn="l">
              <a:lnSpc>
                <a:spcPct val="104000"/>
              </a:lnSpc>
              <a:buNone/>
            </a:pPr>
            <a:r>
              <a:rPr lang="en-US" sz="3300" b="1" dirty="0">
                <a:solidFill>
                  <a:srgbClr val="E1E5CD"/>
                </a:solidFill>
                <a:latin typeface="Outfit Bold" pitchFamily="34" charset="0"/>
                <a:ea typeface="Outfit Bold" pitchFamily="34" charset="-122"/>
                <a:cs typeface="Outfit Bold" pitchFamily="34" charset="-120"/>
              </a:rPr>
              <a:t>N-Project Timeline and Milestones</a:t>
            </a:r>
            <a:endParaRPr lang="en-US" sz="3300" dirty="0"/>
          </a:p>
        </p:txBody>
      </p:sp>
      <p:sp>
        <p:nvSpPr>
          <p:cNvPr id="3" name="Shape 1"/>
          <p:cNvSpPr/>
          <p:nvPr/>
        </p:nvSpPr>
        <p:spPr>
          <a:xfrm>
            <a:off x="661475" y="3934023"/>
            <a:ext cx="10868745" cy="19050"/>
          </a:xfrm>
          <a:prstGeom prst="roundRect">
            <a:avLst>
              <a:gd name="adj" fmla="val 49999"/>
            </a:avLst>
          </a:prstGeom>
          <a:solidFill>
            <a:srgbClr val="545557"/>
          </a:solidFill>
          <a:ln/>
        </p:spPr>
        <p:txBody>
          <a:bodyPr/>
          <a:lstStyle/>
          <a:p>
            <a:endParaRPr lang="en-US"/>
          </a:p>
        </p:txBody>
      </p:sp>
      <p:sp>
        <p:nvSpPr>
          <p:cNvPr id="4" name="Shape 2"/>
          <p:cNvSpPr/>
          <p:nvPr/>
        </p:nvSpPr>
        <p:spPr>
          <a:xfrm>
            <a:off x="1561664" y="3423791"/>
            <a:ext cx="19050" cy="510282"/>
          </a:xfrm>
          <a:prstGeom prst="roundRect">
            <a:avLst>
              <a:gd name="adj" fmla="val 49999"/>
            </a:avLst>
          </a:prstGeom>
          <a:solidFill>
            <a:srgbClr val="549BFF"/>
          </a:solidFill>
          <a:ln/>
        </p:spPr>
        <p:txBody>
          <a:bodyPr/>
          <a:lstStyle/>
          <a:p>
            <a:endParaRPr lang="en-US"/>
          </a:p>
        </p:txBody>
      </p:sp>
      <p:sp>
        <p:nvSpPr>
          <p:cNvPr id="5" name="Shape 3"/>
          <p:cNvSpPr/>
          <p:nvPr/>
        </p:nvSpPr>
        <p:spPr>
          <a:xfrm>
            <a:off x="1379900" y="3742680"/>
            <a:ext cx="382677" cy="382687"/>
          </a:xfrm>
          <a:prstGeom prst="roundRect">
            <a:avLst>
              <a:gd name="adj" fmla="val 6668"/>
            </a:avLst>
          </a:prstGeom>
          <a:solidFill>
            <a:srgbClr val="3B82F6"/>
          </a:solidFill>
          <a:ln/>
        </p:spPr>
        <p:txBody>
          <a:bodyPr/>
          <a:lstStyle/>
          <a:p>
            <a:endParaRPr lang="en-US"/>
          </a:p>
        </p:txBody>
      </p:sp>
      <p:sp>
        <p:nvSpPr>
          <p:cNvPr id="6" name="Text 4"/>
          <p:cNvSpPr/>
          <p:nvPr/>
        </p:nvSpPr>
        <p:spPr>
          <a:xfrm>
            <a:off x="1443646" y="3774529"/>
            <a:ext cx="255085" cy="318889"/>
          </a:xfrm>
          <a:prstGeom prst="rect">
            <a:avLst/>
          </a:prstGeom>
          <a:noFill/>
          <a:ln/>
        </p:spPr>
        <p:txBody>
          <a:bodyPr wrap="none" lIns="0" tIns="0" rIns="0" bIns="0" rtlCol="0" anchor="ctr"/>
          <a:lstStyle/>
          <a:p>
            <a:pPr marL="0" indent="0" algn="ctr">
              <a:lnSpc>
                <a:spcPct val="100000"/>
              </a:lnSpc>
              <a:buNone/>
            </a:pPr>
            <a:r>
              <a:rPr lang="en-US" sz="2000" b="1" dirty="0">
                <a:solidFill>
                  <a:srgbClr val="FFFFFF"/>
                </a:solidFill>
                <a:latin typeface="Outfit Bold" pitchFamily="34" charset="0"/>
                <a:ea typeface="Outfit Bold" pitchFamily="34" charset="-122"/>
                <a:cs typeface="Outfit Bold" pitchFamily="34" charset="-120"/>
              </a:rPr>
              <a:t>1</a:t>
            </a:r>
            <a:endParaRPr lang="en-US" sz="2000" dirty="0"/>
          </a:p>
        </p:txBody>
      </p:sp>
      <p:sp>
        <p:nvSpPr>
          <p:cNvPr id="7" name="Text 5"/>
          <p:cNvSpPr/>
          <p:nvPr/>
        </p:nvSpPr>
        <p:spPr>
          <a:xfrm>
            <a:off x="831532" y="1861840"/>
            <a:ext cx="1479513" cy="265708"/>
          </a:xfrm>
          <a:prstGeom prst="rect">
            <a:avLst/>
          </a:prstGeom>
          <a:noFill/>
          <a:ln/>
        </p:spPr>
        <p:txBody>
          <a:bodyPr wrap="none" lIns="0" tIns="0" rIns="0" bIns="0" rtlCol="0" anchor="t"/>
          <a:lstStyle/>
          <a:p>
            <a:pPr marL="0" indent="0" algn="ctr">
              <a:lnSpc>
                <a:spcPct val="104000"/>
              </a:lnSpc>
              <a:buNone/>
            </a:pPr>
            <a:r>
              <a:rPr lang="en-US" sz="1650" b="1" dirty="0">
                <a:solidFill>
                  <a:srgbClr val="C2C4B5"/>
                </a:solidFill>
                <a:latin typeface="Outfit Bold" pitchFamily="34" charset="0"/>
                <a:ea typeface="Outfit Bold" pitchFamily="34" charset="-122"/>
                <a:cs typeface="Outfit Bold" pitchFamily="34" charset="-120"/>
              </a:rPr>
              <a:t>Wk 1</a:t>
            </a:r>
            <a:endParaRPr lang="en-US" sz="1650" dirty="0"/>
          </a:p>
        </p:txBody>
      </p:sp>
      <p:sp>
        <p:nvSpPr>
          <p:cNvPr id="8" name="Text 6"/>
          <p:cNvSpPr/>
          <p:nvPr/>
        </p:nvSpPr>
        <p:spPr>
          <a:xfrm>
            <a:off x="831532" y="2219325"/>
            <a:ext cx="1479513" cy="1034256"/>
          </a:xfrm>
          <a:prstGeom prst="rect">
            <a:avLst/>
          </a:prstGeom>
          <a:noFill/>
          <a:ln/>
        </p:spPr>
        <p:txBody>
          <a:bodyPr wrap="square" lIns="0" tIns="0" rIns="0" bIns="0" rtlCol="0" anchor="t">
            <a:normAutofit/>
          </a:bodyPr>
          <a:lstStyle/>
          <a:p>
            <a:pPr marL="0" indent="0" algn="ctr">
              <a:lnSpc>
                <a:spcPct val="127000"/>
              </a:lnSpc>
              <a:buNone/>
            </a:pPr>
            <a:r>
              <a:rPr lang="en-US" sz="1300" b="1" dirty="0">
                <a:solidFill>
                  <a:srgbClr val="C2C4B5"/>
                </a:solidFill>
                <a:latin typeface="Bitter Bold" pitchFamily="34" charset="0"/>
                <a:ea typeface="Bitter Bold" pitchFamily="34" charset="-122"/>
                <a:cs typeface="Bitter Bold" pitchFamily="34" charset="-120"/>
              </a:rPr>
              <a:t>Data Curation Pipeline (VView + AIDER)</a:t>
            </a:r>
            <a:endParaRPr lang="en-US" sz="1300" dirty="0"/>
          </a:p>
          <a:p>
            <a:pPr marL="0" indent="0" algn="ctr">
              <a:lnSpc>
                <a:spcPct val="127000"/>
              </a:lnSpc>
              <a:buNone/>
            </a:pPr>
            <a:r>
              <a:rPr lang="en-US" sz="1300" dirty="0">
                <a:solidFill>
                  <a:srgbClr val="C2C4B5"/>
                </a:solidFill>
                <a:latin typeface="Bitter" pitchFamily="34" charset="0"/>
                <a:ea typeface="Bitter" pitchFamily="34" charset="-122"/>
                <a:cs typeface="Bitter" pitchFamily="34" charset="-120"/>
              </a:rPr>
              <a:t>Whole Team</a:t>
            </a:r>
            <a:endParaRPr lang="en-US" sz="1300" dirty="0"/>
          </a:p>
        </p:txBody>
      </p:sp>
      <p:sp>
        <p:nvSpPr>
          <p:cNvPr id="9" name="Shape 7"/>
          <p:cNvSpPr/>
          <p:nvPr/>
        </p:nvSpPr>
        <p:spPr>
          <a:xfrm>
            <a:off x="2567122" y="3933974"/>
            <a:ext cx="19050" cy="510282"/>
          </a:xfrm>
          <a:prstGeom prst="roundRect">
            <a:avLst>
              <a:gd name="adj" fmla="val 49999"/>
            </a:avLst>
          </a:prstGeom>
          <a:solidFill>
            <a:srgbClr val="A475FF"/>
          </a:solidFill>
          <a:ln/>
        </p:spPr>
        <p:txBody>
          <a:bodyPr/>
          <a:lstStyle/>
          <a:p>
            <a:endParaRPr lang="en-US"/>
          </a:p>
        </p:txBody>
      </p:sp>
      <p:sp>
        <p:nvSpPr>
          <p:cNvPr id="10" name="Shape 8"/>
          <p:cNvSpPr/>
          <p:nvPr/>
        </p:nvSpPr>
        <p:spPr>
          <a:xfrm>
            <a:off x="2385358" y="3742680"/>
            <a:ext cx="382677" cy="382687"/>
          </a:xfrm>
          <a:prstGeom prst="roundRect">
            <a:avLst>
              <a:gd name="adj" fmla="val 6668"/>
            </a:avLst>
          </a:prstGeom>
          <a:solidFill>
            <a:srgbClr val="8B5CF6"/>
          </a:solidFill>
          <a:ln/>
        </p:spPr>
        <p:txBody>
          <a:bodyPr/>
          <a:lstStyle/>
          <a:p>
            <a:endParaRPr lang="en-US"/>
          </a:p>
        </p:txBody>
      </p:sp>
      <p:sp>
        <p:nvSpPr>
          <p:cNvPr id="11" name="Text 9"/>
          <p:cNvSpPr/>
          <p:nvPr/>
        </p:nvSpPr>
        <p:spPr>
          <a:xfrm>
            <a:off x="2449104" y="3774529"/>
            <a:ext cx="255085" cy="318889"/>
          </a:xfrm>
          <a:prstGeom prst="rect">
            <a:avLst/>
          </a:prstGeom>
          <a:noFill/>
          <a:ln/>
        </p:spPr>
        <p:txBody>
          <a:bodyPr wrap="none" lIns="0" tIns="0" rIns="0" bIns="0" rtlCol="0" anchor="ctr"/>
          <a:lstStyle/>
          <a:p>
            <a:pPr marL="0" indent="0" algn="ctr">
              <a:lnSpc>
                <a:spcPct val="100000"/>
              </a:lnSpc>
              <a:buNone/>
            </a:pPr>
            <a:r>
              <a:rPr lang="en-US" sz="2000" b="1" dirty="0">
                <a:solidFill>
                  <a:srgbClr val="FFFFFF"/>
                </a:solidFill>
                <a:latin typeface="Outfit Bold" pitchFamily="34" charset="0"/>
                <a:ea typeface="Outfit Bold" pitchFamily="34" charset="-122"/>
                <a:cs typeface="Outfit Bold" pitchFamily="34" charset="-120"/>
              </a:rPr>
              <a:t>2</a:t>
            </a:r>
            <a:endParaRPr lang="en-US" sz="2000" dirty="0"/>
          </a:p>
        </p:txBody>
      </p:sp>
      <p:sp>
        <p:nvSpPr>
          <p:cNvPr id="12" name="Text 10"/>
          <p:cNvSpPr/>
          <p:nvPr/>
        </p:nvSpPr>
        <p:spPr>
          <a:xfrm>
            <a:off x="1836989" y="4614466"/>
            <a:ext cx="1479513" cy="265708"/>
          </a:xfrm>
          <a:prstGeom prst="rect">
            <a:avLst/>
          </a:prstGeom>
          <a:noFill/>
          <a:ln/>
        </p:spPr>
        <p:txBody>
          <a:bodyPr wrap="none" lIns="0" tIns="0" rIns="0" bIns="0" rtlCol="0" anchor="t"/>
          <a:lstStyle/>
          <a:p>
            <a:pPr marL="0" indent="0" algn="ctr">
              <a:lnSpc>
                <a:spcPct val="104000"/>
              </a:lnSpc>
              <a:buNone/>
            </a:pPr>
            <a:r>
              <a:rPr lang="en-US" sz="1650" b="1" dirty="0">
                <a:solidFill>
                  <a:srgbClr val="C2C4B5"/>
                </a:solidFill>
                <a:latin typeface="Outfit Bold" pitchFamily="34" charset="0"/>
                <a:ea typeface="Outfit Bold" pitchFamily="34" charset="-122"/>
                <a:cs typeface="Outfit Bold" pitchFamily="34" charset="-120"/>
              </a:rPr>
              <a:t>Wk 2</a:t>
            </a:r>
            <a:endParaRPr lang="en-US" sz="1650" dirty="0"/>
          </a:p>
        </p:txBody>
      </p:sp>
      <p:sp>
        <p:nvSpPr>
          <p:cNvPr id="13" name="Text 11"/>
          <p:cNvSpPr/>
          <p:nvPr/>
        </p:nvSpPr>
        <p:spPr>
          <a:xfrm>
            <a:off x="1836989" y="4971951"/>
            <a:ext cx="1479513" cy="517128"/>
          </a:xfrm>
          <a:prstGeom prst="rect">
            <a:avLst/>
          </a:prstGeom>
          <a:noFill/>
          <a:ln/>
        </p:spPr>
        <p:txBody>
          <a:bodyPr wrap="square" lIns="0" tIns="0" rIns="0" bIns="0" rtlCol="0" anchor="t">
            <a:normAutofit/>
          </a:bodyPr>
          <a:lstStyle/>
          <a:p>
            <a:pPr marL="0" indent="0" algn="ctr">
              <a:lnSpc>
                <a:spcPct val="127000"/>
              </a:lnSpc>
              <a:buNone/>
            </a:pPr>
            <a:r>
              <a:rPr lang="en-US" sz="1300" b="1" dirty="0">
                <a:solidFill>
                  <a:srgbClr val="C2C4B5"/>
                </a:solidFill>
                <a:latin typeface="Bitter Bold" pitchFamily="34" charset="0"/>
                <a:ea typeface="Bitter Bold" pitchFamily="34" charset="-122"/>
                <a:cs typeface="Bitter Bold" pitchFamily="34" charset="-120"/>
              </a:rPr>
              <a:t>Literature Review</a:t>
            </a:r>
            <a:endParaRPr lang="en-US" sz="1300" dirty="0"/>
          </a:p>
          <a:p>
            <a:pPr marL="0" indent="0" algn="ctr">
              <a:lnSpc>
                <a:spcPct val="127000"/>
              </a:lnSpc>
              <a:buNone/>
            </a:pPr>
            <a:r>
              <a:rPr lang="en-US" sz="1300" dirty="0">
                <a:solidFill>
                  <a:srgbClr val="C2C4B5"/>
                </a:solidFill>
                <a:latin typeface="Bitter" pitchFamily="34" charset="0"/>
                <a:ea typeface="Bitter" pitchFamily="34" charset="-122"/>
                <a:cs typeface="Bitter" pitchFamily="34" charset="-120"/>
              </a:rPr>
              <a:t>Whole Team</a:t>
            </a:r>
            <a:endParaRPr lang="en-US" sz="1300" dirty="0"/>
          </a:p>
        </p:txBody>
      </p:sp>
      <p:sp>
        <p:nvSpPr>
          <p:cNvPr id="14" name="Shape 12"/>
          <p:cNvSpPr/>
          <p:nvPr/>
        </p:nvSpPr>
        <p:spPr>
          <a:xfrm>
            <a:off x="3572579" y="3423791"/>
            <a:ext cx="19050" cy="510282"/>
          </a:xfrm>
          <a:prstGeom prst="roundRect">
            <a:avLst>
              <a:gd name="adj" fmla="val 49999"/>
            </a:avLst>
          </a:prstGeom>
          <a:solidFill>
            <a:srgbClr val="D22E7F"/>
          </a:solidFill>
          <a:ln/>
        </p:spPr>
        <p:txBody>
          <a:bodyPr/>
          <a:lstStyle/>
          <a:p>
            <a:endParaRPr lang="en-US"/>
          </a:p>
        </p:txBody>
      </p:sp>
      <p:sp>
        <p:nvSpPr>
          <p:cNvPr id="15" name="Shape 13"/>
          <p:cNvSpPr/>
          <p:nvPr/>
        </p:nvSpPr>
        <p:spPr>
          <a:xfrm>
            <a:off x="3390815" y="3742680"/>
            <a:ext cx="382677" cy="382687"/>
          </a:xfrm>
          <a:prstGeom prst="roundRect">
            <a:avLst>
              <a:gd name="adj" fmla="val 6668"/>
            </a:avLst>
          </a:prstGeom>
          <a:solidFill>
            <a:srgbClr val="EC4899"/>
          </a:solidFill>
          <a:ln/>
        </p:spPr>
        <p:txBody>
          <a:bodyPr/>
          <a:lstStyle/>
          <a:p>
            <a:endParaRPr lang="en-US"/>
          </a:p>
        </p:txBody>
      </p:sp>
      <p:sp>
        <p:nvSpPr>
          <p:cNvPr id="16" name="Text 14"/>
          <p:cNvSpPr/>
          <p:nvPr/>
        </p:nvSpPr>
        <p:spPr>
          <a:xfrm>
            <a:off x="3454562" y="3774529"/>
            <a:ext cx="255085" cy="318889"/>
          </a:xfrm>
          <a:prstGeom prst="rect">
            <a:avLst/>
          </a:prstGeom>
          <a:noFill/>
          <a:ln/>
        </p:spPr>
        <p:txBody>
          <a:bodyPr wrap="none" lIns="0" tIns="0" rIns="0" bIns="0" rtlCol="0" anchor="ctr"/>
          <a:lstStyle/>
          <a:p>
            <a:pPr marL="0" indent="0" algn="ctr">
              <a:lnSpc>
                <a:spcPct val="100000"/>
              </a:lnSpc>
              <a:buNone/>
            </a:pPr>
            <a:r>
              <a:rPr lang="en-US" sz="2000" b="1" dirty="0">
                <a:solidFill>
                  <a:srgbClr val="000000"/>
                </a:solidFill>
                <a:latin typeface="Outfit Bold" pitchFamily="34" charset="0"/>
                <a:ea typeface="Outfit Bold" pitchFamily="34" charset="-122"/>
                <a:cs typeface="Outfit Bold" pitchFamily="34" charset="-120"/>
              </a:rPr>
              <a:t>3</a:t>
            </a:r>
            <a:endParaRPr lang="en-US" sz="2000" dirty="0"/>
          </a:p>
        </p:txBody>
      </p:sp>
      <p:sp>
        <p:nvSpPr>
          <p:cNvPr id="17" name="Text 15"/>
          <p:cNvSpPr/>
          <p:nvPr/>
        </p:nvSpPr>
        <p:spPr>
          <a:xfrm>
            <a:off x="2842447" y="1861840"/>
            <a:ext cx="1479513" cy="265708"/>
          </a:xfrm>
          <a:prstGeom prst="rect">
            <a:avLst/>
          </a:prstGeom>
          <a:noFill/>
          <a:ln/>
        </p:spPr>
        <p:txBody>
          <a:bodyPr wrap="none" lIns="0" tIns="0" rIns="0" bIns="0" rtlCol="0" anchor="t"/>
          <a:lstStyle/>
          <a:p>
            <a:pPr marL="0" indent="0" algn="ctr">
              <a:lnSpc>
                <a:spcPct val="104000"/>
              </a:lnSpc>
              <a:buNone/>
            </a:pPr>
            <a:r>
              <a:rPr lang="en-US" sz="1650" b="1" dirty="0">
                <a:solidFill>
                  <a:srgbClr val="C2C4B5"/>
                </a:solidFill>
                <a:latin typeface="Outfit Bold" pitchFamily="34" charset="0"/>
                <a:ea typeface="Outfit Bold" pitchFamily="34" charset="-122"/>
                <a:cs typeface="Outfit Bold" pitchFamily="34" charset="-120"/>
              </a:rPr>
              <a:t>Wk 3</a:t>
            </a:r>
            <a:endParaRPr lang="en-US" sz="1650" dirty="0"/>
          </a:p>
        </p:txBody>
      </p:sp>
      <p:sp>
        <p:nvSpPr>
          <p:cNvPr id="18" name="Text 16"/>
          <p:cNvSpPr/>
          <p:nvPr/>
        </p:nvSpPr>
        <p:spPr>
          <a:xfrm>
            <a:off x="2842447" y="2219325"/>
            <a:ext cx="1479513" cy="775692"/>
          </a:xfrm>
          <a:prstGeom prst="rect">
            <a:avLst/>
          </a:prstGeom>
          <a:noFill/>
          <a:ln/>
        </p:spPr>
        <p:txBody>
          <a:bodyPr wrap="square" lIns="0" tIns="0" rIns="0" bIns="0" rtlCol="0" anchor="t">
            <a:normAutofit/>
          </a:bodyPr>
          <a:lstStyle/>
          <a:p>
            <a:pPr marL="0" indent="0" algn="ctr">
              <a:lnSpc>
                <a:spcPct val="127000"/>
              </a:lnSpc>
              <a:buNone/>
            </a:pPr>
            <a:r>
              <a:rPr lang="en-US" sz="1300" b="1" dirty="0">
                <a:solidFill>
                  <a:srgbClr val="C2C4B5"/>
                </a:solidFill>
                <a:latin typeface="Bitter Bold" pitchFamily="34" charset="0"/>
                <a:ea typeface="Bitter Bold" pitchFamily="34" charset="-122"/>
                <a:cs typeface="Bitter Bold" pitchFamily="34" charset="-120"/>
              </a:rPr>
              <a:t>Proposed Solution Report</a:t>
            </a:r>
            <a:endParaRPr lang="en-US" sz="1300" dirty="0"/>
          </a:p>
          <a:p>
            <a:pPr marL="0" indent="0" algn="ctr">
              <a:lnSpc>
                <a:spcPct val="127000"/>
              </a:lnSpc>
              <a:buNone/>
            </a:pPr>
            <a:r>
              <a:rPr lang="en-US" sz="1300" dirty="0">
                <a:solidFill>
                  <a:srgbClr val="C2C4B5"/>
                </a:solidFill>
                <a:latin typeface="Bitter" pitchFamily="34" charset="0"/>
                <a:ea typeface="Bitter" pitchFamily="34" charset="-122"/>
                <a:cs typeface="Bitter" pitchFamily="34" charset="-120"/>
              </a:rPr>
              <a:t>Tamanna</a:t>
            </a:r>
            <a:endParaRPr lang="en-US" sz="1300" dirty="0"/>
          </a:p>
        </p:txBody>
      </p:sp>
      <p:sp>
        <p:nvSpPr>
          <p:cNvPr id="19" name="Shape 17"/>
          <p:cNvSpPr/>
          <p:nvPr/>
        </p:nvSpPr>
        <p:spPr>
          <a:xfrm>
            <a:off x="4578037" y="3933974"/>
            <a:ext cx="19050" cy="510282"/>
          </a:xfrm>
          <a:prstGeom prst="roundRect">
            <a:avLst>
              <a:gd name="adj" fmla="val 49999"/>
            </a:avLst>
          </a:prstGeom>
          <a:solidFill>
            <a:srgbClr val="DF5900"/>
          </a:solidFill>
          <a:ln/>
        </p:spPr>
        <p:txBody>
          <a:bodyPr/>
          <a:lstStyle/>
          <a:p>
            <a:endParaRPr lang="en-US"/>
          </a:p>
        </p:txBody>
      </p:sp>
      <p:sp>
        <p:nvSpPr>
          <p:cNvPr id="20" name="Shape 18"/>
          <p:cNvSpPr/>
          <p:nvPr/>
        </p:nvSpPr>
        <p:spPr>
          <a:xfrm>
            <a:off x="4396273" y="3742680"/>
            <a:ext cx="382677" cy="382687"/>
          </a:xfrm>
          <a:prstGeom prst="roundRect">
            <a:avLst>
              <a:gd name="adj" fmla="val 6668"/>
            </a:avLst>
          </a:prstGeom>
          <a:solidFill>
            <a:srgbClr val="F97316"/>
          </a:solidFill>
          <a:ln/>
        </p:spPr>
        <p:txBody>
          <a:bodyPr/>
          <a:lstStyle/>
          <a:p>
            <a:endParaRPr lang="en-US"/>
          </a:p>
        </p:txBody>
      </p:sp>
      <p:sp>
        <p:nvSpPr>
          <p:cNvPr id="21" name="Text 19"/>
          <p:cNvSpPr/>
          <p:nvPr/>
        </p:nvSpPr>
        <p:spPr>
          <a:xfrm>
            <a:off x="4460019" y="3774529"/>
            <a:ext cx="255085" cy="318889"/>
          </a:xfrm>
          <a:prstGeom prst="rect">
            <a:avLst/>
          </a:prstGeom>
          <a:noFill/>
          <a:ln/>
        </p:spPr>
        <p:txBody>
          <a:bodyPr wrap="none" lIns="0" tIns="0" rIns="0" bIns="0" rtlCol="0" anchor="ctr"/>
          <a:lstStyle/>
          <a:p>
            <a:pPr marL="0" indent="0" algn="ctr">
              <a:lnSpc>
                <a:spcPct val="100000"/>
              </a:lnSpc>
              <a:buNone/>
            </a:pPr>
            <a:r>
              <a:rPr lang="en-US" sz="2000" b="1" dirty="0">
                <a:solidFill>
                  <a:srgbClr val="000000"/>
                </a:solidFill>
                <a:latin typeface="Outfit Bold" pitchFamily="34" charset="0"/>
                <a:ea typeface="Outfit Bold" pitchFamily="34" charset="-122"/>
                <a:cs typeface="Outfit Bold" pitchFamily="34" charset="-120"/>
              </a:rPr>
              <a:t>4</a:t>
            </a:r>
            <a:endParaRPr lang="en-US" sz="2000" dirty="0"/>
          </a:p>
        </p:txBody>
      </p:sp>
      <p:sp>
        <p:nvSpPr>
          <p:cNvPr id="22" name="Text 20"/>
          <p:cNvSpPr/>
          <p:nvPr/>
        </p:nvSpPr>
        <p:spPr>
          <a:xfrm>
            <a:off x="3847905" y="4614466"/>
            <a:ext cx="1479513" cy="265708"/>
          </a:xfrm>
          <a:prstGeom prst="rect">
            <a:avLst/>
          </a:prstGeom>
          <a:noFill/>
          <a:ln/>
        </p:spPr>
        <p:txBody>
          <a:bodyPr wrap="none" lIns="0" tIns="0" rIns="0" bIns="0" rtlCol="0" anchor="t"/>
          <a:lstStyle/>
          <a:p>
            <a:pPr marL="0" indent="0" algn="ctr">
              <a:lnSpc>
                <a:spcPct val="104000"/>
              </a:lnSpc>
              <a:buNone/>
            </a:pPr>
            <a:r>
              <a:rPr lang="en-US" sz="1650" b="1" dirty="0">
                <a:solidFill>
                  <a:srgbClr val="C2C4B5"/>
                </a:solidFill>
                <a:latin typeface="Outfit Bold" pitchFamily="34" charset="0"/>
                <a:ea typeface="Outfit Bold" pitchFamily="34" charset="-122"/>
                <a:cs typeface="Outfit Bold" pitchFamily="34" charset="-120"/>
              </a:rPr>
              <a:t>Wk 3-5</a:t>
            </a:r>
            <a:endParaRPr lang="en-US" sz="1650" dirty="0"/>
          </a:p>
        </p:txBody>
      </p:sp>
      <p:sp>
        <p:nvSpPr>
          <p:cNvPr id="23" name="Text 21"/>
          <p:cNvSpPr/>
          <p:nvPr/>
        </p:nvSpPr>
        <p:spPr>
          <a:xfrm>
            <a:off x="3847905" y="4971951"/>
            <a:ext cx="1479513" cy="1292820"/>
          </a:xfrm>
          <a:prstGeom prst="rect">
            <a:avLst/>
          </a:prstGeom>
          <a:noFill/>
          <a:ln/>
        </p:spPr>
        <p:txBody>
          <a:bodyPr wrap="square" lIns="0" tIns="0" rIns="0" bIns="0" rtlCol="0" anchor="t">
            <a:normAutofit/>
          </a:bodyPr>
          <a:lstStyle/>
          <a:p>
            <a:pPr marL="0" indent="0" algn="ctr">
              <a:lnSpc>
                <a:spcPct val="127000"/>
              </a:lnSpc>
              <a:buNone/>
            </a:pPr>
            <a:r>
              <a:rPr lang="en-US" sz="1300" b="1" dirty="0">
                <a:solidFill>
                  <a:srgbClr val="C2C4B5"/>
                </a:solidFill>
                <a:latin typeface="Bitter Bold" pitchFamily="34" charset="0"/>
                <a:ea typeface="Bitter Bold" pitchFamily="34" charset="-122"/>
                <a:cs typeface="Bitter Bold" pitchFamily="34" charset="-120"/>
              </a:rPr>
              <a:t>DisasterM3 Reproduction (Train + Merge + Eval)</a:t>
            </a:r>
            <a:endParaRPr lang="en-US" sz="1300" dirty="0"/>
          </a:p>
          <a:p>
            <a:pPr marL="0" indent="0" algn="ctr">
              <a:lnSpc>
                <a:spcPct val="127000"/>
              </a:lnSpc>
              <a:buNone/>
            </a:pPr>
            <a:r>
              <a:rPr lang="en-US" sz="1300" dirty="0">
                <a:solidFill>
                  <a:srgbClr val="C2C4B5"/>
                </a:solidFill>
                <a:latin typeface="Bitter" pitchFamily="34" charset="0"/>
                <a:ea typeface="Bitter" pitchFamily="34" charset="-122"/>
                <a:cs typeface="Bitter" pitchFamily="34" charset="-120"/>
              </a:rPr>
              <a:t>Abrar</a:t>
            </a:r>
            <a:endParaRPr lang="en-US" sz="1300" dirty="0"/>
          </a:p>
        </p:txBody>
      </p:sp>
      <p:sp>
        <p:nvSpPr>
          <p:cNvPr id="24" name="Shape 22"/>
          <p:cNvSpPr/>
          <p:nvPr/>
        </p:nvSpPr>
        <p:spPr>
          <a:xfrm>
            <a:off x="5583495" y="3423791"/>
            <a:ext cx="19050" cy="510282"/>
          </a:xfrm>
          <a:prstGeom prst="roundRect">
            <a:avLst>
              <a:gd name="adj" fmla="val 49999"/>
            </a:avLst>
          </a:prstGeom>
          <a:solidFill>
            <a:srgbClr val="009F67"/>
          </a:solidFill>
          <a:ln/>
        </p:spPr>
        <p:txBody>
          <a:bodyPr/>
          <a:lstStyle/>
          <a:p>
            <a:endParaRPr lang="en-US"/>
          </a:p>
        </p:txBody>
      </p:sp>
      <p:sp>
        <p:nvSpPr>
          <p:cNvPr id="25" name="Shape 23"/>
          <p:cNvSpPr/>
          <p:nvPr/>
        </p:nvSpPr>
        <p:spPr>
          <a:xfrm>
            <a:off x="5401730" y="3742680"/>
            <a:ext cx="382677" cy="382687"/>
          </a:xfrm>
          <a:prstGeom prst="roundRect">
            <a:avLst>
              <a:gd name="adj" fmla="val 6668"/>
            </a:avLst>
          </a:prstGeom>
          <a:solidFill>
            <a:srgbClr val="10B981"/>
          </a:solidFill>
          <a:ln/>
        </p:spPr>
        <p:txBody>
          <a:bodyPr/>
          <a:lstStyle/>
          <a:p>
            <a:endParaRPr lang="en-US"/>
          </a:p>
        </p:txBody>
      </p:sp>
      <p:sp>
        <p:nvSpPr>
          <p:cNvPr id="26" name="Text 24"/>
          <p:cNvSpPr/>
          <p:nvPr/>
        </p:nvSpPr>
        <p:spPr>
          <a:xfrm>
            <a:off x="5465477" y="3774529"/>
            <a:ext cx="255085" cy="318889"/>
          </a:xfrm>
          <a:prstGeom prst="rect">
            <a:avLst/>
          </a:prstGeom>
          <a:noFill/>
          <a:ln/>
        </p:spPr>
        <p:txBody>
          <a:bodyPr wrap="none" lIns="0" tIns="0" rIns="0" bIns="0" rtlCol="0" anchor="ctr"/>
          <a:lstStyle/>
          <a:p>
            <a:pPr marL="0" indent="0" algn="ctr">
              <a:lnSpc>
                <a:spcPct val="100000"/>
              </a:lnSpc>
              <a:buNone/>
            </a:pPr>
            <a:r>
              <a:rPr lang="en-US" sz="2000" b="1" dirty="0">
                <a:solidFill>
                  <a:srgbClr val="000000"/>
                </a:solidFill>
                <a:latin typeface="Outfit Bold" pitchFamily="34" charset="0"/>
                <a:ea typeface="Outfit Bold" pitchFamily="34" charset="-122"/>
                <a:cs typeface="Outfit Bold" pitchFamily="34" charset="-120"/>
              </a:rPr>
              <a:t>5</a:t>
            </a:r>
            <a:endParaRPr lang="en-US" sz="2000" dirty="0"/>
          </a:p>
        </p:txBody>
      </p:sp>
      <p:sp>
        <p:nvSpPr>
          <p:cNvPr id="27" name="Text 25"/>
          <p:cNvSpPr/>
          <p:nvPr/>
        </p:nvSpPr>
        <p:spPr>
          <a:xfrm>
            <a:off x="4853362" y="1861840"/>
            <a:ext cx="1479513" cy="265708"/>
          </a:xfrm>
          <a:prstGeom prst="rect">
            <a:avLst/>
          </a:prstGeom>
          <a:noFill/>
          <a:ln/>
        </p:spPr>
        <p:txBody>
          <a:bodyPr wrap="none" lIns="0" tIns="0" rIns="0" bIns="0" rtlCol="0" anchor="t"/>
          <a:lstStyle/>
          <a:p>
            <a:pPr marL="0" indent="0" algn="ctr">
              <a:lnSpc>
                <a:spcPct val="104000"/>
              </a:lnSpc>
              <a:buNone/>
            </a:pPr>
            <a:r>
              <a:rPr lang="en-US" sz="1650" b="1" dirty="0">
                <a:solidFill>
                  <a:srgbClr val="C2C4B5"/>
                </a:solidFill>
                <a:latin typeface="Outfit Bold" pitchFamily="34" charset="0"/>
                <a:ea typeface="Outfit Bold" pitchFamily="34" charset="-122"/>
                <a:cs typeface="Outfit Bold" pitchFamily="34" charset="-120"/>
              </a:rPr>
              <a:t>Wk 3-4</a:t>
            </a:r>
            <a:endParaRPr lang="en-US" sz="1650" dirty="0"/>
          </a:p>
        </p:txBody>
      </p:sp>
      <p:sp>
        <p:nvSpPr>
          <p:cNvPr id="28" name="Text 26"/>
          <p:cNvSpPr/>
          <p:nvPr/>
        </p:nvSpPr>
        <p:spPr>
          <a:xfrm>
            <a:off x="4853362" y="2219325"/>
            <a:ext cx="1479513" cy="775692"/>
          </a:xfrm>
          <a:prstGeom prst="rect">
            <a:avLst/>
          </a:prstGeom>
          <a:noFill/>
          <a:ln/>
        </p:spPr>
        <p:txBody>
          <a:bodyPr wrap="square" lIns="0" tIns="0" rIns="0" bIns="0" rtlCol="0" anchor="t">
            <a:normAutofit/>
          </a:bodyPr>
          <a:lstStyle/>
          <a:p>
            <a:pPr marL="0" indent="0" algn="ctr">
              <a:lnSpc>
                <a:spcPct val="127000"/>
              </a:lnSpc>
              <a:buNone/>
            </a:pPr>
            <a:r>
              <a:rPr lang="en-US" sz="1300" b="1" dirty="0">
                <a:solidFill>
                  <a:srgbClr val="C2C4B5"/>
                </a:solidFill>
                <a:latin typeface="Bitter Bold" pitchFamily="34" charset="0"/>
                <a:ea typeface="Bitter Bold" pitchFamily="34" charset="-122"/>
                <a:cs typeface="Bitter Bold" pitchFamily="34" charset="-120"/>
              </a:rPr>
              <a:t>Super-Resolution Pipeline (VRT)</a:t>
            </a:r>
            <a:endParaRPr lang="en-US" sz="1300" dirty="0"/>
          </a:p>
          <a:p>
            <a:pPr marL="0" indent="0" algn="ctr">
              <a:lnSpc>
                <a:spcPct val="127000"/>
              </a:lnSpc>
              <a:buNone/>
            </a:pPr>
            <a:r>
              <a:rPr lang="en-US" sz="1300" dirty="0">
                <a:solidFill>
                  <a:srgbClr val="C2C4B5"/>
                </a:solidFill>
                <a:latin typeface="Bitter" pitchFamily="34" charset="0"/>
                <a:ea typeface="Bitter" pitchFamily="34" charset="-122"/>
                <a:cs typeface="Bitter" pitchFamily="34" charset="-120"/>
              </a:rPr>
              <a:t>Noman</a:t>
            </a:r>
            <a:endParaRPr lang="en-US" sz="1300" dirty="0"/>
          </a:p>
        </p:txBody>
      </p:sp>
      <p:sp>
        <p:nvSpPr>
          <p:cNvPr id="29" name="Shape 27"/>
          <p:cNvSpPr/>
          <p:nvPr/>
        </p:nvSpPr>
        <p:spPr>
          <a:xfrm>
            <a:off x="6588952" y="3933974"/>
            <a:ext cx="19050" cy="510282"/>
          </a:xfrm>
          <a:prstGeom prst="roundRect">
            <a:avLst>
              <a:gd name="adj" fmla="val 49999"/>
            </a:avLst>
          </a:prstGeom>
          <a:solidFill>
            <a:srgbClr val="009E8C"/>
          </a:solidFill>
          <a:ln/>
        </p:spPr>
        <p:txBody>
          <a:bodyPr/>
          <a:lstStyle/>
          <a:p>
            <a:endParaRPr lang="en-US"/>
          </a:p>
        </p:txBody>
      </p:sp>
      <p:sp>
        <p:nvSpPr>
          <p:cNvPr id="30" name="Shape 28"/>
          <p:cNvSpPr/>
          <p:nvPr/>
        </p:nvSpPr>
        <p:spPr>
          <a:xfrm>
            <a:off x="6407188" y="3742680"/>
            <a:ext cx="382677" cy="382687"/>
          </a:xfrm>
          <a:prstGeom prst="roundRect">
            <a:avLst>
              <a:gd name="adj" fmla="val 6668"/>
            </a:avLst>
          </a:prstGeom>
          <a:solidFill>
            <a:srgbClr val="14B8A6"/>
          </a:solidFill>
          <a:ln/>
        </p:spPr>
        <p:txBody>
          <a:bodyPr/>
          <a:lstStyle/>
          <a:p>
            <a:endParaRPr lang="en-US"/>
          </a:p>
        </p:txBody>
      </p:sp>
      <p:sp>
        <p:nvSpPr>
          <p:cNvPr id="31" name="Text 29"/>
          <p:cNvSpPr/>
          <p:nvPr/>
        </p:nvSpPr>
        <p:spPr>
          <a:xfrm>
            <a:off x="6470935" y="3774529"/>
            <a:ext cx="255085" cy="318889"/>
          </a:xfrm>
          <a:prstGeom prst="rect">
            <a:avLst/>
          </a:prstGeom>
          <a:noFill/>
          <a:ln/>
        </p:spPr>
        <p:txBody>
          <a:bodyPr wrap="none" lIns="0" tIns="0" rIns="0" bIns="0" rtlCol="0" anchor="ctr"/>
          <a:lstStyle/>
          <a:p>
            <a:pPr marL="0" indent="0" algn="ctr">
              <a:lnSpc>
                <a:spcPct val="100000"/>
              </a:lnSpc>
              <a:buNone/>
            </a:pPr>
            <a:r>
              <a:rPr lang="en-US" sz="2000" b="1" dirty="0">
                <a:solidFill>
                  <a:srgbClr val="000000"/>
                </a:solidFill>
                <a:latin typeface="Outfit Bold" pitchFamily="34" charset="0"/>
                <a:ea typeface="Outfit Bold" pitchFamily="34" charset="-122"/>
                <a:cs typeface="Outfit Bold" pitchFamily="34" charset="-120"/>
              </a:rPr>
              <a:t>6</a:t>
            </a:r>
            <a:endParaRPr lang="en-US" sz="2000" dirty="0"/>
          </a:p>
        </p:txBody>
      </p:sp>
      <p:sp>
        <p:nvSpPr>
          <p:cNvPr id="32" name="Text 30"/>
          <p:cNvSpPr/>
          <p:nvPr/>
        </p:nvSpPr>
        <p:spPr>
          <a:xfrm>
            <a:off x="5858820" y="4614466"/>
            <a:ext cx="1479513" cy="265708"/>
          </a:xfrm>
          <a:prstGeom prst="rect">
            <a:avLst/>
          </a:prstGeom>
          <a:noFill/>
          <a:ln/>
        </p:spPr>
        <p:txBody>
          <a:bodyPr wrap="none" lIns="0" tIns="0" rIns="0" bIns="0" rtlCol="0" anchor="t"/>
          <a:lstStyle/>
          <a:p>
            <a:pPr marL="0" indent="0" algn="ctr">
              <a:lnSpc>
                <a:spcPct val="104000"/>
              </a:lnSpc>
              <a:buNone/>
            </a:pPr>
            <a:r>
              <a:rPr lang="en-US" sz="1650" b="1" dirty="0">
                <a:solidFill>
                  <a:srgbClr val="C2C4B5"/>
                </a:solidFill>
                <a:latin typeface="Outfit Bold" pitchFamily="34" charset="0"/>
                <a:ea typeface="Outfit Bold" pitchFamily="34" charset="-122"/>
                <a:cs typeface="Outfit Bold" pitchFamily="34" charset="-120"/>
              </a:rPr>
              <a:t>Wk 3-4</a:t>
            </a:r>
            <a:endParaRPr lang="en-US" sz="1650" dirty="0"/>
          </a:p>
        </p:txBody>
      </p:sp>
      <p:sp>
        <p:nvSpPr>
          <p:cNvPr id="33" name="Text 31"/>
          <p:cNvSpPr/>
          <p:nvPr/>
        </p:nvSpPr>
        <p:spPr>
          <a:xfrm>
            <a:off x="5858820" y="4971951"/>
            <a:ext cx="1479513" cy="1034256"/>
          </a:xfrm>
          <a:prstGeom prst="rect">
            <a:avLst/>
          </a:prstGeom>
          <a:noFill/>
          <a:ln/>
        </p:spPr>
        <p:txBody>
          <a:bodyPr wrap="square" lIns="0" tIns="0" rIns="0" bIns="0" rtlCol="0" anchor="t">
            <a:normAutofit/>
          </a:bodyPr>
          <a:lstStyle/>
          <a:p>
            <a:pPr marL="0" indent="0" algn="ctr">
              <a:lnSpc>
                <a:spcPct val="127000"/>
              </a:lnSpc>
              <a:buNone/>
            </a:pPr>
            <a:r>
              <a:rPr lang="en-US" sz="1300" b="1" dirty="0">
                <a:solidFill>
                  <a:srgbClr val="C2C4B5"/>
                </a:solidFill>
                <a:latin typeface="Bitter Bold" pitchFamily="34" charset="0"/>
                <a:ea typeface="Bitter Bold" pitchFamily="34" charset="-122"/>
                <a:cs typeface="Bitter Bold" pitchFamily="34" charset="-120"/>
              </a:rPr>
              <a:t>Satellite Damage Mapping (xED-S12)</a:t>
            </a:r>
            <a:endParaRPr lang="en-US" sz="1300" dirty="0"/>
          </a:p>
          <a:p>
            <a:pPr marL="0" indent="0" algn="ctr">
              <a:lnSpc>
                <a:spcPct val="127000"/>
              </a:lnSpc>
              <a:buNone/>
            </a:pPr>
            <a:r>
              <a:rPr lang="en-US" sz="1300" dirty="0">
                <a:solidFill>
                  <a:srgbClr val="C2C4B5"/>
                </a:solidFill>
                <a:latin typeface="Bitter" pitchFamily="34" charset="0"/>
                <a:ea typeface="Bitter" pitchFamily="34" charset="-122"/>
                <a:cs typeface="Bitter" pitchFamily="34" charset="-120"/>
              </a:rPr>
              <a:t>Aryan</a:t>
            </a:r>
            <a:endParaRPr lang="en-US" sz="1300" dirty="0"/>
          </a:p>
        </p:txBody>
      </p:sp>
      <p:sp>
        <p:nvSpPr>
          <p:cNvPr id="34" name="Shape 32"/>
          <p:cNvSpPr/>
          <p:nvPr/>
        </p:nvSpPr>
        <p:spPr>
          <a:xfrm>
            <a:off x="7594410" y="3423791"/>
            <a:ext cx="19050" cy="510282"/>
          </a:xfrm>
          <a:prstGeom prst="roundRect">
            <a:avLst>
              <a:gd name="adj" fmla="val 49999"/>
            </a:avLst>
          </a:prstGeom>
          <a:solidFill>
            <a:srgbClr val="DB8400"/>
          </a:solidFill>
          <a:ln/>
        </p:spPr>
        <p:txBody>
          <a:bodyPr/>
          <a:lstStyle/>
          <a:p>
            <a:endParaRPr lang="en-US"/>
          </a:p>
        </p:txBody>
      </p:sp>
      <p:sp>
        <p:nvSpPr>
          <p:cNvPr id="35" name="Shape 33"/>
          <p:cNvSpPr/>
          <p:nvPr/>
        </p:nvSpPr>
        <p:spPr>
          <a:xfrm>
            <a:off x="7412646" y="3742680"/>
            <a:ext cx="382677" cy="382687"/>
          </a:xfrm>
          <a:prstGeom prst="roundRect">
            <a:avLst>
              <a:gd name="adj" fmla="val 6668"/>
            </a:avLst>
          </a:prstGeom>
          <a:solidFill>
            <a:srgbClr val="F59E0B"/>
          </a:solidFill>
          <a:ln/>
        </p:spPr>
        <p:txBody>
          <a:bodyPr/>
          <a:lstStyle/>
          <a:p>
            <a:endParaRPr lang="en-US"/>
          </a:p>
        </p:txBody>
      </p:sp>
      <p:sp>
        <p:nvSpPr>
          <p:cNvPr id="36" name="Text 34"/>
          <p:cNvSpPr/>
          <p:nvPr/>
        </p:nvSpPr>
        <p:spPr>
          <a:xfrm>
            <a:off x="7476392" y="3774529"/>
            <a:ext cx="255085" cy="318889"/>
          </a:xfrm>
          <a:prstGeom prst="rect">
            <a:avLst/>
          </a:prstGeom>
          <a:noFill/>
          <a:ln/>
        </p:spPr>
        <p:txBody>
          <a:bodyPr wrap="none" lIns="0" tIns="0" rIns="0" bIns="0" rtlCol="0" anchor="ctr"/>
          <a:lstStyle/>
          <a:p>
            <a:pPr marL="0" indent="0" algn="ctr">
              <a:lnSpc>
                <a:spcPct val="100000"/>
              </a:lnSpc>
              <a:buNone/>
            </a:pPr>
            <a:r>
              <a:rPr lang="en-US" sz="2000" b="1" dirty="0">
                <a:solidFill>
                  <a:srgbClr val="000000"/>
                </a:solidFill>
                <a:latin typeface="Outfit Bold" pitchFamily="34" charset="0"/>
                <a:ea typeface="Outfit Bold" pitchFamily="34" charset="-122"/>
                <a:cs typeface="Outfit Bold" pitchFamily="34" charset="-120"/>
              </a:rPr>
              <a:t>7</a:t>
            </a:r>
            <a:endParaRPr lang="en-US" sz="2000" dirty="0"/>
          </a:p>
        </p:txBody>
      </p:sp>
      <p:sp>
        <p:nvSpPr>
          <p:cNvPr id="37" name="Text 35"/>
          <p:cNvSpPr/>
          <p:nvPr/>
        </p:nvSpPr>
        <p:spPr>
          <a:xfrm>
            <a:off x="6864277" y="1861840"/>
            <a:ext cx="1479513" cy="265708"/>
          </a:xfrm>
          <a:prstGeom prst="rect">
            <a:avLst/>
          </a:prstGeom>
          <a:noFill/>
          <a:ln/>
        </p:spPr>
        <p:txBody>
          <a:bodyPr wrap="none" lIns="0" tIns="0" rIns="0" bIns="0" rtlCol="0" anchor="t"/>
          <a:lstStyle/>
          <a:p>
            <a:pPr marL="0" indent="0" algn="ctr">
              <a:lnSpc>
                <a:spcPct val="104000"/>
              </a:lnSpc>
              <a:buNone/>
            </a:pPr>
            <a:r>
              <a:rPr lang="en-US" sz="1650" b="1" dirty="0">
                <a:solidFill>
                  <a:srgbClr val="C2C4B5"/>
                </a:solidFill>
                <a:latin typeface="Outfit Bold" pitchFamily="34" charset="0"/>
                <a:ea typeface="Outfit Bold" pitchFamily="34" charset="-122"/>
                <a:cs typeface="Outfit Bold" pitchFamily="34" charset="-120"/>
              </a:rPr>
              <a:t>Wk 3</a:t>
            </a:r>
            <a:endParaRPr lang="en-US" sz="1650" dirty="0"/>
          </a:p>
        </p:txBody>
      </p:sp>
      <p:sp>
        <p:nvSpPr>
          <p:cNvPr id="38" name="Text 36"/>
          <p:cNvSpPr/>
          <p:nvPr/>
        </p:nvSpPr>
        <p:spPr>
          <a:xfrm>
            <a:off x="6864277" y="2219325"/>
            <a:ext cx="1479513" cy="1034256"/>
          </a:xfrm>
          <a:prstGeom prst="rect">
            <a:avLst/>
          </a:prstGeom>
          <a:noFill/>
          <a:ln/>
        </p:spPr>
        <p:txBody>
          <a:bodyPr wrap="square" lIns="0" tIns="0" rIns="0" bIns="0" rtlCol="0" anchor="t">
            <a:normAutofit/>
          </a:bodyPr>
          <a:lstStyle/>
          <a:p>
            <a:pPr marL="0" indent="0" algn="ctr">
              <a:lnSpc>
                <a:spcPct val="127000"/>
              </a:lnSpc>
              <a:buNone/>
            </a:pPr>
            <a:r>
              <a:rPr lang="en-US" sz="1300" b="1" dirty="0">
                <a:solidFill>
                  <a:srgbClr val="C2C4B5"/>
                </a:solidFill>
                <a:latin typeface="Bitter Bold" pitchFamily="34" charset="0"/>
                <a:ea typeface="Bitter Bold" pitchFamily="34" charset="-122"/>
                <a:cs typeface="Bitter Bold" pitchFamily="34" charset="-120"/>
              </a:rPr>
              <a:t>DisasterTrier Multi-Agent System</a:t>
            </a:r>
            <a:endParaRPr lang="en-US" sz="1300" dirty="0"/>
          </a:p>
          <a:p>
            <a:pPr marL="0" indent="0" algn="ctr">
              <a:lnSpc>
                <a:spcPct val="127000"/>
              </a:lnSpc>
              <a:buNone/>
            </a:pPr>
            <a:r>
              <a:rPr lang="en-US" sz="1300" dirty="0">
                <a:solidFill>
                  <a:srgbClr val="C2C4B5"/>
                </a:solidFill>
                <a:latin typeface="Bitter" pitchFamily="34" charset="0"/>
                <a:ea typeface="Bitter" pitchFamily="34" charset="-122"/>
                <a:cs typeface="Bitter" pitchFamily="34" charset="-120"/>
              </a:rPr>
              <a:t>Rista</a:t>
            </a:r>
            <a:endParaRPr lang="en-US" sz="1300" dirty="0"/>
          </a:p>
        </p:txBody>
      </p:sp>
      <p:sp>
        <p:nvSpPr>
          <p:cNvPr id="39" name="Shape 37"/>
          <p:cNvSpPr/>
          <p:nvPr/>
        </p:nvSpPr>
        <p:spPr>
          <a:xfrm>
            <a:off x="8599868" y="3933974"/>
            <a:ext cx="19050" cy="510282"/>
          </a:xfrm>
          <a:prstGeom prst="roundRect">
            <a:avLst>
              <a:gd name="adj" fmla="val 49999"/>
            </a:avLst>
          </a:prstGeom>
          <a:solidFill>
            <a:srgbClr val="FF5D5D"/>
          </a:solidFill>
          <a:ln/>
        </p:spPr>
        <p:txBody>
          <a:bodyPr/>
          <a:lstStyle/>
          <a:p>
            <a:endParaRPr lang="en-US"/>
          </a:p>
        </p:txBody>
      </p:sp>
      <p:sp>
        <p:nvSpPr>
          <p:cNvPr id="40" name="Shape 38"/>
          <p:cNvSpPr/>
          <p:nvPr/>
        </p:nvSpPr>
        <p:spPr>
          <a:xfrm>
            <a:off x="8418103" y="3742680"/>
            <a:ext cx="382677" cy="382687"/>
          </a:xfrm>
          <a:prstGeom prst="roundRect">
            <a:avLst>
              <a:gd name="adj" fmla="val 6668"/>
            </a:avLst>
          </a:prstGeom>
          <a:solidFill>
            <a:srgbClr val="EF4444"/>
          </a:solidFill>
          <a:ln/>
        </p:spPr>
        <p:txBody>
          <a:bodyPr/>
          <a:lstStyle/>
          <a:p>
            <a:endParaRPr lang="en-US"/>
          </a:p>
        </p:txBody>
      </p:sp>
      <p:sp>
        <p:nvSpPr>
          <p:cNvPr id="41" name="Text 39"/>
          <p:cNvSpPr/>
          <p:nvPr/>
        </p:nvSpPr>
        <p:spPr>
          <a:xfrm>
            <a:off x="8481850" y="3774529"/>
            <a:ext cx="255085" cy="318889"/>
          </a:xfrm>
          <a:prstGeom prst="rect">
            <a:avLst/>
          </a:prstGeom>
          <a:noFill/>
          <a:ln/>
        </p:spPr>
        <p:txBody>
          <a:bodyPr wrap="none" lIns="0" tIns="0" rIns="0" bIns="0" rtlCol="0" anchor="ctr"/>
          <a:lstStyle/>
          <a:p>
            <a:pPr marL="0" indent="0" algn="ctr">
              <a:lnSpc>
                <a:spcPct val="100000"/>
              </a:lnSpc>
              <a:buNone/>
            </a:pPr>
            <a:r>
              <a:rPr lang="en-US" sz="2000" b="1" dirty="0">
                <a:solidFill>
                  <a:srgbClr val="FFFFFF"/>
                </a:solidFill>
                <a:latin typeface="Outfit Bold" pitchFamily="34" charset="0"/>
                <a:ea typeface="Outfit Bold" pitchFamily="34" charset="-122"/>
                <a:cs typeface="Outfit Bold" pitchFamily="34" charset="-120"/>
              </a:rPr>
              <a:t>8</a:t>
            </a:r>
            <a:endParaRPr lang="en-US" sz="2000" dirty="0"/>
          </a:p>
        </p:txBody>
      </p:sp>
      <p:sp>
        <p:nvSpPr>
          <p:cNvPr id="42" name="Text 40"/>
          <p:cNvSpPr/>
          <p:nvPr/>
        </p:nvSpPr>
        <p:spPr>
          <a:xfrm>
            <a:off x="7869735" y="4614466"/>
            <a:ext cx="1479513" cy="265708"/>
          </a:xfrm>
          <a:prstGeom prst="rect">
            <a:avLst/>
          </a:prstGeom>
          <a:noFill/>
          <a:ln/>
        </p:spPr>
        <p:txBody>
          <a:bodyPr wrap="none" lIns="0" tIns="0" rIns="0" bIns="0" rtlCol="0" anchor="t"/>
          <a:lstStyle/>
          <a:p>
            <a:pPr marL="0" indent="0" algn="ctr">
              <a:lnSpc>
                <a:spcPct val="104000"/>
              </a:lnSpc>
              <a:buNone/>
            </a:pPr>
            <a:r>
              <a:rPr lang="en-US" sz="1650" b="1" dirty="0">
                <a:solidFill>
                  <a:srgbClr val="C2C4B5"/>
                </a:solidFill>
                <a:latin typeface="Outfit Bold" pitchFamily="34" charset="0"/>
                <a:ea typeface="Outfit Bold" pitchFamily="34" charset="-122"/>
                <a:cs typeface="Outfit Bold" pitchFamily="34" charset="-120"/>
              </a:rPr>
              <a:t>Wk 4</a:t>
            </a:r>
            <a:endParaRPr lang="en-US" sz="1650" dirty="0"/>
          </a:p>
        </p:txBody>
      </p:sp>
      <p:sp>
        <p:nvSpPr>
          <p:cNvPr id="43" name="Text 41"/>
          <p:cNvSpPr/>
          <p:nvPr/>
        </p:nvSpPr>
        <p:spPr>
          <a:xfrm>
            <a:off x="7869735" y="4971951"/>
            <a:ext cx="1479513" cy="1034256"/>
          </a:xfrm>
          <a:prstGeom prst="rect">
            <a:avLst/>
          </a:prstGeom>
          <a:noFill/>
          <a:ln/>
        </p:spPr>
        <p:txBody>
          <a:bodyPr wrap="square" lIns="0" tIns="0" rIns="0" bIns="0" rtlCol="0" anchor="t">
            <a:normAutofit/>
          </a:bodyPr>
          <a:lstStyle/>
          <a:p>
            <a:pPr marL="0" indent="0" algn="ctr">
              <a:lnSpc>
                <a:spcPct val="127000"/>
              </a:lnSpc>
              <a:buNone/>
            </a:pPr>
            <a:r>
              <a:rPr lang="en-US" sz="1300" b="1" dirty="0">
                <a:solidFill>
                  <a:srgbClr val="C2C4B5"/>
                </a:solidFill>
                <a:latin typeface="Bitter Bold" pitchFamily="34" charset="0"/>
                <a:ea typeface="Bitter Bold" pitchFamily="34" charset="-122"/>
                <a:cs typeface="Bitter Bold" pitchFamily="34" charset="-120"/>
              </a:rPr>
              <a:t>U-Net Segmentation Pipeline</a:t>
            </a:r>
            <a:endParaRPr lang="en-US" sz="1300" dirty="0"/>
          </a:p>
          <a:p>
            <a:pPr marL="0" indent="0" algn="ctr">
              <a:lnSpc>
                <a:spcPct val="127000"/>
              </a:lnSpc>
              <a:buNone/>
            </a:pPr>
            <a:r>
              <a:rPr lang="en-US" sz="1300" dirty="0">
                <a:solidFill>
                  <a:srgbClr val="C2C4B5"/>
                </a:solidFill>
                <a:latin typeface="Bitter" pitchFamily="34" charset="0"/>
                <a:ea typeface="Bitter" pitchFamily="34" charset="-122"/>
                <a:cs typeface="Bitter" pitchFamily="34" charset="-120"/>
              </a:rPr>
              <a:t>Aryan</a:t>
            </a:r>
            <a:endParaRPr lang="en-US" sz="1300" dirty="0"/>
          </a:p>
        </p:txBody>
      </p:sp>
      <p:sp>
        <p:nvSpPr>
          <p:cNvPr id="44" name="Shape 42"/>
          <p:cNvSpPr/>
          <p:nvPr/>
        </p:nvSpPr>
        <p:spPr>
          <a:xfrm>
            <a:off x="9605325" y="3423791"/>
            <a:ext cx="19050" cy="510282"/>
          </a:xfrm>
          <a:prstGeom prst="roundRect">
            <a:avLst>
              <a:gd name="adj" fmla="val 49999"/>
            </a:avLst>
          </a:prstGeom>
          <a:solidFill>
            <a:srgbClr val="009CBA"/>
          </a:solidFill>
          <a:ln/>
        </p:spPr>
        <p:txBody>
          <a:bodyPr/>
          <a:lstStyle/>
          <a:p>
            <a:endParaRPr lang="en-US"/>
          </a:p>
        </p:txBody>
      </p:sp>
      <p:sp>
        <p:nvSpPr>
          <p:cNvPr id="45" name="Shape 43"/>
          <p:cNvSpPr/>
          <p:nvPr/>
        </p:nvSpPr>
        <p:spPr>
          <a:xfrm>
            <a:off x="9423561" y="3742680"/>
            <a:ext cx="382677" cy="382687"/>
          </a:xfrm>
          <a:prstGeom prst="roundRect">
            <a:avLst>
              <a:gd name="adj" fmla="val 6668"/>
            </a:avLst>
          </a:prstGeom>
          <a:solidFill>
            <a:srgbClr val="06B6D4"/>
          </a:solidFill>
          <a:ln/>
        </p:spPr>
        <p:txBody>
          <a:bodyPr/>
          <a:lstStyle/>
          <a:p>
            <a:endParaRPr lang="en-US"/>
          </a:p>
        </p:txBody>
      </p:sp>
      <p:sp>
        <p:nvSpPr>
          <p:cNvPr id="46" name="Text 44"/>
          <p:cNvSpPr/>
          <p:nvPr/>
        </p:nvSpPr>
        <p:spPr>
          <a:xfrm>
            <a:off x="9487308" y="3774529"/>
            <a:ext cx="255085" cy="318889"/>
          </a:xfrm>
          <a:prstGeom prst="rect">
            <a:avLst/>
          </a:prstGeom>
          <a:noFill/>
          <a:ln/>
        </p:spPr>
        <p:txBody>
          <a:bodyPr wrap="none" lIns="0" tIns="0" rIns="0" bIns="0" rtlCol="0" anchor="ctr"/>
          <a:lstStyle/>
          <a:p>
            <a:pPr marL="0" indent="0" algn="ctr">
              <a:lnSpc>
                <a:spcPct val="100000"/>
              </a:lnSpc>
              <a:buNone/>
            </a:pPr>
            <a:r>
              <a:rPr lang="en-US" sz="2000" b="1" dirty="0">
                <a:solidFill>
                  <a:srgbClr val="000000"/>
                </a:solidFill>
                <a:latin typeface="Outfit Bold" pitchFamily="34" charset="0"/>
                <a:ea typeface="Outfit Bold" pitchFamily="34" charset="-122"/>
                <a:cs typeface="Outfit Bold" pitchFamily="34" charset="-120"/>
              </a:rPr>
              <a:t>9</a:t>
            </a:r>
            <a:endParaRPr lang="en-US" sz="2000" dirty="0"/>
          </a:p>
        </p:txBody>
      </p:sp>
      <p:sp>
        <p:nvSpPr>
          <p:cNvPr id="47" name="Text 45"/>
          <p:cNvSpPr/>
          <p:nvPr/>
        </p:nvSpPr>
        <p:spPr>
          <a:xfrm>
            <a:off x="8875193" y="1861840"/>
            <a:ext cx="1479513" cy="265708"/>
          </a:xfrm>
          <a:prstGeom prst="rect">
            <a:avLst/>
          </a:prstGeom>
          <a:noFill/>
          <a:ln/>
        </p:spPr>
        <p:txBody>
          <a:bodyPr wrap="none" lIns="0" tIns="0" rIns="0" bIns="0" rtlCol="0" anchor="t"/>
          <a:lstStyle/>
          <a:p>
            <a:pPr marL="0" indent="0" algn="ctr">
              <a:lnSpc>
                <a:spcPct val="104000"/>
              </a:lnSpc>
              <a:buNone/>
            </a:pPr>
            <a:r>
              <a:rPr lang="en-US" sz="1650" b="1" dirty="0">
                <a:solidFill>
                  <a:srgbClr val="C2C4B5"/>
                </a:solidFill>
                <a:latin typeface="Outfit Bold" pitchFamily="34" charset="0"/>
                <a:ea typeface="Outfit Bold" pitchFamily="34" charset="-122"/>
                <a:cs typeface="Outfit Bold" pitchFamily="34" charset="-120"/>
              </a:rPr>
              <a:t>Wk 4-5</a:t>
            </a:r>
            <a:endParaRPr lang="en-US" sz="1650" dirty="0"/>
          </a:p>
        </p:txBody>
      </p:sp>
      <p:sp>
        <p:nvSpPr>
          <p:cNvPr id="48" name="Text 46"/>
          <p:cNvSpPr/>
          <p:nvPr/>
        </p:nvSpPr>
        <p:spPr>
          <a:xfrm>
            <a:off x="8875193" y="2219325"/>
            <a:ext cx="1479513" cy="775692"/>
          </a:xfrm>
          <a:prstGeom prst="rect">
            <a:avLst/>
          </a:prstGeom>
          <a:noFill/>
          <a:ln/>
        </p:spPr>
        <p:txBody>
          <a:bodyPr wrap="square" lIns="0" tIns="0" rIns="0" bIns="0" rtlCol="0" anchor="t">
            <a:normAutofit/>
          </a:bodyPr>
          <a:lstStyle/>
          <a:p>
            <a:pPr marL="0" indent="0" algn="ctr">
              <a:lnSpc>
                <a:spcPct val="127000"/>
              </a:lnSpc>
              <a:buNone/>
            </a:pPr>
            <a:r>
              <a:rPr lang="en-US" sz="1300" b="1" dirty="0">
                <a:solidFill>
                  <a:srgbClr val="C2C4B5"/>
                </a:solidFill>
                <a:latin typeface="Bitter Bold" pitchFamily="34" charset="0"/>
                <a:ea typeface="Bitter Bold" pitchFamily="34" charset="-122"/>
                <a:cs typeface="Bitter Bold" pitchFamily="34" charset="-120"/>
              </a:rPr>
              <a:t>Local VLM Setup (Ollama/LLaVA)</a:t>
            </a:r>
            <a:endParaRPr lang="en-US" sz="1300" dirty="0"/>
          </a:p>
          <a:p>
            <a:pPr marL="0" indent="0" algn="ctr">
              <a:lnSpc>
                <a:spcPct val="127000"/>
              </a:lnSpc>
              <a:buNone/>
            </a:pPr>
            <a:r>
              <a:rPr lang="en-US" sz="1300" dirty="0">
                <a:solidFill>
                  <a:srgbClr val="C2C4B5"/>
                </a:solidFill>
                <a:latin typeface="Bitter" pitchFamily="34" charset="0"/>
                <a:ea typeface="Bitter" pitchFamily="34" charset="-122"/>
                <a:cs typeface="Bitter" pitchFamily="34" charset="-120"/>
              </a:rPr>
              <a:t>Rista</a:t>
            </a:r>
            <a:endParaRPr lang="en-US" sz="1300" dirty="0"/>
          </a:p>
        </p:txBody>
      </p:sp>
      <p:sp>
        <p:nvSpPr>
          <p:cNvPr id="49" name="Shape 47"/>
          <p:cNvSpPr/>
          <p:nvPr/>
        </p:nvSpPr>
        <p:spPr>
          <a:xfrm>
            <a:off x="10610783" y="3933974"/>
            <a:ext cx="19050" cy="510282"/>
          </a:xfrm>
          <a:prstGeom prst="roundRect">
            <a:avLst>
              <a:gd name="adj" fmla="val 49999"/>
            </a:avLst>
          </a:prstGeom>
          <a:solidFill>
            <a:srgbClr val="8E3BDD"/>
          </a:solidFill>
          <a:ln/>
        </p:spPr>
        <p:txBody>
          <a:bodyPr/>
          <a:lstStyle/>
          <a:p>
            <a:endParaRPr lang="en-US"/>
          </a:p>
        </p:txBody>
      </p:sp>
      <p:sp>
        <p:nvSpPr>
          <p:cNvPr id="50" name="Shape 48"/>
          <p:cNvSpPr/>
          <p:nvPr/>
        </p:nvSpPr>
        <p:spPr>
          <a:xfrm>
            <a:off x="10429019" y="3742680"/>
            <a:ext cx="382677" cy="382687"/>
          </a:xfrm>
          <a:prstGeom prst="roundRect">
            <a:avLst>
              <a:gd name="adj" fmla="val 6668"/>
            </a:avLst>
          </a:prstGeom>
          <a:solidFill>
            <a:srgbClr val="A855F7"/>
          </a:solidFill>
          <a:ln/>
        </p:spPr>
        <p:txBody>
          <a:bodyPr/>
          <a:lstStyle/>
          <a:p>
            <a:endParaRPr lang="en-US"/>
          </a:p>
        </p:txBody>
      </p:sp>
      <p:sp>
        <p:nvSpPr>
          <p:cNvPr id="51" name="Text 49"/>
          <p:cNvSpPr/>
          <p:nvPr/>
        </p:nvSpPr>
        <p:spPr>
          <a:xfrm>
            <a:off x="10492765" y="3774529"/>
            <a:ext cx="255085" cy="318889"/>
          </a:xfrm>
          <a:prstGeom prst="rect">
            <a:avLst/>
          </a:prstGeom>
          <a:noFill/>
          <a:ln/>
        </p:spPr>
        <p:txBody>
          <a:bodyPr wrap="none" lIns="0" tIns="0" rIns="0" bIns="0" rtlCol="0" anchor="ctr"/>
          <a:lstStyle/>
          <a:p>
            <a:pPr marL="0" indent="0" algn="ctr">
              <a:lnSpc>
                <a:spcPct val="100000"/>
              </a:lnSpc>
              <a:buNone/>
            </a:pPr>
            <a:r>
              <a:rPr lang="en-US" sz="2000" b="1" dirty="0">
                <a:solidFill>
                  <a:srgbClr val="000000"/>
                </a:solidFill>
                <a:latin typeface="Outfit Bold" pitchFamily="34" charset="0"/>
                <a:ea typeface="Outfit Bold" pitchFamily="34" charset="-122"/>
                <a:cs typeface="Outfit Bold" pitchFamily="34" charset="-120"/>
              </a:rPr>
              <a:t>10</a:t>
            </a:r>
            <a:endParaRPr lang="en-US" sz="2000" dirty="0"/>
          </a:p>
        </p:txBody>
      </p:sp>
      <p:sp>
        <p:nvSpPr>
          <p:cNvPr id="52" name="Text 50"/>
          <p:cNvSpPr/>
          <p:nvPr/>
        </p:nvSpPr>
        <p:spPr>
          <a:xfrm>
            <a:off x="9880650" y="4614466"/>
            <a:ext cx="1479513" cy="265708"/>
          </a:xfrm>
          <a:prstGeom prst="rect">
            <a:avLst/>
          </a:prstGeom>
          <a:noFill/>
          <a:ln/>
        </p:spPr>
        <p:txBody>
          <a:bodyPr wrap="none" lIns="0" tIns="0" rIns="0" bIns="0" rtlCol="0" anchor="t"/>
          <a:lstStyle/>
          <a:p>
            <a:pPr marL="0" indent="0" algn="ctr">
              <a:lnSpc>
                <a:spcPct val="104000"/>
              </a:lnSpc>
              <a:buNone/>
            </a:pPr>
            <a:r>
              <a:rPr lang="en-US" sz="1650" b="1" dirty="0">
                <a:solidFill>
                  <a:srgbClr val="C2C4B5"/>
                </a:solidFill>
                <a:latin typeface="Outfit Bold" pitchFamily="34" charset="0"/>
                <a:ea typeface="Outfit Bold" pitchFamily="34" charset="-122"/>
                <a:cs typeface="Outfit Bold" pitchFamily="34" charset="-120"/>
              </a:rPr>
              <a:t>Wk 5</a:t>
            </a:r>
            <a:endParaRPr lang="en-US" sz="1650" dirty="0"/>
          </a:p>
        </p:txBody>
      </p:sp>
      <p:sp>
        <p:nvSpPr>
          <p:cNvPr id="53" name="Text 51"/>
          <p:cNvSpPr/>
          <p:nvPr/>
        </p:nvSpPr>
        <p:spPr>
          <a:xfrm>
            <a:off x="9880650" y="4971951"/>
            <a:ext cx="1479513" cy="775692"/>
          </a:xfrm>
          <a:prstGeom prst="rect">
            <a:avLst/>
          </a:prstGeom>
          <a:noFill/>
          <a:ln/>
        </p:spPr>
        <p:txBody>
          <a:bodyPr wrap="square" lIns="0" tIns="0" rIns="0" bIns="0" rtlCol="0" anchor="t">
            <a:normAutofit/>
          </a:bodyPr>
          <a:lstStyle/>
          <a:p>
            <a:pPr marL="0" indent="0" algn="ctr">
              <a:lnSpc>
                <a:spcPct val="127000"/>
              </a:lnSpc>
              <a:buNone/>
            </a:pPr>
            <a:r>
              <a:rPr lang="en-US" sz="1300" b="1" dirty="0">
                <a:solidFill>
                  <a:srgbClr val="C2C4B5"/>
                </a:solidFill>
                <a:latin typeface="Bitter Bold" pitchFamily="34" charset="0"/>
                <a:ea typeface="Bitter Bold" pitchFamily="34" charset="-122"/>
                <a:cs typeface="Bitter Bold" pitchFamily="34" charset="-120"/>
              </a:rPr>
              <a:t>Final Results &amp; Literature Review</a:t>
            </a:r>
            <a:endParaRPr lang="en-US" sz="1300" dirty="0"/>
          </a:p>
          <a:p>
            <a:pPr marL="0" indent="0" algn="ctr">
              <a:lnSpc>
                <a:spcPct val="127000"/>
              </a:lnSpc>
              <a:buNone/>
            </a:pPr>
            <a:r>
              <a:rPr lang="en-US" sz="1300" dirty="0">
                <a:solidFill>
                  <a:srgbClr val="C2C4B5"/>
                </a:solidFill>
                <a:latin typeface="Bitter" pitchFamily="34" charset="0"/>
                <a:ea typeface="Bitter" pitchFamily="34" charset="-122"/>
                <a:cs typeface="Bitter" pitchFamily="34" charset="-120"/>
              </a:rPr>
              <a:t>Team</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661475" y="857250"/>
            <a:ext cx="10868745" cy="590649"/>
          </a:xfrm>
          <a:prstGeom prst="rect">
            <a:avLst/>
          </a:prstGeom>
          <a:noFill/>
          <a:ln/>
        </p:spPr>
        <p:txBody>
          <a:bodyPr wrap="none" lIns="0" tIns="0" rIns="0" bIns="0" rtlCol="0" anchor="t"/>
          <a:lstStyle/>
          <a:p>
            <a:pPr marL="0" indent="0" algn="l">
              <a:lnSpc>
                <a:spcPct val="104000"/>
              </a:lnSpc>
              <a:buNone/>
            </a:pPr>
            <a:r>
              <a:rPr lang="en-US" sz="3700" b="1" dirty="0">
                <a:solidFill>
                  <a:srgbClr val="E1E5CD"/>
                </a:solidFill>
                <a:latin typeface="Outfit Bold" pitchFamily="34" charset="0"/>
                <a:ea typeface="Outfit Bold" pitchFamily="34" charset="-122"/>
                <a:cs typeface="Outfit Bold" pitchFamily="34" charset="-120"/>
              </a:rPr>
              <a:t>Expected Outcomes</a:t>
            </a:r>
            <a:endParaRPr lang="en-US" sz="3700" dirty="0"/>
          </a:p>
        </p:txBody>
      </p:sp>
      <p:sp>
        <p:nvSpPr>
          <p:cNvPr id="3" name="Text 1"/>
          <p:cNvSpPr/>
          <p:nvPr/>
        </p:nvSpPr>
        <p:spPr>
          <a:xfrm>
            <a:off x="661475" y="1825923"/>
            <a:ext cx="11478330" cy="302419"/>
          </a:xfrm>
          <a:prstGeom prst="rect">
            <a:avLst/>
          </a:prstGeom>
          <a:noFill/>
          <a:ln/>
        </p:spPr>
        <p:txBody>
          <a:bodyPr wrap="none" lIns="0" tIns="0" rIns="0" bIns="0" rtlCol="0" anchor="t"/>
          <a:lstStyle/>
          <a:p>
            <a:pPr marL="0" indent="0" algn="l">
              <a:lnSpc>
                <a:spcPct val="133000"/>
              </a:lnSpc>
              <a:buNone/>
            </a:pPr>
            <a:r>
              <a:rPr lang="en-US" sz="1450" dirty="0">
                <a:solidFill>
                  <a:srgbClr val="C2C4B5"/>
                </a:solidFill>
                <a:latin typeface="Bitter" pitchFamily="34" charset="0"/>
                <a:ea typeface="Bitter" pitchFamily="34" charset="-122"/>
                <a:cs typeface="Bitter" pitchFamily="34" charset="-120"/>
              </a:rPr>
              <a:t>The pipeline delivered three categories of validated results, each corresponding to a core project objective.</a:t>
            </a:r>
            <a:endParaRPr lang="en-US" sz="1450" dirty="0"/>
          </a:p>
        </p:txBody>
      </p:sp>
      <p:sp>
        <p:nvSpPr>
          <p:cNvPr id="4" name="Shape 2"/>
          <p:cNvSpPr/>
          <p:nvPr/>
        </p:nvSpPr>
        <p:spPr>
          <a:xfrm>
            <a:off x="661475" y="2340967"/>
            <a:ext cx="3496877" cy="3659684"/>
          </a:xfrm>
          <a:prstGeom prst="roundRect">
            <a:avLst>
              <a:gd name="adj" fmla="val 811"/>
            </a:avLst>
          </a:prstGeom>
          <a:solidFill>
            <a:srgbClr val="3B3C3E"/>
          </a:solidFill>
          <a:ln/>
        </p:spPr>
        <p:txBody>
          <a:bodyPr/>
          <a:lstStyle/>
          <a:p>
            <a:endParaRPr lang="en-US"/>
          </a:p>
        </p:txBody>
      </p:sp>
      <p:sp>
        <p:nvSpPr>
          <p:cNvPr id="5" name="Shape 3"/>
          <p:cNvSpPr/>
          <p:nvPr/>
        </p:nvSpPr>
        <p:spPr>
          <a:xfrm>
            <a:off x="850482" y="2529979"/>
            <a:ext cx="567021" cy="567035"/>
          </a:xfrm>
          <a:prstGeom prst="ellipse">
            <a:avLst/>
          </a:prstGeom>
          <a:solidFill>
            <a:srgbClr val="9FA582"/>
          </a:solidFill>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06450" y="2685852"/>
            <a:ext cx="255085" cy="255091"/>
          </a:xfrm>
          <a:prstGeom prst="rect">
            <a:avLst/>
          </a:prstGeom>
        </p:spPr>
      </p:pic>
      <p:sp>
        <p:nvSpPr>
          <p:cNvPr id="7" name="Text 4"/>
          <p:cNvSpPr/>
          <p:nvPr/>
        </p:nvSpPr>
        <p:spPr>
          <a:xfrm>
            <a:off x="850482" y="3286026"/>
            <a:ext cx="3118863" cy="295275"/>
          </a:xfrm>
          <a:prstGeom prst="rect">
            <a:avLst/>
          </a:prstGeom>
          <a:noFill/>
          <a:ln/>
        </p:spPr>
        <p:txBody>
          <a:bodyPr wrap="none" lIns="0" tIns="0" rIns="0" bIns="0" rtlCol="0" anchor="t"/>
          <a:lstStyle/>
          <a:p>
            <a:pPr marL="0" indent="0" algn="l">
              <a:lnSpc>
                <a:spcPct val="104000"/>
              </a:lnSpc>
              <a:buNone/>
            </a:pPr>
            <a:r>
              <a:rPr lang="en-US" sz="1850" b="1" dirty="0">
                <a:solidFill>
                  <a:srgbClr val="C2C4B5"/>
                </a:solidFill>
                <a:latin typeface="Outfit Bold" pitchFamily="34" charset="0"/>
                <a:ea typeface="Outfit Bold" pitchFamily="34" charset="-122"/>
                <a:cs typeface="Outfit Bold" pitchFamily="34" charset="-120"/>
              </a:rPr>
              <a:t>Bypassing Spatial Blindness</a:t>
            </a:r>
            <a:endParaRPr lang="en-US" sz="1850" dirty="0"/>
          </a:p>
        </p:txBody>
      </p:sp>
      <p:sp>
        <p:nvSpPr>
          <p:cNvPr id="8" name="Text 5"/>
          <p:cNvSpPr/>
          <p:nvPr/>
        </p:nvSpPr>
        <p:spPr>
          <a:xfrm>
            <a:off x="850482" y="3694708"/>
            <a:ext cx="3118863" cy="1512094"/>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C2C4B5"/>
                </a:solidFill>
                <a:latin typeface="Bitter" pitchFamily="34" charset="0"/>
                <a:ea typeface="Bitter" pitchFamily="34" charset="-122"/>
                <a:cs typeface="Bitter" pitchFamily="34" charset="-120"/>
              </a:rPr>
              <a:t>U-Net successfully fixed </a:t>
            </a:r>
            <a:r>
              <a:rPr lang="en-US" sz="1450" b="1" dirty="0">
                <a:solidFill>
                  <a:srgbClr val="C2C4B5"/>
                </a:solidFill>
                <a:latin typeface="Bitter Bold" pitchFamily="34" charset="0"/>
                <a:ea typeface="Bitter Bold" pitchFamily="34" charset="-122"/>
                <a:cs typeface="Bitter Bold" pitchFamily="34" charset="-120"/>
              </a:rPr>
              <a:t>Building Damage Count (BDC) degradation</a:t>
            </a:r>
            <a:r>
              <a:rPr lang="en-US" sz="1450" dirty="0">
                <a:solidFill>
                  <a:srgbClr val="C2C4B5"/>
                </a:solidFill>
                <a:latin typeface="Bitter" pitchFamily="34" charset="0"/>
                <a:ea typeface="Bitter" pitchFamily="34" charset="-122"/>
                <a:cs typeface="Bitter" pitchFamily="34" charset="-120"/>
              </a:rPr>
              <a:t> — a known failure mode of pure VLM approaches that lack explicit spatial grounding.</a:t>
            </a:r>
            <a:endParaRPr lang="en-US" sz="1450" dirty="0"/>
          </a:p>
        </p:txBody>
      </p:sp>
      <p:sp>
        <p:nvSpPr>
          <p:cNvPr id="9" name="Shape 6"/>
          <p:cNvSpPr/>
          <p:nvPr/>
        </p:nvSpPr>
        <p:spPr>
          <a:xfrm>
            <a:off x="4347359" y="2340967"/>
            <a:ext cx="3496877" cy="3659684"/>
          </a:xfrm>
          <a:prstGeom prst="roundRect">
            <a:avLst>
              <a:gd name="adj" fmla="val 811"/>
            </a:avLst>
          </a:prstGeom>
          <a:solidFill>
            <a:srgbClr val="3B3C3E"/>
          </a:solidFill>
          <a:ln/>
        </p:spPr>
        <p:txBody>
          <a:bodyPr/>
          <a:lstStyle/>
          <a:p>
            <a:endParaRPr lang="en-US"/>
          </a:p>
        </p:txBody>
      </p:sp>
      <p:sp>
        <p:nvSpPr>
          <p:cNvPr id="10" name="Shape 7"/>
          <p:cNvSpPr/>
          <p:nvPr/>
        </p:nvSpPr>
        <p:spPr>
          <a:xfrm>
            <a:off x="4536366" y="2529979"/>
            <a:ext cx="567021" cy="567035"/>
          </a:xfrm>
          <a:prstGeom prst="ellipse">
            <a:avLst/>
          </a:prstGeom>
          <a:solidFill>
            <a:srgbClr val="9FA582"/>
          </a:solidFill>
          <a:ln/>
        </p:spPr>
        <p:txBody>
          <a:bodyPr/>
          <a:lstStyle/>
          <a:p>
            <a:endParaRPr lang="en-US"/>
          </a:p>
        </p:txBody>
      </p:sp>
      <p:pic>
        <p:nvPicPr>
          <p:cNvPr id="11"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692334" y="2685852"/>
            <a:ext cx="255085" cy="255091"/>
          </a:xfrm>
          <a:prstGeom prst="rect">
            <a:avLst/>
          </a:prstGeom>
        </p:spPr>
      </p:pic>
      <p:sp>
        <p:nvSpPr>
          <p:cNvPr id="12" name="Text 8"/>
          <p:cNvSpPr/>
          <p:nvPr/>
        </p:nvSpPr>
        <p:spPr>
          <a:xfrm>
            <a:off x="4536366" y="3286026"/>
            <a:ext cx="3118863" cy="295275"/>
          </a:xfrm>
          <a:prstGeom prst="rect">
            <a:avLst/>
          </a:prstGeom>
          <a:noFill/>
          <a:ln/>
        </p:spPr>
        <p:txBody>
          <a:bodyPr wrap="none" lIns="0" tIns="0" rIns="0" bIns="0" rtlCol="0" anchor="t"/>
          <a:lstStyle/>
          <a:p>
            <a:pPr marL="0" indent="0" algn="l">
              <a:lnSpc>
                <a:spcPct val="104000"/>
              </a:lnSpc>
              <a:buNone/>
            </a:pPr>
            <a:r>
              <a:rPr lang="en-US" sz="1850" b="1" dirty="0">
                <a:solidFill>
                  <a:srgbClr val="C2C4B5"/>
                </a:solidFill>
                <a:latin typeface="Outfit Bold" pitchFamily="34" charset="0"/>
                <a:ea typeface="Outfit Bold" pitchFamily="34" charset="-122"/>
                <a:cs typeface="Outfit Bold" pitchFamily="34" charset="-120"/>
              </a:rPr>
              <a:t>Reasoning Accuracy</a:t>
            </a:r>
            <a:endParaRPr lang="en-US" sz="1850" dirty="0"/>
          </a:p>
        </p:txBody>
      </p:sp>
      <p:sp>
        <p:nvSpPr>
          <p:cNvPr id="13" name="Text 9"/>
          <p:cNvSpPr/>
          <p:nvPr/>
        </p:nvSpPr>
        <p:spPr>
          <a:xfrm>
            <a:off x="4536366" y="3694708"/>
            <a:ext cx="3118863" cy="1814513"/>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C2C4B5"/>
                </a:solidFill>
                <a:latin typeface="Bitter" pitchFamily="34" charset="0"/>
                <a:ea typeface="Bitter" pitchFamily="34" charset="-122"/>
                <a:cs typeface="Bitter" pitchFamily="34" charset="-120"/>
              </a:rPr>
              <a:t>Fine-tuned </a:t>
            </a:r>
            <a:r>
              <a:rPr lang="en-US" sz="1450" b="1" dirty="0">
                <a:solidFill>
                  <a:srgbClr val="C2C4B5"/>
                </a:solidFill>
                <a:latin typeface="Bitter Bold" pitchFamily="34" charset="0"/>
                <a:ea typeface="Bitter Bold" pitchFamily="34" charset="-122"/>
                <a:cs typeface="Bitter Bold" pitchFamily="34" charset="-120"/>
              </a:rPr>
              <a:t>Qwen2.5-VL</a:t>
            </a:r>
            <a:r>
              <a:rPr lang="en-US" sz="1450" dirty="0">
                <a:solidFill>
                  <a:srgbClr val="C2C4B5"/>
                </a:solidFill>
                <a:latin typeface="Bitter" pitchFamily="34" charset="0"/>
                <a:ea typeface="Bitter" pitchFamily="34" charset="-122"/>
                <a:cs typeface="Bitter" pitchFamily="34" charset="-120"/>
              </a:rPr>
              <a:t> achieved competitive disaster reasoning scores compared to significantly larger models, validating the efficiency of domain-specific QLoRA fine-tuning.</a:t>
            </a:r>
            <a:endParaRPr lang="en-US" sz="1450" dirty="0"/>
          </a:p>
        </p:txBody>
      </p:sp>
      <p:sp>
        <p:nvSpPr>
          <p:cNvPr id="14" name="Shape 10"/>
          <p:cNvSpPr/>
          <p:nvPr/>
        </p:nvSpPr>
        <p:spPr>
          <a:xfrm>
            <a:off x="8033244" y="2340967"/>
            <a:ext cx="3496877" cy="3659684"/>
          </a:xfrm>
          <a:prstGeom prst="roundRect">
            <a:avLst>
              <a:gd name="adj" fmla="val 811"/>
            </a:avLst>
          </a:prstGeom>
          <a:solidFill>
            <a:srgbClr val="3B3C3E"/>
          </a:solidFill>
          <a:ln/>
        </p:spPr>
        <p:txBody>
          <a:bodyPr/>
          <a:lstStyle/>
          <a:p>
            <a:endParaRPr lang="en-US"/>
          </a:p>
        </p:txBody>
      </p:sp>
      <p:sp>
        <p:nvSpPr>
          <p:cNvPr id="15" name="Shape 11"/>
          <p:cNvSpPr/>
          <p:nvPr/>
        </p:nvSpPr>
        <p:spPr>
          <a:xfrm>
            <a:off x="8222251" y="2529979"/>
            <a:ext cx="567021" cy="567035"/>
          </a:xfrm>
          <a:prstGeom prst="ellipse">
            <a:avLst/>
          </a:prstGeom>
          <a:solidFill>
            <a:srgbClr val="9FA582"/>
          </a:solidFill>
          <a:ln/>
        </p:spPr>
        <p:txBody>
          <a:bodyPr/>
          <a:lstStyle/>
          <a:p>
            <a:endParaRPr lang="en-US"/>
          </a:p>
        </p:txBody>
      </p:sp>
      <p:pic>
        <p:nvPicPr>
          <p:cNvPr id="1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78219" y="2685852"/>
            <a:ext cx="255085" cy="255091"/>
          </a:xfrm>
          <a:prstGeom prst="rect">
            <a:avLst/>
          </a:prstGeom>
        </p:spPr>
      </p:pic>
      <p:sp>
        <p:nvSpPr>
          <p:cNvPr id="17" name="Text 12"/>
          <p:cNvSpPr/>
          <p:nvPr/>
        </p:nvSpPr>
        <p:spPr>
          <a:xfrm>
            <a:off x="8222251" y="3286026"/>
            <a:ext cx="3118863" cy="295275"/>
          </a:xfrm>
          <a:prstGeom prst="rect">
            <a:avLst/>
          </a:prstGeom>
          <a:noFill/>
          <a:ln/>
        </p:spPr>
        <p:txBody>
          <a:bodyPr wrap="none" lIns="0" tIns="0" rIns="0" bIns="0" rtlCol="0" anchor="t"/>
          <a:lstStyle/>
          <a:p>
            <a:pPr marL="0" indent="0" algn="l">
              <a:lnSpc>
                <a:spcPct val="104000"/>
              </a:lnSpc>
              <a:buNone/>
            </a:pPr>
            <a:r>
              <a:rPr lang="en-US" sz="1850" b="1" dirty="0">
                <a:solidFill>
                  <a:srgbClr val="C2C4B5"/>
                </a:solidFill>
                <a:latin typeface="Outfit Bold" pitchFamily="34" charset="0"/>
                <a:ea typeface="Outfit Bold" pitchFamily="34" charset="-122"/>
                <a:cs typeface="Outfit Bold" pitchFamily="34" charset="-120"/>
              </a:rPr>
              <a:t>Actionable Outputs</a:t>
            </a:r>
            <a:endParaRPr lang="en-US" sz="1850" dirty="0"/>
          </a:p>
        </p:txBody>
      </p:sp>
      <p:sp>
        <p:nvSpPr>
          <p:cNvPr id="18" name="Text 13"/>
          <p:cNvSpPr/>
          <p:nvPr/>
        </p:nvSpPr>
        <p:spPr>
          <a:xfrm>
            <a:off x="8222251" y="3694708"/>
            <a:ext cx="3118863" cy="2116931"/>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C2C4B5"/>
                </a:solidFill>
                <a:latin typeface="Bitter" pitchFamily="34" charset="0"/>
                <a:ea typeface="Bitter" pitchFamily="34" charset="-122"/>
                <a:cs typeface="Bitter" pitchFamily="34" charset="-120"/>
              </a:rPr>
              <a:t>The </a:t>
            </a:r>
            <a:r>
              <a:rPr lang="en-US" sz="1450" b="1" dirty="0">
                <a:solidFill>
                  <a:srgbClr val="C2C4B5"/>
                </a:solidFill>
                <a:latin typeface="Bitter Bold" pitchFamily="34" charset="0"/>
                <a:ea typeface="Bitter Bold" pitchFamily="34" charset="-122"/>
                <a:cs typeface="Bitter Bold" pitchFamily="34" charset="-120"/>
              </a:rPr>
              <a:t>DisasTeller</a:t>
            </a:r>
            <a:r>
              <a:rPr lang="en-US" sz="1450" dirty="0">
                <a:solidFill>
                  <a:srgbClr val="C2C4B5"/>
                </a:solidFill>
                <a:latin typeface="Bitter" pitchFamily="34" charset="0"/>
                <a:ea typeface="Bitter" pitchFamily="34" charset="-122"/>
                <a:cs typeface="Bitter" pitchFamily="34" charset="-120"/>
              </a:rPr>
              <a:t> system proved that extracted damage data could be autonomously converted into actionable government reconstruction plans and mapped hazard zones without human intervention.</a:t>
            </a:r>
            <a:endParaRPr lang="en-US" sz="14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61475" y="698500"/>
            <a:ext cx="10868745" cy="502047"/>
          </a:xfrm>
          <a:prstGeom prst="rect">
            <a:avLst/>
          </a:prstGeom>
          <a:noFill/>
          <a:ln/>
        </p:spPr>
        <p:txBody>
          <a:bodyPr wrap="none" lIns="0" tIns="0" rIns="0" bIns="0" rtlCol="0" anchor="t"/>
          <a:lstStyle/>
          <a:p>
            <a:pPr marL="0" indent="0" algn="l">
              <a:lnSpc>
                <a:spcPct val="104000"/>
              </a:lnSpc>
              <a:buNone/>
            </a:pPr>
            <a:r>
              <a:rPr lang="en-US" sz="3150" b="1" dirty="0">
                <a:solidFill>
                  <a:srgbClr val="FFFFFF"/>
                </a:solidFill>
                <a:latin typeface="Outfit Bold" pitchFamily="34" charset="0"/>
                <a:ea typeface="Outfit Bold" pitchFamily="34" charset="-122"/>
                <a:cs typeface="Outfit Bold" pitchFamily="34" charset="-120"/>
              </a:rPr>
              <a:t>N-Expected Outcomes &amp; Core Deliverables</a:t>
            </a:r>
            <a:endParaRPr lang="en-US" sz="3150" dirty="0"/>
          </a:p>
        </p:txBody>
      </p:sp>
      <p:sp>
        <p:nvSpPr>
          <p:cNvPr id="3" name="Shape 1"/>
          <p:cNvSpPr/>
          <p:nvPr/>
        </p:nvSpPr>
        <p:spPr>
          <a:xfrm>
            <a:off x="545789" y="1405334"/>
            <a:ext cx="5469793" cy="4501257"/>
          </a:xfrm>
          <a:prstGeom prst="roundRect">
            <a:avLst>
              <a:gd name="adj" fmla="val 535"/>
            </a:avLst>
          </a:prstGeom>
          <a:solidFill>
            <a:srgbClr val="E8FBFF"/>
          </a:solidFill>
          <a:ln/>
        </p:spPr>
        <p:txBody>
          <a:bodyPr/>
          <a:lstStyle/>
          <a:p>
            <a:endParaRPr lang="en-US"/>
          </a:p>
        </p:txBody>
      </p:sp>
      <p:sp>
        <p:nvSpPr>
          <p:cNvPr id="4" name="Shape 2"/>
          <p:cNvSpPr/>
          <p:nvPr/>
        </p:nvSpPr>
        <p:spPr>
          <a:xfrm>
            <a:off x="706420" y="1558925"/>
            <a:ext cx="2304496" cy="243979"/>
          </a:xfrm>
          <a:prstGeom prst="roundRect">
            <a:avLst>
              <a:gd name="adj" fmla="val 7902"/>
            </a:avLst>
          </a:prstGeom>
          <a:solidFill>
            <a:srgbClr val="E8EAE1"/>
          </a:solidFill>
          <a:ln/>
        </p:spPr>
        <p:txBody>
          <a:bodyPr/>
          <a:lstStyle/>
          <a:p>
            <a:endParaRPr lang="en-US"/>
          </a:p>
        </p:txBody>
      </p:sp>
      <p:sp>
        <p:nvSpPr>
          <p:cNvPr id="5" name="Text 3"/>
          <p:cNvSpPr/>
          <p:nvPr/>
        </p:nvSpPr>
        <p:spPr>
          <a:xfrm>
            <a:off x="802759" y="1607046"/>
            <a:ext cx="2721403" cy="147737"/>
          </a:xfrm>
          <a:prstGeom prst="rect">
            <a:avLst/>
          </a:prstGeom>
          <a:noFill/>
          <a:ln/>
        </p:spPr>
        <p:txBody>
          <a:bodyPr wrap="none" lIns="0" tIns="0" rIns="0" bIns="0" rtlCol="0" anchor="t"/>
          <a:lstStyle/>
          <a:p>
            <a:pPr marL="0" indent="0" algn="l">
              <a:lnSpc>
                <a:spcPct val="96000"/>
              </a:lnSpc>
              <a:buNone/>
            </a:pPr>
            <a:r>
              <a:rPr lang="en-US" sz="1000" dirty="0">
                <a:solidFill>
                  <a:srgbClr val="000000"/>
                </a:solidFill>
                <a:latin typeface="Bitter" pitchFamily="34" charset="0"/>
                <a:ea typeface="Bitter" pitchFamily="34" charset="-122"/>
                <a:cs typeface="Bitter" pitchFamily="34" charset="-120"/>
              </a:rPr>
              <a:t>TECHNICAL EXPECTED OUTCOMES</a:t>
            </a:r>
            <a:endParaRPr lang="en-US" sz="1000" dirty="0"/>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420" y="1956495"/>
            <a:ext cx="2506004" cy="1711127"/>
          </a:xfrm>
          <a:prstGeom prst="rect">
            <a:avLst/>
          </a:prstGeom>
        </p:spPr>
      </p:pic>
      <p:sp>
        <p:nvSpPr>
          <p:cNvPr id="7" name="Text 4"/>
          <p:cNvSpPr/>
          <p:nvPr/>
        </p:nvSpPr>
        <p:spPr>
          <a:xfrm>
            <a:off x="962299" y="2136180"/>
            <a:ext cx="2070445" cy="502047"/>
          </a:xfrm>
          <a:prstGeom prst="rect">
            <a:avLst/>
          </a:prstGeom>
          <a:noFill/>
          <a:ln/>
        </p:spPr>
        <p:txBody>
          <a:bodyPr wrap="square" lIns="0" tIns="0" rIns="0" bIns="0" rtlCol="0" anchor="t">
            <a:normAutofit/>
          </a:bodyPr>
          <a:lstStyle/>
          <a:p>
            <a:pPr marL="0" indent="0" algn="l">
              <a:lnSpc>
                <a:spcPct val="104000"/>
              </a:lnSpc>
              <a:buNone/>
            </a:pPr>
            <a:r>
              <a:rPr lang="en-US" sz="1550" b="1" dirty="0">
                <a:solidFill>
                  <a:srgbClr val="000000"/>
                </a:solidFill>
                <a:latin typeface="Outfit Bold" pitchFamily="34" charset="0"/>
                <a:ea typeface="Outfit Bold" pitchFamily="34" charset="-122"/>
                <a:cs typeface="Outfit Bold" pitchFamily="34" charset="-120"/>
              </a:rPr>
              <a:t>High-Resolution Clarity</a:t>
            </a:r>
            <a:endParaRPr lang="en-US" sz="1550" dirty="0"/>
          </a:p>
        </p:txBody>
      </p:sp>
      <p:sp>
        <p:nvSpPr>
          <p:cNvPr id="8" name="Text 5"/>
          <p:cNvSpPr/>
          <p:nvPr/>
        </p:nvSpPr>
        <p:spPr>
          <a:xfrm>
            <a:off x="962299" y="2774752"/>
            <a:ext cx="2070445" cy="713184"/>
          </a:xfrm>
          <a:prstGeom prst="rect">
            <a:avLst/>
          </a:prstGeom>
          <a:noFill/>
          <a:ln/>
        </p:spPr>
        <p:txBody>
          <a:bodyPr wrap="square" lIns="0" tIns="0" rIns="0" bIns="0" rtlCol="0" anchor="t">
            <a:normAutofit/>
          </a:bodyPr>
          <a:lstStyle/>
          <a:p>
            <a:pPr marL="0" indent="0" algn="l">
              <a:lnSpc>
                <a:spcPct val="123000"/>
              </a:lnSpc>
              <a:buNone/>
            </a:pPr>
            <a:r>
              <a:rPr lang="en-US" sz="1250" dirty="0">
                <a:solidFill>
                  <a:srgbClr val="000000"/>
                </a:solidFill>
                <a:latin typeface="Bitter" pitchFamily="34" charset="0"/>
                <a:ea typeface="Bitter" pitchFamily="34" charset="-122"/>
                <a:cs typeface="Bitter" pitchFamily="34" charset="-120"/>
              </a:rPr>
              <a:t>4x super-resolution restoration of occluded satellite or drone imagery</a:t>
            </a:r>
            <a:endParaRPr lang="en-US" sz="1250" dirty="0"/>
          </a:p>
        </p:txBody>
      </p:sp>
      <p:pic>
        <p:nvPicPr>
          <p:cNvPr id="9"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48946" y="1956495"/>
            <a:ext cx="2506004" cy="1711127"/>
          </a:xfrm>
          <a:prstGeom prst="rect">
            <a:avLst/>
          </a:prstGeom>
        </p:spPr>
      </p:pic>
      <p:sp>
        <p:nvSpPr>
          <p:cNvPr id="10" name="Text 6"/>
          <p:cNvSpPr/>
          <p:nvPr/>
        </p:nvSpPr>
        <p:spPr>
          <a:xfrm>
            <a:off x="3604825" y="2136180"/>
            <a:ext cx="2070445" cy="502047"/>
          </a:xfrm>
          <a:prstGeom prst="rect">
            <a:avLst/>
          </a:prstGeom>
          <a:noFill/>
          <a:ln/>
        </p:spPr>
        <p:txBody>
          <a:bodyPr wrap="square" lIns="0" tIns="0" rIns="0" bIns="0" rtlCol="0" anchor="t">
            <a:normAutofit/>
          </a:bodyPr>
          <a:lstStyle/>
          <a:p>
            <a:pPr marL="0" indent="0" algn="l">
              <a:lnSpc>
                <a:spcPct val="104000"/>
              </a:lnSpc>
              <a:buNone/>
            </a:pPr>
            <a:r>
              <a:rPr lang="en-US" sz="1550" b="1" dirty="0">
                <a:solidFill>
                  <a:srgbClr val="000000"/>
                </a:solidFill>
                <a:latin typeface="Outfit Bold" pitchFamily="34" charset="0"/>
                <a:ea typeface="Outfit Bold" pitchFamily="34" charset="-122"/>
                <a:cs typeface="Outfit Bold" pitchFamily="34" charset="-120"/>
              </a:rPr>
              <a:t>Precise Damage Localization</a:t>
            </a:r>
            <a:endParaRPr lang="en-US" sz="1550" dirty="0"/>
          </a:p>
        </p:txBody>
      </p:sp>
      <p:sp>
        <p:nvSpPr>
          <p:cNvPr id="11" name="Text 7"/>
          <p:cNvSpPr/>
          <p:nvPr/>
        </p:nvSpPr>
        <p:spPr>
          <a:xfrm>
            <a:off x="3604825" y="2774752"/>
            <a:ext cx="2070445" cy="713184"/>
          </a:xfrm>
          <a:prstGeom prst="rect">
            <a:avLst/>
          </a:prstGeom>
          <a:noFill/>
          <a:ln/>
        </p:spPr>
        <p:txBody>
          <a:bodyPr wrap="square" lIns="0" tIns="0" rIns="0" bIns="0" rtlCol="0" anchor="t">
            <a:normAutofit/>
          </a:bodyPr>
          <a:lstStyle/>
          <a:p>
            <a:pPr marL="0" indent="0" algn="l">
              <a:lnSpc>
                <a:spcPct val="123000"/>
              </a:lnSpc>
              <a:buNone/>
            </a:pPr>
            <a:r>
              <a:rPr lang="en-US" sz="1250" dirty="0">
                <a:solidFill>
                  <a:srgbClr val="000000"/>
                </a:solidFill>
                <a:latin typeface="Bitter" pitchFamily="34" charset="0"/>
                <a:ea typeface="Bitter" pitchFamily="34" charset="-122"/>
                <a:cs typeface="Bitter" pitchFamily="34" charset="-120"/>
              </a:rPr>
              <a:t>Robust building footprint and structural damage mapping with high IoU</a:t>
            </a:r>
            <a:endParaRPr lang="en-US" sz="1250" dirty="0"/>
          </a:p>
        </p:txBody>
      </p:sp>
      <p:pic>
        <p:nvPicPr>
          <p:cNvPr id="12"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6420" y="3804146"/>
            <a:ext cx="2506004" cy="1948855"/>
          </a:xfrm>
          <a:prstGeom prst="rect">
            <a:avLst/>
          </a:prstGeom>
        </p:spPr>
      </p:pic>
      <p:sp>
        <p:nvSpPr>
          <p:cNvPr id="13" name="Text 8"/>
          <p:cNvSpPr/>
          <p:nvPr/>
        </p:nvSpPr>
        <p:spPr>
          <a:xfrm>
            <a:off x="962299" y="3983831"/>
            <a:ext cx="2070445" cy="502047"/>
          </a:xfrm>
          <a:prstGeom prst="rect">
            <a:avLst/>
          </a:prstGeom>
          <a:noFill/>
          <a:ln/>
        </p:spPr>
        <p:txBody>
          <a:bodyPr wrap="square" lIns="0" tIns="0" rIns="0" bIns="0" rtlCol="0" anchor="t">
            <a:normAutofit/>
          </a:bodyPr>
          <a:lstStyle/>
          <a:p>
            <a:pPr marL="0" indent="0" algn="l">
              <a:lnSpc>
                <a:spcPct val="104000"/>
              </a:lnSpc>
              <a:buNone/>
            </a:pPr>
            <a:r>
              <a:rPr lang="en-US" sz="1550" b="1" dirty="0">
                <a:solidFill>
                  <a:srgbClr val="000000"/>
                </a:solidFill>
                <a:latin typeface="Outfit Bold" pitchFamily="34" charset="0"/>
                <a:ea typeface="Outfit Bold" pitchFamily="34" charset="-122"/>
                <a:cs typeface="Outfit Bold" pitchFamily="34" charset="-120"/>
              </a:rPr>
              <a:t>Accurate Multimodal VQA</a:t>
            </a:r>
            <a:endParaRPr lang="en-US" sz="1550" dirty="0"/>
          </a:p>
        </p:txBody>
      </p:sp>
      <p:sp>
        <p:nvSpPr>
          <p:cNvPr id="14" name="Text 9"/>
          <p:cNvSpPr/>
          <p:nvPr/>
        </p:nvSpPr>
        <p:spPr>
          <a:xfrm>
            <a:off x="962299" y="4622403"/>
            <a:ext cx="2070445" cy="713184"/>
          </a:xfrm>
          <a:prstGeom prst="rect">
            <a:avLst/>
          </a:prstGeom>
          <a:noFill/>
          <a:ln/>
        </p:spPr>
        <p:txBody>
          <a:bodyPr wrap="square" lIns="0" tIns="0" rIns="0" bIns="0" rtlCol="0" anchor="t">
            <a:normAutofit/>
          </a:bodyPr>
          <a:lstStyle/>
          <a:p>
            <a:pPr marL="0" indent="0" algn="l">
              <a:lnSpc>
                <a:spcPct val="123000"/>
              </a:lnSpc>
              <a:buNone/>
            </a:pPr>
            <a:r>
              <a:rPr lang="en-US" sz="1250" dirty="0">
                <a:solidFill>
                  <a:srgbClr val="000000"/>
                </a:solidFill>
                <a:latin typeface="Bitter" pitchFamily="34" charset="0"/>
                <a:ea typeface="Bitter" pitchFamily="34" charset="-122"/>
                <a:cs typeface="Bitter" pitchFamily="34" charset="-120"/>
              </a:rPr>
              <a:t>&gt;95% benchmark accuracy on disaster visual question answering Qwen2.5-VL</a:t>
            </a:r>
            <a:endParaRPr lang="en-US" sz="1250" dirty="0"/>
          </a:p>
        </p:txBody>
      </p:sp>
      <p:pic>
        <p:nvPicPr>
          <p:cNvPr id="15"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348946" y="3804146"/>
            <a:ext cx="2506004" cy="1948855"/>
          </a:xfrm>
          <a:prstGeom prst="rect">
            <a:avLst/>
          </a:prstGeom>
        </p:spPr>
      </p:pic>
      <p:sp>
        <p:nvSpPr>
          <p:cNvPr id="16" name="Text 10"/>
          <p:cNvSpPr/>
          <p:nvPr/>
        </p:nvSpPr>
        <p:spPr>
          <a:xfrm>
            <a:off x="3604825" y="3983831"/>
            <a:ext cx="2070445" cy="502047"/>
          </a:xfrm>
          <a:prstGeom prst="rect">
            <a:avLst/>
          </a:prstGeom>
          <a:noFill/>
          <a:ln/>
        </p:spPr>
        <p:txBody>
          <a:bodyPr wrap="square" lIns="0" tIns="0" rIns="0" bIns="0" rtlCol="0" anchor="t">
            <a:normAutofit/>
          </a:bodyPr>
          <a:lstStyle/>
          <a:p>
            <a:pPr marL="0" indent="0" algn="l">
              <a:lnSpc>
                <a:spcPct val="104000"/>
              </a:lnSpc>
              <a:buNone/>
            </a:pPr>
            <a:r>
              <a:rPr lang="en-US" sz="1550" b="1" dirty="0">
                <a:solidFill>
                  <a:srgbClr val="000000"/>
                </a:solidFill>
                <a:latin typeface="Outfit Bold" pitchFamily="34" charset="0"/>
                <a:ea typeface="Outfit Bold" pitchFamily="34" charset="-122"/>
                <a:cs typeface="Outfit Bold" pitchFamily="34" charset="-120"/>
              </a:rPr>
              <a:t>Low-Latency Coordination</a:t>
            </a:r>
            <a:endParaRPr lang="en-US" sz="1550" dirty="0"/>
          </a:p>
        </p:txBody>
      </p:sp>
      <p:sp>
        <p:nvSpPr>
          <p:cNvPr id="17" name="Text 11"/>
          <p:cNvSpPr/>
          <p:nvPr/>
        </p:nvSpPr>
        <p:spPr>
          <a:xfrm>
            <a:off x="3604825" y="4622403"/>
            <a:ext cx="2070445" cy="950912"/>
          </a:xfrm>
          <a:prstGeom prst="rect">
            <a:avLst/>
          </a:prstGeom>
          <a:noFill/>
          <a:ln/>
        </p:spPr>
        <p:txBody>
          <a:bodyPr wrap="square" lIns="0" tIns="0" rIns="0" bIns="0" rtlCol="0" anchor="t">
            <a:normAutofit/>
          </a:bodyPr>
          <a:lstStyle/>
          <a:p>
            <a:pPr marL="0" indent="0" algn="l">
              <a:lnSpc>
                <a:spcPct val="123000"/>
              </a:lnSpc>
              <a:buNone/>
            </a:pPr>
            <a:r>
              <a:rPr lang="en-US" sz="1250" dirty="0">
                <a:solidFill>
                  <a:srgbClr val="000000"/>
                </a:solidFill>
                <a:latin typeface="Bitter" pitchFamily="34" charset="0"/>
                <a:ea typeface="Bitter" pitchFamily="34" charset="-122"/>
                <a:cs typeface="Bitter" pitchFamily="34" charset="-120"/>
              </a:rPr>
              <a:t>Automated reasoning and multi-agent synthesis running within operational constraints</a:t>
            </a:r>
            <a:endParaRPr lang="en-US" sz="1250" dirty="0"/>
          </a:p>
        </p:txBody>
      </p:sp>
      <p:sp>
        <p:nvSpPr>
          <p:cNvPr id="18" name="Shape 12"/>
          <p:cNvSpPr/>
          <p:nvPr/>
        </p:nvSpPr>
        <p:spPr>
          <a:xfrm>
            <a:off x="6182463" y="1405334"/>
            <a:ext cx="5469793" cy="4501257"/>
          </a:xfrm>
          <a:prstGeom prst="roundRect">
            <a:avLst>
              <a:gd name="adj" fmla="val 535"/>
            </a:avLst>
          </a:prstGeom>
          <a:solidFill>
            <a:srgbClr val="EAF9EE"/>
          </a:solidFill>
          <a:ln/>
        </p:spPr>
        <p:txBody>
          <a:bodyPr/>
          <a:lstStyle/>
          <a:p>
            <a:endParaRPr lang="en-US"/>
          </a:p>
        </p:txBody>
      </p:sp>
      <p:sp>
        <p:nvSpPr>
          <p:cNvPr id="19" name="Shape 13"/>
          <p:cNvSpPr/>
          <p:nvPr/>
        </p:nvSpPr>
        <p:spPr>
          <a:xfrm>
            <a:off x="6343094" y="1558925"/>
            <a:ext cx="1942853" cy="243979"/>
          </a:xfrm>
          <a:prstGeom prst="roundRect">
            <a:avLst>
              <a:gd name="adj" fmla="val 7902"/>
            </a:avLst>
          </a:prstGeom>
          <a:solidFill>
            <a:srgbClr val="E8EAE1"/>
          </a:solidFill>
          <a:ln/>
        </p:spPr>
        <p:txBody>
          <a:bodyPr/>
          <a:lstStyle/>
          <a:p>
            <a:endParaRPr lang="en-US"/>
          </a:p>
        </p:txBody>
      </p:sp>
      <p:sp>
        <p:nvSpPr>
          <p:cNvPr id="20" name="Text 14"/>
          <p:cNvSpPr/>
          <p:nvPr/>
        </p:nvSpPr>
        <p:spPr>
          <a:xfrm>
            <a:off x="6439433" y="1607046"/>
            <a:ext cx="2359760" cy="147737"/>
          </a:xfrm>
          <a:prstGeom prst="rect">
            <a:avLst/>
          </a:prstGeom>
          <a:noFill/>
          <a:ln/>
        </p:spPr>
        <p:txBody>
          <a:bodyPr wrap="none" lIns="0" tIns="0" rIns="0" bIns="0" rtlCol="0" anchor="t"/>
          <a:lstStyle/>
          <a:p>
            <a:pPr marL="0" indent="0" algn="l">
              <a:lnSpc>
                <a:spcPct val="96000"/>
              </a:lnSpc>
              <a:buNone/>
            </a:pPr>
            <a:r>
              <a:rPr lang="en-US" sz="1000" dirty="0">
                <a:solidFill>
                  <a:srgbClr val="000000"/>
                </a:solidFill>
                <a:latin typeface="Bitter" pitchFamily="34" charset="0"/>
                <a:ea typeface="Bitter" pitchFamily="34" charset="-122"/>
                <a:cs typeface="Bitter" pitchFamily="34" charset="-120"/>
              </a:rPr>
              <a:t>KEY PROJECT DELIVERABLES</a:t>
            </a:r>
            <a:endParaRPr lang="en-US" sz="1000" dirty="0"/>
          </a:p>
        </p:txBody>
      </p:sp>
      <p:pic>
        <p:nvPicPr>
          <p:cNvPr id="21"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343094" y="1956495"/>
            <a:ext cx="2506004" cy="1711127"/>
          </a:xfrm>
          <a:prstGeom prst="rect">
            <a:avLst/>
          </a:prstGeom>
        </p:spPr>
      </p:pic>
      <p:sp>
        <p:nvSpPr>
          <p:cNvPr id="22" name="Text 15"/>
          <p:cNvSpPr/>
          <p:nvPr/>
        </p:nvSpPr>
        <p:spPr>
          <a:xfrm>
            <a:off x="6598973" y="2136180"/>
            <a:ext cx="2070445" cy="502047"/>
          </a:xfrm>
          <a:prstGeom prst="rect">
            <a:avLst/>
          </a:prstGeom>
          <a:noFill/>
          <a:ln/>
        </p:spPr>
        <p:txBody>
          <a:bodyPr wrap="square" lIns="0" tIns="0" rIns="0" bIns="0" rtlCol="0" anchor="t">
            <a:normAutofit/>
          </a:bodyPr>
          <a:lstStyle/>
          <a:p>
            <a:pPr marL="0" indent="0" algn="l">
              <a:lnSpc>
                <a:spcPct val="104000"/>
              </a:lnSpc>
              <a:buNone/>
            </a:pPr>
            <a:r>
              <a:rPr lang="en-US" sz="1550" b="1" dirty="0">
                <a:solidFill>
                  <a:srgbClr val="000000"/>
                </a:solidFill>
                <a:latin typeface="Outfit Bold" pitchFamily="34" charset="0"/>
                <a:ea typeface="Outfit Bold" pitchFamily="34" charset="-122"/>
                <a:cs typeface="Outfit Bold" pitchFamily="34" charset="-120"/>
              </a:rPr>
              <a:t>End-to-End Pipeline Codebase</a:t>
            </a:r>
            <a:endParaRPr lang="en-US" sz="1550" dirty="0"/>
          </a:p>
        </p:txBody>
      </p:sp>
      <p:sp>
        <p:nvSpPr>
          <p:cNvPr id="23" name="Text 16"/>
          <p:cNvSpPr/>
          <p:nvPr/>
        </p:nvSpPr>
        <p:spPr>
          <a:xfrm>
            <a:off x="6598973" y="2774752"/>
            <a:ext cx="2070445" cy="713184"/>
          </a:xfrm>
          <a:prstGeom prst="rect">
            <a:avLst/>
          </a:prstGeom>
          <a:noFill/>
          <a:ln/>
        </p:spPr>
        <p:txBody>
          <a:bodyPr wrap="square" lIns="0" tIns="0" rIns="0" bIns="0" rtlCol="0" anchor="t">
            <a:normAutofit/>
          </a:bodyPr>
          <a:lstStyle/>
          <a:p>
            <a:pPr marL="0" indent="0" algn="l">
              <a:lnSpc>
                <a:spcPct val="123000"/>
              </a:lnSpc>
              <a:buNone/>
            </a:pPr>
            <a:r>
              <a:rPr lang="en-US" sz="1250" dirty="0">
                <a:solidFill>
                  <a:srgbClr val="000000"/>
                </a:solidFill>
                <a:latin typeface="Bitter" pitchFamily="34" charset="0"/>
                <a:ea typeface="Bitter" pitchFamily="34" charset="-122"/>
                <a:cs typeface="Bitter" pitchFamily="34" charset="-120"/>
              </a:rPr>
              <a:t>Modular Python repository integrating VRT, ResNet34 U-Net, and CrewAI</a:t>
            </a:r>
            <a:endParaRPr lang="en-US" sz="1250" dirty="0"/>
          </a:p>
        </p:txBody>
      </p:sp>
      <p:pic>
        <p:nvPicPr>
          <p:cNvPr id="24"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985621" y="1956495"/>
            <a:ext cx="2506004" cy="1711127"/>
          </a:xfrm>
          <a:prstGeom prst="rect">
            <a:avLst/>
          </a:prstGeom>
        </p:spPr>
      </p:pic>
      <p:sp>
        <p:nvSpPr>
          <p:cNvPr id="25" name="Text 17"/>
          <p:cNvSpPr/>
          <p:nvPr/>
        </p:nvSpPr>
        <p:spPr>
          <a:xfrm>
            <a:off x="9241499" y="2136180"/>
            <a:ext cx="2070445" cy="502047"/>
          </a:xfrm>
          <a:prstGeom prst="rect">
            <a:avLst/>
          </a:prstGeom>
          <a:noFill/>
          <a:ln/>
        </p:spPr>
        <p:txBody>
          <a:bodyPr wrap="square" lIns="0" tIns="0" rIns="0" bIns="0" rtlCol="0" anchor="t">
            <a:normAutofit/>
          </a:bodyPr>
          <a:lstStyle/>
          <a:p>
            <a:pPr marL="0" indent="0" algn="l">
              <a:lnSpc>
                <a:spcPct val="104000"/>
              </a:lnSpc>
              <a:buNone/>
            </a:pPr>
            <a:r>
              <a:rPr lang="en-US" sz="1550" b="1" dirty="0">
                <a:solidFill>
                  <a:srgbClr val="000000"/>
                </a:solidFill>
                <a:latin typeface="Outfit Bold" pitchFamily="34" charset="0"/>
                <a:ea typeface="Outfit Bold" pitchFamily="34" charset="-122"/>
                <a:cs typeface="Outfit Bold" pitchFamily="34" charset="-120"/>
              </a:rPr>
              <a:t>Fine-Tuned VLM Weights</a:t>
            </a:r>
            <a:endParaRPr lang="en-US" sz="1550" dirty="0"/>
          </a:p>
        </p:txBody>
      </p:sp>
      <p:sp>
        <p:nvSpPr>
          <p:cNvPr id="26" name="Text 18"/>
          <p:cNvSpPr/>
          <p:nvPr/>
        </p:nvSpPr>
        <p:spPr>
          <a:xfrm>
            <a:off x="9241499" y="2774752"/>
            <a:ext cx="2070445" cy="713184"/>
          </a:xfrm>
          <a:prstGeom prst="rect">
            <a:avLst/>
          </a:prstGeom>
          <a:noFill/>
          <a:ln/>
        </p:spPr>
        <p:txBody>
          <a:bodyPr wrap="square" lIns="0" tIns="0" rIns="0" bIns="0" rtlCol="0" anchor="t">
            <a:normAutofit/>
          </a:bodyPr>
          <a:lstStyle/>
          <a:p>
            <a:pPr marL="0" indent="0" algn="l">
              <a:lnSpc>
                <a:spcPct val="123000"/>
              </a:lnSpc>
              <a:buNone/>
            </a:pPr>
            <a:r>
              <a:rPr lang="en-US" sz="1250" dirty="0">
                <a:solidFill>
                  <a:srgbClr val="000000"/>
                </a:solidFill>
                <a:latin typeface="Bitter" pitchFamily="34" charset="0"/>
                <a:ea typeface="Bitter" pitchFamily="34" charset="-122"/>
                <a:cs typeface="Bitter" pitchFamily="34" charset="-120"/>
              </a:rPr>
              <a:t>Specialized Qwen2.5-VL model weights optimized for disaster reasoning</a:t>
            </a:r>
            <a:endParaRPr lang="en-US" sz="1250" dirty="0"/>
          </a:p>
        </p:txBody>
      </p:sp>
      <p:pic>
        <p:nvPicPr>
          <p:cNvPr id="27"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43094" y="3804146"/>
            <a:ext cx="2506004" cy="1948855"/>
          </a:xfrm>
          <a:prstGeom prst="rect">
            <a:avLst/>
          </a:prstGeom>
        </p:spPr>
      </p:pic>
      <p:sp>
        <p:nvSpPr>
          <p:cNvPr id="28" name="Text 19"/>
          <p:cNvSpPr/>
          <p:nvPr/>
        </p:nvSpPr>
        <p:spPr>
          <a:xfrm>
            <a:off x="6598973" y="3983831"/>
            <a:ext cx="2070445" cy="502047"/>
          </a:xfrm>
          <a:prstGeom prst="rect">
            <a:avLst/>
          </a:prstGeom>
          <a:noFill/>
          <a:ln/>
        </p:spPr>
        <p:txBody>
          <a:bodyPr wrap="square" lIns="0" tIns="0" rIns="0" bIns="0" rtlCol="0" anchor="t">
            <a:normAutofit/>
          </a:bodyPr>
          <a:lstStyle/>
          <a:p>
            <a:pPr marL="0" indent="0" algn="l">
              <a:lnSpc>
                <a:spcPct val="104000"/>
              </a:lnSpc>
              <a:buNone/>
            </a:pPr>
            <a:r>
              <a:rPr lang="en-US" sz="1550" b="1" dirty="0">
                <a:solidFill>
                  <a:srgbClr val="000000"/>
                </a:solidFill>
                <a:latin typeface="Outfit Bold" pitchFamily="34" charset="0"/>
                <a:ea typeface="Outfit Bold" pitchFamily="34" charset="-122"/>
                <a:cs typeface="Outfit Bold" pitchFamily="34" charset="-120"/>
              </a:rPr>
              <a:t>Interactive Triage Dashboard</a:t>
            </a:r>
            <a:endParaRPr lang="en-US" sz="1550" dirty="0"/>
          </a:p>
        </p:txBody>
      </p:sp>
      <p:sp>
        <p:nvSpPr>
          <p:cNvPr id="29" name="Text 20"/>
          <p:cNvSpPr/>
          <p:nvPr/>
        </p:nvSpPr>
        <p:spPr>
          <a:xfrm>
            <a:off x="6598973" y="4622403"/>
            <a:ext cx="2070445" cy="950912"/>
          </a:xfrm>
          <a:prstGeom prst="rect">
            <a:avLst/>
          </a:prstGeom>
          <a:noFill/>
          <a:ln/>
        </p:spPr>
        <p:txBody>
          <a:bodyPr wrap="square" lIns="0" tIns="0" rIns="0" bIns="0" rtlCol="0" anchor="t">
            <a:normAutofit/>
          </a:bodyPr>
          <a:lstStyle/>
          <a:p>
            <a:pPr marL="0" indent="0" algn="l">
              <a:lnSpc>
                <a:spcPct val="123000"/>
              </a:lnSpc>
              <a:buNone/>
            </a:pPr>
            <a:r>
              <a:rPr lang="en-US" sz="1250" dirty="0">
                <a:solidFill>
                  <a:srgbClr val="000000"/>
                </a:solidFill>
                <a:latin typeface="Bitter" pitchFamily="34" charset="0"/>
                <a:ea typeface="Bitter" pitchFamily="34" charset="-122"/>
                <a:cs typeface="Bitter" pitchFamily="34" charset="-120"/>
              </a:rPr>
              <a:t>User interface for rescue personnel to upload disaster imagery and get real time guidance.</a:t>
            </a:r>
            <a:endParaRPr lang="en-US" sz="1250" dirty="0"/>
          </a:p>
        </p:txBody>
      </p:sp>
      <p:pic>
        <p:nvPicPr>
          <p:cNvPr id="30" name="Image 7" descr="preencoded.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985621" y="3804146"/>
            <a:ext cx="2506004" cy="1948855"/>
          </a:xfrm>
          <a:prstGeom prst="rect">
            <a:avLst/>
          </a:prstGeom>
        </p:spPr>
      </p:pic>
      <p:sp>
        <p:nvSpPr>
          <p:cNvPr id="31" name="Text 21"/>
          <p:cNvSpPr/>
          <p:nvPr/>
        </p:nvSpPr>
        <p:spPr>
          <a:xfrm>
            <a:off x="9241499" y="3983831"/>
            <a:ext cx="2070445" cy="502047"/>
          </a:xfrm>
          <a:prstGeom prst="rect">
            <a:avLst/>
          </a:prstGeom>
          <a:noFill/>
          <a:ln/>
        </p:spPr>
        <p:txBody>
          <a:bodyPr wrap="square" lIns="0" tIns="0" rIns="0" bIns="0" rtlCol="0" anchor="t">
            <a:normAutofit/>
          </a:bodyPr>
          <a:lstStyle/>
          <a:p>
            <a:pPr marL="0" indent="0" algn="l">
              <a:lnSpc>
                <a:spcPct val="104000"/>
              </a:lnSpc>
              <a:buNone/>
            </a:pPr>
            <a:r>
              <a:rPr lang="en-US" sz="1550" b="1" dirty="0">
                <a:solidFill>
                  <a:srgbClr val="000000"/>
                </a:solidFill>
                <a:latin typeface="Outfit Bold" pitchFamily="34" charset="0"/>
                <a:ea typeface="Outfit Bold" pitchFamily="34" charset="-122"/>
                <a:cs typeface="Outfit Bold" pitchFamily="34" charset="-120"/>
              </a:rPr>
              <a:t>Comprehensive Technical Report</a:t>
            </a:r>
            <a:endParaRPr lang="en-US" sz="1550" dirty="0"/>
          </a:p>
        </p:txBody>
      </p:sp>
      <p:sp>
        <p:nvSpPr>
          <p:cNvPr id="32" name="Text 22"/>
          <p:cNvSpPr/>
          <p:nvPr/>
        </p:nvSpPr>
        <p:spPr>
          <a:xfrm>
            <a:off x="9241499" y="4622403"/>
            <a:ext cx="2070445" cy="950912"/>
          </a:xfrm>
          <a:prstGeom prst="rect">
            <a:avLst/>
          </a:prstGeom>
          <a:noFill/>
          <a:ln/>
        </p:spPr>
        <p:txBody>
          <a:bodyPr wrap="square" lIns="0" tIns="0" rIns="0" bIns="0" rtlCol="0" anchor="t">
            <a:normAutofit/>
          </a:bodyPr>
          <a:lstStyle/>
          <a:p>
            <a:pPr marL="0" indent="0" algn="l">
              <a:lnSpc>
                <a:spcPct val="123000"/>
              </a:lnSpc>
              <a:buNone/>
            </a:pPr>
            <a:r>
              <a:rPr lang="en-US" sz="1250" dirty="0">
                <a:solidFill>
                  <a:srgbClr val="000000"/>
                </a:solidFill>
                <a:latin typeface="Bitter" pitchFamily="34" charset="0"/>
                <a:ea typeface="Bitter" pitchFamily="34" charset="-122"/>
                <a:cs typeface="Bitter" pitchFamily="34" charset="-120"/>
              </a:rPr>
              <a:t>Detailed documentation covering training metrics, validation logs, and policy compliance</a:t>
            </a:r>
            <a:endParaRPr lang="en-US" sz="1250" dirty="0"/>
          </a:p>
        </p:txBody>
      </p:sp>
      <p:sp>
        <p:nvSpPr>
          <p:cNvPr id="33" name="Shape 23"/>
          <p:cNvSpPr/>
          <p:nvPr/>
        </p:nvSpPr>
        <p:spPr>
          <a:xfrm>
            <a:off x="661475" y="6100266"/>
            <a:ext cx="10868745" cy="19050"/>
          </a:xfrm>
          <a:prstGeom prst="roundRect">
            <a:avLst>
              <a:gd name="adj" fmla="val 49999"/>
            </a:avLst>
          </a:prstGeom>
          <a:solidFill>
            <a:srgbClr val="C2C4B5">
              <a:alpha val="50000"/>
            </a:srgbClr>
          </a:solidFill>
          <a:ln/>
        </p:spPr>
        <p:txBody>
          <a:bodyPr/>
          <a:lstStyle/>
          <a:p>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61475" y="920254"/>
            <a:ext cx="10868745" cy="443012"/>
          </a:xfrm>
          <a:prstGeom prst="rect">
            <a:avLst/>
          </a:prstGeom>
          <a:noFill/>
          <a:ln/>
        </p:spPr>
        <p:txBody>
          <a:bodyPr wrap="none" lIns="0" tIns="0" rIns="0" bIns="0" rtlCol="0" anchor="t"/>
          <a:lstStyle/>
          <a:p>
            <a:pPr marL="0" indent="0" algn="l">
              <a:lnSpc>
                <a:spcPct val="104000"/>
              </a:lnSpc>
              <a:buNone/>
            </a:pPr>
            <a:r>
              <a:rPr lang="en-US" sz="2750" b="1" dirty="0">
                <a:solidFill>
                  <a:srgbClr val="FFFFFF"/>
                </a:solidFill>
                <a:latin typeface="Outfit Bold" pitchFamily="34" charset="0"/>
                <a:ea typeface="Outfit Bold" pitchFamily="34" charset="-122"/>
                <a:cs typeface="Outfit Bold" pitchFamily="34" charset="-120"/>
              </a:rPr>
              <a:t>N- Future Plan and Next Steps</a:t>
            </a:r>
            <a:endParaRPr lang="en-US" sz="2750" dirty="0"/>
          </a:p>
        </p:txBody>
      </p:sp>
      <p:sp>
        <p:nvSpPr>
          <p:cNvPr id="3" name="Shape 1"/>
          <p:cNvSpPr/>
          <p:nvPr/>
        </p:nvSpPr>
        <p:spPr>
          <a:xfrm>
            <a:off x="661475" y="3756819"/>
            <a:ext cx="10868745" cy="19050"/>
          </a:xfrm>
          <a:prstGeom prst="roundRect">
            <a:avLst>
              <a:gd name="adj" fmla="val 49999"/>
            </a:avLst>
          </a:prstGeom>
          <a:solidFill>
            <a:srgbClr val="545557"/>
          </a:solidFill>
          <a:ln/>
        </p:spPr>
        <p:txBody>
          <a:bodyPr/>
          <a:lstStyle/>
          <a:p>
            <a:endParaRPr lang="en-US"/>
          </a:p>
        </p:txBody>
      </p:sp>
      <p:sp>
        <p:nvSpPr>
          <p:cNvPr id="4" name="Shape 2"/>
          <p:cNvSpPr/>
          <p:nvPr/>
        </p:nvSpPr>
        <p:spPr>
          <a:xfrm>
            <a:off x="2785794" y="3331567"/>
            <a:ext cx="19050" cy="425252"/>
          </a:xfrm>
          <a:prstGeom prst="roundRect">
            <a:avLst>
              <a:gd name="adj" fmla="val 49999"/>
            </a:avLst>
          </a:prstGeom>
          <a:solidFill>
            <a:srgbClr val="009CBA"/>
          </a:solidFill>
          <a:ln/>
        </p:spPr>
        <p:txBody>
          <a:bodyPr/>
          <a:lstStyle/>
          <a:p>
            <a:endParaRPr lang="en-US"/>
          </a:p>
        </p:txBody>
      </p:sp>
      <p:sp>
        <p:nvSpPr>
          <p:cNvPr id="5" name="Shape 3"/>
          <p:cNvSpPr/>
          <p:nvPr/>
        </p:nvSpPr>
        <p:spPr>
          <a:xfrm>
            <a:off x="2635879" y="3597374"/>
            <a:ext cx="318881" cy="318889"/>
          </a:xfrm>
          <a:prstGeom prst="roundRect">
            <a:avLst>
              <a:gd name="adj" fmla="val 6669"/>
            </a:avLst>
          </a:prstGeom>
          <a:solidFill>
            <a:srgbClr val="06B6D4"/>
          </a:solidFill>
          <a:ln/>
        </p:spPr>
        <p:txBody>
          <a:bodyPr/>
          <a:lstStyle/>
          <a:p>
            <a:endParaRPr lang="en-US"/>
          </a:p>
        </p:txBody>
      </p:sp>
      <p:sp>
        <p:nvSpPr>
          <p:cNvPr id="6" name="Text 4"/>
          <p:cNvSpPr/>
          <p:nvPr/>
        </p:nvSpPr>
        <p:spPr>
          <a:xfrm>
            <a:off x="2689009" y="3623915"/>
            <a:ext cx="212620" cy="265807"/>
          </a:xfrm>
          <a:prstGeom prst="rect">
            <a:avLst/>
          </a:prstGeom>
          <a:noFill/>
          <a:ln/>
        </p:spPr>
        <p:txBody>
          <a:bodyPr wrap="none" lIns="0" tIns="0" rIns="0" bIns="0" rtlCol="0" anchor="ctr"/>
          <a:lstStyle/>
          <a:p>
            <a:pPr marL="0" indent="0" algn="ctr">
              <a:lnSpc>
                <a:spcPct val="100000"/>
              </a:lnSpc>
              <a:buNone/>
            </a:pPr>
            <a:r>
              <a:rPr lang="en-US" sz="1650" b="1" dirty="0">
                <a:solidFill>
                  <a:srgbClr val="000000"/>
                </a:solidFill>
                <a:latin typeface="Outfit Bold" pitchFamily="34" charset="0"/>
                <a:ea typeface="Outfit Bold" pitchFamily="34" charset="-122"/>
                <a:cs typeface="Outfit Bold" pitchFamily="34" charset="-120"/>
              </a:rPr>
              <a:t>1</a:t>
            </a:r>
            <a:endParaRPr lang="en-US" sz="1650" dirty="0"/>
          </a:p>
        </p:txBody>
      </p:sp>
      <p:sp>
        <p:nvSpPr>
          <p:cNvPr id="7" name="Text 5"/>
          <p:cNvSpPr/>
          <p:nvPr/>
        </p:nvSpPr>
        <p:spPr>
          <a:xfrm>
            <a:off x="803156" y="1575891"/>
            <a:ext cx="3984426" cy="221456"/>
          </a:xfrm>
          <a:prstGeom prst="rect">
            <a:avLst/>
          </a:prstGeom>
          <a:noFill/>
          <a:ln/>
        </p:spPr>
        <p:txBody>
          <a:bodyPr wrap="none" lIns="0" tIns="0" rIns="0" bIns="0" rtlCol="0" anchor="t"/>
          <a:lstStyle/>
          <a:p>
            <a:pPr marL="0" indent="0" algn="ctr">
              <a:lnSpc>
                <a:spcPct val="104000"/>
              </a:lnSpc>
              <a:buNone/>
            </a:pPr>
            <a:r>
              <a:rPr lang="en-US" sz="1350" b="1" dirty="0">
                <a:solidFill>
                  <a:srgbClr val="C2C4B5"/>
                </a:solidFill>
                <a:latin typeface="Outfit Bold" pitchFamily="34" charset="0"/>
                <a:ea typeface="Outfit Bold" pitchFamily="34" charset="-122"/>
                <a:cs typeface="Outfit Bold" pitchFamily="34" charset="-120"/>
              </a:rPr>
              <a:t>Phase 1</a:t>
            </a:r>
            <a:endParaRPr lang="en-US" sz="1350" dirty="0"/>
          </a:p>
        </p:txBody>
      </p:sp>
      <p:sp>
        <p:nvSpPr>
          <p:cNvPr id="8" name="Text 6"/>
          <p:cNvSpPr/>
          <p:nvPr/>
        </p:nvSpPr>
        <p:spPr>
          <a:xfrm>
            <a:off x="803156" y="1861046"/>
            <a:ext cx="3984426" cy="198438"/>
          </a:xfrm>
          <a:prstGeom prst="rect">
            <a:avLst/>
          </a:prstGeom>
          <a:noFill/>
          <a:ln/>
        </p:spPr>
        <p:txBody>
          <a:bodyPr wrap="none" lIns="0" tIns="0" rIns="0" bIns="0" rtlCol="0" anchor="t"/>
          <a:lstStyle/>
          <a:p>
            <a:pPr marL="0" indent="0" algn="ctr">
              <a:lnSpc>
                <a:spcPct val="117000"/>
              </a:lnSpc>
              <a:buNone/>
            </a:pPr>
            <a:r>
              <a:rPr lang="en-US" sz="1100" b="1" dirty="0">
                <a:solidFill>
                  <a:srgbClr val="C2C4B5"/>
                </a:solidFill>
                <a:latin typeface="Bitter Bold" pitchFamily="34" charset="0"/>
                <a:ea typeface="Bitter Bold" pitchFamily="34" charset="-122"/>
                <a:cs typeface="Bitter Bold" pitchFamily="34" charset="-120"/>
              </a:rPr>
              <a:t>Dataset Collection &amp; Schema</a:t>
            </a:r>
            <a:endParaRPr lang="en-US" sz="1100" dirty="0"/>
          </a:p>
        </p:txBody>
      </p:sp>
      <p:sp>
        <p:nvSpPr>
          <p:cNvPr id="9" name="Text 7"/>
          <p:cNvSpPr/>
          <p:nvPr/>
        </p:nvSpPr>
        <p:spPr>
          <a:xfrm>
            <a:off x="803156" y="2123182"/>
            <a:ext cx="3984426" cy="1066602"/>
          </a:xfrm>
          <a:prstGeom prst="rect">
            <a:avLst/>
          </a:prstGeom>
          <a:noFill/>
          <a:ln/>
        </p:spPr>
        <p:txBody>
          <a:bodyPr wrap="square" lIns="0" tIns="56706" rIns="0" bIns="0" rtlCol="0" anchor="t">
            <a:normAutofit/>
          </a:bodyPr>
          <a:lstStyle/>
          <a:p>
            <a:pPr marL="223520" indent="-223520" algn="l">
              <a:lnSpc>
                <a:spcPct val="117000"/>
              </a:lnSpc>
              <a:buSzPct val="100000"/>
              <a:buChar char="•"/>
            </a:pPr>
            <a:r>
              <a:rPr lang="en-US" sz="1100" dirty="0">
                <a:solidFill>
                  <a:srgbClr val="C2C4B5"/>
                </a:solidFill>
                <a:latin typeface="Bitter" pitchFamily="34" charset="0"/>
                <a:ea typeface="Bitter" pitchFamily="34" charset="-122"/>
                <a:cs typeface="Bitter" pitchFamily="34" charset="-120"/>
              </a:rPr>
              <a:t>Aggregate aerial and satellite imagery from xBD, FloodNet, AIDER, and RescueNet into instruction triplets</a:t>
            </a:r>
            <a:endParaRPr lang="en-US" sz="1100" dirty="0"/>
          </a:p>
          <a:p>
            <a:pPr marL="223520" indent="-223520" algn="l">
              <a:lnSpc>
                <a:spcPct val="117000"/>
              </a:lnSpc>
              <a:buSzPct val="100000"/>
              <a:buChar char="•"/>
            </a:pPr>
            <a:r>
              <a:rPr lang="en-US" sz="1100" dirty="0">
                <a:solidFill>
                  <a:srgbClr val="C2C4B5"/>
                </a:solidFill>
                <a:latin typeface="Bitter" pitchFamily="34" charset="0"/>
                <a:ea typeface="Bitter" pitchFamily="34" charset="-122"/>
                <a:cs typeface="Bitter" pitchFamily="34" charset="-120"/>
              </a:rPr>
              <a:t>Auto-generate responses via GPT-4O Vision, then manually review against rescue schemas</a:t>
            </a:r>
            <a:endParaRPr lang="en-US" sz="1100" dirty="0"/>
          </a:p>
          <a:p>
            <a:pPr marL="223520" indent="-223520" algn="l">
              <a:lnSpc>
                <a:spcPct val="117000"/>
              </a:lnSpc>
              <a:buSzPct val="100000"/>
              <a:buChar char="•"/>
            </a:pPr>
            <a:r>
              <a:rPr lang="en-US" sz="1100" dirty="0">
                <a:solidFill>
                  <a:srgbClr val="C2C4B5"/>
                </a:solidFill>
                <a:latin typeface="Bitter" pitchFamily="34" charset="0"/>
                <a:ea typeface="Bitter" pitchFamily="34" charset="-122"/>
                <a:cs typeface="Bitter" pitchFamily="34" charset="-120"/>
              </a:rPr>
              <a:t>Apply a strict 70/15/15 split without scene overlap</a:t>
            </a:r>
            <a:endParaRPr lang="en-US" sz="1100" dirty="0"/>
          </a:p>
        </p:txBody>
      </p:sp>
      <p:sp>
        <p:nvSpPr>
          <p:cNvPr id="10" name="Shape 8"/>
          <p:cNvSpPr/>
          <p:nvPr/>
        </p:nvSpPr>
        <p:spPr>
          <a:xfrm>
            <a:off x="4986114" y="3756819"/>
            <a:ext cx="19050" cy="425252"/>
          </a:xfrm>
          <a:prstGeom prst="roundRect">
            <a:avLst>
              <a:gd name="adj" fmla="val 49999"/>
            </a:avLst>
          </a:prstGeom>
          <a:solidFill>
            <a:srgbClr val="A475FF"/>
          </a:solidFill>
          <a:ln/>
        </p:spPr>
        <p:txBody>
          <a:bodyPr/>
          <a:lstStyle/>
          <a:p>
            <a:endParaRPr lang="en-US"/>
          </a:p>
        </p:txBody>
      </p:sp>
      <p:sp>
        <p:nvSpPr>
          <p:cNvPr id="11" name="Shape 9"/>
          <p:cNvSpPr/>
          <p:nvPr/>
        </p:nvSpPr>
        <p:spPr>
          <a:xfrm>
            <a:off x="4836198" y="3597374"/>
            <a:ext cx="318881" cy="318889"/>
          </a:xfrm>
          <a:prstGeom prst="roundRect">
            <a:avLst>
              <a:gd name="adj" fmla="val 6669"/>
            </a:avLst>
          </a:prstGeom>
          <a:solidFill>
            <a:srgbClr val="8B5CF6"/>
          </a:solidFill>
          <a:ln/>
        </p:spPr>
        <p:txBody>
          <a:bodyPr/>
          <a:lstStyle/>
          <a:p>
            <a:endParaRPr lang="en-US"/>
          </a:p>
        </p:txBody>
      </p:sp>
      <p:sp>
        <p:nvSpPr>
          <p:cNvPr id="12" name="Text 10"/>
          <p:cNvSpPr/>
          <p:nvPr/>
        </p:nvSpPr>
        <p:spPr>
          <a:xfrm>
            <a:off x="4889328" y="3623915"/>
            <a:ext cx="212620" cy="265807"/>
          </a:xfrm>
          <a:prstGeom prst="rect">
            <a:avLst/>
          </a:prstGeom>
          <a:noFill/>
          <a:ln/>
        </p:spPr>
        <p:txBody>
          <a:bodyPr wrap="none" lIns="0" tIns="0" rIns="0" bIns="0" rtlCol="0" anchor="ctr"/>
          <a:lstStyle/>
          <a:p>
            <a:pPr marL="0" indent="0" algn="ctr">
              <a:lnSpc>
                <a:spcPct val="100000"/>
              </a:lnSpc>
              <a:buNone/>
            </a:pPr>
            <a:r>
              <a:rPr lang="en-US" sz="1650" b="1" dirty="0">
                <a:solidFill>
                  <a:srgbClr val="FFFFFF"/>
                </a:solidFill>
                <a:latin typeface="Outfit Bold" pitchFamily="34" charset="0"/>
                <a:ea typeface="Outfit Bold" pitchFamily="34" charset="-122"/>
                <a:cs typeface="Outfit Bold" pitchFamily="34" charset="-120"/>
              </a:rPr>
              <a:t>2</a:t>
            </a:r>
            <a:endParaRPr lang="en-US" sz="1650" dirty="0"/>
          </a:p>
        </p:txBody>
      </p:sp>
      <p:sp>
        <p:nvSpPr>
          <p:cNvPr id="13" name="Text 11"/>
          <p:cNvSpPr/>
          <p:nvPr/>
        </p:nvSpPr>
        <p:spPr>
          <a:xfrm>
            <a:off x="3003475" y="4323854"/>
            <a:ext cx="3984426" cy="221456"/>
          </a:xfrm>
          <a:prstGeom prst="rect">
            <a:avLst/>
          </a:prstGeom>
          <a:noFill/>
          <a:ln/>
        </p:spPr>
        <p:txBody>
          <a:bodyPr wrap="none" lIns="0" tIns="0" rIns="0" bIns="0" rtlCol="0" anchor="t"/>
          <a:lstStyle/>
          <a:p>
            <a:pPr marL="0" indent="0" algn="ctr">
              <a:lnSpc>
                <a:spcPct val="104000"/>
              </a:lnSpc>
              <a:buNone/>
            </a:pPr>
            <a:r>
              <a:rPr lang="en-US" sz="1350" b="1" dirty="0">
                <a:solidFill>
                  <a:srgbClr val="C2C4B5"/>
                </a:solidFill>
                <a:latin typeface="Outfit Bold" pitchFamily="34" charset="0"/>
                <a:ea typeface="Outfit Bold" pitchFamily="34" charset="-122"/>
                <a:cs typeface="Outfit Bold" pitchFamily="34" charset="-120"/>
              </a:rPr>
              <a:t>Phase 2</a:t>
            </a:r>
            <a:endParaRPr lang="en-US" sz="1350" dirty="0"/>
          </a:p>
        </p:txBody>
      </p:sp>
      <p:sp>
        <p:nvSpPr>
          <p:cNvPr id="14" name="Text 12"/>
          <p:cNvSpPr/>
          <p:nvPr/>
        </p:nvSpPr>
        <p:spPr>
          <a:xfrm>
            <a:off x="3003475" y="4609009"/>
            <a:ext cx="3984426" cy="198438"/>
          </a:xfrm>
          <a:prstGeom prst="rect">
            <a:avLst/>
          </a:prstGeom>
          <a:noFill/>
          <a:ln/>
        </p:spPr>
        <p:txBody>
          <a:bodyPr wrap="none" lIns="0" tIns="0" rIns="0" bIns="0" rtlCol="0" anchor="t"/>
          <a:lstStyle/>
          <a:p>
            <a:pPr marL="0" indent="0" algn="ctr">
              <a:lnSpc>
                <a:spcPct val="117000"/>
              </a:lnSpc>
              <a:buNone/>
            </a:pPr>
            <a:r>
              <a:rPr lang="en-US" sz="1100" b="1" dirty="0">
                <a:solidFill>
                  <a:srgbClr val="C2C4B5"/>
                </a:solidFill>
                <a:latin typeface="Bitter Bold" pitchFamily="34" charset="0"/>
                <a:ea typeface="Bitter Bold" pitchFamily="34" charset="-122"/>
                <a:cs typeface="Bitter Bold" pitchFamily="34" charset="-120"/>
              </a:rPr>
              <a:t>Baseline Inference &amp; Metrics</a:t>
            </a:r>
            <a:endParaRPr lang="en-US" sz="1100" dirty="0"/>
          </a:p>
        </p:txBody>
      </p:sp>
      <p:sp>
        <p:nvSpPr>
          <p:cNvPr id="15" name="Text 13"/>
          <p:cNvSpPr/>
          <p:nvPr/>
        </p:nvSpPr>
        <p:spPr>
          <a:xfrm>
            <a:off x="3003475" y="4871145"/>
            <a:ext cx="3984426" cy="1066602"/>
          </a:xfrm>
          <a:prstGeom prst="rect">
            <a:avLst/>
          </a:prstGeom>
          <a:noFill/>
          <a:ln/>
        </p:spPr>
        <p:txBody>
          <a:bodyPr wrap="square" lIns="0" tIns="56706" rIns="0" bIns="0" rtlCol="0" anchor="t">
            <a:normAutofit/>
          </a:bodyPr>
          <a:lstStyle/>
          <a:p>
            <a:pPr marL="223520" indent="-223520" algn="l">
              <a:lnSpc>
                <a:spcPct val="117000"/>
              </a:lnSpc>
              <a:buSzPct val="100000"/>
              <a:buChar char="•"/>
            </a:pPr>
            <a:r>
              <a:rPr lang="en-US" sz="1100" dirty="0">
                <a:solidFill>
                  <a:srgbClr val="C2C4B5"/>
                </a:solidFill>
                <a:latin typeface="Bitter" pitchFamily="34" charset="0"/>
                <a:ea typeface="Bitter" pitchFamily="34" charset="-122"/>
                <a:cs typeface="Bitter" pitchFamily="34" charset="-120"/>
              </a:rPr>
              <a:t>Run zero-shot inference for GPT-4O Vision, Gemini 1.5 Flash, Qwen2-VL-7B, LLAVA-1.5-7B, and InternVL2-8B</a:t>
            </a:r>
            <a:endParaRPr lang="en-US" sz="1100" dirty="0"/>
          </a:p>
          <a:p>
            <a:pPr marL="223520" indent="-223520" algn="l">
              <a:lnSpc>
                <a:spcPct val="117000"/>
              </a:lnSpc>
              <a:buSzPct val="100000"/>
              <a:buChar char="•"/>
            </a:pPr>
            <a:r>
              <a:rPr lang="en-US" sz="1100" dirty="0">
                <a:solidFill>
                  <a:srgbClr val="C2C4B5"/>
                </a:solidFill>
                <a:latin typeface="Bitter" pitchFamily="34" charset="0"/>
                <a:ea typeface="Bitter" pitchFamily="34" charset="-122"/>
                <a:cs typeface="Bitter" pitchFamily="34" charset="-120"/>
              </a:rPr>
              <a:t>Establish a metric harness with ROUGE-L, BERTScore, Zone Accuracy, and RAR</a:t>
            </a:r>
            <a:endParaRPr lang="en-US" sz="1100" dirty="0"/>
          </a:p>
          <a:p>
            <a:pPr marL="223520" indent="-223520" algn="l">
              <a:lnSpc>
                <a:spcPct val="117000"/>
              </a:lnSpc>
              <a:buSzPct val="100000"/>
              <a:buChar char="•"/>
            </a:pPr>
            <a:r>
              <a:rPr lang="en-US" sz="1100" dirty="0">
                <a:solidFill>
                  <a:srgbClr val="C2C4B5"/>
                </a:solidFill>
                <a:latin typeface="Bitter" pitchFamily="34" charset="0"/>
                <a:ea typeface="Bitter" pitchFamily="34" charset="-122"/>
                <a:cs typeface="Bitter" pitchFamily="34" charset="-120"/>
              </a:rPr>
              <a:t>Target inter-annotator agreement above 0.7</a:t>
            </a:r>
            <a:endParaRPr lang="en-US" sz="1100" dirty="0"/>
          </a:p>
        </p:txBody>
      </p:sp>
      <p:sp>
        <p:nvSpPr>
          <p:cNvPr id="16" name="Shape 14"/>
          <p:cNvSpPr/>
          <p:nvPr/>
        </p:nvSpPr>
        <p:spPr>
          <a:xfrm>
            <a:off x="7186433" y="3331567"/>
            <a:ext cx="19050" cy="425252"/>
          </a:xfrm>
          <a:prstGeom prst="roundRect">
            <a:avLst>
              <a:gd name="adj" fmla="val 49999"/>
            </a:avLst>
          </a:prstGeom>
          <a:solidFill>
            <a:srgbClr val="DB8400"/>
          </a:solidFill>
          <a:ln/>
        </p:spPr>
        <p:txBody>
          <a:bodyPr/>
          <a:lstStyle/>
          <a:p>
            <a:endParaRPr lang="en-US"/>
          </a:p>
        </p:txBody>
      </p:sp>
      <p:sp>
        <p:nvSpPr>
          <p:cNvPr id="17" name="Shape 15"/>
          <p:cNvSpPr/>
          <p:nvPr/>
        </p:nvSpPr>
        <p:spPr>
          <a:xfrm>
            <a:off x="7036517" y="3597374"/>
            <a:ext cx="318881" cy="318889"/>
          </a:xfrm>
          <a:prstGeom prst="roundRect">
            <a:avLst>
              <a:gd name="adj" fmla="val 6669"/>
            </a:avLst>
          </a:prstGeom>
          <a:solidFill>
            <a:srgbClr val="F59E0B"/>
          </a:solidFill>
          <a:ln/>
        </p:spPr>
        <p:txBody>
          <a:bodyPr/>
          <a:lstStyle/>
          <a:p>
            <a:endParaRPr lang="en-US"/>
          </a:p>
        </p:txBody>
      </p:sp>
      <p:sp>
        <p:nvSpPr>
          <p:cNvPr id="18" name="Text 16"/>
          <p:cNvSpPr/>
          <p:nvPr/>
        </p:nvSpPr>
        <p:spPr>
          <a:xfrm>
            <a:off x="7089647" y="3623915"/>
            <a:ext cx="212620" cy="265807"/>
          </a:xfrm>
          <a:prstGeom prst="rect">
            <a:avLst/>
          </a:prstGeom>
          <a:noFill/>
          <a:ln/>
        </p:spPr>
        <p:txBody>
          <a:bodyPr wrap="none" lIns="0" tIns="0" rIns="0" bIns="0" rtlCol="0" anchor="ctr"/>
          <a:lstStyle/>
          <a:p>
            <a:pPr marL="0" indent="0" algn="ctr">
              <a:lnSpc>
                <a:spcPct val="100000"/>
              </a:lnSpc>
              <a:buNone/>
            </a:pPr>
            <a:r>
              <a:rPr lang="en-US" sz="1650" b="1" dirty="0">
                <a:solidFill>
                  <a:srgbClr val="000000"/>
                </a:solidFill>
                <a:latin typeface="Outfit Bold" pitchFamily="34" charset="0"/>
                <a:ea typeface="Outfit Bold" pitchFamily="34" charset="-122"/>
                <a:cs typeface="Outfit Bold" pitchFamily="34" charset="-120"/>
              </a:rPr>
              <a:t>3</a:t>
            </a:r>
            <a:endParaRPr lang="en-US" sz="1650" dirty="0"/>
          </a:p>
        </p:txBody>
      </p:sp>
      <p:sp>
        <p:nvSpPr>
          <p:cNvPr id="19" name="Text 17"/>
          <p:cNvSpPr/>
          <p:nvPr/>
        </p:nvSpPr>
        <p:spPr>
          <a:xfrm>
            <a:off x="5203794" y="1575891"/>
            <a:ext cx="3984426" cy="221456"/>
          </a:xfrm>
          <a:prstGeom prst="rect">
            <a:avLst/>
          </a:prstGeom>
          <a:noFill/>
          <a:ln/>
        </p:spPr>
        <p:txBody>
          <a:bodyPr wrap="none" lIns="0" tIns="0" rIns="0" bIns="0" rtlCol="0" anchor="t"/>
          <a:lstStyle/>
          <a:p>
            <a:pPr marL="0" indent="0" algn="ctr">
              <a:lnSpc>
                <a:spcPct val="104000"/>
              </a:lnSpc>
              <a:buNone/>
            </a:pPr>
            <a:r>
              <a:rPr lang="en-US" sz="1350" b="1" dirty="0">
                <a:solidFill>
                  <a:srgbClr val="C2C4B5"/>
                </a:solidFill>
                <a:latin typeface="Outfit Bold" pitchFamily="34" charset="0"/>
                <a:ea typeface="Outfit Bold" pitchFamily="34" charset="-122"/>
                <a:cs typeface="Outfit Bold" pitchFamily="34" charset="-120"/>
              </a:rPr>
              <a:t>Phase 3</a:t>
            </a:r>
            <a:endParaRPr lang="en-US" sz="1350" dirty="0"/>
          </a:p>
        </p:txBody>
      </p:sp>
      <p:sp>
        <p:nvSpPr>
          <p:cNvPr id="20" name="Text 18"/>
          <p:cNvSpPr/>
          <p:nvPr/>
        </p:nvSpPr>
        <p:spPr>
          <a:xfrm>
            <a:off x="5203794" y="1861046"/>
            <a:ext cx="3984426" cy="198438"/>
          </a:xfrm>
          <a:prstGeom prst="rect">
            <a:avLst/>
          </a:prstGeom>
          <a:noFill/>
          <a:ln/>
        </p:spPr>
        <p:txBody>
          <a:bodyPr wrap="none" lIns="0" tIns="0" rIns="0" bIns="0" rtlCol="0" anchor="t"/>
          <a:lstStyle/>
          <a:p>
            <a:pPr marL="0" indent="0" algn="ctr">
              <a:lnSpc>
                <a:spcPct val="117000"/>
              </a:lnSpc>
              <a:buNone/>
            </a:pPr>
            <a:r>
              <a:rPr lang="en-US" sz="1100" b="1" dirty="0">
                <a:solidFill>
                  <a:srgbClr val="C2C4B5"/>
                </a:solidFill>
                <a:latin typeface="Bitter Bold" pitchFamily="34" charset="0"/>
                <a:ea typeface="Bitter Bold" pitchFamily="34" charset="-122"/>
                <a:cs typeface="Bitter Bold" pitchFamily="34" charset="-120"/>
              </a:rPr>
              <a:t>QLoRA Fine-Tuning &amp; Sweeps</a:t>
            </a:r>
            <a:endParaRPr lang="en-US" sz="1100" dirty="0"/>
          </a:p>
        </p:txBody>
      </p:sp>
      <p:sp>
        <p:nvSpPr>
          <p:cNvPr id="21" name="Text 19"/>
          <p:cNvSpPr/>
          <p:nvPr/>
        </p:nvSpPr>
        <p:spPr>
          <a:xfrm>
            <a:off x="5203794" y="2123182"/>
            <a:ext cx="3984426" cy="1066602"/>
          </a:xfrm>
          <a:prstGeom prst="rect">
            <a:avLst/>
          </a:prstGeom>
          <a:noFill/>
          <a:ln/>
        </p:spPr>
        <p:txBody>
          <a:bodyPr wrap="square" lIns="0" tIns="56706" rIns="0" bIns="0" rtlCol="0" anchor="t">
            <a:normAutofit/>
          </a:bodyPr>
          <a:lstStyle/>
          <a:p>
            <a:pPr marL="223520" indent="-223520" algn="l">
              <a:lnSpc>
                <a:spcPct val="117000"/>
              </a:lnSpc>
              <a:buSzPct val="100000"/>
              <a:buChar char="•"/>
            </a:pPr>
            <a:r>
              <a:rPr lang="en-US" sz="1100" dirty="0">
                <a:solidFill>
                  <a:srgbClr val="C2C4B5"/>
                </a:solidFill>
                <a:latin typeface="Bitter" pitchFamily="34" charset="0"/>
                <a:ea typeface="Bitter" pitchFamily="34" charset="-122"/>
                <a:cs typeface="Bitter" pitchFamily="34" charset="-120"/>
              </a:rPr>
              <a:t>Fine-tune Qwen2-VL-7B via QLoRA on Kaggle dual-T4 GPUs using 4-bit NF4, rank r=16, and α=32</a:t>
            </a:r>
            <a:endParaRPr lang="en-US" sz="1100" dirty="0"/>
          </a:p>
          <a:p>
            <a:pPr marL="223520" indent="-223520" algn="l">
              <a:lnSpc>
                <a:spcPct val="117000"/>
              </a:lnSpc>
              <a:buSzPct val="100000"/>
              <a:buChar char="•"/>
            </a:pPr>
            <a:r>
              <a:rPr lang="en-US" sz="1100" dirty="0">
                <a:solidFill>
                  <a:srgbClr val="C2C4B5"/>
                </a:solidFill>
                <a:latin typeface="Bitter" pitchFamily="34" charset="0"/>
                <a:ea typeface="Bitter" pitchFamily="34" charset="-122"/>
                <a:cs typeface="Bitter" pitchFamily="34" charset="-120"/>
              </a:rPr>
              <a:t>Use Unsloth and HuggingFace TRL SFTTrainer</a:t>
            </a:r>
            <a:endParaRPr lang="en-US" sz="1100" dirty="0"/>
          </a:p>
          <a:p>
            <a:pPr marL="223520" indent="-223520" algn="l">
              <a:lnSpc>
                <a:spcPct val="117000"/>
              </a:lnSpc>
              <a:buSzPct val="100000"/>
              <a:buChar char="•"/>
            </a:pPr>
            <a:r>
              <a:rPr lang="en-US" sz="1100" dirty="0">
                <a:solidFill>
                  <a:srgbClr val="C2C4B5"/>
                </a:solidFill>
                <a:latin typeface="Bitter" pitchFamily="34" charset="0"/>
                <a:ea typeface="Bitter" pitchFamily="34" charset="-122"/>
                <a:cs typeface="Bitter" pitchFamily="34" charset="-120"/>
              </a:rPr>
              <a:t>Run hyperparameter sweeps and data volume ablations at 25%, 50%, and 100%</a:t>
            </a:r>
            <a:endParaRPr lang="en-US" sz="1100" dirty="0"/>
          </a:p>
        </p:txBody>
      </p:sp>
      <p:sp>
        <p:nvSpPr>
          <p:cNvPr id="22" name="Shape 20"/>
          <p:cNvSpPr/>
          <p:nvPr/>
        </p:nvSpPr>
        <p:spPr>
          <a:xfrm>
            <a:off x="9386752" y="3756819"/>
            <a:ext cx="19050" cy="425252"/>
          </a:xfrm>
          <a:prstGeom prst="roundRect">
            <a:avLst>
              <a:gd name="adj" fmla="val 49999"/>
            </a:avLst>
          </a:prstGeom>
          <a:solidFill>
            <a:srgbClr val="FF5D5D"/>
          </a:solidFill>
          <a:ln/>
        </p:spPr>
        <p:txBody>
          <a:bodyPr/>
          <a:lstStyle/>
          <a:p>
            <a:endParaRPr lang="en-US"/>
          </a:p>
        </p:txBody>
      </p:sp>
      <p:sp>
        <p:nvSpPr>
          <p:cNvPr id="23" name="Shape 21"/>
          <p:cNvSpPr/>
          <p:nvPr/>
        </p:nvSpPr>
        <p:spPr>
          <a:xfrm>
            <a:off x="9236836" y="3597374"/>
            <a:ext cx="318881" cy="318889"/>
          </a:xfrm>
          <a:prstGeom prst="roundRect">
            <a:avLst>
              <a:gd name="adj" fmla="val 6669"/>
            </a:avLst>
          </a:prstGeom>
          <a:solidFill>
            <a:srgbClr val="EF4444"/>
          </a:solidFill>
          <a:ln/>
        </p:spPr>
        <p:txBody>
          <a:bodyPr/>
          <a:lstStyle/>
          <a:p>
            <a:endParaRPr lang="en-US"/>
          </a:p>
        </p:txBody>
      </p:sp>
      <p:sp>
        <p:nvSpPr>
          <p:cNvPr id="24" name="Text 22"/>
          <p:cNvSpPr/>
          <p:nvPr/>
        </p:nvSpPr>
        <p:spPr>
          <a:xfrm>
            <a:off x="9289966" y="3623915"/>
            <a:ext cx="212620" cy="265807"/>
          </a:xfrm>
          <a:prstGeom prst="rect">
            <a:avLst/>
          </a:prstGeom>
          <a:noFill/>
          <a:ln/>
        </p:spPr>
        <p:txBody>
          <a:bodyPr wrap="none" lIns="0" tIns="0" rIns="0" bIns="0" rtlCol="0" anchor="ctr"/>
          <a:lstStyle/>
          <a:p>
            <a:pPr marL="0" indent="0" algn="ctr">
              <a:lnSpc>
                <a:spcPct val="100000"/>
              </a:lnSpc>
              <a:buNone/>
            </a:pPr>
            <a:r>
              <a:rPr lang="en-US" sz="1650" b="1" dirty="0">
                <a:solidFill>
                  <a:srgbClr val="FFFFFF"/>
                </a:solidFill>
                <a:latin typeface="Outfit Bold" pitchFamily="34" charset="0"/>
                <a:ea typeface="Outfit Bold" pitchFamily="34" charset="-122"/>
                <a:cs typeface="Outfit Bold" pitchFamily="34" charset="-120"/>
              </a:rPr>
              <a:t>4</a:t>
            </a:r>
            <a:endParaRPr lang="en-US" sz="1650" dirty="0"/>
          </a:p>
        </p:txBody>
      </p:sp>
      <p:sp>
        <p:nvSpPr>
          <p:cNvPr id="25" name="Text 23"/>
          <p:cNvSpPr/>
          <p:nvPr/>
        </p:nvSpPr>
        <p:spPr>
          <a:xfrm>
            <a:off x="7404113" y="4323854"/>
            <a:ext cx="3984426" cy="221456"/>
          </a:xfrm>
          <a:prstGeom prst="rect">
            <a:avLst/>
          </a:prstGeom>
          <a:noFill/>
          <a:ln/>
        </p:spPr>
        <p:txBody>
          <a:bodyPr wrap="none" lIns="0" tIns="0" rIns="0" bIns="0" rtlCol="0" anchor="t"/>
          <a:lstStyle/>
          <a:p>
            <a:pPr marL="0" indent="0" algn="ctr">
              <a:lnSpc>
                <a:spcPct val="104000"/>
              </a:lnSpc>
              <a:buNone/>
            </a:pPr>
            <a:r>
              <a:rPr lang="en-US" sz="1350" b="1" dirty="0">
                <a:solidFill>
                  <a:srgbClr val="C2C4B5"/>
                </a:solidFill>
                <a:latin typeface="Outfit Bold" pitchFamily="34" charset="0"/>
                <a:ea typeface="Outfit Bold" pitchFamily="34" charset="-122"/>
                <a:cs typeface="Outfit Bold" pitchFamily="34" charset="-120"/>
              </a:rPr>
              <a:t>Phase 4</a:t>
            </a:r>
            <a:endParaRPr lang="en-US" sz="1350" dirty="0"/>
          </a:p>
        </p:txBody>
      </p:sp>
      <p:sp>
        <p:nvSpPr>
          <p:cNvPr id="26" name="Text 24"/>
          <p:cNvSpPr/>
          <p:nvPr/>
        </p:nvSpPr>
        <p:spPr>
          <a:xfrm>
            <a:off x="7404113" y="4609009"/>
            <a:ext cx="3984426" cy="198438"/>
          </a:xfrm>
          <a:prstGeom prst="rect">
            <a:avLst/>
          </a:prstGeom>
          <a:noFill/>
          <a:ln/>
        </p:spPr>
        <p:txBody>
          <a:bodyPr wrap="none" lIns="0" tIns="0" rIns="0" bIns="0" rtlCol="0" anchor="t"/>
          <a:lstStyle/>
          <a:p>
            <a:pPr marL="0" indent="0" algn="ctr">
              <a:lnSpc>
                <a:spcPct val="117000"/>
              </a:lnSpc>
              <a:buNone/>
            </a:pPr>
            <a:r>
              <a:rPr lang="en-US" sz="1100" b="1" dirty="0">
                <a:solidFill>
                  <a:srgbClr val="C2C4B5"/>
                </a:solidFill>
                <a:latin typeface="Bitter Bold" pitchFamily="34" charset="0"/>
                <a:ea typeface="Bitter Bold" pitchFamily="34" charset="-122"/>
                <a:cs typeface="Bitter Bold" pitchFamily="34" charset="-120"/>
              </a:rPr>
              <a:t>Evaluation &amp; Error Analysis</a:t>
            </a:r>
            <a:endParaRPr lang="en-US" sz="1100" dirty="0"/>
          </a:p>
        </p:txBody>
      </p:sp>
      <p:sp>
        <p:nvSpPr>
          <p:cNvPr id="27" name="Text 25"/>
          <p:cNvSpPr/>
          <p:nvPr/>
        </p:nvSpPr>
        <p:spPr>
          <a:xfrm>
            <a:off x="7404113" y="4871145"/>
            <a:ext cx="3984426" cy="1066602"/>
          </a:xfrm>
          <a:prstGeom prst="rect">
            <a:avLst/>
          </a:prstGeom>
          <a:noFill/>
          <a:ln/>
        </p:spPr>
        <p:txBody>
          <a:bodyPr wrap="square" lIns="0" tIns="56706" rIns="0" bIns="0" rtlCol="0" anchor="t">
            <a:normAutofit/>
          </a:bodyPr>
          <a:lstStyle/>
          <a:p>
            <a:pPr marL="223520" indent="-223520" algn="l">
              <a:lnSpc>
                <a:spcPct val="117000"/>
              </a:lnSpc>
              <a:buSzPct val="100000"/>
              <a:buChar char="•"/>
            </a:pPr>
            <a:r>
              <a:rPr lang="en-US" sz="1100" dirty="0">
                <a:solidFill>
                  <a:srgbClr val="C2C4B5"/>
                </a:solidFill>
                <a:latin typeface="Bitter" pitchFamily="34" charset="0"/>
                <a:ea typeface="Bitter" pitchFamily="34" charset="-122"/>
                <a:cs typeface="Bitter" pitchFamily="34" charset="-120"/>
              </a:rPr>
              <a:t>Conduct comprehensive benchmark evaluations across all models</a:t>
            </a:r>
            <a:endParaRPr lang="en-US" sz="1100" dirty="0"/>
          </a:p>
          <a:p>
            <a:pPr marL="223520" indent="-223520" algn="l">
              <a:lnSpc>
                <a:spcPct val="117000"/>
              </a:lnSpc>
              <a:buSzPct val="100000"/>
              <a:buChar char="•"/>
            </a:pPr>
            <a:r>
              <a:rPr lang="en-US" sz="1100" dirty="0">
                <a:solidFill>
                  <a:srgbClr val="C2C4B5"/>
                </a:solidFill>
                <a:latin typeface="Bitter" pitchFamily="34" charset="0"/>
                <a:ea typeface="Bitter" pitchFamily="34" charset="-122"/>
                <a:cs typeface="Bitter" pitchFamily="34" charset="-120"/>
              </a:rPr>
              <a:t>Perform human evaluations using RAR with 3 annotators and 50 samples each</a:t>
            </a:r>
            <a:endParaRPr lang="en-US" sz="1100" dirty="0"/>
          </a:p>
          <a:p>
            <a:pPr marL="223520" indent="-223520" algn="l">
              <a:lnSpc>
                <a:spcPct val="117000"/>
              </a:lnSpc>
              <a:buSzPct val="100000"/>
              <a:buChar char="•"/>
            </a:pPr>
            <a:r>
              <a:rPr lang="en-US" sz="1100" dirty="0">
                <a:solidFill>
                  <a:srgbClr val="C2C4B5"/>
                </a:solidFill>
                <a:latin typeface="Bitter" pitchFamily="34" charset="0"/>
                <a:ea typeface="Bitter" pitchFamily="34" charset="-122"/>
                <a:cs typeface="Bitter" pitchFamily="34" charset="-120"/>
              </a:rPr>
              <a:t>Generate comparison tables and analyze errors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1486</Words>
  <Application>Microsoft Office PowerPoint</Application>
  <PresentationFormat>Widescreen</PresentationFormat>
  <Paragraphs>240</Paragraphs>
  <Slides>17</Slides>
  <Notes>17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Outfit Bold</vt:lpstr>
      <vt:lpstr>Consolas</vt:lpstr>
      <vt:lpstr>Arial</vt:lpstr>
      <vt:lpstr>Bitter</vt:lpstr>
      <vt:lpstr>Bitter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Abrar Mohammed Tanzim Alam</cp:lastModifiedBy>
  <cp:revision>2</cp:revision>
  <dcterms:created xsi:type="dcterms:W3CDTF">2026-08-29T00:53:51Z</dcterms:created>
  <dcterms:modified xsi:type="dcterms:W3CDTF">2026-08-29T01:01:21Z</dcterms:modified>
</cp:coreProperties>
</file>