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embeddedFontLst>
    <p:embeddedFont>
      <p:font typeface="Bitter"/>
      <p:regular r:id="rId201314"/>
    </p:embeddedFont>
    <p:embeddedFont>
      <p:font typeface="Bitter Bold"/>
      <p:regular r:id="rId201315"/>
    </p:embeddedFont>
    <p:embeddedFont>
      <p:font typeface="Bitter Black"/>
      <p:regular r:id="rId201316"/>
    </p:embeddedFont>
    <p:embeddedFont>
      <p:font typeface="Outfit"/>
      <p:regular r:id="rId201317"/>
    </p:embeddedFont>
    <p:embeddedFont>
      <p:font typeface="Outfit Bold"/>
      <p:regular r:id="rId201318"/>
    </p:embeddedFont>
    <p:embeddedFont>
      <p:font typeface="Outfit Black"/>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12"/>
          </a:solidFill>
          <a:ln/>
        </p:spPr>
      </p:sp>
      <p:sp>
        <p:nvSpPr>
          <p:cNvPr id="3" name="Shape 1"/>
          <p:cNvSpPr/>
          <p:nvPr/>
        </p:nvSpPr>
        <p:spPr>
          <a:xfrm>
            <a:off x="0" y="0"/>
            <a:ext cx="12191695" cy="6858000"/>
          </a:xfrm>
          <a:prstGeom prst="rect">
            <a:avLst/>
          </a:prstGeom>
          <a:solidFill>
            <a:srgbClr val="1C1D1F"/>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1C1D1F">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12"/>
          </a:solidFill>
          <a:ln/>
        </p:spPr>
      </p:sp>
      <p:sp>
        <p:nvSpPr>
          <p:cNvPr id="3" name="Shape 1"/>
          <p:cNvSpPr/>
          <p:nvPr/>
        </p:nvSpPr>
        <p:spPr>
          <a:xfrm>
            <a:off x="0" y="0"/>
            <a:ext cx="12191695" cy="68580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12"/>
          </a:solidFill>
          <a:ln/>
        </p:spPr>
      </p:sp>
      <p:sp>
        <p:nvSpPr>
          <p:cNvPr id="3" name="Shape 1"/>
          <p:cNvSpPr/>
          <p:nvPr/>
        </p:nvSpPr>
        <p:spPr>
          <a:xfrm>
            <a:off x="0" y="0"/>
            <a:ext cx="12191695" cy="6858000"/>
          </a:xfrm>
          <a:prstGeom prst="rect">
            <a:avLst/>
          </a:prstGeom>
          <a:solidFill>
            <a:srgbClr val="4D4D4D"/>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1.png"/><Relationship Id="rId8" Type="http://schemas.openxmlformats.org/officeDocument/2006/relationships/image" Target="../media/image-5-2.sv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image" Target="../media/image-16-10.svg"/><Relationship Id="rId11" Type="http://schemas.openxmlformats.org/officeDocument/2006/relationships/image" Target="../media/image-16-11.png"/><Relationship Id="rId12" Type="http://schemas.openxmlformats.org/officeDocument/2006/relationships/image" Target="../media/image-16-12.svg"/><Relationship Id="rId13" Type="http://schemas.openxmlformats.org/officeDocument/2006/relationships/image" Target="../media/image-16-13.png"/><Relationship Id="rId14" Type="http://schemas.openxmlformats.org/officeDocument/2006/relationships/image" Target="../media/image-16-14.svg"/><Relationship Id="rId15" Type="http://schemas.openxmlformats.org/officeDocument/2006/relationships/image" Target="../media/image-16-15.png"/><Relationship Id="rId16" Type="http://schemas.openxmlformats.org/officeDocument/2006/relationships/image" Target="../media/image-16-16.svg"/><Relationship Id="rId17" Type="http://schemas.openxmlformats.org/officeDocument/2006/relationships/slideLayout" Target="../slideLayouts/slideLayout3.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744041"/>
            <a:ext cx="10868745" cy="1630363"/>
          </a:xfrm>
          <a:prstGeom prst="rect">
            <a:avLst/>
          </a:prstGeom>
          <a:noFill/>
          <a:ln/>
        </p:spPr>
        <p:txBody>
          <a:bodyPr wrap="square" lIns="0" tIns="0" rIns="0" bIns="0" rtlCol="0" anchor="t">
            <a:normAutofit/>
          </a:bodyPr>
          <a:lstStyle/>
          <a:p>
            <a:pPr algn="l" indent="0" marL="0">
              <a:lnSpc>
                <a:spcPct val="104000"/>
              </a:lnSpc>
              <a:buNone/>
            </a:pPr>
            <a:r>
              <a:rPr lang="en-US" sz="5100" b="1" dirty="0">
                <a:solidFill>
                  <a:srgbClr val="E1E5CD"/>
                </a:solidFill>
                <a:latin typeface="Outfit Bold" pitchFamily="34" charset="0"/>
                <a:ea typeface="Outfit Bold" pitchFamily="34" charset="-122"/>
                <a:cs typeface="Outfit Bold" pitchFamily="34" charset="-120"/>
              </a:rPr>
              <a:t>Post-Disaster Rescue Guidance via Fine-Tuning VLMs</a:t>
            </a:r>
            <a:endParaRPr lang="en-US" sz="5100" dirty="0"/>
          </a:p>
        </p:txBody>
      </p:sp>
      <p:sp>
        <p:nvSpPr>
          <p:cNvPr id="3" name="Text 1"/>
          <p:cNvSpPr/>
          <p:nvPr/>
        </p:nvSpPr>
        <p:spPr>
          <a:xfrm>
            <a:off x="661475" y="2657872"/>
            <a:ext cx="10868745" cy="817463"/>
          </a:xfrm>
          <a:prstGeom prst="rect">
            <a:avLst/>
          </a:prstGeom>
          <a:noFill/>
          <a:ln/>
        </p:spPr>
        <p:txBody>
          <a:bodyPr wrap="square" lIns="0" tIns="0" rIns="0" bIns="0" rtlCol="0" anchor="t"/>
          <a:lstStyle/>
          <a:p>
            <a:pPr algn="l" indent="0" marL="0">
              <a:lnSpc>
                <a:spcPct val="133000"/>
              </a:lnSpc>
              <a:spcAft>
                <a:spcPts val="1650"/>
              </a:spcAft>
              <a:buNone/>
            </a:pPr>
            <a:endParaRPr lang="en-US" sz="1450" dirty="0"/>
          </a:p>
          <a:p>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CSE499 · Section 15 · Group 5</a:t>
            </a:r>
            <a:endParaRPr lang="en-US" sz="1450" dirty="0"/>
          </a:p>
        </p:txBody>
      </p:sp>
      <p:sp>
        <p:nvSpPr>
          <p:cNvPr id="4" name="Text 2"/>
          <p:cNvSpPr/>
          <p:nvPr/>
        </p:nvSpPr>
        <p:spPr>
          <a:xfrm>
            <a:off x="661475" y="3758803"/>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E1E5CD"/>
                </a:solidFill>
                <a:latin typeface="Outfit Bold" pitchFamily="34" charset="0"/>
                <a:ea typeface="Outfit Bold" pitchFamily="34" charset="-122"/>
                <a:cs typeface="Outfit Bold" pitchFamily="34" charset="-120"/>
              </a:rPr>
              <a:t>Group Members:</a:t>
            </a:r>
            <a:endParaRPr lang="en-US" sz="1850" dirty="0"/>
          </a:p>
        </p:txBody>
      </p:sp>
      <p:sp>
        <p:nvSpPr>
          <p:cNvPr id="5" name="Text 3"/>
          <p:cNvSpPr/>
          <p:nvPr/>
        </p:nvSpPr>
        <p:spPr>
          <a:xfrm>
            <a:off x="661475" y="4337546"/>
            <a:ext cx="10868745" cy="1776413"/>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Abdullah Al Noman (2022095042)</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Tamanna Akter Mou (2211951042)</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Aryan Sami (2231407042)</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Ridita Afrin Riya (2211622042)</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Abrar Mohammed Tanzim Alam (2222864042)</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6440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Introduction</a:t>
            </a:r>
            <a:endParaRPr lang="en-US" sz="3700" dirty="0"/>
          </a:p>
        </p:txBody>
      </p:sp>
      <p:sp>
        <p:nvSpPr>
          <p:cNvPr id="3" name="Shape 1"/>
          <p:cNvSpPr/>
          <p:nvPr/>
        </p:nvSpPr>
        <p:spPr>
          <a:xfrm>
            <a:off x="661475" y="2612727"/>
            <a:ext cx="3496877" cy="2601218"/>
          </a:xfrm>
          <a:prstGeom prst="roundRect">
            <a:avLst>
              <a:gd name="adj" fmla="val 1090"/>
            </a:avLst>
          </a:prstGeom>
          <a:solidFill>
            <a:srgbClr val="3B3C3E"/>
          </a:solidFill>
          <a:ln/>
        </p:spPr>
      </p:sp>
      <p:sp>
        <p:nvSpPr>
          <p:cNvPr id="4" name="Text 2"/>
          <p:cNvSpPr/>
          <p:nvPr/>
        </p:nvSpPr>
        <p:spPr>
          <a:xfrm>
            <a:off x="850482" y="2801739"/>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Challenge</a:t>
            </a:r>
            <a:endParaRPr lang="en-US" sz="1850" dirty="0"/>
          </a:p>
        </p:txBody>
      </p:sp>
      <p:sp>
        <p:nvSpPr>
          <p:cNvPr id="5" name="Text 3"/>
          <p:cNvSpPr/>
          <p:nvPr/>
        </p:nvSpPr>
        <p:spPr>
          <a:xfrm>
            <a:off x="850482" y="3210421"/>
            <a:ext cx="311886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Natural disasters create chaotic and dangerous conditions, making it hard for rescue teams to assess scenes quickly.</a:t>
            </a:r>
            <a:endParaRPr lang="en-US" sz="1450" dirty="0"/>
          </a:p>
        </p:txBody>
      </p:sp>
      <p:sp>
        <p:nvSpPr>
          <p:cNvPr id="6" name="Shape 4"/>
          <p:cNvSpPr/>
          <p:nvPr/>
        </p:nvSpPr>
        <p:spPr>
          <a:xfrm>
            <a:off x="4347359" y="2612727"/>
            <a:ext cx="3496877" cy="2601218"/>
          </a:xfrm>
          <a:prstGeom prst="roundRect">
            <a:avLst>
              <a:gd name="adj" fmla="val 1090"/>
            </a:avLst>
          </a:prstGeom>
          <a:solidFill>
            <a:srgbClr val="3B3C3E"/>
          </a:solidFill>
          <a:ln/>
        </p:spPr>
      </p:sp>
      <p:sp>
        <p:nvSpPr>
          <p:cNvPr id="7" name="Text 5"/>
          <p:cNvSpPr/>
          <p:nvPr/>
        </p:nvSpPr>
        <p:spPr>
          <a:xfrm>
            <a:off x="4536366" y="2801739"/>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Project Focus</a:t>
            </a:r>
            <a:endParaRPr lang="en-US" sz="1850" dirty="0"/>
          </a:p>
        </p:txBody>
      </p:sp>
      <p:sp>
        <p:nvSpPr>
          <p:cNvPr id="8" name="Text 6"/>
          <p:cNvSpPr/>
          <p:nvPr/>
        </p:nvSpPr>
        <p:spPr>
          <a:xfrm>
            <a:off x="4536366" y="3210421"/>
            <a:ext cx="311886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This project explores </a:t>
            </a:r>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Post-Disaster Rescue Guidance using Fine-Tuned Vision Language Models (VLMs)</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to analyze disaster images and provide useful response guidance.</a:t>
            </a:r>
            <a:endParaRPr lang="en-US" sz="1450" dirty="0"/>
          </a:p>
        </p:txBody>
      </p:sp>
      <p:sp>
        <p:nvSpPr>
          <p:cNvPr id="9" name="Shape 7"/>
          <p:cNvSpPr/>
          <p:nvPr/>
        </p:nvSpPr>
        <p:spPr>
          <a:xfrm>
            <a:off x="8033244" y="2612727"/>
            <a:ext cx="3496877" cy="2601218"/>
          </a:xfrm>
          <a:prstGeom prst="roundRect">
            <a:avLst>
              <a:gd name="adj" fmla="val 1090"/>
            </a:avLst>
          </a:prstGeom>
          <a:solidFill>
            <a:srgbClr val="3B3C3E"/>
          </a:solidFill>
          <a:ln/>
        </p:spPr>
      </p:sp>
      <p:sp>
        <p:nvSpPr>
          <p:cNvPr id="10" name="Text 8"/>
          <p:cNvSpPr/>
          <p:nvPr/>
        </p:nvSpPr>
        <p:spPr>
          <a:xfrm>
            <a:off x="8222251" y="2801739"/>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Why It Matters</a:t>
            </a:r>
            <a:endParaRPr lang="en-US" sz="1850" dirty="0"/>
          </a:p>
        </p:txBody>
      </p:sp>
      <p:sp>
        <p:nvSpPr>
          <p:cNvPr id="11" name="Text 9"/>
          <p:cNvSpPr/>
          <p:nvPr/>
        </p:nvSpPr>
        <p:spPr>
          <a:xfrm>
            <a:off x="8222251" y="3210421"/>
            <a:ext cx="311886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This matters because faster, more accurate guidance can improve rescue efficiency and help save lives by supporting responders in critical moments.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0345"/>
            <a:ext cx="10868745" cy="283468"/>
          </a:xfrm>
          <a:prstGeom prst="rect">
            <a:avLst/>
          </a:prstGeom>
          <a:noFill/>
          <a:ln/>
        </p:spPr>
        <p:txBody>
          <a:bodyPr wrap="none" lIns="0" tIns="0" rIns="0" bIns="0" rtlCol="0" anchor="t"/>
          <a:lstStyle/>
          <a:p>
            <a:pPr algn="l" indent="0" marL="0">
              <a:lnSpc>
                <a:spcPct val="104000"/>
              </a:lnSpc>
              <a:buNone/>
            </a:pPr>
            <a:r>
              <a:rPr lang="en-US" sz="1750" b="1" dirty="0">
                <a:solidFill>
                  <a:srgbClr val="E1E5CD"/>
                </a:solidFill>
                <a:latin typeface="Outfit Bold" pitchFamily="34" charset="0"/>
                <a:ea typeface="Outfit Bold" pitchFamily="34" charset="-122"/>
                <a:cs typeface="Outfit Bold" pitchFamily="34" charset="-120"/>
              </a:rPr>
              <a:t>Introduction and Background</a:t>
            </a:r>
            <a:endParaRPr lang="en-US" sz="1750" dirty="0"/>
          </a:p>
        </p:txBody>
      </p:sp>
      <p:sp>
        <p:nvSpPr>
          <p:cNvPr id="3" name="Shape 1"/>
          <p:cNvSpPr/>
          <p:nvPr/>
        </p:nvSpPr>
        <p:spPr>
          <a:xfrm>
            <a:off x="552635" y="1005185"/>
            <a:ext cx="5467610" cy="1457722"/>
          </a:xfrm>
          <a:prstGeom prst="roundRect">
            <a:avLst>
              <a:gd name="adj" fmla="val 1556"/>
            </a:avLst>
          </a:prstGeom>
          <a:solidFill>
            <a:srgbClr val="1B1B27"/>
          </a:solidFill>
          <a:ln/>
        </p:spPr>
      </p:sp>
      <p:sp>
        <p:nvSpPr>
          <p:cNvPr id="4" name="Text 2"/>
          <p:cNvSpPr/>
          <p:nvPr/>
        </p:nvSpPr>
        <p:spPr>
          <a:xfrm>
            <a:off x="703840" y="1126133"/>
            <a:ext cx="5165199" cy="236240"/>
          </a:xfrm>
          <a:prstGeom prst="rect">
            <a:avLst/>
          </a:prstGeom>
          <a:noFill/>
          <a:ln/>
        </p:spPr>
        <p:txBody>
          <a:bodyPr wrap="none" lIns="0" tIns="0" rIns="0" bIns="0" rtlCol="0" anchor="t"/>
          <a:lstStyle/>
          <a:p>
            <a:pPr algn="l" indent="0" marL="0">
              <a:lnSpc>
                <a:spcPct val="104000"/>
              </a:lnSpc>
              <a:buNone/>
            </a:pPr>
            <a:r>
              <a:rPr lang="en-US" sz="1450" b="1" dirty="0">
                <a:solidFill>
                  <a:srgbClr val="E1E5CD"/>
                </a:solidFill>
                <a:latin typeface="Outfit Bold" pitchFamily="34" charset="0"/>
                <a:ea typeface="Outfit Bold" pitchFamily="34" charset="-122"/>
                <a:cs typeface="Outfit Bold" pitchFamily="34" charset="-120"/>
              </a:rPr>
              <a:t>The Challenge</a:t>
            </a:r>
            <a:endParaRPr lang="en-US" sz="1450" dirty="0"/>
          </a:p>
        </p:txBody>
      </p:sp>
      <p:sp>
        <p:nvSpPr>
          <p:cNvPr id="5" name="Text 3"/>
          <p:cNvSpPr/>
          <p:nvPr/>
        </p:nvSpPr>
        <p:spPr>
          <a:xfrm>
            <a:off x="703840" y="1483320"/>
            <a:ext cx="5165199" cy="870744"/>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2C4B5"/>
                </a:solidFill>
                <a:latin typeface="Bitter" pitchFamily="34" charset="0"/>
                <a:ea typeface="Bitter" pitchFamily="34" charset="-122"/>
                <a:cs typeface="Bitter" pitchFamily="34" charset="-120"/>
              </a:rPr>
              <a:t>Rapid disaster assessment from aerial and satellite imagery is extremely difficult because affected areas are visually complex, chaotic, and constantly changing. Standard tools and generic models are ill-equipped to handle the scale, noise, and urgency of post-disaster environments.</a:t>
            </a:r>
            <a:endParaRPr lang="en-US" sz="1150" dirty="0"/>
          </a:p>
        </p:txBody>
      </p:sp>
      <p:sp>
        <p:nvSpPr>
          <p:cNvPr id="6" name="Text 4"/>
          <p:cNvSpPr/>
          <p:nvPr/>
        </p:nvSpPr>
        <p:spPr>
          <a:xfrm>
            <a:off x="6286640" y="1126133"/>
            <a:ext cx="5249930" cy="236240"/>
          </a:xfrm>
          <a:prstGeom prst="rect">
            <a:avLst/>
          </a:prstGeom>
          <a:noFill/>
          <a:ln/>
        </p:spPr>
        <p:txBody>
          <a:bodyPr wrap="none" lIns="0" tIns="0" rIns="0" bIns="0" rtlCol="0" anchor="t"/>
          <a:lstStyle/>
          <a:p>
            <a:pPr algn="l" indent="0" marL="0">
              <a:lnSpc>
                <a:spcPct val="104000"/>
              </a:lnSpc>
              <a:buNone/>
            </a:pPr>
            <a:r>
              <a:rPr lang="en-US" sz="1450" b="1" dirty="0">
                <a:solidFill>
                  <a:srgbClr val="E1E5CD"/>
                </a:solidFill>
                <a:latin typeface="Outfit Bold" pitchFamily="34" charset="0"/>
                <a:ea typeface="Outfit Bold" pitchFamily="34" charset="-122"/>
                <a:cs typeface="Outfit Bold" pitchFamily="34" charset="-120"/>
              </a:rPr>
              <a:t>Our Approach</a:t>
            </a:r>
            <a:endParaRPr lang="en-US" sz="1450" dirty="0"/>
          </a:p>
        </p:txBody>
      </p:sp>
      <p:sp>
        <p:nvSpPr>
          <p:cNvPr id="7" name="Text 5"/>
          <p:cNvSpPr/>
          <p:nvPr/>
        </p:nvSpPr>
        <p:spPr>
          <a:xfrm>
            <a:off x="6286640" y="1483320"/>
            <a:ext cx="5249930" cy="870744"/>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2C4B5"/>
                </a:solidFill>
                <a:latin typeface="Bitter" pitchFamily="34" charset="0"/>
                <a:ea typeface="Bitter" pitchFamily="34" charset="-122"/>
                <a:cs typeface="Bitter" pitchFamily="34" charset="-120"/>
              </a:rPr>
              <a:t>We introduce a comprehensive, multi-phase pipeline. We combine super-resolution, specialized spatial segmentation, a fine-tuned Vision-Language Model (VLM), and an autonomous Multi-Agent command center to turn chaotic images into actionable rescue guidance.</a:t>
            </a:r>
            <a:endParaRPr lang="en-US" sz="1150" dirty="0"/>
          </a:p>
        </p:txBody>
      </p:sp>
      <p:pic>
        <p:nvPicPr>
          <p:cNvPr id="8" name="Image 0" descr="preencoded.png">    </p:cNvPr>
          <p:cNvPicPr>
            <a:picLocks noChangeAspect="1"/>
          </p:cNvPicPr>
          <p:nvPr/>
        </p:nvPicPr>
        <p:blipFill>
          <a:blip r:embed="rId1"/>
          <a:stretch>
            <a:fillRect/>
          </a:stretch>
        </p:blipFill>
        <p:spPr>
          <a:xfrm>
            <a:off x="1784206" y="2598936"/>
            <a:ext cx="8623283" cy="3718620"/>
          </a:xfrm>
          <a:prstGeom prst="rect">
            <a:avLst/>
          </a:prstGeom>
        </p:spPr>
      </p:pic>
      <p:sp>
        <p:nvSpPr>
          <p:cNvPr id="9" name="Text 6"/>
          <p:cNvSpPr/>
          <p:nvPr/>
        </p:nvSpPr>
        <p:spPr>
          <a:xfrm>
            <a:off x="2364495" y="5612366"/>
            <a:ext cx="2396622" cy="244546"/>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Outfit Bold" pitchFamily="34" charset="0"/>
                <a:ea typeface="Outfit Bold" pitchFamily="34" charset="-122"/>
                <a:cs typeface="Outfit Bold" pitchFamily="34" charset="-120"/>
              </a:rPr>
              <a:t>Multi-Agent Orchestration</a:t>
            </a:r>
            <a:endParaRPr lang="en-US" sz="1500" dirty="0"/>
          </a:p>
        </p:txBody>
      </p:sp>
      <p:sp>
        <p:nvSpPr>
          <p:cNvPr id="10" name="Text 7"/>
          <p:cNvSpPr/>
          <p:nvPr/>
        </p:nvSpPr>
        <p:spPr>
          <a:xfrm>
            <a:off x="2364495" y="4751566"/>
            <a:ext cx="1956315" cy="244546"/>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Outfit Bold" pitchFamily="34" charset="0"/>
                <a:ea typeface="Outfit Bold" pitchFamily="34" charset="-122"/>
                <a:cs typeface="Outfit Bold" pitchFamily="34" charset="-120"/>
              </a:rPr>
              <a:t>VLM Reasoning</a:t>
            </a:r>
            <a:endParaRPr lang="en-US" sz="1500" dirty="0"/>
          </a:p>
        </p:txBody>
      </p:sp>
      <p:sp>
        <p:nvSpPr>
          <p:cNvPr id="11" name="Text 8"/>
          <p:cNvSpPr/>
          <p:nvPr/>
        </p:nvSpPr>
        <p:spPr>
          <a:xfrm>
            <a:off x="2364495" y="3899460"/>
            <a:ext cx="1956315" cy="244546"/>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Outfit Bold" pitchFamily="34" charset="0"/>
                <a:ea typeface="Outfit Bold" pitchFamily="34" charset="-122"/>
                <a:cs typeface="Outfit Bold" pitchFamily="34" charset="-120"/>
              </a:rPr>
              <a:t>U-Net Segmentation</a:t>
            </a:r>
            <a:endParaRPr lang="en-US" sz="1500" dirty="0"/>
          </a:p>
        </p:txBody>
      </p:sp>
      <p:sp>
        <p:nvSpPr>
          <p:cNvPr id="12" name="Text 9"/>
          <p:cNvSpPr/>
          <p:nvPr/>
        </p:nvSpPr>
        <p:spPr>
          <a:xfrm>
            <a:off x="2364495" y="3038660"/>
            <a:ext cx="1956315" cy="244546"/>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Outfit Bold" pitchFamily="34" charset="0"/>
                <a:ea typeface="Outfit Bold" pitchFamily="34" charset="-122"/>
                <a:cs typeface="Outfit Bold" pitchFamily="34" charset="-120"/>
              </a:rPr>
              <a:t>Super-Resolution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9636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Problem Statement</a:t>
            </a:r>
            <a:endParaRPr lang="en-US" sz="3700" dirty="0"/>
          </a:p>
        </p:txBody>
      </p:sp>
      <p:sp>
        <p:nvSpPr>
          <p:cNvPr id="3" name="Shape 1"/>
          <p:cNvSpPr/>
          <p:nvPr/>
        </p:nvSpPr>
        <p:spPr>
          <a:xfrm>
            <a:off x="661475" y="1932285"/>
            <a:ext cx="3496877" cy="3962102"/>
          </a:xfrm>
          <a:prstGeom prst="roundRect">
            <a:avLst>
              <a:gd name="adj" fmla="val 811"/>
            </a:avLst>
          </a:prstGeom>
          <a:solidFill>
            <a:srgbClr val="3B3C3E"/>
          </a:solidFill>
          <a:ln/>
        </p:spPr>
      </p:sp>
      <p:sp>
        <p:nvSpPr>
          <p:cNvPr id="4" name="Shape 2"/>
          <p:cNvSpPr/>
          <p:nvPr/>
        </p:nvSpPr>
        <p:spPr>
          <a:xfrm>
            <a:off x="850482" y="2121297"/>
            <a:ext cx="567021" cy="567035"/>
          </a:xfrm>
          <a:prstGeom prst="ellipse">
            <a:avLst/>
          </a:prstGeom>
          <a:solidFill>
            <a:srgbClr val="9FA58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6450" y="2277170"/>
            <a:ext cx="255085" cy="255091"/>
          </a:xfrm>
          <a:prstGeom prst="rect">
            <a:avLst/>
          </a:prstGeom>
        </p:spPr>
      </p:pic>
      <p:sp>
        <p:nvSpPr>
          <p:cNvPr id="6" name="Text 3"/>
          <p:cNvSpPr/>
          <p:nvPr/>
        </p:nvSpPr>
        <p:spPr>
          <a:xfrm>
            <a:off x="850482" y="287734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Why this is hard</a:t>
            </a:r>
            <a:endParaRPr lang="en-US" sz="1850" dirty="0"/>
          </a:p>
        </p:txBody>
      </p:sp>
      <p:sp>
        <p:nvSpPr>
          <p:cNvPr id="7" name="Text 4"/>
          <p:cNvSpPr/>
          <p:nvPr/>
        </p:nvSpPr>
        <p:spPr>
          <a:xfrm>
            <a:off x="850482" y="3286026"/>
            <a:ext cx="311886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Rapid disaster assessment from aerial and satellite imagery is difficult because affected areas are large, visually complex, and changing quickly.</a:t>
            </a:r>
            <a:endParaRPr lang="en-US" sz="1450" dirty="0"/>
          </a:p>
        </p:txBody>
      </p:sp>
      <p:sp>
        <p:nvSpPr>
          <p:cNvPr id="8" name="Shape 5"/>
          <p:cNvSpPr/>
          <p:nvPr/>
        </p:nvSpPr>
        <p:spPr>
          <a:xfrm>
            <a:off x="4347359" y="1932285"/>
            <a:ext cx="3496877" cy="3962102"/>
          </a:xfrm>
          <a:prstGeom prst="roundRect">
            <a:avLst>
              <a:gd name="adj" fmla="val 811"/>
            </a:avLst>
          </a:prstGeom>
          <a:solidFill>
            <a:srgbClr val="3B3C3E"/>
          </a:solidFill>
          <a:ln/>
        </p:spPr>
      </p:sp>
      <p:sp>
        <p:nvSpPr>
          <p:cNvPr id="9" name="Shape 6"/>
          <p:cNvSpPr/>
          <p:nvPr/>
        </p:nvSpPr>
        <p:spPr>
          <a:xfrm>
            <a:off x="4536366" y="2121297"/>
            <a:ext cx="567021" cy="567035"/>
          </a:xfrm>
          <a:prstGeom prst="ellipse">
            <a:avLst/>
          </a:prstGeom>
          <a:solidFill>
            <a:srgbClr val="9FA582"/>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2334" y="2277170"/>
            <a:ext cx="255085" cy="255091"/>
          </a:xfrm>
          <a:prstGeom prst="rect">
            <a:avLst/>
          </a:prstGeom>
        </p:spPr>
      </p:pic>
      <p:sp>
        <p:nvSpPr>
          <p:cNvPr id="11" name="Text 7"/>
          <p:cNvSpPr/>
          <p:nvPr/>
        </p:nvSpPr>
        <p:spPr>
          <a:xfrm>
            <a:off x="4536366" y="287734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What current methods miss</a:t>
            </a:r>
            <a:endParaRPr lang="en-US" sz="1850" dirty="0"/>
          </a:p>
        </p:txBody>
      </p:sp>
      <p:sp>
        <p:nvSpPr>
          <p:cNvPr id="12" name="Text 8"/>
          <p:cNvSpPr/>
          <p:nvPr/>
        </p:nvSpPr>
        <p:spPr>
          <a:xfrm>
            <a:off x="4536366" y="3286026"/>
            <a:ext cx="311886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Current methods often stop at basic detection or classification, leaving responders to manually interpret debris, flooding, smoke, collapsed structures, and blocked roads at scale.</a:t>
            </a:r>
            <a:endParaRPr lang="en-US" sz="1450" dirty="0"/>
          </a:p>
        </p:txBody>
      </p:sp>
      <p:sp>
        <p:nvSpPr>
          <p:cNvPr id="13" name="Shape 9"/>
          <p:cNvSpPr/>
          <p:nvPr/>
        </p:nvSpPr>
        <p:spPr>
          <a:xfrm>
            <a:off x="8033244" y="1932285"/>
            <a:ext cx="3496877" cy="3962102"/>
          </a:xfrm>
          <a:prstGeom prst="roundRect">
            <a:avLst>
              <a:gd name="adj" fmla="val 811"/>
            </a:avLst>
          </a:prstGeom>
          <a:solidFill>
            <a:srgbClr val="3B3C3E"/>
          </a:solidFill>
          <a:ln/>
        </p:spPr>
      </p:sp>
      <p:sp>
        <p:nvSpPr>
          <p:cNvPr id="14" name="Shape 10"/>
          <p:cNvSpPr/>
          <p:nvPr/>
        </p:nvSpPr>
        <p:spPr>
          <a:xfrm>
            <a:off x="8222251" y="2121297"/>
            <a:ext cx="567021" cy="567035"/>
          </a:xfrm>
          <a:prstGeom prst="ellipse">
            <a:avLst/>
          </a:prstGeom>
          <a:solidFill>
            <a:srgbClr val="9FA582"/>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8219" y="2277170"/>
            <a:ext cx="255085" cy="255091"/>
          </a:xfrm>
          <a:prstGeom prst="rect">
            <a:avLst/>
          </a:prstGeom>
        </p:spPr>
      </p:pic>
      <p:sp>
        <p:nvSpPr>
          <p:cNvPr id="16" name="Text 11"/>
          <p:cNvSpPr/>
          <p:nvPr/>
        </p:nvSpPr>
        <p:spPr>
          <a:xfrm>
            <a:off x="8222251" y="287734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What’s needed</a:t>
            </a:r>
            <a:endParaRPr lang="en-US" sz="1850" dirty="0"/>
          </a:p>
        </p:txBody>
      </p:sp>
      <p:sp>
        <p:nvSpPr>
          <p:cNvPr id="17" name="Text 12"/>
          <p:cNvSpPr/>
          <p:nvPr/>
        </p:nvSpPr>
        <p:spPr>
          <a:xfrm>
            <a:off x="8222251" y="3286026"/>
            <a:ext cx="3118863"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What’s needed is an automated system that can turn disaster imagery into actionable rescue guidance. It should identify critical hazards, damaged infrastructure, and possible trapped victims to help teams make faster, more informed decisions.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6564"/>
            <a:ext cx="10868745" cy="425252"/>
          </a:xfrm>
          <a:prstGeom prst="rect">
            <a:avLst/>
          </a:prstGeom>
          <a:noFill/>
          <a:ln/>
        </p:spPr>
        <p:txBody>
          <a:bodyPr wrap="none" lIns="0" tIns="0" rIns="0" bIns="0" rtlCol="0" anchor="t"/>
          <a:lstStyle/>
          <a:p>
            <a:pPr algn="l" indent="0" marL="0">
              <a:lnSpc>
                <a:spcPct val="104000"/>
              </a:lnSpc>
              <a:buNone/>
            </a:pPr>
            <a:r>
              <a:rPr lang="en-US" sz="2650" b="1" dirty="0">
                <a:solidFill>
                  <a:srgbClr val="E1E5CD"/>
                </a:solidFill>
                <a:latin typeface="Outfit Bold" pitchFamily="34" charset="0"/>
                <a:ea typeface="Outfit Bold" pitchFamily="34" charset="-122"/>
                <a:cs typeface="Outfit Bold" pitchFamily="34" charset="-120"/>
              </a:rPr>
              <a:t>Project Goals and Objectives</a:t>
            </a:r>
            <a:endParaRPr lang="en-US" sz="2650" dirty="0"/>
          </a:p>
        </p:txBody>
      </p:sp>
      <p:sp>
        <p:nvSpPr>
          <p:cNvPr id="3" name="Text 1"/>
          <p:cNvSpPr/>
          <p:nvPr/>
        </p:nvSpPr>
        <p:spPr>
          <a:xfrm>
            <a:off x="661475" y="1498005"/>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The system is designed around four core technical objectives, each addressing a distinct gap in current disaster response capabilities.</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28813"/>
            <a:ext cx="5357778" cy="2004715"/>
          </a:xfrm>
          <a:prstGeom prst="rect">
            <a:avLst/>
          </a:prstGeom>
        </p:spPr>
      </p:pic>
      <p:sp>
        <p:nvSpPr>
          <p:cNvPr id="5" name="Text 2"/>
          <p:cNvSpPr/>
          <p:nvPr/>
        </p:nvSpPr>
        <p:spPr>
          <a:xfrm>
            <a:off x="3212821" y="204350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C2C4B5"/>
                </a:solidFill>
                <a:latin typeface="Outfit Bold" pitchFamily="34" charset="0"/>
                <a:ea typeface="Outfit Bold" pitchFamily="34" charset="-122"/>
                <a:cs typeface="Outfit Bold" pitchFamily="34" charset="-120"/>
              </a:rPr>
              <a:t>1</a:t>
            </a:r>
            <a:endParaRPr lang="en-US" sz="2000" dirty="0"/>
          </a:p>
        </p:txBody>
      </p:sp>
      <p:sp>
        <p:nvSpPr>
          <p:cNvPr id="6" name="Text 3"/>
          <p:cNvSpPr/>
          <p:nvPr/>
        </p:nvSpPr>
        <p:spPr>
          <a:xfrm>
            <a:off x="850581" y="2611239"/>
            <a:ext cx="4979565" cy="265708"/>
          </a:xfrm>
          <a:prstGeom prst="rect">
            <a:avLst/>
          </a:prstGeom>
          <a:noFill/>
          <a:ln/>
        </p:spPr>
        <p:txBody>
          <a:bodyPr wrap="none" lIns="0" tIns="0" rIns="0" bIns="0" rtlCol="0" anchor="t"/>
          <a:lstStyle/>
          <a:p>
            <a:pPr algn="l"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Enhance Visibility</a:t>
            </a:r>
            <a:endParaRPr lang="en-US" sz="1650" dirty="0"/>
          </a:p>
        </p:txBody>
      </p:sp>
      <p:sp>
        <p:nvSpPr>
          <p:cNvPr id="7" name="Text 4"/>
          <p:cNvSpPr/>
          <p:nvPr/>
        </p:nvSpPr>
        <p:spPr>
          <a:xfrm>
            <a:off x="850581" y="2968724"/>
            <a:ext cx="4979565"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Upscale low-resolution aerial images using </a:t>
            </a:r>
            <a:pPr algn="l"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Super-Resolution</a:t>
            </a:r>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 techniques to recover structural detail lost during capture or transmission.</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2343" y="1928813"/>
            <a:ext cx="5357877" cy="2004715"/>
          </a:xfrm>
          <a:prstGeom prst="rect">
            <a:avLst/>
          </a:prstGeom>
        </p:spPr>
      </p:pic>
      <p:sp>
        <p:nvSpPr>
          <p:cNvPr id="9" name="Text 5"/>
          <p:cNvSpPr/>
          <p:nvPr/>
        </p:nvSpPr>
        <p:spPr>
          <a:xfrm>
            <a:off x="8723690" y="204350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C2C4B5"/>
                </a:solidFill>
                <a:latin typeface="Outfit Bold" pitchFamily="34" charset="0"/>
                <a:ea typeface="Outfit Bold" pitchFamily="34" charset="-122"/>
                <a:cs typeface="Outfit Bold" pitchFamily="34" charset="-120"/>
              </a:rPr>
              <a:t>2</a:t>
            </a:r>
            <a:endParaRPr lang="en-US" sz="2000" dirty="0"/>
          </a:p>
        </p:txBody>
      </p:sp>
      <p:sp>
        <p:nvSpPr>
          <p:cNvPr id="10" name="Text 6"/>
          <p:cNvSpPr/>
          <p:nvPr/>
        </p:nvSpPr>
        <p:spPr>
          <a:xfrm>
            <a:off x="6361449" y="2611239"/>
            <a:ext cx="4979664" cy="265708"/>
          </a:xfrm>
          <a:prstGeom prst="rect">
            <a:avLst/>
          </a:prstGeom>
          <a:noFill/>
          <a:ln/>
        </p:spPr>
        <p:txBody>
          <a:bodyPr wrap="none" lIns="0" tIns="0" rIns="0" bIns="0" rtlCol="0" anchor="t"/>
          <a:lstStyle/>
          <a:p>
            <a:pPr algn="l"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Spatial Grounding</a:t>
            </a:r>
            <a:endParaRPr lang="en-US" sz="1650" dirty="0"/>
          </a:p>
        </p:txBody>
      </p:sp>
      <p:sp>
        <p:nvSpPr>
          <p:cNvPr id="11" name="Text 7"/>
          <p:cNvSpPr/>
          <p:nvPr/>
        </p:nvSpPr>
        <p:spPr>
          <a:xfrm>
            <a:off x="6361449" y="2968724"/>
            <a:ext cx="4979664"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Accurately detect and count damaged structures using </a:t>
            </a:r>
            <a:pPr algn="l"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semantic segmentation</a:t>
            </a:r>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 providing precise spatial localization of damage zones.</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86622"/>
            <a:ext cx="5357778" cy="2004715"/>
          </a:xfrm>
          <a:prstGeom prst="rect">
            <a:avLst/>
          </a:prstGeom>
        </p:spPr>
      </p:pic>
      <p:sp>
        <p:nvSpPr>
          <p:cNvPr id="13" name="Text 8"/>
          <p:cNvSpPr/>
          <p:nvPr/>
        </p:nvSpPr>
        <p:spPr>
          <a:xfrm>
            <a:off x="3212821" y="420131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C2C4B5"/>
                </a:solidFill>
                <a:latin typeface="Outfit Bold" pitchFamily="34" charset="0"/>
                <a:ea typeface="Outfit Bold" pitchFamily="34" charset="-122"/>
                <a:cs typeface="Outfit Bold" pitchFamily="34" charset="-120"/>
              </a:rPr>
              <a:t>3</a:t>
            </a:r>
            <a:endParaRPr lang="en-US" sz="2000" dirty="0"/>
          </a:p>
        </p:txBody>
      </p:sp>
      <p:sp>
        <p:nvSpPr>
          <p:cNvPr id="14" name="Text 9"/>
          <p:cNvSpPr/>
          <p:nvPr/>
        </p:nvSpPr>
        <p:spPr>
          <a:xfrm>
            <a:off x="850581" y="4769048"/>
            <a:ext cx="4979565" cy="265708"/>
          </a:xfrm>
          <a:prstGeom prst="rect">
            <a:avLst/>
          </a:prstGeom>
          <a:noFill/>
          <a:ln/>
        </p:spPr>
        <p:txBody>
          <a:bodyPr wrap="none" lIns="0" tIns="0" rIns="0" bIns="0" rtlCol="0" anchor="t"/>
          <a:lstStyle/>
          <a:p>
            <a:pPr algn="l"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Disaster Reasoning</a:t>
            </a:r>
            <a:endParaRPr lang="en-US" sz="1650" dirty="0"/>
          </a:p>
        </p:txBody>
      </p:sp>
      <p:sp>
        <p:nvSpPr>
          <p:cNvPr id="15" name="Text 10"/>
          <p:cNvSpPr/>
          <p:nvPr/>
        </p:nvSpPr>
        <p:spPr>
          <a:xfrm>
            <a:off x="850581" y="5126534"/>
            <a:ext cx="4979565"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Fine-tune a </a:t>
            </a:r>
            <a:pPr algn="l"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Large Vision-Language Model (VLM)</a:t>
            </a:r>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 specifically on disaster datasets (DisasterM3) to enable domain-specific contextual reasoning.</a:t>
            </a:r>
            <a:endParaRPr lang="en-US" sz="13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2343" y="4086622"/>
            <a:ext cx="5357877" cy="2004715"/>
          </a:xfrm>
          <a:prstGeom prst="rect">
            <a:avLst/>
          </a:prstGeom>
        </p:spPr>
      </p:pic>
      <p:sp>
        <p:nvSpPr>
          <p:cNvPr id="17" name="Text 11"/>
          <p:cNvSpPr/>
          <p:nvPr/>
        </p:nvSpPr>
        <p:spPr>
          <a:xfrm>
            <a:off x="8723690" y="420131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C2C4B5"/>
                </a:solidFill>
                <a:latin typeface="Outfit Bold" pitchFamily="34" charset="0"/>
                <a:ea typeface="Outfit Bold" pitchFamily="34" charset="-122"/>
                <a:cs typeface="Outfit Bold" pitchFamily="34" charset="-120"/>
              </a:rPr>
              <a:t>4</a:t>
            </a:r>
            <a:endParaRPr lang="en-US" sz="2000" dirty="0"/>
          </a:p>
        </p:txBody>
      </p:sp>
      <p:sp>
        <p:nvSpPr>
          <p:cNvPr id="18" name="Text 12"/>
          <p:cNvSpPr/>
          <p:nvPr/>
        </p:nvSpPr>
        <p:spPr>
          <a:xfrm>
            <a:off x="6361449" y="4769048"/>
            <a:ext cx="4979664" cy="265708"/>
          </a:xfrm>
          <a:prstGeom prst="rect">
            <a:avLst/>
          </a:prstGeom>
          <a:noFill/>
          <a:ln/>
        </p:spPr>
        <p:txBody>
          <a:bodyPr wrap="none" lIns="0" tIns="0" rIns="0" bIns="0" rtlCol="0" anchor="t"/>
          <a:lstStyle/>
          <a:p>
            <a:pPr algn="l"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Autonomous Triage</a:t>
            </a:r>
            <a:endParaRPr lang="en-US" sz="1650" dirty="0"/>
          </a:p>
        </p:txBody>
      </p:sp>
      <p:sp>
        <p:nvSpPr>
          <p:cNvPr id="19" name="Text 13"/>
          <p:cNvSpPr/>
          <p:nvPr/>
        </p:nvSpPr>
        <p:spPr>
          <a:xfrm>
            <a:off x="6361449" y="5126534"/>
            <a:ext cx="4979664"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Orchestrate VLM outputs into a </a:t>
            </a:r>
            <a:pPr algn="l"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multi-agent system</a:t>
            </a:r>
            <a:pPr algn="l" indent="0" marL="0">
              <a:lnSpc>
                <a:spcPct val="127000"/>
              </a:lnSpc>
              <a:buNone/>
            </a:pPr>
            <a:r>
              <a:rPr lang="en-US" sz="1300" dirty="0">
                <a:solidFill>
                  <a:srgbClr val="C2C4B5"/>
                </a:solidFill>
                <a:latin typeface="Bitter" pitchFamily="34" charset="0"/>
                <a:ea typeface="Bitter" pitchFamily="34" charset="-122"/>
                <a:cs typeface="Bitter" pitchFamily="34" charset="-120"/>
              </a:rPr>
              <a:t> to automate public alerts and resource allocation without human bottlenecks.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24966"/>
            <a:ext cx="10325239" cy="58080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43421"/>
            <a:ext cx="10868745" cy="561181"/>
          </a:xfrm>
          <a:prstGeom prst="rect">
            <a:avLst/>
          </a:prstGeom>
          <a:noFill/>
          <a:ln/>
        </p:spPr>
        <p:txBody>
          <a:bodyPr wrap="none" lIns="0" tIns="0" rIns="0" bIns="0" rtlCol="0" anchor="t"/>
          <a:lstStyle/>
          <a:p>
            <a:pPr algn="l" indent="0" marL="0">
              <a:lnSpc>
                <a:spcPct val="104000"/>
              </a:lnSpc>
              <a:buNone/>
            </a:pPr>
            <a:r>
              <a:rPr lang="en-US" sz="3500" b="1" dirty="0">
                <a:solidFill>
                  <a:srgbClr val="E1E5CD"/>
                </a:solidFill>
                <a:latin typeface="Outfit Bold" pitchFamily="34" charset="0"/>
                <a:ea typeface="Outfit Bold" pitchFamily="34" charset="-122"/>
                <a:cs typeface="Outfit Bold" pitchFamily="34" charset="-120"/>
              </a:rPr>
              <a:t>System Architecture</a:t>
            </a:r>
            <a:endParaRPr lang="en-US" sz="3500" dirty="0"/>
          </a:p>
        </p:txBody>
      </p:sp>
      <p:sp>
        <p:nvSpPr>
          <p:cNvPr id="3" name="Shape 1"/>
          <p:cNvSpPr/>
          <p:nvPr/>
        </p:nvSpPr>
        <p:spPr>
          <a:xfrm>
            <a:off x="6083148" y="1917700"/>
            <a:ext cx="25399" cy="4396879"/>
          </a:xfrm>
          <a:prstGeom prst="roundRect">
            <a:avLst>
              <a:gd name="adj" fmla="val 50001"/>
            </a:avLst>
          </a:prstGeom>
          <a:solidFill>
            <a:srgbClr val="545557"/>
          </a:solidFill>
          <a:ln/>
        </p:spPr>
      </p:sp>
      <p:sp>
        <p:nvSpPr>
          <p:cNvPr id="4" name="Shape 2"/>
          <p:cNvSpPr/>
          <p:nvPr/>
        </p:nvSpPr>
        <p:spPr>
          <a:xfrm>
            <a:off x="5762183" y="2107009"/>
            <a:ext cx="359064" cy="25400"/>
          </a:xfrm>
          <a:prstGeom prst="roundRect">
            <a:avLst>
              <a:gd name="adj" fmla="val 49999"/>
            </a:avLst>
          </a:prstGeom>
          <a:solidFill>
            <a:srgbClr val="545557"/>
          </a:solidFill>
          <a:ln/>
        </p:spPr>
      </p:sp>
      <p:sp>
        <p:nvSpPr>
          <p:cNvPr id="5" name="Shape 3"/>
          <p:cNvSpPr/>
          <p:nvPr/>
        </p:nvSpPr>
        <p:spPr>
          <a:xfrm>
            <a:off x="6028529" y="2052389"/>
            <a:ext cx="134636" cy="134640"/>
          </a:xfrm>
          <a:prstGeom prst="ellipse">
            <a:avLst/>
          </a:prstGeom>
          <a:solidFill>
            <a:srgbClr val="9FA582"/>
          </a:solidFill>
          <a:ln/>
        </p:spPr>
      </p:sp>
      <p:sp>
        <p:nvSpPr>
          <p:cNvPr id="6" name="Text 4"/>
          <p:cNvSpPr/>
          <p:nvPr/>
        </p:nvSpPr>
        <p:spPr>
          <a:xfrm>
            <a:off x="661475" y="1979414"/>
            <a:ext cx="4716146" cy="280491"/>
          </a:xfrm>
          <a:prstGeom prst="rect">
            <a:avLst/>
          </a:prstGeom>
          <a:noFill/>
          <a:ln/>
        </p:spPr>
        <p:txBody>
          <a:bodyPr wrap="none" lIns="0" tIns="0" rIns="0" bIns="0" rtlCol="0" anchor="t"/>
          <a:lstStyle/>
          <a:p>
            <a:pPr algn="r" indent="0" marL="0">
              <a:lnSpc>
                <a:spcPct val="104000"/>
              </a:lnSpc>
              <a:buNone/>
            </a:pPr>
            <a:r>
              <a:rPr lang="en-US" sz="1750" b="1" dirty="0">
                <a:solidFill>
                  <a:srgbClr val="C2C4B5"/>
                </a:solidFill>
                <a:latin typeface="Outfit Bold" pitchFamily="34" charset="0"/>
                <a:ea typeface="Outfit Bold" pitchFamily="34" charset="-122"/>
                <a:cs typeface="Outfit Bold" pitchFamily="34" charset="-120"/>
              </a:rPr>
              <a:t>High-Res Image Input</a:t>
            </a:r>
            <a:endParaRPr lang="en-US" sz="1750" dirty="0"/>
          </a:p>
        </p:txBody>
      </p:sp>
      <p:sp>
        <p:nvSpPr>
          <p:cNvPr id="7" name="Text 5"/>
          <p:cNvSpPr/>
          <p:nvPr/>
        </p:nvSpPr>
        <p:spPr>
          <a:xfrm>
            <a:off x="661475" y="2362200"/>
            <a:ext cx="4716146" cy="280095"/>
          </a:xfrm>
          <a:prstGeom prst="rect">
            <a:avLst/>
          </a:prstGeom>
          <a:noFill/>
          <a:ln/>
        </p:spPr>
        <p:txBody>
          <a:bodyPr wrap="none" lIns="0" tIns="0" rIns="0" bIns="0" rtlCol="0" anchor="t"/>
          <a:lstStyle/>
          <a:p>
            <a:pPr algn="r" indent="0" marL="0">
              <a:lnSpc>
                <a:spcPct val="130000"/>
              </a:lnSpc>
              <a:buNone/>
            </a:pPr>
            <a:r>
              <a:rPr lang="en-US" sz="1400" dirty="0">
                <a:solidFill>
                  <a:srgbClr val="C2C4B5"/>
                </a:solidFill>
                <a:latin typeface="Bitter" pitchFamily="34" charset="0"/>
                <a:ea typeface="Bitter" pitchFamily="34" charset="-122"/>
                <a:cs typeface="Bitter" pitchFamily="34" charset="-120"/>
              </a:rPr>
              <a:t>VRT-enhanced aerial image fed into triage module</a:t>
            </a:r>
            <a:endParaRPr lang="en-US" sz="1400" dirty="0"/>
          </a:p>
        </p:txBody>
      </p:sp>
      <p:sp>
        <p:nvSpPr>
          <p:cNvPr id="8" name="Shape 6"/>
          <p:cNvSpPr/>
          <p:nvPr/>
        </p:nvSpPr>
        <p:spPr>
          <a:xfrm>
            <a:off x="6070448" y="3166368"/>
            <a:ext cx="359064" cy="25400"/>
          </a:xfrm>
          <a:prstGeom prst="roundRect">
            <a:avLst>
              <a:gd name="adj" fmla="val 49999"/>
            </a:avLst>
          </a:prstGeom>
          <a:solidFill>
            <a:srgbClr val="545557"/>
          </a:solidFill>
          <a:ln/>
        </p:spPr>
      </p:sp>
      <p:sp>
        <p:nvSpPr>
          <p:cNvPr id="9" name="Shape 7"/>
          <p:cNvSpPr/>
          <p:nvPr/>
        </p:nvSpPr>
        <p:spPr>
          <a:xfrm>
            <a:off x="6028529" y="3111748"/>
            <a:ext cx="134636" cy="134640"/>
          </a:xfrm>
          <a:prstGeom prst="ellipse">
            <a:avLst/>
          </a:prstGeom>
          <a:solidFill>
            <a:srgbClr val="9FA582"/>
          </a:solidFill>
          <a:ln/>
        </p:spPr>
      </p:sp>
      <p:sp>
        <p:nvSpPr>
          <p:cNvPr id="10" name="Text 8"/>
          <p:cNvSpPr/>
          <p:nvPr/>
        </p:nvSpPr>
        <p:spPr>
          <a:xfrm>
            <a:off x="6814074" y="3038773"/>
            <a:ext cx="4716146" cy="280491"/>
          </a:xfrm>
          <a:prstGeom prst="rect">
            <a:avLst/>
          </a:prstGeom>
          <a:noFill/>
          <a:ln/>
        </p:spPr>
        <p:txBody>
          <a:bodyPr wrap="none" lIns="0" tIns="0" rIns="0" bIns="0" rtlCol="0" anchor="t"/>
          <a:lstStyle/>
          <a:p>
            <a:pPr algn="l" indent="0" marL="0">
              <a:lnSpc>
                <a:spcPct val="104000"/>
              </a:lnSpc>
              <a:buNone/>
            </a:pPr>
            <a:r>
              <a:rPr lang="en-US" sz="1750" b="1" dirty="0">
                <a:solidFill>
                  <a:srgbClr val="C2C4B5"/>
                </a:solidFill>
                <a:latin typeface="Outfit Bold" pitchFamily="34" charset="0"/>
                <a:ea typeface="Outfit Bold" pitchFamily="34" charset="-122"/>
                <a:cs typeface="Outfit Bold" pitchFamily="34" charset="-120"/>
              </a:rPr>
              <a:t>U-Net Bounding Boxes</a:t>
            </a:r>
            <a:endParaRPr lang="en-US" sz="1750" dirty="0"/>
          </a:p>
        </p:txBody>
      </p:sp>
      <p:sp>
        <p:nvSpPr>
          <p:cNvPr id="11" name="Text 9"/>
          <p:cNvSpPr/>
          <p:nvPr/>
        </p:nvSpPr>
        <p:spPr>
          <a:xfrm>
            <a:off x="6814074" y="3421559"/>
            <a:ext cx="4716146"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C2C4B5"/>
                </a:solidFill>
                <a:latin typeface="Bitter" pitchFamily="34" charset="0"/>
                <a:ea typeface="Bitter" pitchFamily="34" charset="-122"/>
                <a:cs typeface="Bitter" pitchFamily="34" charset="-120"/>
              </a:rPr>
              <a:t>Lightweight 21M-parameter U-Net outputs spatial bounding boxes around damaged structures</a:t>
            </a:r>
            <a:endParaRPr lang="en-US" sz="1400" dirty="0"/>
          </a:p>
        </p:txBody>
      </p:sp>
      <p:sp>
        <p:nvSpPr>
          <p:cNvPr id="12" name="Shape 10"/>
          <p:cNvSpPr/>
          <p:nvPr/>
        </p:nvSpPr>
        <p:spPr>
          <a:xfrm>
            <a:off x="5762183" y="4086027"/>
            <a:ext cx="359064" cy="25400"/>
          </a:xfrm>
          <a:prstGeom prst="roundRect">
            <a:avLst>
              <a:gd name="adj" fmla="val 49999"/>
            </a:avLst>
          </a:prstGeom>
          <a:solidFill>
            <a:srgbClr val="545557"/>
          </a:solidFill>
          <a:ln/>
        </p:spPr>
      </p:sp>
      <p:sp>
        <p:nvSpPr>
          <p:cNvPr id="13" name="Shape 11"/>
          <p:cNvSpPr/>
          <p:nvPr/>
        </p:nvSpPr>
        <p:spPr>
          <a:xfrm>
            <a:off x="6028529" y="4031407"/>
            <a:ext cx="134636" cy="134640"/>
          </a:xfrm>
          <a:prstGeom prst="ellipse">
            <a:avLst/>
          </a:prstGeom>
          <a:solidFill>
            <a:srgbClr val="9FA582"/>
          </a:solidFill>
          <a:ln/>
        </p:spPr>
      </p:sp>
      <p:sp>
        <p:nvSpPr>
          <p:cNvPr id="14" name="Text 12"/>
          <p:cNvSpPr/>
          <p:nvPr/>
        </p:nvSpPr>
        <p:spPr>
          <a:xfrm>
            <a:off x="661475" y="3958431"/>
            <a:ext cx="4716146" cy="280491"/>
          </a:xfrm>
          <a:prstGeom prst="rect">
            <a:avLst/>
          </a:prstGeom>
          <a:noFill/>
          <a:ln/>
        </p:spPr>
        <p:txBody>
          <a:bodyPr wrap="none" lIns="0" tIns="0" rIns="0" bIns="0" rtlCol="0" anchor="t"/>
          <a:lstStyle/>
          <a:p>
            <a:pPr algn="r" indent="0" marL="0">
              <a:lnSpc>
                <a:spcPct val="104000"/>
              </a:lnSpc>
              <a:buNone/>
            </a:pPr>
            <a:r>
              <a:rPr lang="en-US" sz="1750" b="1" dirty="0">
                <a:solidFill>
                  <a:srgbClr val="C2C4B5"/>
                </a:solidFill>
                <a:latin typeface="Outfit Bold" pitchFamily="34" charset="0"/>
                <a:ea typeface="Outfit Bold" pitchFamily="34" charset="-122"/>
                <a:cs typeface="Outfit Bold" pitchFamily="34" charset="-120"/>
              </a:rPr>
              <a:t>Cropped Region Extraction</a:t>
            </a:r>
            <a:endParaRPr lang="en-US" sz="1750" dirty="0"/>
          </a:p>
        </p:txBody>
      </p:sp>
      <p:sp>
        <p:nvSpPr>
          <p:cNvPr id="15" name="Text 13"/>
          <p:cNvSpPr/>
          <p:nvPr/>
        </p:nvSpPr>
        <p:spPr>
          <a:xfrm>
            <a:off x="661475" y="4341217"/>
            <a:ext cx="4716146" cy="560189"/>
          </a:xfrm>
          <a:prstGeom prst="rect">
            <a:avLst/>
          </a:prstGeom>
          <a:noFill/>
          <a:ln/>
        </p:spPr>
        <p:txBody>
          <a:bodyPr wrap="square" lIns="0" tIns="0" rIns="0" bIns="0" rtlCol="0" anchor="t">
            <a:normAutofit/>
          </a:bodyPr>
          <a:lstStyle/>
          <a:p>
            <a:pPr algn="r" indent="0" marL="0">
              <a:lnSpc>
                <a:spcPct val="130000"/>
              </a:lnSpc>
              <a:buNone/>
            </a:pPr>
            <a:r>
              <a:rPr lang="en-US" sz="1400" dirty="0">
                <a:solidFill>
                  <a:srgbClr val="C2C4B5"/>
                </a:solidFill>
                <a:latin typeface="Bitter" pitchFamily="34" charset="0"/>
                <a:ea typeface="Bitter" pitchFamily="34" charset="-122"/>
                <a:cs typeface="Bitter" pitchFamily="34" charset="-120"/>
              </a:rPr>
              <a:t>Bounding box crops isolate damage zones for focused analysis</a:t>
            </a:r>
            <a:endParaRPr lang="en-US" sz="1400" dirty="0"/>
          </a:p>
        </p:txBody>
      </p:sp>
      <p:sp>
        <p:nvSpPr>
          <p:cNvPr id="16" name="Shape 14"/>
          <p:cNvSpPr/>
          <p:nvPr/>
        </p:nvSpPr>
        <p:spPr>
          <a:xfrm>
            <a:off x="6070448" y="5005685"/>
            <a:ext cx="359064" cy="25400"/>
          </a:xfrm>
          <a:prstGeom prst="roundRect">
            <a:avLst>
              <a:gd name="adj" fmla="val 49999"/>
            </a:avLst>
          </a:prstGeom>
          <a:solidFill>
            <a:srgbClr val="545557"/>
          </a:solidFill>
          <a:ln/>
        </p:spPr>
      </p:sp>
      <p:sp>
        <p:nvSpPr>
          <p:cNvPr id="17" name="Shape 15"/>
          <p:cNvSpPr/>
          <p:nvPr/>
        </p:nvSpPr>
        <p:spPr>
          <a:xfrm>
            <a:off x="6028529" y="4951065"/>
            <a:ext cx="134636" cy="134640"/>
          </a:xfrm>
          <a:prstGeom prst="ellipse">
            <a:avLst/>
          </a:prstGeom>
          <a:solidFill>
            <a:srgbClr val="9FA582"/>
          </a:solidFill>
          <a:ln/>
        </p:spPr>
      </p:sp>
      <p:sp>
        <p:nvSpPr>
          <p:cNvPr id="18" name="Text 16"/>
          <p:cNvSpPr/>
          <p:nvPr/>
        </p:nvSpPr>
        <p:spPr>
          <a:xfrm>
            <a:off x="6814074" y="4878090"/>
            <a:ext cx="4716146" cy="280491"/>
          </a:xfrm>
          <a:prstGeom prst="rect">
            <a:avLst/>
          </a:prstGeom>
          <a:noFill/>
          <a:ln/>
        </p:spPr>
        <p:txBody>
          <a:bodyPr wrap="none" lIns="0" tIns="0" rIns="0" bIns="0" rtlCol="0" anchor="t"/>
          <a:lstStyle/>
          <a:p>
            <a:pPr algn="l" indent="0" marL="0">
              <a:lnSpc>
                <a:spcPct val="104000"/>
              </a:lnSpc>
              <a:buNone/>
            </a:pPr>
            <a:r>
              <a:rPr lang="en-US" sz="1750" b="1" dirty="0">
                <a:solidFill>
                  <a:srgbClr val="C2C4B5"/>
                </a:solidFill>
                <a:latin typeface="Outfit Bold" pitchFamily="34" charset="0"/>
                <a:ea typeface="Outfit Bold" pitchFamily="34" charset="-122"/>
                <a:cs typeface="Outfit Bold" pitchFamily="34" charset="-120"/>
              </a:rPr>
              <a:t>Qwen2.5-VL Reasoning</a:t>
            </a:r>
            <a:endParaRPr lang="en-US" sz="1750" dirty="0"/>
          </a:p>
        </p:txBody>
      </p:sp>
      <p:sp>
        <p:nvSpPr>
          <p:cNvPr id="19" name="Text 17"/>
          <p:cNvSpPr/>
          <p:nvPr/>
        </p:nvSpPr>
        <p:spPr>
          <a:xfrm>
            <a:off x="6814074" y="5260876"/>
            <a:ext cx="4716146"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C2C4B5"/>
                </a:solidFill>
                <a:latin typeface="Bitter" pitchFamily="34" charset="0"/>
                <a:ea typeface="Bitter" pitchFamily="34" charset="-122"/>
                <a:cs typeface="Bitter" pitchFamily="34" charset="-120"/>
              </a:rPr>
              <a:t>VLM performs detailed damage classification and contextual reasoning on each crop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3955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The Limitation of Vision-Language Models (VLMs)</a:t>
            </a:r>
            <a:endParaRPr lang="en-US" sz="3700" dirty="0"/>
          </a:p>
        </p:txBody>
      </p:sp>
      <p:sp>
        <p:nvSpPr>
          <p:cNvPr id="3" name="Text 1"/>
          <p:cNvSpPr/>
          <p:nvPr/>
        </p:nvSpPr>
        <p:spPr>
          <a:xfrm>
            <a:off x="661475" y="150822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Understanding the spatial bottleneck is crucial for effective disaster response.</a:t>
            </a:r>
            <a:endParaRPr lang="en-US" sz="1450" dirty="0"/>
          </a:p>
        </p:txBody>
      </p:sp>
      <p:pic>
        <p:nvPicPr>
          <p:cNvPr id="4" name="Image 0" descr="preencoded.png">    </p:cNvPr>
          <p:cNvPicPr>
            <a:picLocks noChangeAspect="1"/>
          </p:cNvPicPr>
          <p:nvPr/>
        </p:nvPicPr>
        <p:blipFill>
          <a:blip r:embed="rId1"/>
          <a:stretch>
            <a:fillRect/>
          </a:stretch>
        </p:blipFill>
        <p:spPr>
          <a:xfrm>
            <a:off x="661475" y="2023269"/>
            <a:ext cx="5434373" cy="756047"/>
          </a:xfrm>
          <a:prstGeom prst="rect">
            <a:avLst/>
          </a:prstGeom>
        </p:spPr>
      </p:pic>
      <p:sp>
        <p:nvSpPr>
          <p:cNvPr id="5" name="Text 2"/>
          <p:cNvSpPr/>
          <p:nvPr/>
        </p:nvSpPr>
        <p:spPr>
          <a:xfrm>
            <a:off x="850482" y="2968327"/>
            <a:ext cx="5056359"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Goal</a:t>
            </a:r>
            <a:endParaRPr lang="en-US" sz="1850" dirty="0"/>
          </a:p>
        </p:txBody>
      </p:sp>
      <p:sp>
        <p:nvSpPr>
          <p:cNvPr id="6" name="Text 3"/>
          <p:cNvSpPr/>
          <p:nvPr/>
        </p:nvSpPr>
        <p:spPr>
          <a:xfrm>
            <a:off x="850482" y="3377009"/>
            <a:ext cx="505635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Rapidly assess disaster zones to deploy emergency resources</a:t>
            </a:r>
            <a:endParaRPr lang="en-US" sz="1450" dirty="0"/>
          </a:p>
        </p:txBody>
      </p:sp>
      <p:pic>
        <p:nvPicPr>
          <p:cNvPr id="7" name="Image 1" descr="preencoded.png">    </p:cNvPr>
          <p:cNvPicPr>
            <a:picLocks noChangeAspect="1"/>
          </p:cNvPicPr>
          <p:nvPr/>
        </p:nvPicPr>
        <p:blipFill>
          <a:blip r:embed="rId2"/>
          <a:stretch>
            <a:fillRect/>
          </a:stretch>
        </p:blipFill>
        <p:spPr>
          <a:xfrm>
            <a:off x="6095848" y="2023269"/>
            <a:ext cx="5434373" cy="756047"/>
          </a:xfrm>
          <a:prstGeom prst="rect">
            <a:avLst/>
          </a:prstGeom>
        </p:spPr>
      </p:pic>
      <p:sp>
        <p:nvSpPr>
          <p:cNvPr id="8" name="Text 4"/>
          <p:cNvSpPr/>
          <p:nvPr/>
        </p:nvSpPr>
        <p:spPr>
          <a:xfrm>
            <a:off x="6284854" y="2968327"/>
            <a:ext cx="5056359"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Problem</a:t>
            </a:r>
            <a:endParaRPr lang="en-US" sz="1850" dirty="0"/>
          </a:p>
        </p:txBody>
      </p:sp>
      <p:sp>
        <p:nvSpPr>
          <p:cNvPr id="9" name="Text 5"/>
          <p:cNvSpPr/>
          <p:nvPr/>
        </p:nvSpPr>
        <p:spPr>
          <a:xfrm>
            <a:off x="6284854" y="3377009"/>
            <a:ext cx="505635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VLMs excel at reasoning but struggle with precise geometric mapping</a:t>
            </a:r>
            <a:endParaRPr lang="en-US" sz="1450" dirty="0"/>
          </a:p>
        </p:txBody>
      </p:sp>
      <p:pic>
        <p:nvPicPr>
          <p:cNvPr id="10" name="Image 2" descr="preencoded.png">    </p:cNvPr>
          <p:cNvPicPr>
            <a:picLocks noChangeAspect="1"/>
          </p:cNvPicPr>
          <p:nvPr/>
        </p:nvPicPr>
        <p:blipFill>
          <a:blip r:embed="rId3"/>
          <a:stretch>
            <a:fillRect/>
          </a:stretch>
        </p:blipFill>
        <p:spPr>
          <a:xfrm>
            <a:off x="661475" y="4170859"/>
            <a:ext cx="5434373" cy="756047"/>
          </a:xfrm>
          <a:prstGeom prst="rect">
            <a:avLst/>
          </a:prstGeom>
        </p:spPr>
      </p:pic>
      <p:sp>
        <p:nvSpPr>
          <p:cNvPr id="11" name="Text 6"/>
          <p:cNvSpPr/>
          <p:nvPr/>
        </p:nvSpPr>
        <p:spPr>
          <a:xfrm>
            <a:off x="850482" y="5115917"/>
            <a:ext cx="5056359"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Spatial Bottleneck</a:t>
            </a:r>
            <a:endParaRPr lang="en-US" sz="1850" dirty="0"/>
          </a:p>
        </p:txBody>
      </p:sp>
      <p:sp>
        <p:nvSpPr>
          <p:cNvPr id="12" name="Text 7"/>
          <p:cNvSpPr/>
          <p:nvPr/>
        </p:nvSpPr>
        <p:spPr>
          <a:xfrm>
            <a:off x="850482" y="5524599"/>
            <a:ext cx="505635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VLMs can identify collapsed buildings but cannot generate exact geographical bounding boxes</a:t>
            </a:r>
            <a:endParaRPr lang="en-US" sz="1450" dirty="0"/>
          </a:p>
        </p:txBody>
      </p:sp>
      <p:pic>
        <p:nvPicPr>
          <p:cNvPr id="13" name="Image 3" descr="preencoded.png">    </p:cNvPr>
          <p:cNvPicPr>
            <a:picLocks noChangeAspect="1"/>
          </p:cNvPicPr>
          <p:nvPr/>
        </p:nvPicPr>
        <p:blipFill>
          <a:blip r:embed="rId4"/>
          <a:stretch>
            <a:fillRect/>
          </a:stretch>
        </p:blipFill>
        <p:spPr>
          <a:xfrm>
            <a:off x="6095848" y="4170859"/>
            <a:ext cx="5434373" cy="756047"/>
          </a:xfrm>
          <a:prstGeom prst="rect">
            <a:avLst/>
          </a:prstGeom>
        </p:spPr>
      </p:pic>
      <p:sp>
        <p:nvSpPr>
          <p:cNvPr id="14" name="Text 8"/>
          <p:cNvSpPr/>
          <p:nvPr/>
        </p:nvSpPr>
        <p:spPr>
          <a:xfrm>
            <a:off x="6284854" y="5115917"/>
            <a:ext cx="5056359"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Risk</a:t>
            </a:r>
            <a:endParaRPr lang="en-US" sz="1850" dirty="0"/>
          </a:p>
        </p:txBody>
      </p:sp>
      <p:sp>
        <p:nvSpPr>
          <p:cNvPr id="15" name="Text 9"/>
          <p:cNvSpPr/>
          <p:nvPr/>
        </p:nvSpPr>
        <p:spPr>
          <a:xfrm>
            <a:off x="6284854" y="5524599"/>
            <a:ext cx="505635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Relying solely on VLMs leads to spatial hallucinations and dangerous misrouting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7973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Hybrid Triage Pipeline: U-Net Spatial Grounding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48408"/>
            <a:ext cx="472468" cy="472480"/>
          </a:xfrm>
          <a:prstGeom prst="rect">
            <a:avLst/>
          </a:prstGeom>
        </p:spPr>
      </p:pic>
      <p:sp>
        <p:nvSpPr>
          <p:cNvPr id="4" name="Text 1"/>
          <p:cNvSpPr/>
          <p:nvPr/>
        </p:nvSpPr>
        <p:spPr>
          <a:xfrm>
            <a:off x="661475" y="2257127"/>
            <a:ext cx="3465426"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Approach</a:t>
            </a:r>
            <a:endParaRPr lang="en-US" sz="1850" dirty="0"/>
          </a:p>
        </p:txBody>
      </p:sp>
      <p:sp>
        <p:nvSpPr>
          <p:cNvPr id="5" name="Text 2"/>
          <p:cNvSpPr/>
          <p:nvPr/>
        </p:nvSpPr>
        <p:spPr>
          <a:xfrm>
            <a:off x="661475" y="2665809"/>
            <a:ext cx="3465426"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Splitting the workload with a lightweight Semantic Segmentation model as Stage 1 for exact geography, Stage 2 (VLM) for reasoning.</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3135" y="1548408"/>
            <a:ext cx="472468" cy="472480"/>
          </a:xfrm>
          <a:prstGeom prst="rect">
            <a:avLst/>
          </a:prstGeom>
        </p:spPr>
      </p:pic>
      <p:sp>
        <p:nvSpPr>
          <p:cNvPr id="7" name="Text 3"/>
          <p:cNvSpPr/>
          <p:nvPr/>
        </p:nvSpPr>
        <p:spPr>
          <a:xfrm>
            <a:off x="4363135" y="2257127"/>
            <a:ext cx="3465426"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Architecture</a:t>
            </a:r>
            <a:endParaRPr lang="en-US" sz="1850" dirty="0"/>
          </a:p>
        </p:txBody>
      </p:sp>
      <p:sp>
        <p:nvSpPr>
          <p:cNvPr id="8" name="Text 4"/>
          <p:cNvSpPr/>
          <p:nvPr/>
        </p:nvSpPr>
        <p:spPr>
          <a:xfrm>
            <a:off x="4363135" y="2665809"/>
            <a:ext cx="346542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ResNet34-backed U-Net chosen for proven ImageNet feature extraction.</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4794" y="1548408"/>
            <a:ext cx="472468" cy="472480"/>
          </a:xfrm>
          <a:prstGeom prst="rect">
            <a:avLst/>
          </a:prstGeom>
        </p:spPr>
      </p:pic>
      <p:sp>
        <p:nvSpPr>
          <p:cNvPr id="10" name="Text 5"/>
          <p:cNvSpPr/>
          <p:nvPr/>
        </p:nvSpPr>
        <p:spPr>
          <a:xfrm>
            <a:off x="8064794" y="2257127"/>
            <a:ext cx="3465426"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Dataset</a:t>
            </a:r>
            <a:endParaRPr lang="en-US" sz="1850" dirty="0"/>
          </a:p>
        </p:txBody>
      </p:sp>
      <p:sp>
        <p:nvSpPr>
          <p:cNvPr id="11" name="Text 6"/>
          <p:cNvSpPr/>
          <p:nvPr/>
        </p:nvSpPr>
        <p:spPr>
          <a:xfrm>
            <a:off x="8064794" y="2665809"/>
            <a:ext cx="346542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37,204 high-resolution images from DisasterM3 dataset.</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53508"/>
            <a:ext cx="472468" cy="472480"/>
          </a:xfrm>
          <a:prstGeom prst="rect">
            <a:avLst/>
          </a:prstGeom>
        </p:spPr>
      </p:pic>
      <p:sp>
        <p:nvSpPr>
          <p:cNvPr id="13" name="Text 7"/>
          <p:cNvSpPr/>
          <p:nvPr/>
        </p:nvSpPr>
        <p:spPr>
          <a:xfrm>
            <a:off x="661475" y="4962227"/>
            <a:ext cx="3465426"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The Task</a:t>
            </a:r>
            <a:endParaRPr lang="en-US" sz="1850" dirty="0"/>
          </a:p>
        </p:txBody>
      </p:sp>
      <p:sp>
        <p:nvSpPr>
          <p:cNvPr id="14" name="Text 8"/>
          <p:cNvSpPr/>
          <p:nvPr/>
        </p:nvSpPr>
        <p:spPr>
          <a:xfrm>
            <a:off x="661475" y="5370909"/>
            <a:ext cx="3465426"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Pixel-by-pixel classification into 4 structural states (Background, Intact, Damaged, Destroyed).</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63135" y="4253508"/>
            <a:ext cx="472468" cy="472480"/>
          </a:xfrm>
          <a:prstGeom prst="rect">
            <a:avLst/>
          </a:prstGeom>
        </p:spPr>
      </p:pic>
      <p:sp>
        <p:nvSpPr>
          <p:cNvPr id="16" name="Text 9"/>
          <p:cNvSpPr/>
          <p:nvPr/>
        </p:nvSpPr>
        <p:spPr>
          <a:xfrm>
            <a:off x="4363135" y="4962227"/>
            <a:ext cx="3465426"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Output</a:t>
            </a:r>
            <a:endParaRPr lang="en-US" sz="1850" dirty="0"/>
          </a:p>
        </p:txBody>
      </p:sp>
      <p:sp>
        <p:nvSpPr>
          <p:cNvPr id="17" name="Text 10"/>
          <p:cNvSpPr/>
          <p:nvPr/>
        </p:nvSpPr>
        <p:spPr>
          <a:xfrm>
            <a:off x="4363135" y="5370909"/>
            <a:ext cx="3465426"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Generates a deterministic, color-coded damage map as spatial truth for downstream VLM.</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96658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Overcoming Hardware &amp; Data Constraints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35262"/>
            <a:ext cx="3496877" cy="3956050"/>
          </a:xfrm>
          <a:prstGeom prst="rect">
            <a:avLst/>
          </a:prstGeom>
        </p:spPr>
      </p:pic>
      <p:sp>
        <p:nvSpPr>
          <p:cNvPr id="4" name="Text 1"/>
          <p:cNvSpPr/>
          <p:nvPr/>
        </p:nvSpPr>
        <p:spPr>
          <a:xfrm>
            <a:off x="2268183" y="20669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C2C4B5"/>
                </a:solidFill>
                <a:latin typeface="Outfit Bold" pitchFamily="34" charset="0"/>
                <a:ea typeface="Outfit Bold" pitchFamily="34" charset="-122"/>
                <a:cs typeface="Outfit Bold" pitchFamily="34" charset="-120"/>
              </a:rPr>
              <a:t>1</a:t>
            </a:r>
            <a:endParaRPr lang="en-US" sz="2200" dirty="0"/>
          </a:p>
        </p:txBody>
      </p:sp>
      <p:sp>
        <p:nvSpPr>
          <p:cNvPr id="5" name="Text 2"/>
          <p:cNvSpPr/>
          <p:nvPr/>
        </p:nvSpPr>
        <p:spPr>
          <a:xfrm>
            <a:off x="875881" y="2716709"/>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Challenge 1 &amp; Solution 1</a:t>
            </a:r>
            <a:endParaRPr lang="en-US" sz="1850" dirty="0"/>
          </a:p>
        </p:txBody>
      </p:sp>
      <p:sp>
        <p:nvSpPr>
          <p:cNvPr id="6" name="Text 3"/>
          <p:cNvSpPr/>
          <p:nvPr/>
        </p:nvSpPr>
        <p:spPr>
          <a:xfrm>
            <a:off x="875881" y="3125391"/>
            <a:ext cx="3068065" cy="2532757"/>
          </a:xfrm>
          <a:prstGeom prst="rect">
            <a:avLst/>
          </a:prstGeom>
          <a:noFill/>
          <a:ln/>
        </p:spPr>
        <p:txBody>
          <a:bodyPr wrap="square" lIns="0" tIns="0" rIns="0" bIns="0" rtlCol="0" anchor="t">
            <a:normAutofit/>
          </a:bodyPr>
          <a:lstStyle/>
          <a:p>
            <a:pPr algn="l" indent="0" marL="0">
              <a:lnSpc>
                <a:spcPct val="133000"/>
              </a:lnSpc>
              <a:spcAft>
                <a:spcPts val="850"/>
              </a:spcAft>
              <a:buNone/>
            </a:pPr>
            <a:r>
              <a:rPr lang="en-US" sz="1450" b="1" dirty="0">
                <a:solidFill>
                  <a:srgbClr val="C2C4B5"/>
                </a:solidFill>
                <a:latin typeface="Bitter Bold" pitchFamily="34" charset="0"/>
                <a:ea typeface="Bitter Bold" pitchFamily="34" charset="-122"/>
                <a:cs typeface="Bitter Bold" pitchFamily="34" charset="-120"/>
              </a:rPr>
              <a:t>Challenge:</a:t>
            </a:r>
            <a:pPr algn="l" indent="0" marL="0">
              <a:lnSpc>
                <a:spcPct val="133000"/>
              </a:lnSpc>
              <a:spcAft>
                <a:spcPts val="850"/>
              </a:spcAft>
              <a:buNone/>
            </a:pPr>
            <a:r>
              <a:rPr lang="en-US" sz="1450" dirty="0">
                <a:solidFill>
                  <a:srgbClr val="C2C4B5"/>
                </a:solidFill>
                <a:latin typeface="Bitter" pitchFamily="34" charset="0"/>
                <a:ea typeface="Bitter" pitchFamily="34" charset="-122"/>
                <a:cs typeface="Bitter" pitchFamily="34" charset="-120"/>
              </a:rPr>
              <a:t> Extreme Class Imbalance (6.2 Billion Background pixels vs. 22 Million Destroyed pixels)</a:t>
            </a:r>
            <a:endParaRPr lang="en-US" sz="1450" dirty="0"/>
          </a:p>
          <a:p>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Solution:</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Implemented custom Combined Loss function (Cross-Entropy + Dice Loss) to prioritize rare destroyed structures</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1935262"/>
            <a:ext cx="3496877" cy="3956050"/>
          </a:xfrm>
          <a:prstGeom prst="rect">
            <a:avLst/>
          </a:prstGeom>
        </p:spPr>
      </p:pic>
      <p:sp>
        <p:nvSpPr>
          <p:cNvPr id="8" name="Text 4"/>
          <p:cNvSpPr/>
          <p:nvPr/>
        </p:nvSpPr>
        <p:spPr>
          <a:xfrm>
            <a:off x="5954067" y="20669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C2C4B5"/>
                </a:solidFill>
                <a:latin typeface="Outfit Bold" pitchFamily="34" charset="0"/>
                <a:ea typeface="Outfit Bold" pitchFamily="34" charset="-122"/>
                <a:cs typeface="Outfit Bold" pitchFamily="34" charset="-120"/>
              </a:rPr>
              <a:t>2</a:t>
            </a:r>
            <a:endParaRPr lang="en-US" sz="2200" dirty="0"/>
          </a:p>
        </p:txBody>
      </p:sp>
      <p:sp>
        <p:nvSpPr>
          <p:cNvPr id="9" name="Text 5"/>
          <p:cNvSpPr/>
          <p:nvPr/>
        </p:nvSpPr>
        <p:spPr>
          <a:xfrm>
            <a:off x="4561766" y="2716709"/>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Challenge 2 &amp; Solution 2</a:t>
            </a:r>
            <a:endParaRPr lang="en-US" sz="1850" dirty="0"/>
          </a:p>
        </p:txBody>
      </p:sp>
      <p:sp>
        <p:nvSpPr>
          <p:cNvPr id="10" name="Text 6"/>
          <p:cNvSpPr/>
          <p:nvPr/>
        </p:nvSpPr>
        <p:spPr>
          <a:xfrm>
            <a:off x="4561766" y="3125391"/>
            <a:ext cx="3068065" cy="1927920"/>
          </a:xfrm>
          <a:prstGeom prst="rect">
            <a:avLst/>
          </a:prstGeom>
          <a:noFill/>
          <a:ln/>
        </p:spPr>
        <p:txBody>
          <a:bodyPr wrap="square" lIns="0" tIns="0" rIns="0" bIns="0" rtlCol="0" anchor="t">
            <a:normAutofit/>
          </a:bodyPr>
          <a:lstStyle/>
          <a:p>
            <a:pPr algn="l" indent="0" marL="0">
              <a:lnSpc>
                <a:spcPct val="133000"/>
              </a:lnSpc>
              <a:spcAft>
                <a:spcPts val="850"/>
              </a:spcAft>
              <a:buNone/>
            </a:pPr>
            <a:r>
              <a:rPr lang="en-US" sz="1450" b="1" dirty="0">
                <a:solidFill>
                  <a:srgbClr val="C2C4B5"/>
                </a:solidFill>
                <a:latin typeface="Bitter Bold" pitchFamily="34" charset="0"/>
                <a:ea typeface="Bitter Bold" pitchFamily="34" charset="-122"/>
                <a:cs typeface="Bitter Bold" pitchFamily="34" charset="-120"/>
              </a:rPr>
              <a:t>Challenge:</a:t>
            </a:r>
            <a:pPr algn="l" indent="0" marL="0">
              <a:lnSpc>
                <a:spcPct val="133000"/>
              </a:lnSpc>
              <a:spcAft>
                <a:spcPts val="850"/>
              </a:spcAft>
              <a:buNone/>
            </a:pPr>
            <a:r>
              <a:rPr lang="en-US" sz="1450" dirty="0">
                <a:solidFill>
                  <a:srgbClr val="C2C4B5"/>
                </a:solidFill>
                <a:latin typeface="Bitter" pitchFamily="34" charset="0"/>
                <a:ea typeface="Bitter" pitchFamily="34" charset="-122"/>
                <a:cs typeface="Bitter" pitchFamily="34" charset="-120"/>
              </a:rPr>
              <a:t> Hardware Limits (Kaggle T4 16GB VRAM constraint)</a:t>
            </a:r>
            <a:endParaRPr lang="en-US" sz="1450" dirty="0"/>
          </a:p>
          <a:p>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Solution:</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Integrated Automatic Mixed Precision (AMP) and on-disk mask caching, doubling training speed and cutting memory by 50%</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1935262"/>
            <a:ext cx="3496877" cy="3956050"/>
          </a:xfrm>
          <a:prstGeom prst="rect">
            <a:avLst/>
          </a:prstGeom>
        </p:spPr>
      </p:pic>
      <p:sp>
        <p:nvSpPr>
          <p:cNvPr id="12" name="Text 7"/>
          <p:cNvSpPr/>
          <p:nvPr/>
        </p:nvSpPr>
        <p:spPr>
          <a:xfrm>
            <a:off x="9639952" y="20669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C2C4B5"/>
                </a:solidFill>
                <a:latin typeface="Outfit Bold" pitchFamily="34" charset="0"/>
                <a:ea typeface="Outfit Bold" pitchFamily="34" charset="-122"/>
                <a:cs typeface="Outfit Bold" pitchFamily="34" charset="-120"/>
              </a:rPr>
              <a:t>3</a:t>
            </a:r>
            <a:endParaRPr lang="en-US" sz="2200" dirty="0"/>
          </a:p>
        </p:txBody>
      </p:sp>
      <p:sp>
        <p:nvSpPr>
          <p:cNvPr id="13" name="Text 8"/>
          <p:cNvSpPr/>
          <p:nvPr/>
        </p:nvSpPr>
        <p:spPr>
          <a:xfrm>
            <a:off x="8247650" y="2716709"/>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Results</a:t>
            </a:r>
            <a:endParaRPr lang="en-US" sz="1850" dirty="0"/>
          </a:p>
        </p:txBody>
      </p:sp>
      <p:sp>
        <p:nvSpPr>
          <p:cNvPr id="14" name="Text 9"/>
          <p:cNvSpPr/>
          <p:nvPr/>
        </p:nvSpPr>
        <p:spPr>
          <a:xfrm>
            <a:off x="8247650" y="3125391"/>
            <a:ext cx="3068065" cy="2551509"/>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Successfully completed 25-epoch training cycle</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Achieved peak mIoU of 34.61% (reaching 0.4619 in V2)</a:t>
            </a:r>
            <a:endParaRPr lang="en-US" sz="1450" dirty="0"/>
          </a:p>
          <a:p>
            <a:pPr algn="l" marL="294640" indent="-294640">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Proved lightweight 24M-parameter model can reliably extract spatial data without supercomputer</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46212"/>
            <a:ext cx="10868745" cy="265708"/>
          </a:xfrm>
          <a:prstGeom prst="rect">
            <a:avLst/>
          </a:prstGeom>
          <a:noFill/>
          <a:ln/>
        </p:spPr>
        <p:txBody>
          <a:bodyPr wrap="none" lIns="0" tIns="0" rIns="0" bIns="0" rtlCol="0" anchor="t"/>
          <a:lstStyle/>
          <a:p>
            <a:pPr algn="l" indent="0" marL="0">
              <a:lnSpc>
                <a:spcPct val="104000"/>
              </a:lnSpc>
              <a:buNone/>
            </a:pPr>
            <a:r>
              <a:rPr lang="en-US" sz="1650" b="1" dirty="0">
                <a:solidFill>
                  <a:srgbClr val="F2F2F2"/>
                </a:solidFill>
                <a:latin typeface="Outfit Bold" pitchFamily="34" charset="0"/>
                <a:ea typeface="Outfit Bold" pitchFamily="34" charset="-122"/>
                <a:cs typeface="Outfit Bold" pitchFamily="34" charset="-120"/>
              </a:rPr>
              <a:t>Feasibility Analysis</a:t>
            </a:r>
            <a:endParaRPr lang="en-US" sz="1650" dirty="0"/>
          </a:p>
        </p:txBody>
      </p:sp>
      <p:sp>
        <p:nvSpPr>
          <p:cNvPr id="3" name="Text 1"/>
          <p:cNvSpPr/>
          <p:nvPr/>
        </p:nvSpPr>
        <p:spPr>
          <a:xfrm>
            <a:off x="661475" y="954385"/>
            <a:ext cx="10868745" cy="221456"/>
          </a:xfrm>
          <a:prstGeom prst="rect">
            <a:avLst/>
          </a:prstGeom>
          <a:noFill/>
          <a:ln/>
        </p:spPr>
        <p:txBody>
          <a:bodyPr wrap="none" lIns="0" tIns="0" rIns="0" bIns="0" rtlCol="0" anchor="t"/>
          <a:lstStyle/>
          <a:p>
            <a:pPr algn="l" indent="0" marL="0">
              <a:lnSpc>
                <a:spcPct val="104000"/>
              </a:lnSpc>
              <a:buNone/>
            </a:pPr>
            <a:r>
              <a:rPr lang="en-US" sz="1350" b="1" dirty="0">
                <a:solidFill>
                  <a:srgbClr val="E1E5CD"/>
                </a:solidFill>
                <a:latin typeface="Outfit Bold" pitchFamily="34" charset="0"/>
                <a:ea typeface="Outfit Bold" pitchFamily="34" charset="-122"/>
                <a:cs typeface="Outfit Bold" pitchFamily="34" charset="-120"/>
              </a:rPr>
              <a:t>Overcoming Constraints</a:t>
            </a:r>
            <a:endParaRPr lang="en-US" sz="1350" dirty="0"/>
          </a:p>
        </p:txBody>
      </p:sp>
      <p:sp>
        <p:nvSpPr>
          <p:cNvPr id="4" name="Shape 2"/>
          <p:cNvSpPr/>
          <p:nvPr/>
        </p:nvSpPr>
        <p:spPr>
          <a:xfrm>
            <a:off x="559381" y="1335286"/>
            <a:ext cx="5465626" cy="1815902"/>
          </a:xfrm>
          <a:prstGeom prst="roundRect">
            <a:avLst>
              <a:gd name="adj" fmla="val 1171"/>
            </a:avLst>
          </a:prstGeom>
          <a:solidFill>
            <a:srgbClr val="1B1B27"/>
          </a:solidFill>
          <a:ln/>
        </p:spPr>
      </p:sp>
      <p:sp>
        <p:nvSpPr>
          <p:cNvPr id="5" name="Text 3"/>
          <p:cNvSpPr/>
          <p:nvPr/>
        </p:nvSpPr>
        <p:spPr>
          <a:xfrm>
            <a:off x="701062" y="1441549"/>
            <a:ext cx="5182264" cy="221456"/>
          </a:xfrm>
          <a:prstGeom prst="rect">
            <a:avLst/>
          </a:prstGeom>
          <a:noFill/>
          <a:ln/>
        </p:spPr>
        <p:txBody>
          <a:bodyPr wrap="none" lIns="0" tIns="0" rIns="0" bIns="0" rtlCol="0" anchor="t"/>
          <a:lstStyle/>
          <a:p>
            <a:pPr algn="l" indent="0" marL="0">
              <a:lnSpc>
                <a:spcPct val="104000"/>
              </a:lnSpc>
              <a:buNone/>
            </a:pPr>
            <a:r>
              <a:rPr lang="en-US" sz="1350" b="1" dirty="0">
                <a:solidFill>
                  <a:srgbClr val="E1E5CD"/>
                </a:solidFill>
                <a:latin typeface="Outfit Bold" pitchFamily="34" charset="0"/>
                <a:ea typeface="Outfit Bold" pitchFamily="34" charset="-122"/>
                <a:cs typeface="Outfit Bold" pitchFamily="34" charset="-120"/>
              </a:rPr>
              <a:t>Hardware Limits — 16GB VRAM on Kaggle</a:t>
            </a:r>
            <a:endParaRPr lang="en-US" sz="1350" dirty="0"/>
          </a:p>
        </p:txBody>
      </p:sp>
      <p:sp>
        <p:nvSpPr>
          <p:cNvPr id="6" name="Text 4"/>
          <p:cNvSpPr/>
          <p:nvPr/>
        </p:nvSpPr>
        <p:spPr>
          <a:xfrm>
            <a:off x="701062" y="1769269"/>
            <a:ext cx="5182264" cy="1286272"/>
          </a:xfrm>
          <a:prstGeom prst="rect">
            <a:avLst/>
          </a:prstGeom>
          <a:noFill/>
          <a:ln/>
        </p:spPr>
        <p:txBody>
          <a:bodyPr wrap="square" lIns="0" tIns="0" rIns="0" bIns="0" rtlCol="0" anchor="t">
            <a:normAutofit/>
          </a:bodyPr>
          <a:lstStyle/>
          <a:p>
            <a:pPr algn="l" indent="0" marL="0">
              <a:lnSpc>
                <a:spcPct val="117000"/>
              </a:lnSpc>
              <a:spcAft>
                <a:spcPts val="750"/>
              </a:spcAft>
              <a:buNone/>
            </a:pPr>
            <a:r>
              <a:rPr lang="en-US" sz="1100" b="1" dirty="0">
                <a:solidFill>
                  <a:srgbClr val="C2C4B5"/>
                </a:solidFill>
                <a:latin typeface="Bitter Bold" pitchFamily="34" charset="0"/>
                <a:ea typeface="Bitter Bold" pitchFamily="34" charset="-122"/>
                <a:cs typeface="Bitter Bold" pitchFamily="34" charset="-120"/>
              </a:rPr>
              <a:t>Solution 1:</a:t>
            </a:r>
            <a:pPr algn="l" indent="0" marL="0">
              <a:lnSpc>
                <a:spcPct val="117000"/>
              </a:lnSpc>
              <a:spcAft>
                <a:spcPts val="750"/>
              </a:spcAft>
              <a:buNone/>
            </a:pPr>
            <a:r>
              <a:rPr lang="en-US" sz="1100" dirty="0">
                <a:solidFill>
                  <a:srgbClr val="C2C4B5"/>
                </a:solidFill>
                <a:latin typeface="Bitter" pitchFamily="34" charset="0"/>
                <a:ea typeface="Bitter" pitchFamily="34" charset="-122"/>
                <a:cs typeface="Bitter" pitchFamily="34" charset="-120"/>
              </a:rPr>
              <a:t> Used 4-bit QLoRA and aggressive gradient accumulation to train a 7B parameter model on a single T4 GPU — making large-scale VLM fine-tuning feasible within tight memory budgets.</a:t>
            </a:r>
            <a:endParaRPr lang="en-US" sz="1100" dirty="0"/>
          </a:p>
          <a:p>
            <a:pPr algn="l" indent="0" marL="0">
              <a:lnSpc>
                <a:spcPct val="117000"/>
              </a:lnSpc>
              <a:buNone/>
            </a:pPr>
            <a:r>
              <a:rPr lang="en-US" sz="1100" b="1" dirty="0">
                <a:solidFill>
                  <a:srgbClr val="C2C4B5"/>
                </a:solidFill>
                <a:latin typeface="Bitter Bold" pitchFamily="34" charset="0"/>
                <a:ea typeface="Bitter Bold" pitchFamily="34" charset="-122"/>
                <a:cs typeface="Bitter Bold" pitchFamily="34" charset="-120"/>
              </a:rPr>
              <a:t>Solution 2:</a:t>
            </a:r>
            <a:pPr algn="l" indent="0" marL="0">
              <a:lnSpc>
                <a:spcPct val="117000"/>
              </a:lnSpc>
              <a:buNone/>
            </a:pPr>
            <a:r>
              <a:rPr lang="en-US" sz="1100" dirty="0">
                <a:solidFill>
                  <a:srgbClr val="C2C4B5"/>
                </a:solidFill>
                <a:latin typeface="Bitter" pitchFamily="34" charset="0"/>
                <a:ea typeface="Bitter" pitchFamily="34" charset="-122"/>
                <a:cs typeface="Bitter" pitchFamily="34" charset="-120"/>
              </a:rPr>
              <a:t> Used a lightweight 21M parameter U-Net instead of massive Foundation Models, achieving spatial extraction without prohibitive compute overhead.</a:t>
            </a:r>
            <a:endParaRPr lang="en-US" sz="1100" dirty="0"/>
          </a:p>
        </p:txBody>
      </p:sp>
      <p:sp>
        <p:nvSpPr>
          <p:cNvPr id="7" name="Text 5"/>
          <p:cNvSpPr/>
          <p:nvPr/>
        </p:nvSpPr>
        <p:spPr>
          <a:xfrm>
            <a:off x="6275131" y="1441549"/>
            <a:ext cx="5261439" cy="221456"/>
          </a:xfrm>
          <a:prstGeom prst="rect">
            <a:avLst/>
          </a:prstGeom>
          <a:noFill/>
          <a:ln/>
        </p:spPr>
        <p:txBody>
          <a:bodyPr wrap="none" lIns="0" tIns="0" rIns="0" bIns="0" rtlCol="0" anchor="t"/>
          <a:lstStyle/>
          <a:p>
            <a:pPr algn="l" indent="0" marL="0">
              <a:lnSpc>
                <a:spcPct val="104000"/>
              </a:lnSpc>
              <a:buNone/>
            </a:pPr>
            <a:r>
              <a:rPr lang="en-US" sz="1350" b="1" dirty="0">
                <a:solidFill>
                  <a:srgbClr val="E1E5CD"/>
                </a:solidFill>
                <a:latin typeface="Outfit Bold" pitchFamily="34" charset="0"/>
                <a:ea typeface="Outfit Bold" pitchFamily="34" charset="-122"/>
                <a:cs typeface="Outfit Bold" pitchFamily="34" charset="-120"/>
              </a:rPr>
              <a:t>API Rate Limits</a:t>
            </a:r>
            <a:endParaRPr lang="en-US" sz="1350" dirty="0"/>
          </a:p>
        </p:txBody>
      </p:sp>
      <p:sp>
        <p:nvSpPr>
          <p:cNvPr id="8" name="Text 6"/>
          <p:cNvSpPr/>
          <p:nvPr/>
        </p:nvSpPr>
        <p:spPr>
          <a:xfrm>
            <a:off x="6275131" y="1769269"/>
            <a:ext cx="5261439" cy="601663"/>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FFFFFF"/>
                </a:solidFill>
                <a:latin typeface="Bitter Bold" pitchFamily="34" charset="0"/>
                <a:ea typeface="Bitter Bold" pitchFamily="34" charset="-122"/>
                <a:cs typeface="Bitter Bold" pitchFamily="34" charset="-120"/>
              </a:rPr>
              <a:t>Solution:</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Overcame Google API Rate limits (429 errors) via custom retry logic and lightweight </a:t>
            </a:r>
            <a:pPr algn="l" indent="0" marL="0">
              <a:lnSpc>
                <a:spcPct val="117000"/>
              </a:lnSpc>
              <a:buNone/>
            </a:pPr>
            <a:r>
              <a:rPr lang="en-US" sz="1100" dirty="0">
                <a:solidFill>
                  <a:srgbClr val="FFFFFF"/>
                </a:solidFill>
                <a:highlight>
                  <a:srgbClr val="5A5A5A"/>
                </a:highlight>
                <a:latin typeface="Consolas" pitchFamily="34" charset="0"/>
                <a:ea typeface="Consolas" pitchFamily="34" charset="-122"/>
                <a:cs typeface="Consolas" pitchFamily="34" charset="-120"/>
              </a:rPr>
              <a:t>flash-lite</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inference, ensuring reliable multi-agent orchestration without service interruptions.</a:t>
            </a:r>
            <a:endParaRPr lang="en-US" sz="1100" dirty="0"/>
          </a:p>
        </p:txBody>
      </p:sp>
      <p:sp>
        <p:nvSpPr>
          <p:cNvPr id="9" name="Text 7"/>
          <p:cNvSpPr/>
          <p:nvPr/>
        </p:nvSpPr>
        <p:spPr>
          <a:xfrm>
            <a:off x="1103285" y="3341588"/>
            <a:ext cx="2650662" cy="559991"/>
          </a:xfrm>
          <a:prstGeom prst="rect">
            <a:avLst/>
          </a:prstGeom>
          <a:noFill/>
          <a:ln/>
        </p:spPr>
        <p:txBody>
          <a:bodyPr wrap="none" lIns="0" tIns="0" rIns="0" bIns="0" rtlCol="0" anchor="t"/>
          <a:lstStyle/>
          <a:p>
            <a:pPr algn="ctr" indent="0" marL="0">
              <a:lnSpc>
                <a:spcPct val="83000"/>
              </a:lnSpc>
              <a:buNone/>
            </a:pPr>
            <a:r>
              <a:rPr lang="en-US" sz="4400" b="1" dirty="0">
                <a:solidFill>
                  <a:srgbClr val="FFFFFF"/>
                </a:solidFill>
                <a:latin typeface="Outfit Bold" pitchFamily="34" charset="0"/>
                <a:ea typeface="Outfit Bold" pitchFamily="34" charset="-122"/>
                <a:cs typeface="Outfit Bold" pitchFamily="34" charset="-120"/>
              </a:rPr>
              <a:t>7B</a:t>
            </a:r>
            <a:endParaRPr lang="en-US" sz="4400" dirty="0"/>
          </a:p>
        </p:txBody>
      </p:sp>
      <p:sp>
        <p:nvSpPr>
          <p:cNvPr id="10" name="Text 8"/>
          <p:cNvSpPr/>
          <p:nvPr/>
        </p:nvSpPr>
        <p:spPr>
          <a:xfrm>
            <a:off x="661475" y="4052094"/>
            <a:ext cx="3534282" cy="221456"/>
          </a:xfrm>
          <a:prstGeom prst="rect">
            <a:avLst/>
          </a:prstGeom>
          <a:noFill/>
          <a:ln/>
        </p:spPr>
        <p:txBody>
          <a:bodyPr wrap="none" lIns="0" tIns="0" rIns="0" bIns="0" rtlCol="0" anchor="t"/>
          <a:lstStyle/>
          <a:p>
            <a:pPr algn="ctr" indent="0" marL="0">
              <a:lnSpc>
                <a:spcPct val="104000"/>
              </a:lnSpc>
              <a:buNone/>
            </a:pPr>
            <a:r>
              <a:rPr lang="en-US" sz="1350" b="1" dirty="0">
                <a:solidFill>
                  <a:srgbClr val="FFFFFF"/>
                </a:solidFill>
                <a:latin typeface="Outfit Bold" pitchFamily="34" charset="0"/>
                <a:ea typeface="Outfit Bold" pitchFamily="34" charset="-122"/>
                <a:cs typeface="Outfit Bold" pitchFamily="34" charset="-120"/>
              </a:rPr>
              <a:t>VLM Parameters</a:t>
            </a:r>
            <a:endParaRPr lang="en-US" sz="1350" dirty="0"/>
          </a:p>
        </p:txBody>
      </p:sp>
      <p:sp>
        <p:nvSpPr>
          <p:cNvPr id="11" name="Text 9"/>
          <p:cNvSpPr/>
          <p:nvPr/>
        </p:nvSpPr>
        <p:spPr>
          <a:xfrm>
            <a:off x="661475" y="4337248"/>
            <a:ext cx="3534282" cy="396875"/>
          </a:xfrm>
          <a:prstGeom prst="rect">
            <a:avLst/>
          </a:prstGeom>
          <a:noFill/>
          <a:ln/>
        </p:spPr>
        <p:txBody>
          <a:bodyPr wrap="square" lIns="0" tIns="0" rIns="0" bIns="0" rtlCol="0" anchor="t">
            <a:normAutofit/>
          </a:bodyPr>
          <a:lstStyle/>
          <a:p>
            <a:pPr algn="ctr" indent="0" marL="0">
              <a:lnSpc>
                <a:spcPct val="117000"/>
              </a:lnSpc>
              <a:buNone/>
            </a:pPr>
            <a:r>
              <a:rPr lang="en-US" sz="1100" dirty="0">
                <a:solidFill>
                  <a:srgbClr val="FFFFFF"/>
                </a:solidFill>
                <a:latin typeface="Bitter" pitchFamily="34" charset="0"/>
                <a:ea typeface="Bitter" pitchFamily="34" charset="-122"/>
                <a:cs typeface="Bitter" pitchFamily="34" charset="-120"/>
              </a:rPr>
              <a:t>Qwen2.5-VL trained via 4-bit QLoRA on a single T4 GPU</a:t>
            </a:r>
            <a:endParaRPr lang="en-US" sz="1100" dirty="0"/>
          </a:p>
        </p:txBody>
      </p:sp>
      <p:sp>
        <p:nvSpPr>
          <p:cNvPr id="12" name="Text 10"/>
          <p:cNvSpPr/>
          <p:nvPr/>
        </p:nvSpPr>
        <p:spPr>
          <a:xfrm>
            <a:off x="4770417" y="3341588"/>
            <a:ext cx="2650761" cy="559991"/>
          </a:xfrm>
          <a:prstGeom prst="rect">
            <a:avLst/>
          </a:prstGeom>
          <a:noFill/>
          <a:ln/>
        </p:spPr>
        <p:txBody>
          <a:bodyPr wrap="none" lIns="0" tIns="0" rIns="0" bIns="0" rtlCol="0" anchor="t"/>
          <a:lstStyle/>
          <a:p>
            <a:pPr algn="ctr" indent="0" marL="0">
              <a:lnSpc>
                <a:spcPct val="83000"/>
              </a:lnSpc>
              <a:buNone/>
            </a:pPr>
            <a:r>
              <a:rPr lang="en-US" sz="4400" b="1" dirty="0">
                <a:solidFill>
                  <a:srgbClr val="FFFFFF"/>
                </a:solidFill>
                <a:latin typeface="Outfit Bold" pitchFamily="34" charset="0"/>
                <a:ea typeface="Outfit Bold" pitchFamily="34" charset="-122"/>
                <a:cs typeface="Outfit Bold" pitchFamily="34" charset="-120"/>
              </a:rPr>
              <a:t>21M</a:t>
            </a:r>
            <a:endParaRPr lang="en-US" sz="4400" dirty="0"/>
          </a:p>
        </p:txBody>
      </p:sp>
      <p:sp>
        <p:nvSpPr>
          <p:cNvPr id="13" name="Text 11"/>
          <p:cNvSpPr/>
          <p:nvPr/>
        </p:nvSpPr>
        <p:spPr>
          <a:xfrm>
            <a:off x="4328607" y="4052094"/>
            <a:ext cx="3534381" cy="221456"/>
          </a:xfrm>
          <a:prstGeom prst="rect">
            <a:avLst/>
          </a:prstGeom>
          <a:noFill/>
          <a:ln/>
        </p:spPr>
        <p:txBody>
          <a:bodyPr wrap="none" lIns="0" tIns="0" rIns="0" bIns="0" rtlCol="0" anchor="t"/>
          <a:lstStyle/>
          <a:p>
            <a:pPr algn="ctr" indent="0" marL="0">
              <a:lnSpc>
                <a:spcPct val="104000"/>
              </a:lnSpc>
              <a:buNone/>
            </a:pPr>
            <a:r>
              <a:rPr lang="en-US" sz="1350" b="1" dirty="0">
                <a:solidFill>
                  <a:srgbClr val="FFFFFF"/>
                </a:solidFill>
                <a:latin typeface="Outfit Bold" pitchFamily="34" charset="0"/>
                <a:ea typeface="Outfit Bold" pitchFamily="34" charset="-122"/>
                <a:cs typeface="Outfit Bold" pitchFamily="34" charset="-120"/>
              </a:rPr>
              <a:t>U-Net Parameters</a:t>
            </a:r>
            <a:endParaRPr lang="en-US" sz="1350" dirty="0"/>
          </a:p>
        </p:txBody>
      </p:sp>
      <p:sp>
        <p:nvSpPr>
          <p:cNvPr id="14" name="Text 12"/>
          <p:cNvSpPr/>
          <p:nvPr/>
        </p:nvSpPr>
        <p:spPr>
          <a:xfrm>
            <a:off x="4328607" y="4337248"/>
            <a:ext cx="3534381" cy="396875"/>
          </a:xfrm>
          <a:prstGeom prst="rect">
            <a:avLst/>
          </a:prstGeom>
          <a:noFill/>
          <a:ln/>
        </p:spPr>
        <p:txBody>
          <a:bodyPr wrap="square" lIns="0" tIns="0" rIns="0" bIns="0" rtlCol="0" anchor="t">
            <a:normAutofit/>
          </a:bodyPr>
          <a:lstStyle/>
          <a:p>
            <a:pPr algn="ctr" indent="0" marL="0">
              <a:lnSpc>
                <a:spcPct val="117000"/>
              </a:lnSpc>
              <a:buNone/>
            </a:pPr>
            <a:r>
              <a:rPr lang="en-US" sz="1100" dirty="0">
                <a:solidFill>
                  <a:srgbClr val="FFFFFF"/>
                </a:solidFill>
                <a:latin typeface="Bitter" pitchFamily="34" charset="0"/>
                <a:ea typeface="Bitter" pitchFamily="34" charset="-122"/>
                <a:cs typeface="Bitter" pitchFamily="34" charset="-120"/>
              </a:rPr>
              <a:t>Lightweight spatial extraction replacing massive GeoFMs</a:t>
            </a:r>
            <a:endParaRPr lang="en-US" sz="1100" dirty="0"/>
          </a:p>
        </p:txBody>
      </p:sp>
      <p:sp>
        <p:nvSpPr>
          <p:cNvPr id="15" name="Text 13"/>
          <p:cNvSpPr/>
          <p:nvPr/>
        </p:nvSpPr>
        <p:spPr>
          <a:xfrm>
            <a:off x="8437649" y="3341588"/>
            <a:ext cx="2650761" cy="559991"/>
          </a:xfrm>
          <a:prstGeom prst="rect">
            <a:avLst/>
          </a:prstGeom>
          <a:noFill/>
          <a:ln/>
        </p:spPr>
        <p:txBody>
          <a:bodyPr wrap="none" lIns="0" tIns="0" rIns="0" bIns="0" rtlCol="0" anchor="t"/>
          <a:lstStyle/>
          <a:p>
            <a:pPr algn="ctr" indent="0" marL="0">
              <a:lnSpc>
                <a:spcPct val="83000"/>
              </a:lnSpc>
              <a:buNone/>
            </a:pPr>
            <a:r>
              <a:rPr lang="en-US" sz="4400" b="1" dirty="0">
                <a:solidFill>
                  <a:srgbClr val="FFFFFF"/>
                </a:solidFill>
                <a:latin typeface="Outfit Bold" pitchFamily="34" charset="0"/>
                <a:ea typeface="Outfit Bold" pitchFamily="34" charset="-122"/>
                <a:cs typeface="Outfit Bold" pitchFamily="34" charset="-120"/>
              </a:rPr>
              <a:t>16GB</a:t>
            </a:r>
            <a:endParaRPr lang="en-US" sz="4400" dirty="0"/>
          </a:p>
        </p:txBody>
      </p:sp>
      <p:sp>
        <p:nvSpPr>
          <p:cNvPr id="16" name="Text 14"/>
          <p:cNvSpPr/>
          <p:nvPr/>
        </p:nvSpPr>
        <p:spPr>
          <a:xfrm>
            <a:off x="7995839" y="4052094"/>
            <a:ext cx="3534381" cy="221456"/>
          </a:xfrm>
          <a:prstGeom prst="rect">
            <a:avLst/>
          </a:prstGeom>
          <a:noFill/>
          <a:ln/>
        </p:spPr>
        <p:txBody>
          <a:bodyPr wrap="none" lIns="0" tIns="0" rIns="0" bIns="0" rtlCol="0" anchor="t"/>
          <a:lstStyle/>
          <a:p>
            <a:pPr algn="ctr" indent="0" marL="0">
              <a:lnSpc>
                <a:spcPct val="104000"/>
              </a:lnSpc>
              <a:buNone/>
            </a:pPr>
            <a:r>
              <a:rPr lang="en-US" sz="1350" b="1" dirty="0">
                <a:solidFill>
                  <a:srgbClr val="FFFFFF"/>
                </a:solidFill>
                <a:latin typeface="Outfit Bold" pitchFamily="34" charset="0"/>
                <a:ea typeface="Outfit Bold" pitchFamily="34" charset="-122"/>
                <a:cs typeface="Outfit Bold" pitchFamily="34" charset="-120"/>
              </a:rPr>
              <a:t>VRAM Budget</a:t>
            </a:r>
            <a:endParaRPr lang="en-US" sz="1350" dirty="0"/>
          </a:p>
        </p:txBody>
      </p:sp>
      <p:sp>
        <p:nvSpPr>
          <p:cNvPr id="17" name="Text 15"/>
          <p:cNvSpPr/>
          <p:nvPr/>
        </p:nvSpPr>
        <p:spPr>
          <a:xfrm>
            <a:off x="7995839" y="4337248"/>
            <a:ext cx="3534381" cy="396875"/>
          </a:xfrm>
          <a:prstGeom prst="rect">
            <a:avLst/>
          </a:prstGeom>
          <a:noFill/>
          <a:ln/>
        </p:spPr>
        <p:txBody>
          <a:bodyPr wrap="square" lIns="0" tIns="0" rIns="0" bIns="0" rtlCol="0" anchor="t">
            <a:normAutofit/>
          </a:bodyPr>
          <a:lstStyle/>
          <a:p>
            <a:pPr algn="ctr" indent="0" marL="0">
              <a:lnSpc>
                <a:spcPct val="117000"/>
              </a:lnSpc>
              <a:buNone/>
            </a:pPr>
            <a:r>
              <a:rPr lang="en-US" sz="1100" dirty="0">
                <a:solidFill>
                  <a:srgbClr val="FFFFFF"/>
                </a:solidFill>
                <a:latin typeface="Bitter" pitchFamily="34" charset="0"/>
                <a:ea typeface="Bitter" pitchFamily="34" charset="-122"/>
                <a:cs typeface="Bitter" pitchFamily="34" charset="-120"/>
              </a:rPr>
              <a:t>Kaggle T4 constraint solved via QLoRA + gradient accumulation</a:t>
            </a:r>
            <a:endParaRPr lang="en-US" sz="1100" dirty="0"/>
          </a:p>
        </p:txBody>
      </p:sp>
      <p:sp>
        <p:nvSpPr>
          <p:cNvPr id="18" name="Text 16"/>
          <p:cNvSpPr/>
          <p:nvPr/>
        </p:nvSpPr>
        <p:spPr>
          <a:xfrm>
            <a:off x="4770417" y="5017591"/>
            <a:ext cx="2650761" cy="559991"/>
          </a:xfrm>
          <a:prstGeom prst="rect">
            <a:avLst/>
          </a:prstGeom>
          <a:noFill/>
          <a:ln/>
        </p:spPr>
        <p:txBody>
          <a:bodyPr wrap="none" lIns="0" tIns="0" rIns="0" bIns="0" rtlCol="0" anchor="t"/>
          <a:lstStyle/>
          <a:p>
            <a:pPr algn="ctr" indent="0" marL="0">
              <a:lnSpc>
                <a:spcPct val="83000"/>
              </a:lnSpc>
              <a:buNone/>
            </a:pPr>
            <a:r>
              <a:rPr lang="en-US" sz="4400" b="1" dirty="0">
                <a:solidFill>
                  <a:srgbClr val="FFFFFF"/>
                </a:solidFill>
                <a:latin typeface="Outfit Bold" pitchFamily="34" charset="0"/>
                <a:ea typeface="Outfit Bold" pitchFamily="34" charset="-122"/>
                <a:cs typeface="Outfit Bold" pitchFamily="34" charset="-120"/>
              </a:rPr>
              <a:t>4</a:t>
            </a:r>
            <a:endParaRPr lang="en-US" sz="4400" dirty="0"/>
          </a:p>
        </p:txBody>
      </p:sp>
      <p:sp>
        <p:nvSpPr>
          <p:cNvPr id="19" name="Text 17"/>
          <p:cNvSpPr/>
          <p:nvPr/>
        </p:nvSpPr>
        <p:spPr>
          <a:xfrm>
            <a:off x="4328607" y="5728097"/>
            <a:ext cx="3534381" cy="221456"/>
          </a:xfrm>
          <a:prstGeom prst="rect">
            <a:avLst/>
          </a:prstGeom>
          <a:noFill/>
          <a:ln/>
        </p:spPr>
        <p:txBody>
          <a:bodyPr wrap="none" lIns="0" tIns="0" rIns="0" bIns="0" rtlCol="0" anchor="t"/>
          <a:lstStyle/>
          <a:p>
            <a:pPr algn="ctr" indent="0" marL="0">
              <a:lnSpc>
                <a:spcPct val="104000"/>
              </a:lnSpc>
              <a:buNone/>
            </a:pPr>
            <a:r>
              <a:rPr lang="en-US" sz="1350" b="1" dirty="0">
                <a:solidFill>
                  <a:srgbClr val="FFFFFF"/>
                </a:solidFill>
                <a:latin typeface="Outfit Bold" pitchFamily="34" charset="0"/>
                <a:ea typeface="Outfit Bold" pitchFamily="34" charset="-122"/>
                <a:cs typeface="Outfit Bold" pitchFamily="34" charset="-120"/>
              </a:rPr>
              <a:t>Agents in DisasTeller</a:t>
            </a:r>
            <a:endParaRPr lang="en-US" sz="1350" dirty="0"/>
          </a:p>
        </p:txBody>
      </p:sp>
      <p:sp>
        <p:nvSpPr>
          <p:cNvPr id="20" name="Text 18"/>
          <p:cNvSpPr/>
          <p:nvPr/>
        </p:nvSpPr>
        <p:spPr>
          <a:xfrm>
            <a:off x="4328607" y="6013252"/>
            <a:ext cx="3534381" cy="198438"/>
          </a:xfrm>
          <a:prstGeom prst="rect">
            <a:avLst/>
          </a:prstGeom>
          <a:noFill/>
          <a:ln/>
        </p:spPr>
        <p:txBody>
          <a:bodyPr wrap="none" lIns="0" tIns="0" rIns="0" bIns="0" rtlCol="0" anchor="t"/>
          <a:lstStyle/>
          <a:p>
            <a:pPr algn="ctr" indent="0" marL="0">
              <a:lnSpc>
                <a:spcPct val="117000"/>
              </a:lnSpc>
              <a:buNone/>
            </a:pPr>
            <a:r>
              <a:rPr lang="en-US" sz="1100" dirty="0">
                <a:solidFill>
                  <a:srgbClr val="FFFFFF"/>
                </a:solidFill>
                <a:latin typeface="Bitter" pitchFamily="34" charset="0"/>
                <a:ea typeface="Bitter" pitchFamily="34" charset="-122"/>
                <a:cs typeface="Bitter" pitchFamily="34" charset="-120"/>
              </a:rPr>
              <a:t>CrewAI autonomous command center agents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96589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N-Comparative Technical Feasibility Matrix</a:t>
            </a:r>
            <a:endParaRPr lang="en-US" sz="3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1475" y="1934567"/>
          <a:ext cx="9143771" cy="914400"/>
        </p:xfrm>
        <a:graphic>
          <a:graphicData uri="http://schemas.openxmlformats.org/drawingml/2006/table">
            <a:tbl>
              <a:tblPr/>
              <a:tblGrid>
                <a:gridCol w="2391124"/>
                <a:gridCol w="3043249"/>
                <a:gridCol w="2608499"/>
                <a:gridCol w="2825874"/>
              </a:tblGrid>
              <a:tr h="545094">
                <a:tc>
                  <a:txBody>
                    <a:bodyPr/>
                    <a:lstStyle/>
                    <a:p>
                      <a:pPr indent="0" marL="0">
                        <a:buNone/>
                      </a:pPr>
                      <a:r>
                        <a:rPr lang="en-US" sz="1450" b="1" dirty="0">
                          <a:solidFill>
                            <a:srgbClr val="FFFFFF"/>
                          </a:solidFill>
                          <a:latin typeface="Bitter" pitchFamily="34" charset="0"/>
                          <a:ea typeface="Bitter" pitchFamily="34" charset="-122"/>
                          <a:cs typeface="Bitter" pitchFamily="34" charset="-120"/>
                        </a:rPr>
                        <a:t>Pipeline Stage</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B1B27"/>
                    </a:solidFill>
                  </a:tcPr>
                </a:tc>
                <a:tc>
                  <a:txBody>
                    <a:bodyPr/>
                    <a:lstStyle/>
                    <a:p>
                      <a:pPr indent="0" marL="0">
                        <a:buNone/>
                      </a:pPr>
                      <a:r>
                        <a:rPr lang="en-US" sz="1450" b="1" dirty="0">
                          <a:solidFill>
                            <a:srgbClr val="FFFFFF"/>
                          </a:solidFill>
                          <a:latin typeface="Bitter" pitchFamily="34" charset="0"/>
                          <a:ea typeface="Bitter" pitchFamily="34" charset="-122"/>
                          <a:cs typeface="Bitter" pitchFamily="34" charset="-120"/>
                        </a:rPr>
                        <a:t>Core Technology</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B1B27"/>
                    </a:solidFill>
                  </a:tcPr>
                </a:tc>
                <a:tc>
                  <a:txBody>
                    <a:bodyPr/>
                    <a:lstStyle/>
                    <a:p>
                      <a:pPr indent="0" marL="0">
                        <a:buNone/>
                      </a:pPr>
                      <a:r>
                        <a:rPr lang="en-US" sz="1450" b="1" dirty="0">
                          <a:solidFill>
                            <a:srgbClr val="FFFFFF"/>
                          </a:solidFill>
                          <a:latin typeface="Bitter" pitchFamily="34" charset="0"/>
                          <a:ea typeface="Bitter" pitchFamily="34" charset="-122"/>
                          <a:cs typeface="Bitter" pitchFamily="34" charset="-120"/>
                        </a:rPr>
                        <a:t>Hardware / Environment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B1B27"/>
                    </a:solidFill>
                  </a:tcPr>
                </a:tc>
                <a:tc>
                  <a:txBody>
                    <a:bodyPr/>
                    <a:lstStyle/>
                    <a:p>
                      <a:pPr indent="0" marL="0">
                        <a:buNone/>
                      </a:pPr>
                      <a:r>
                        <a:rPr lang="en-US" sz="1450" b="1" dirty="0">
                          <a:solidFill>
                            <a:srgbClr val="FFFFFF"/>
                          </a:solidFill>
                          <a:latin typeface="Bitter" pitchFamily="34" charset="0"/>
                          <a:ea typeface="Bitter" pitchFamily="34" charset="-122"/>
                          <a:cs typeface="Bitter" pitchFamily="34" charset="-120"/>
                        </a:rPr>
                        <a:t>Key Feasibility Metric</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B1B27"/>
                    </a:solidFill>
                  </a:tcPr>
                </a:tc>
              </a:tr>
              <a:tr h="850680">
                <a:tc>
                  <a:txBody>
                    <a:bodyPr/>
                    <a:lstStyle/>
                    <a:p>
                      <a:pPr indent="0" marL="0">
                        <a:buNone/>
                      </a:pPr>
                      <a:r>
                        <a:rPr lang="en-US" sz="1450" dirty="0">
                          <a:solidFill>
                            <a:srgbClr val="272525"/>
                          </a:solidFill>
                          <a:latin typeface="Bitter" pitchFamily="34" charset="0"/>
                          <a:ea typeface="Bitter" pitchFamily="34" charset="-122"/>
                          <a:cs typeface="Bitter" pitchFamily="34" charset="-120"/>
                        </a:rPr>
                        <a:t>Stage 1 Enhancement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Vision Restoration Transformer</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Kaggle 14 GPU (Used Windows)</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Updates 1024*h 4089 pixels</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r>
              <a:tr h="850680">
                <a:tc>
                  <a:txBody>
                    <a:bodyPr/>
                    <a:lstStyle/>
                    <a:p>
                      <a:pPr indent="0" marL="0">
                        <a:buNone/>
                      </a:pPr>
                      <a:r>
                        <a:rPr lang="en-US" sz="1450" dirty="0">
                          <a:solidFill>
                            <a:srgbClr val="C2C4B5"/>
                          </a:solidFill>
                          <a:latin typeface="Bitter" pitchFamily="34" charset="0"/>
                          <a:ea typeface="Bitter" pitchFamily="34" charset="-122"/>
                          <a:cs typeface="Bitter" pitchFamily="34" charset="-120"/>
                        </a:rPr>
                        <a:t>Stage 2 Segmentation</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ResNet34 U-Net (Combined Loss)</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Single 14 GPU, 25 Epochs</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34.61% peak validation mIoU</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850680">
                <a:tc>
                  <a:txBody>
                    <a:bodyPr/>
                    <a:lstStyle/>
                    <a:p>
                      <a:pPr indent="0" marL="0">
                        <a:buNone/>
                      </a:pPr>
                      <a:r>
                        <a:rPr lang="en-US" sz="1450" dirty="0">
                          <a:solidFill>
                            <a:srgbClr val="272525"/>
                          </a:solidFill>
                          <a:latin typeface="Bitter" pitchFamily="34" charset="0"/>
                          <a:ea typeface="Bitter" pitchFamily="34" charset="-122"/>
                          <a:cs typeface="Bitter" pitchFamily="34" charset="-120"/>
                        </a:rPr>
                        <a:t>Stage 3: VLM Evaluation</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Fine-Tuned Qwen2 5-7b (8-bit)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Kaggle Notebook (USB VRAM usage)</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c>
                  <a:txBody>
                    <a:bodyPr/>
                    <a:lstStyle/>
                    <a:p>
                      <a:pPr indent="0" marL="0">
                        <a:buNone/>
                      </a:pPr>
                      <a:r>
                        <a:rPr lang="en-US" sz="1450" dirty="0">
                          <a:solidFill>
                            <a:srgbClr val="272525"/>
                          </a:solidFill>
                          <a:latin typeface="Bitter" pitchFamily="34" charset="0"/>
                          <a:ea typeface="Bitter" pitchFamily="34" charset="-122"/>
                          <a:cs typeface="Bitter" pitchFamily="34" charset="-120"/>
                        </a:rPr>
                        <a:t>91.93% binary | 84.65% MCQ accuracy</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5F7FB"/>
                    </a:solidFill>
                  </a:tcPr>
                </a:tc>
              </a:tr>
              <a:tr h="847505">
                <a:tc>
                  <a:txBody>
                    <a:bodyPr/>
                    <a:lstStyle/>
                    <a:p>
                      <a:pPr indent="0" marL="0">
                        <a:buNone/>
                      </a:pPr>
                      <a:r>
                        <a:rPr lang="en-US" sz="1450" dirty="0">
                          <a:solidFill>
                            <a:srgbClr val="C2C4B5"/>
                          </a:solidFill>
                          <a:latin typeface="Bitter" pitchFamily="34" charset="0"/>
                          <a:ea typeface="Bitter" pitchFamily="34" charset="-122"/>
                          <a:cs typeface="Bitter" pitchFamily="34" charset="-120"/>
                        </a:rPr>
                        <a:t>Stage 4: Multi-Agent Crew</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CrewAI &amp; Gemini 3.1 Flash-Lite</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API-Augmented Environment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Zero human-coordination bottlenecks</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22288"/>
            <a:ext cx="9238424" cy="51627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593229"/>
            <a:ext cx="10868745" cy="531614"/>
          </a:xfrm>
          <a:prstGeom prst="rect">
            <a:avLst/>
          </a:prstGeom>
          <a:noFill/>
          <a:ln/>
        </p:spPr>
        <p:txBody>
          <a:bodyPr wrap="none" lIns="0" tIns="0" rIns="0" bIns="0" rtlCol="0" anchor="t"/>
          <a:lstStyle/>
          <a:p>
            <a:pPr algn="l" indent="0" marL="0">
              <a:lnSpc>
                <a:spcPct val="104000"/>
              </a:lnSpc>
              <a:buNone/>
            </a:pPr>
            <a:r>
              <a:rPr lang="en-US" sz="3300" b="1" dirty="0">
                <a:solidFill>
                  <a:srgbClr val="E1E5CD"/>
                </a:solidFill>
                <a:latin typeface="Outfit Bold" pitchFamily="34" charset="0"/>
                <a:ea typeface="Outfit Bold" pitchFamily="34" charset="-122"/>
                <a:cs typeface="Outfit Bold" pitchFamily="34" charset="-120"/>
              </a:rPr>
              <a:t>N-Project Timeline and Milestones</a:t>
            </a:r>
            <a:endParaRPr lang="en-US" sz="3300" dirty="0"/>
          </a:p>
        </p:txBody>
      </p:sp>
      <p:sp>
        <p:nvSpPr>
          <p:cNvPr id="3" name="Shape 1"/>
          <p:cNvSpPr/>
          <p:nvPr/>
        </p:nvSpPr>
        <p:spPr>
          <a:xfrm>
            <a:off x="661475" y="3934023"/>
            <a:ext cx="10868745" cy="19050"/>
          </a:xfrm>
          <a:prstGeom prst="roundRect">
            <a:avLst>
              <a:gd name="adj" fmla="val 49999"/>
            </a:avLst>
          </a:prstGeom>
          <a:solidFill>
            <a:srgbClr val="545557"/>
          </a:solidFill>
          <a:ln/>
        </p:spPr>
      </p:sp>
      <p:sp>
        <p:nvSpPr>
          <p:cNvPr id="4" name="Shape 2"/>
          <p:cNvSpPr/>
          <p:nvPr/>
        </p:nvSpPr>
        <p:spPr>
          <a:xfrm>
            <a:off x="1561664" y="3423791"/>
            <a:ext cx="19050" cy="510282"/>
          </a:xfrm>
          <a:prstGeom prst="roundRect">
            <a:avLst>
              <a:gd name="adj" fmla="val 49999"/>
            </a:avLst>
          </a:prstGeom>
          <a:solidFill>
            <a:srgbClr val="549BFF"/>
          </a:solidFill>
          <a:ln/>
        </p:spPr>
      </p:sp>
      <p:sp>
        <p:nvSpPr>
          <p:cNvPr id="5" name="Shape 3"/>
          <p:cNvSpPr/>
          <p:nvPr/>
        </p:nvSpPr>
        <p:spPr>
          <a:xfrm>
            <a:off x="1379900" y="3742680"/>
            <a:ext cx="382677" cy="382687"/>
          </a:xfrm>
          <a:prstGeom prst="roundRect">
            <a:avLst>
              <a:gd name="adj" fmla="val 6668"/>
            </a:avLst>
          </a:prstGeom>
          <a:solidFill>
            <a:srgbClr val="3B82F6"/>
          </a:solidFill>
          <a:ln/>
        </p:spPr>
      </p:sp>
      <p:sp>
        <p:nvSpPr>
          <p:cNvPr id="6" name="Text 4"/>
          <p:cNvSpPr/>
          <p:nvPr/>
        </p:nvSpPr>
        <p:spPr>
          <a:xfrm>
            <a:off x="1443646"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FFFFFF"/>
                </a:solidFill>
                <a:latin typeface="Outfit Bold" pitchFamily="34" charset="0"/>
                <a:ea typeface="Outfit Bold" pitchFamily="34" charset="-122"/>
                <a:cs typeface="Outfit Bold" pitchFamily="34" charset="-120"/>
              </a:rPr>
              <a:t>1</a:t>
            </a:r>
            <a:endParaRPr lang="en-US" sz="2000" dirty="0"/>
          </a:p>
        </p:txBody>
      </p:sp>
      <p:sp>
        <p:nvSpPr>
          <p:cNvPr id="7" name="Text 5"/>
          <p:cNvSpPr/>
          <p:nvPr/>
        </p:nvSpPr>
        <p:spPr>
          <a:xfrm>
            <a:off x="831532" y="1861840"/>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1</a:t>
            </a:r>
            <a:endParaRPr lang="en-US" sz="1650" dirty="0"/>
          </a:p>
        </p:txBody>
      </p:sp>
      <p:sp>
        <p:nvSpPr>
          <p:cNvPr id="8" name="Text 6"/>
          <p:cNvSpPr/>
          <p:nvPr/>
        </p:nvSpPr>
        <p:spPr>
          <a:xfrm>
            <a:off x="831532" y="2219325"/>
            <a:ext cx="1479513" cy="1034256"/>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Data Curation Pipeline (VView + AIDER)</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Whole Team</a:t>
            </a:r>
            <a:endParaRPr lang="en-US" sz="1300" dirty="0"/>
          </a:p>
        </p:txBody>
      </p:sp>
      <p:sp>
        <p:nvSpPr>
          <p:cNvPr id="9" name="Shape 7"/>
          <p:cNvSpPr/>
          <p:nvPr/>
        </p:nvSpPr>
        <p:spPr>
          <a:xfrm>
            <a:off x="2567122" y="3933974"/>
            <a:ext cx="19050" cy="510282"/>
          </a:xfrm>
          <a:prstGeom prst="roundRect">
            <a:avLst>
              <a:gd name="adj" fmla="val 49999"/>
            </a:avLst>
          </a:prstGeom>
          <a:solidFill>
            <a:srgbClr val="A475FF"/>
          </a:solidFill>
          <a:ln/>
        </p:spPr>
      </p:sp>
      <p:sp>
        <p:nvSpPr>
          <p:cNvPr id="10" name="Shape 8"/>
          <p:cNvSpPr/>
          <p:nvPr/>
        </p:nvSpPr>
        <p:spPr>
          <a:xfrm>
            <a:off x="2385358" y="3742680"/>
            <a:ext cx="382677" cy="382687"/>
          </a:xfrm>
          <a:prstGeom prst="roundRect">
            <a:avLst>
              <a:gd name="adj" fmla="val 6668"/>
            </a:avLst>
          </a:prstGeom>
          <a:solidFill>
            <a:srgbClr val="8B5CF6"/>
          </a:solidFill>
          <a:ln/>
        </p:spPr>
      </p:sp>
      <p:sp>
        <p:nvSpPr>
          <p:cNvPr id="11" name="Text 9"/>
          <p:cNvSpPr/>
          <p:nvPr/>
        </p:nvSpPr>
        <p:spPr>
          <a:xfrm>
            <a:off x="2449104"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FFFFFF"/>
                </a:solidFill>
                <a:latin typeface="Outfit Bold" pitchFamily="34" charset="0"/>
                <a:ea typeface="Outfit Bold" pitchFamily="34" charset="-122"/>
                <a:cs typeface="Outfit Bold" pitchFamily="34" charset="-120"/>
              </a:rPr>
              <a:t>2</a:t>
            </a:r>
            <a:endParaRPr lang="en-US" sz="2000" dirty="0"/>
          </a:p>
        </p:txBody>
      </p:sp>
      <p:sp>
        <p:nvSpPr>
          <p:cNvPr id="12" name="Text 10"/>
          <p:cNvSpPr/>
          <p:nvPr/>
        </p:nvSpPr>
        <p:spPr>
          <a:xfrm>
            <a:off x="1836989" y="4614466"/>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2</a:t>
            </a:r>
            <a:endParaRPr lang="en-US" sz="1650" dirty="0"/>
          </a:p>
        </p:txBody>
      </p:sp>
      <p:sp>
        <p:nvSpPr>
          <p:cNvPr id="13" name="Text 11"/>
          <p:cNvSpPr/>
          <p:nvPr/>
        </p:nvSpPr>
        <p:spPr>
          <a:xfrm>
            <a:off x="1836989" y="4971951"/>
            <a:ext cx="1479513" cy="517128"/>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Literature Review</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Whole Team</a:t>
            </a:r>
            <a:endParaRPr lang="en-US" sz="1300" dirty="0"/>
          </a:p>
        </p:txBody>
      </p:sp>
      <p:sp>
        <p:nvSpPr>
          <p:cNvPr id="14" name="Shape 12"/>
          <p:cNvSpPr/>
          <p:nvPr/>
        </p:nvSpPr>
        <p:spPr>
          <a:xfrm>
            <a:off x="3572579" y="3423791"/>
            <a:ext cx="19050" cy="510282"/>
          </a:xfrm>
          <a:prstGeom prst="roundRect">
            <a:avLst>
              <a:gd name="adj" fmla="val 49999"/>
            </a:avLst>
          </a:prstGeom>
          <a:solidFill>
            <a:srgbClr val="D22E7F"/>
          </a:solidFill>
          <a:ln/>
        </p:spPr>
      </p:sp>
      <p:sp>
        <p:nvSpPr>
          <p:cNvPr id="15" name="Shape 13"/>
          <p:cNvSpPr/>
          <p:nvPr/>
        </p:nvSpPr>
        <p:spPr>
          <a:xfrm>
            <a:off x="3390815" y="3742680"/>
            <a:ext cx="382677" cy="382687"/>
          </a:xfrm>
          <a:prstGeom prst="roundRect">
            <a:avLst>
              <a:gd name="adj" fmla="val 6668"/>
            </a:avLst>
          </a:prstGeom>
          <a:solidFill>
            <a:srgbClr val="EC4899"/>
          </a:solidFill>
          <a:ln/>
        </p:spPr>
      </p:sp>
      <p:sp>
        <p:nvSpPr>
          <p:cNvPr id="16" name="Text 14"/>
          <p:cNvSpPr/>
          <p:nvPr/>
        </p:nvSpPr>
        <p:spPr>
          <a:xfrm>
            <a:off x="3454562"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3</a:t>
            </a:r>
            <a:endParaRPr lang="en-US" sz="2000" dirty="0"/>
          </a:p>
        </p:txBody>
      </p:sp>
      <p:sp>
        <p:nvSpPr>
          <p:cNvPr id="17" name="Text 15"/>
          <p:cNvSpPr/>
          <p:nvPr/>
        </p:nvSpPr>
        <p:spPr>
          <a:xfrm>
            <a:off x="2842447" y="1861840"/>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3</a:t>
            </a:r>
            <a:endParaRPr lang="en-US" sz="1650" dirty="0"/>
          </a:p>
        </p:txBody>
      </p:sp>
      <p:sp>
        <p:nvSpPr>
          <p:cNvPr id="18" name="Text 16"/>
          <p:cNvSpPr/>
          <p:nvPr/>
        </p:nvSpPr>
        <p:spPr>
          <a:xfrm>
            <a:off x="2842447" y="2219325"/>
            <a:ext cx="1479513" cy="775692"/>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Proposed Solution Report</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Tamanna</a:t>
            </a:r>
            <a:endParaRPr lang="en-US" sz="1300" dirty="0"/>
          </a:p>
        </p:txBody>
      </p:sp>
      <p:sp>
        <p:nvSpPr>
          <p:cNvPr id="19" name="Shape 17"/>
          <p:cNvSpPr/>
          <p:nvPr/>
        </p:nvSpPr>
        <p:spPr>
          <a:xfrm>
            <a:off x="4578037" y="3933974"/>
            <a:ext cx="19050" cy="510282"/>
          </a:xfrm>
          <a:prstGeom prst="roundRect">
            <a:avLst>
              <a:gd name="adj" fmla="val 49999"/>
            </a:avLst>
          </a:prstGeom>
          <a:solidFill>
            <a:srgbClr val="DF5900"/>
          </a:solidFill>
          <a:ln/>
        </p:spPr>
      </p:sp>
      <p:sp>
        <p:nvSpPr>
          <p:cNvPr id="20" name="Shape 18"/>
          <p:cNvSpPr/>
          <p:nvPr/>
        </p:nvSpPr>
        <p:spPr>
          <a:xfrm>
            <a:off x="4396273" y="3742680"/>
            <a:ext cx="382677" cy="382687"/>
          </a:xfrm>
          <a:prstGeom prst="roundRect">
            <a:avLst>
              <a:gd name="adj" fmla="val 6668"/>
            </a:avLst>
          </a:prstGeom>
          <a:solidFill>
            <a:srgbClr val="F97316"/>
          </a:solidFill>
          <a:ln/>
        </p:spPr>
      </p:sp>
      <p:sp>
        <p:nvSpPr>
          <p:cNvPr id="21" name="Text 19"/>
          <p:cNvSpPr/>
          <p:nvPr/>
        </p:nvSpPr>
        <p:spPr>
          <a:xfrm>
            <a:off x="4460019"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4</a:t>
            </a:r>
            <a:endParaRPr lang="en-US" sz="2000" dirty="0"/>
          </a:p>
        </p:txBody>
      </p:sp>
      <p:sp>
        <p:nvSpPr>
          <p:cNvPr id="22" name="Text 20"/>
          <p:cNvSpPr/>
          <p:nvPr/>
        </p:nvSpPr>
        <p:spPr>
          <a:xfrm>
            <a:off x="3847905" y="4614466"/>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3-5</a:t>
            </a:r>
            <a:endParaRPr lang="en-US" sz="1650" dirty="0"/>
          </a:p>
        </p:txBody>
      </p:sp>
      <p:sp>
        <p:nvSpPr>
          <p:cNvPr id="23" name="Text 21"/>
          <p:cNvSpPr/>
          <p:nvPr/>
        </p:nvSpPr>
        <p:spPr>
          <a:xfrm>
            <a:off x="3847905" y="4971951"/>
            <a:ext cx="1479513" cy="1292820"/>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DisasterM3 Reproduction (Train + Merge + Eval)</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Abrar</a:t>
            </a:r>
            <a:endParaRPr lang="en-US" sz="1300" dirty="0"/>
          </a:p>
        </p:txBody>
      </p:sp>
      <p:sp>
        <p:nvSpPr>
          <p:cNvPr id="24" name="Shape 22"/>
          <p:cNvSpPr/>
          <p:nvPr/>
        </p:nvSpPr>
        <p:spPr>
          <a:xfrm>
            <a:off x="5583495" y="3423791"/>
            <a:ext cx="19050" cy="510282"/>
          </a:xfrm>
          <a:prstGeom prst="roundRect">
            <a:avLst>
              <a:gd name="adj" fmla="val 49999"/>
            </a:avLst>
          </a:prstGeom>
          <a:solidFill>
            <a:srgbClr val="009F67"/>
          </a:solidFill>
          <a:ln/>
        </p:spPr>
      </p:sp>
      <p:sp>
        <p:nvSpPr>
          <p:cNvPr id="25" name="Shape 23"/>
          <p:cNvSpPr/>
          <p:nvPr/>
        </p:nvSpPr>
        <p:spPr>
          <a:xfrm>
            <a:off x="5401730" y="3742680"/>
            <a:ext cx="382677" cy="382687"/>
          </a:xfrm>
          <a:prstGeom prst="roundRect">
            <a:avLst>
              <a:gd name="adj" fmla="val 6668"/>
            </a:avLst>
          </a:prstGeom>
          <a:solidFill>
            <a:srgbClr val="10B981"/>
          </a:solidFill>
          <a:ln/>
        </p:spPr>
      </p:sp>
      <p:sp>
        <p:nvSpPr>
          <p:cNvPr id="26" name="Text 24"/>
          <p:cNvSpPr/>
          <p:nvPr/>
        </p:nvSpPr>
        <p:spPr>
          <a:xfrm>
            <a:off x="5465477"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5</a:t>
            </a:r>
            <a:endParaRPr lang="en-US" sz="2000" dirty="0"/>
          </a:p>
        </p:txBody>
      </p:sp>
      <p:sp>
        <p:nvSpPr>
          <p:cNvPr id="27" name="Text 25"/>
          <p:cNvSpPr/>
          <p:nvPr/>
        </p:nvSpPr>
        <p:spPr>
          <a:xfrm>
            <a:off x="4853362" y="1861840"/>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3-4</a:t>
            </a:r>
            <a:endParaRPr lang="en-US" sz="1650" dirty="0"/>
          </a:p>
        </p:txBody>
      </p:sp>
      <p:sp>
        <p:nvSpPr>
          <p:cNvPr id="28" name="Text 26"/>
          <p:cNvSpPr/>
          <p:nvPr/>
        </p:nvSpPr>
        <p:spPr>
          <a:xfrm>
            <a:off x="4853362" y="2219325"/>
            <a:ext cx="1479513" cy="775692"/>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Super-Resolution Pipeline (VRT)</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Noman</a:t>
            </a:r>
            <a:endParaRPr lang="en-US" sz="1300" dirty="0"/>
          </a:p>
        </p:txBody>
      </p:sp>
      <p:sp>
        <p:nvSpPr>
          <p:cNvPr id="29" name="Shape 27"/>
          <p:cNvSpPr/>
          <p:nvPr/>
        </p:nvSpPr>
        <p:spPr>
          <a:xfrm>
            <a:off x="6588952" y="3933974"/>
            <a:ext cx="19050" cy="510282"/>
          </a:xfrm>
          <a:prstGeom prst="roundRect">
            <a:avLst>
              <a:gd name="adj" fmla="val 49999"/>
            </a:avLst>
          </a:prstGeom>
          <a:solidFill>
            <a:srgbClr val="009E8C"/>
          </a:solidFill>
          <a:ln/>
        </p:spPr>
      </p:sp>
      <p:sp>
        <p:nvSpPr>
          <p:cNvPr id="30" name="Shape 28"/>
          <p:cNvSpPr/>
          <p:nvPr/>
        </p:nvSpPr>
        <p:spPr>
          <a:xfrm>
            <a:off x="6407188" y="3742680"/>
            <a:ext cx="382677" cy="382687"/>
          </a:xfrm>
          <a:prstGeom prst="roundRect">
            <a:avLst>
              <a:gd name="adj" fmla="val 6668"/>
            </a:avLst>
          </a:prstGeom>
          <a:solidFill>
            <a:srgbClr val="14B8A6"/>
          </a:solidFill>
          <a:ln/>
        </p:spPr>
      </p:sp>
      <p:sp>
        <p:nvSpPr>
          <p:cNvPr id="31" name="Text 29"/>
          <p:cNvSpPr/>
          <p:nvPr/>
        </p:nvSpPr>
        <p:spPr>
          <a:xfrm>
            <a:off x="6470935"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6</a:t>
            </a:r>
            <a:endParaRPr lang="en-US" sz="2000" dirty="0"/>
          </a:p>
        </p:txBody>
      </p:sp>
      <p:sp>
        <p:nvSpPr>
          <p:cNvPr id="32" name="Text 30"/>
          <p:cNvSpPr/>
          <p:nvPr/>
        </p:nvSpPr>
        <p:spPr>
          <a:xfrm>
            <a:off x="5858820" y="4614466"/>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3-4</a:t>
            </a:r>
            <a:endParaRPr lang="en-US" sz="1650" dirty="0"/>
          </a:p>
        </p:txBody>
      </p:sp>
      <p:sp>
        <p:nvSpPr>
          <p:cNvPr id="33" name="Text 31"/>
          <p:cNvSpPr/>
          <p:nvPr/>
        </p:nvSpPr>
        <p:spPr>
          <a:xfrm>
            <a:off x="5858820" y="4971951"/>
            <a:ext cx="1479513" cy="1034256"/>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Satellite Damage Mapping (xED-S12)</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Aryan</a:t>
            </a:r>
            <a:endParaRPr lang="en-US" sz="1300" dirty="0"/>
          </a:p>
        </p:txBody>
      </p:sp>
      <p:sp>
        <p:nvSpPr>
          <p:cNvPr id="34" name="Shape 32"/>
          <p:cNvSpPr/>
          <p:nvPr/>
        </p:nvSpPr>
        <p:spPr>
          <a:xfrm>
            <a:off x="7594410" y="3423791"/>
            <a:ext cx="19050" cy="510282"/>
          </a:xfrm>
          <a:prstGeom prst="roundRect">
            <a:avLst>
              <a:gd name="adj" fmla="val 49999"/>
            </a:avLst>
          </a:prstGeom>
          <a:solidFill>
            <a:srgbClr val="DB8400"/>
          </a:solidFill>
          <a:ln/>
        </p:spPr>
      </p:sp>
      <p:sp>
        <p:nvSpPr>
          <p:cNvPr id="35" name="Shape 33"/>
          <p:cNvSpPr/>
          <p:nvPr/>
        </p:nvSpPr>
        <p:spPr>
          <a:xfrm>
            <a:off x="7412646" y="3742680"/>
            <a:ext cx="382677" cy="382687"/>
          </a:xfrm>
          <a:prstGeom prst="roundRect">
            <a:avLst>
              <a:gd name="adj" fmla="val 6668"/>
            </a:avLst>
          </a:prstGeom>
          <a:solidFill>
            <a:srgbClr val="F59E0B"/>
          </a:solidFill>
          <a:ln/>
        </p:spPr>
      </p:sp>
      <p:sp>
        <p:nvSpPr>
          <p:cNvPr id="36" name="Text 34"/>
          <p:cNvSpPr/>
          <p:nvPr/>
        </p:nvSpPr>
        <p:spPr>
          <a:xfrm>
            <a:off x="7476392"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7</a:t>
            </a:r>
            <a:endParaRPr lang="en-US" sz="2000" dirty="0"/>
          </a:p>
        </p:txBody>
      </p:sp>
      <p:sp>
        <p:nvSpPr>
          <p:cNvPr id="37" name="Text 35"/>
          <p:cNvSpPr/>
          <p:nvPr/>
        </p:nvSpPr>
        <p:spPr>
          <a:xfrm>
            <a:off x="6864277" y="1861840"/>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3</a:t>
            </a:r>
            <a:endParaRPr lang="en-US" sz="1650" dirty="0"/>
          </a:p>
        </p:txBody>
      </p:sp>
      <p:sp>
        <p:nvSpPr>
          <p:cNvPr id="38" name="Text 36"/>
          <p:cNvSpPr/>
          <p:nvPr/>
        </p:nvSpPr>
        <p:spPr>
          <a:xfrm>
            <a:off x="6864277" y="2219325"/>
            <a:ext cx="1479513" cy="1034256"/>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DisasterTrier Multi-Agent System</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Rista</a:t>
            </a:r>
            <a:endParaRPr lang="en-US" sz="1300" dirty="0"/>
          </a:p>
        </p:txBody>
      </p:sp>
      <p:sp>
        <p:nvSpPr>
          <p:cNvPr id="39" name="Shape 37"/>
          <p:cNvSpPr/>
          <p:nvPr/>
        </p:nvSpPr>
        <p:spPr>
          <a:xfrm>
            <a:off x="8599868" y="3933974"/>
            <a:ext cx="19050" cy="510282"/>
          </a:xfrm>
          <a:prstGeom prst="roundRect">
            <a:avLst>
              <a:gd name="adj" fmla="val 49999"/>
            </a:avLst>
          </a:prstGeom>
          <a:solidFill>
            <a:srgbClr val="FF5D5D"/>
          </a:solidFill>
          <a:ln/>
        </p:spPr>
      </p:sp>
      <p:sp>
        <p:nvSpPr>
          <p:cNvPr id="40" name="Shape 38"/>
          <p:cNvSpPr/>
          <p:nvPr/>
        </p:nvSpPr>
        <p:spPr>
          <a:xfrm>
            <a:off x="8418103" y="3742680"/>
            <a:ext cx="382677" cy="382687"/>
          </a:xfrm>
          <a:prstGeom prst="roundRect">
            <a:avLst>
              <a:gd name="adj" fmla="val 6668"/>
            </a:avLst>
          </a:prstGeom>
          <a:solidFill>
            <a:srgbClr val="EF4444"/>
          </a:solidFill>
          <a:ln/>
        </p:spPr>
      </p:sp>
      <p:sp>
        <p:nvSpPr>
          <p:cNvPr id="41" name="Text 39"/>
          <p:cNvSpPr/>
          <p:nvPr/>
        </p:nvSpPr>
        <p:spPr>
          <a:xfrm>
            <a:off x="8481850"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FFFFFF"/>
                </a:solidFill>
                <a:latin typeface="Outfit Bold" pitchFamily="34" charset="0"/>
                <a:ea typeface="Outfit Bold" pitchFamily="34" charset="-122"/>
                <a:cs typeface="Outfit Bold" pitchFamily="34" charset="-120"/>
              </a:rPr>
              <a:t>8</a:t>
            </a:r>
            <a:endParaRPr lang="en-US" sz="2000" dirty="0"/>
          </a:p>
        </p:txBody>
      </p:sp>
      <p:sp>
        <p:nvSpPr>
          <p:cNvPr id="42" name="Text 40"/>
          <p:cNvSpPr/>
          <p:nvPr/>
        </p:nvSpPr>
        <p:spPr>
          <a:xfrm>
            <a:off x="7869735" y="4614466"/>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4</a:t>
            </a:r>
            <a:endParaRPr lang="en-US" sz="1650" dirty="0"/>
          </a:p>
        </p:txBody>
      </p:sp>
      <p:sp>
        <p:nvSpPr>
          <p:cNvPr id="43" name="Text 41"/>
          <p:cNvSpPr/>
          <p:nvPr/>
        </p:nvSpPr>
        <p:spPr>
          <a:xfrm>
            <a:off x="7869735" y="4971951"/>
            <a:ext cx="1479513" cy="1034256"/>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U-Net Segmentation Pipeline</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Aryan</a:t>
            </a:r>
            <a:endParaRPr lang="en-US" sz="1300" dirty="0"/>
          </a:p>
        </p:txBody>
      </p:sp>
      <p:sp>
        <p:nvSpPr>
          <p:cNvPr id="44" name="Shape 42"/>
          <p:cNvSpPr/>
          <p:nvPr/>
        </p:nvSpPr>
        <p:spPr>
          <a:xfrm>
            <a:off x="9605325" y="3423791"/>
            <a:ext cx="19050" cy="510282"/>
          </a:xfrm>
          <a:prstGeom prst="roundRect">
            <a:avLst>
              <a:gd name="adj" fmla="val 49999"/>
            </a:avLst>
          </a:prstGeom>
          <a:solidFill>
            <a:srgbClr val="009CBA"/>
          </a:solidFill>
          <a:ln/>
        </p:spPr>
      </p:sp>
      <p:sp>
        <p:nvSpPr>
          <p:cNvPr id="45" name="Shape 43"/>
          <p:cNvSpPr/>
          <p:nvPr/>
        </p:nvSpPr>
        <p:spPr>
          <a:xfrm>
            <a:off x="9423561" y="3742680"/>
            <a:ext cx="382677" cy="382687"/>
          </a:xfrm>
          <a:prstGeom prst="roundRect">
            <a:avLst>
              <a:gd name="adj" fmla="val 6668"/>
            </a:avLst>
          </a:prstGeom>
          <a:solidFill>
            <a:srgbClr val="06B6D4"/>
          </a:solidFill>
          <a:ln/>
        </p:spPr>
      </p:sp>
      <p:sp>
        <p:nvSpPr>
          <p:cNvPr id="46" name="Text 44"/>
          <p:cNvSpPr/>
          <p:nvPr/>
        </p:nvSpPr>
        <p:spPr>
          <a:xfrm>
            <a:off x="9487308"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9</a:t>
            </a:r>
            <a:endParaRPr lang="en-US" sz="2000" dirty="0"/>
          </a:p>
        </p:txBody>
      </p:sp>
      <p:sp>
        <p:nvSpPr>
          <p:cNvPr id="47" name="Text 45"/>
          <p:cNvSpPr/>
          <p:nvPr/>
        </p:nvSpPr>
        <p:spPr>
          <a:xfrm>
            <a:off x="8875193" y="1861840"/>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4-5</a:t>
            </a:r>
            <a:endParaRPr lang="en-US" sz="1650" dirty="0"/>
          </a:p>
        </p:txBody>
      </p:sp>
      <p:sp>
        <p:nvSpPr>
          <p:cNvPr id="48" name="Text 46"/>
          <p:cNvSpPr/>
          <p:nvPr/>
        </p:nvSpPr>
        <p:spPr>
          <a:xfrm>
            <a:off x="8875193" y="2219325"/>
            <a:ext cx="1479513" cy="775692"/>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Local VLM Setup (Ollama/LLaVA)</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Rista</a:t>
            </a:r>
            <a:endParaRPr lang="en-US" sz="1300" dirty="0"/>
          </a:p>
        </p:txBody>
      </p:sp>
      <p:sp>
        <p:nvSpPr>
          <p:cNvPr id="49" name="Shape 47"/>
          <p:cNvSpPr/>
          <p:nvPr/>
        </p:nvSpPr>
        <p:spPr>
          <a:xfrm>
            <a:off x="10610783" y="3933974"/>
            <a:ext cx="19050" cy="510282"/>
          </a:xfrm>
          <a:prstGeom prst="roundRect">
            <a:avLst>
              <a:gd name="adj" fmla="val 49999"/>
            </a:avLst>
          </a:prstGeom>
          <a:solidFill>
            <a:srgbClr val="8E3BDD"/>
          </a:solidFill>
          <a:ln/>
        </p:spPr>
      </p:sp>
      <p:sp>
        <p:nvSpPr>
          <p:cNvPr id="50" name="Shape 48"/>
          <p:cNvSpPr/>
          <p:nvPr/>
        </p:nvSpPr>
        <p:spPr>
          <a:xfrm>
            <a:off x="10429019" y="3742680"/>
            <a:ext cx="382677" cy="382687"/>
          </a:xfrm>
          <a:prstGeom prst="roundRect">
            <a:avLst>
              <a:gd name="adj" fmla="val 6668"/>
            </a:avLst>
          </a:prstGeom>
          <a:solidFill>
            <a:srgbClr val="A855F7"/>
          </a:solidFill>
          <a:ln/>
        </p:spPr>
      </p:sp>
      <p:sp>
        <p:nvSpPr>
          <p:cNvPr id="51" name="Text 49"/>
          <p:cNvSpPr/>
          <p:nvPr/>
        </p:nvSpPr>
        <p:spPr>
          <a:xfrm>
            <a:off x="10492765" y="3774529"/>
            <a:ext cx="255085" cy="318889"/>
          </a:xfrm>
          <a:prstGeom prst="rect">
            <a:avLst/>
          </a:prstGeom>
          <a:noFill/>
          <a:ln/>
        </p:spPr>
        <p:txBody>
          <a:bodyPr wrap="none" lIns="0" tIns="0" rIns="0" bIns="0" rtlCol="0" anchor="ctr"/>
          <a:lstStyle/>
          <a:p>
            <a:pPr algn="ctr" indent="0" marL="0">
              <a:lnSpc>
                <a:spcPct val="100000"/>
              </a:lnSpc>
              <a:buNone/>
            </a:pPr>
            <a:r>
              <a:rPr lang="en-US" sz="2000" b="1" dirty="0">
                <a:solidFill>
                  <a:srgbClr val="000000"/>
                </a:solidFill>
                <a:latin typeface="Outfit Bold" pitchFamily="34" charset="0"/>
                <a:ea typeface="Outfit Bold" pitchFamily="34" charset="-122"/>
                <a:cs typeface="Outfit Bold" pitchFamily="34" charset="-120"/>
              </a:rPr>
              <a:t>10</a:t>
            </a:r>
            <a:endParaRPr lang="en-US" sz="2000" dirty="0"/>
          </a:p>
        </p:txBody>
      </p:sp>
      <p:sp>
        <p:nvSpPr>
          <p:cNvPr id="52" name="Text 50"/>
          <p:cNvSpPr/>
          <p:nvPr/>
        </p:nvSpPr>
        <p:spPr>
          <a:xfrm>
            <a:off x="9880650" y="4614466"/>
            <a:ext cx="1479513" cy="265708"/>
          </a:xfrm>
          <a:prstGeom prst="rect">
            <a:avLst/>
          </a:prstGeom>
          <a:noFill/>
          <a:ln/>
        </p:spPr>
        <p:txBody>
          <a:bodyPr wrap="none" lIns="0" tIns="0" rIns="0" bIns="0" rtlCol="0" anchor="t"/>
          <a:lstStyle/>
          <a:p>
            <a:pPr algn="ctr" indent="0" marL="0">
              <a:lnSpc>
                <a:spcPct val="104000"/>
              </a:lnSpc>
              <a:buNone/>
            </a:pPr>
            <a:r>
              <a:rPr lang="en-US" sz="1650" b="1" dirty="0">
                <a:solidFill>
                  <a:srgbClr val="C2C4B5"/>
                </a:solidFill>
                <a:latin typeface="Outfit Bold" pitchFamily="34" charset="0"/>
                <a:ea typeface="Outfit Bold" pitchFamily="34" charset="-122"/>
                <a:cs typeface="Outfit Bold" pitchFamily="34" charset="-120"/>
              </a:rPr>
              <a:t>Wk 5</a:t>
            </a:r>
            <a:endParaRPr lang="en-US" sz="1650" dirty="0"/>
          </a:p>
        </p:txBody>
      </p:sp>
      <p:sp>
        <p:nvSpPr>
          <p:cNvPr id="53" name="Text 51"/>
          <p:cNvSpPr/>
          <p:nvPr/>
        </p:nvSpPr>
        <p:spPr>
          <a:xfrm>
            <a:off x="9880650" y="4971951"/>
            <a:ext cx="1479513" cy="775692"/>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C2C4B5"/>
                </a:solidFill>
                <a:latin typeface="Bitter Bold" pitchFamily="34" charset="0"/>
                <a:ea typeface="Bitter Bold" pitchFamily="34" charset="-122"/>
                <a:cs typeface="Bitter Bold" pitchFamily="34" charset="-120"/>
              </a:rPr>
              <a:t>Final Results &amp; Literature Review</a:t>
            </a:r>
            <a:endParaRPr lang="en-US" sz="1300" dirty="0"/>
          </a:p>
          <a:p>
            <a:pPr algn="ctr" indent="0" marL="0">
              <a:lnSpc>
                <a:spcPct val="127000"/>
              </a:lnSpc>
              <a:buNone/>
            </a:pPr>
            <a:r>
              <a:rPr lang="en-US" sz="1300" dirty="0">
                <a:solidFill>
                  <a:srgbClr val="C2C4B5"/>
                </a:solidFill>
                <a:latin typeface="Bitter" pitchFamily="34" charset="0"/>
                <a:ea typeface="Bitter" pitchFamily="34" charset="-122"/>
                <a:cs typeface="Bitter" pitchFamily="34" charset="-120"/>
              </a:rPr>
              <a:t>Team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85725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Expected Outcomes</a:t>
            </a:r>
            <a:endParaRPr lang="en-US" sz="3700" dirty="0"/>
          </a:p>
        </p:txBody>
      </p:sp>
      <p:sp>
        <p:nvSpPr>
          <p:cNvPr id="3" name="Text 1"/>
          <p:cNvSpPr/>
          <p:nvPr/>
        </p:nvSpPr>
        <p:spPr>
          <a:xfrm>
            <a:off x="661475" y="1825923"/>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The pipeline delivered three categories of validated results, each corresponding to a core project objective.</a:t>
            </a:r>
            <a:endParaRPr lang="en-US" sz="1450" dirty="0"/>
          </a:p>
        </p:txBody>
      </p:sp>
      <p:sp>
        <p:nvSpPr>
          <p:cNvPr id="4" name="Shape 2"/>
          <p:cNvSpPr/>
          <p:nvPr/>
        </p:nvSpPr>
        <p:spPr>
          <a:xfrm>
            <a:off x="661475" y="2340967"/>
            <a:ext cx="3496877" cy="3659684"/>
          </a:xfrm>
          <a:prstGeom prst="roundRect">
            <a:avLst>
              <a:gd name="adj" fmla="val 811"/>
            </a:avLst>
          </a:prstGeom>
          <a:solidFill>
            <a:srgbClr val="3B3C3E"/>
          </a:solidFill>
          <a:ln/>
        </p:spPr>
      </p:sp>
      <p:sp>
        <p:nvSpPr>
          <p:cNvPr id="5" name="Shape 3"/>
          <p:cNvSpPr/>
          <p:nvPr/>
        </p:nvSpPr>
        <p:spPr>
          <a:xfrm>
            <a:off x="850482" y="2529979"/>
            <a:ext cx="567021" cy="567035"/>
          </a:xfrm>
          <a:prstGeom prst="ellipse">
            <a:avLst/>
          </a:prstGeom>
          <a:solidFill>
            <a:srgbClr val="9FA582"/>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6450" y="2685852"/>
            <a:ext cx="255085" cy="255091"/>
          </a:xfrm>
          <a:prstGeom prst="rect">
            <a:avLst/>
          </a:prstGeom>
        </p:spPr>
      </p:pic>
      <p:sp>
        <p:nvSpPr>
          <p:cNvPr id="7" name="Text 4"/>
          <p:cNvSpPr/>
          <p:nvPr/>
        </p:nvSpPr>
        <p:spPr>
          <a:xfrm>
            <a:off x="850482" y="3286026"/>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Bypassing Spatial Blindness</a:t>
            </a:r>
            <a:endParaRPr lang="en-US" sz="1850" dirty="0"/>
          </a:p>
        </p:txBody>
      </p:sp>
      <p:sp>
        <p:nvSpPr>
          <p:cNvPr id="8" name="Text 5"/>
          <p:cNvSpPr/>
          <p:nvPr/>
        </p:nvSpPr>
        <p:spPr>
          <a:xfrm>
            <a:off x="850482" y="3694708"/>
            <a:ext cx="311886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U-Net successfully fixed </a:t>
            </a:r>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Building Damage Count (BDC) degradation</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 a known failure mode of pure VLM approaches that lack explicit spatial grounding.</a:t>
            </a:r>
            <a:endParaRPr lang="en-US" sz="1450" dirty="0"/>
          </a:p>
        </p:txBody>
      </p:sp>
      <p:sp>
        <p:nvSpPr>
          <p:cNvPr id="9" name="Shape 6"/>
          <p:cNvSpPr/>
          <p:nvPr/>
        </p:nvSpPr>
        <p:spPr>
          <a:xfrm>
            <a:off x="4347359" y="2340967"/>
            <a:ext cx="3496877" cy="3659684"/>
          </a:xfrm>
          <a:prstGeom prst="roundRect">
            <a:avLst>
              <a:gd name="adj" fmla="val 811"/>
            </a:avLst>
          </a:prstGeom>
          <a:solidFill>
            <a:srgbClr val="3B3C3E"/>
          </a:solidFill>
          <a:ln/>
        </p:spPr>
      </p:sp>
      <p:sp>
        <p:nvSpPr>
          <p:cNvPr id="10" name="Shape 7"/>
          <p:cNvSpPr/>
          <p:nvPr/>
        </p:nvSpPr>
        <p:spPr>
          <a:xfrm>
            <a:off x="4536366" y="2529979"/>
            <a:ext cx="567021" cy="567035"/>
          </a:xfrm>
          <a:prstGeom prst="ellipse">
            <a:avLst/>
          </a:prstGeom>
          <a:solidFill>
            <a:srgbClr val="9FA582"/>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2334" y="2685852"/>
            <a:ext cx="255085" cy="255091"/>
          </a:xfrm>
          <a:prstGeom prst="rect">
            <a:avLst/>
          </a:prstGeom>
        </p:spPr>
      </p:pic>
      <p:sp>
        <p:nvSpPr>
          <p:cNvPr id="12" name="Text 8"/>
          <p:cNvSpPr/>
          <p:nvPr/>
        </p:nvSpPr>
        <p:spPr>
          <a:xfrm>
            <a:off x="4536366" y="3286026"/>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Reasoning Accuracy</a:t>
            </a:r>
            <a:endParaRPr lang="en-US" sz="1850" dirty="0"/>
          </a:p>
        </p:txBody>
      </p:sp>
      <p:sp>
        <p:nvSpPr>
          <p:cNvPr id="13" name="Text 9"/>
          <p:cNvSpPr/>
          <p:nvPr/>
        </p:nvSpPr>
        <p:spPr>
          <a:xfrm>
            <a:off x="4536366" y="3694708"/>
            <a:ext cx="311886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Fine-tuned </a:t>
            </a:r>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Qwen2.5-VL</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achieved competitive disaster reasoning scores compared to significantly larger models, validating the efficiency of domain-specific QLoRA fine-tuning.</a:t>
            </a:r>
            <a:endParaRPr lang="en-US" sz="1450" dirty="0"/>
          </a:p>
        </p:txBody>
      </p:sp>
      <p:sp>
        <p:nvSpPr>
          <p:cNvPr id="14" name="Shape 10"/>
          <p:cNvSpPr/>
          <p:nvPr/>
        </p:nvSpPr>
        <p:spPr>
          <a:xfrm>
            <a:off x="8033244" y="2340967"/>
            <a:ext cx="3496877" cy="3659684"/>
          </a:xfrm>
          <a:prstGeom prst="roundRect">
            <a:avLst>
              <a:gd name="adj" fmla="val 811"/>
            </a:avLst>
          </a:prstGeom>
          <a:solidFill>
            <a:srgbClr val="3B3C3E"/>
          </a:solidFill>
          <a:ln/>
        </p:spPr>
      </p:sp>
      <p:sp>
        <p:nvSpPr>
          <p:cNvPr id="15" name="Shape 11"/>
          <p:cNvSpPr/>
          <p:nvPr/>
        </p:nvSpPr>
        <p:spPr>
          <a:xfrm>
            <a:off x="8222251" y="2529979"/>
            <a:ext cx="567021" cy="567035"/>
          </a:xfrm>
          <a:prstGeom prst="ellipse">
            <a:avLst/>
          </a:prstGeom>
          <a:solidFill>
            <a:srgbClr val="9FA582"/>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8219" y="2685852"/>
            <a:ext cx="255085" cy="255091"/>
          </a:xfrm>
          <a:prstGeom prst="rect">
            <a:avLst/>
          </a:prstGeom>
        </p:spPr>
      </p:pic>
      <p:sp>
        <p:nvSpPr>
          <p:cNvPr id="17" name="Text 12"/>
          <p:cNvSpPr/>
          <p:nvPr/>
        </p:nvSpPr>
        <p:spPr>
          <a:xfrm>
            <a:off x="8222251" y="3286026"/>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C2C4B5"/>
                </a:solidFill>
                <a:latin typeface="Outfit Bold" pitchFamily="34" charset="0"/>
                <a:ea typeface="Outfit Bold" pitchFamily="34" charset="-122"/>
                <a:cs typeface="Outfit Bold" pitchFamily="34" charset="-120"/>
              </a:rPr>
              <a:t>Actionable Outputs</a:t>
            </a:r>
            <a:endParaRPr lang="en-US" sz="1850" dirty="0"/>
          </a:p>
        </p:txBody>
      </p:sp>
      <p:sp>
        <p:nvSpPr>
          <p:cNvPr id="18" name="Text 13"/>
          <p:cNvSpPr/>
          <p:nvPr/>
        </p:nvSpPr>
        <p:spPr>
          <a:xfrm>
            <a:off x="8222251" y="3694708"/>
            <a:ext cx="3118863"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The </a:t>
            </a:r>
            <a:pPr algn="l" indent="0" marL="0">
              <a:lnSpc>
                <a:spcPct val="133000"/>
              </a:lnSpc>
              <a:buNone/>
            </a:pPr>
            <a:r>
              <a:rPr lang="en-US" sz="1450" b="1" dirty="0">
                <a:solidFill>
                  <a:srgbClr val="C2C4B5"/>
                </a:solidFill>
                <a:latin typeface="Bitter Bold" pitchFamily="34" charset="0"/>
                <a:ea typeface="Bitter Bold" pitchFamily="34" charset="-122"/>
                <a:cs typeface="Bitter Bold" pitchFamily="34" charset="-120"/>
              </a:rPr>
              <a:t>DisasTeller</a:t>
            </a:r>
            <a:pPr algn="l" indent="0" marL="0">
              <a:lnSpc>
                <a:spcPct val="133000"/>
              </a:lnSpc>
              <a:buNone/>
            </a:pPr>
            <a:r>
              <a:rPr lang="en-US" sz="1450" dirty="0">
                <a:solidFill>
                  <a:srgbClr val="C2C4B5"/>
                </a:solidFill>
                <a:latin typeface="Bitter" pitchFamily="34" charset="0"/>
                <a:ea typeface="Bitter" pitchFamily="34" charset="-122"/>
                <a:cs typeface="Bitter" pitchFamily="34" charset="-120"/>
              </a:rPr>
              <a:t> system proved that extracted damage data could be autonomously converted into actionable government reconstruction plans and mapped hazard zones without human intervention.</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698500"/>
            <a:ext cx="10868745" cy="502047"/>
          </a:xfrm>
          <a:prstGeom prst="rect">
            <a:avLst/>
          </a:prstGeom>
          <a:noFill/>
          <a:ln/>
        </p:spPr>
        <p:txBody>
          <a:bodyPr wrap="none" lIns="0" tIns="0" rIns="0" bIns="0" rtlCol="0" anchor="t"/>
          <a:lstStyle/>
          <a:p>
            <a:pPr algn="l" indent="0" marL="0">
              <a:lnSpc>
                <a:spcPct val="104000"/>
              </a:lnSpc>
              <a:buNone/>
            </a:pPr>
            <a:r>
              <a:rPr lang="en-US" sz="3150" b="1" dirty="0">
                <a:solidFill>
                  <a:srgbClr val="FFFFFF"/>
                </a:solidFill>
                <a:latin typeface="Outfit Bold" pitchFamily="34" charset="0"/>
                <a:ea typeface="Outfit Bold" pitchFamily="34" charset="-122"/>
                <a:cs typeface="Outfit Bold" pitchFamily="34" charset="-120"/>
              </a:rPr>
              <a:t>N-Expected Outcomes &amp; Core Deliverables</a:t>
            </a:r>
            <a:endParaRPr lang="en-US" sz="3150" dirty="0"/>
          </a:p>
        </p:txBody>
      </p:sp>
      <p:sp>
        <p:nvSpPr>
          <p:cNvPr id="3" name="Shape 1"/>
          <p:cNvSpPr/>
          <p:nvPr/>
        </p:nvSpPr>
        <p:spPr>
          <a:xfrm>
            <a:off x="545789" y="1405334"/>
            <a:ext cx="5469793" cy="4501257"/>
          </a:xfrm>
          <a:prstGeom prst="roundRect">
            <a:avLst>
              <a:gd name="adj" fmla="val 535"/>
            </a:avLst>
          </a:prstGeom>
          <a:solidFill>
            <a:srgbClr val="E8FBFF"/>
          </a:solidFill>
          <a:ln/>
        </p:spPr>
      </p:sp>
      <p:sp>
        <p:nvSpPr>
          <p:cNvPr id="4" name="Shape 2"/>
          <p:cNvSpPr/>
          <p:nvPr/>
        </p:nvSpPr>
        <p:spPr>
          <a:xfrm>
            <a:off x="706420" y="1558925"/>
            <a:ext cx="2304496" cy="243979"/>
          </a:xfrm>
          <a:prstGeom prst="roundRect">
            <a:avLst>
              <a:gd name="adj" fmla="val 7902"/>
            </a:avLst>
          </a:prstGeom>
          <a:solidFill>
            <a:srgbClr val="E8EAE1"/>
          </a:solidFill>
          <a:ln/>
        </p:spPr>
      </p:sp>
      <p:sp>
        <p:nvSpPr>
          <p:cNvPr id="5" name="Text 3"/>
          <p:cNvSpPr/>
          <p:nvPr/>
        </p:nvSpPr>
        <p:spPr>
          <a:xfrm>
            <a:off x="802759" y="1607046"/>
            <a:ext cx="2721403" cy="147737"/>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Bitter" pitchFamily="34" charset="0"/>
                <a:ea typeface="Bitter" pitchFamily="34" charset="-122"/>
                <a:cs typeface="Bitter" pitchFamily="34" charset="-120"/>
              </a:rPr>
              <a:t>TECHNICAL EXPECTED OUTCOMES</a:t>
            </a:r>
            <a:endParaRPr lang="en-US" sz="1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6420" y="1956495"/>
            <a:ext cx="2506004" cy="1711127"/>
          </a:xfrm>
          <a:prstGeom prst="rect">
            <a:avLst/>
          </a:prstGeom>
        </p:spPr>
      </p:pic>
      <p:sp>
        <p:nvSpPr>
          <p:cNvPr id="7" name="Text 4"/>
          <p:cNvSpPr/>
          <p:nvPr/>
        </p:nvSpPr>
        <p:spPr>
          <a:xfrm>
            <a:off x="962299" y="2136180"/>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High-Resolution Clarity</a:t>
            </a:r>
            <a:endParaRPr lang="en-US" sz="1550" dirty="0"/>
          </a:p>
        </p:txBody>
      </p:sp>
      <p:sp>
        <p:nvSpPr>
          <p:cNvPr id="8" name="Text 5"/>
          <p:cNvSpPr/>
          <p:nvPr/>
        </p:nvSpPr>
        <p:spPr>
          <a:xfrm>
            <a:off x="962299" y="2774752"/>
            <a:ext cx="2070445"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4x super-resolution restoration of occluded satellite or drone imagery</a:t>
            </a:r>
            <a:endParaRPr lang="en-US" sz="12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8946" y="1956495"/>
            <a:ext cx="2506004" cy="1711127"/>
          </a:xfrm>
          <a:prstGeom prst="rect">
            <a:avLst/>
          </a:prstGeom>
        </p:spPr>
      </p:pic>
      <p:sp>
        <p:nvSpPr>
          <p:cNvPr id="10" name="Text 6"/>
          <p:cNvSpPr/>
          <p:nvPr/>
        </p:nvSpPr>
        <p:spPr>
          <a:xfrm>
            <a:off x="3604825" y="2136180"/>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Precise Damage Localization</a:t>
            </a:r>
            <a:endParaRPr lang="en-US" sz="1550" dirty="0"/>
          </a:p>
        </p:txBody>
      </p:sp>
      <p:sp>
        <p:nvSpPr>
          <p:cNvPr id="11" name="Text 7"/>
          <p:cNvSpPr/>
          <p:nvPr/>
        </p:nvSpPr>
        <p:spPr>
          <a:xfrm>
            <a:off x="3604825" y="2774752"/>
            <a:ext cx="2070445"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Robust building footprint and structural damage mapping with high IoU</a:t>
            </a:r>
            <a:endParaRPr lang="en-US" sz="12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420" y="3804146"/>
            <a:ext cx="2506004" cy="1948855"/>
          </a:xfrm>
          <a:prstGeom prst="rect">
            <a:avLst/>
          </a:prstGeom>
        </p:spPr>
      </p:pic>
      <p:sp>
        <p:nvSpPr>
          <p:cNvPr id="13" name="Text 8"/>
          <p:cNvSpPr/>
          <p:nvPr/>
        </p:nvSpPr>
        <p:spPr>
          <a:xfrm>
            <a:off x="962299" y="3983831"/>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Accurate Multimodal VQA</a:t>
            </a:r>
            <a:endParaRPr lang="en-US" sz="1550" dirty="0"/>
          </a:p>
        </p:txBody>
      </p:sp>
      <p:sp>
        <p:nvSpPr>
          <p:cNvPr id="14" name="Text 9"/>
          <p:cNvSpPr/>
          <p:nvPr/>
        </p:nvSpPr>
        <p:spPr>
          <a:xfrm>
            <a:off x="962299" y="4622403"/>
            <a:ext cx="2070445"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&gt;95% benchmark accuracy on disaster visual question answering Qwen2.5-VL</a:t>
            </a:r>
            <a:endParaRPr lang="en-US" sz="12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8946" y="3804146"/>
            <a:ext cx="2506004" cy="1948855"/>
          </a:xfrm>
          <a:prstGeom prst="rect">
            <a:avLst/>
          </a:prstGeom>
        </p:spPr>
      </p:pic>
      <p:sp>
        <p:nvSpPr>
          <p:cNvPr id="16" name="Text 10"/>
          <p:cNvSpPr/>
          <p:nvPr/>
        </p:nvSpPr>
        <p:spPr>
          <a:xfrm>
            <a:off x="3604825" y="3983831"/>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Low-Latency Coordination</a:t>
            </a:r>
            <a:endParaRPr lang="en-US" sz="1550" dirty="0"/>
          </a:p>
        </p:txBody>
      </p:sp>
      <p:sp>
        <p:nvSpPr>
          <p:cNvPr id="17" name="Text 11"/>
          <p:cNvSpPr/>
          <p:nvPr/>
        </p:nvSpPr>
        <p:spPr>
          <a:xfrm>
            <a:off x="3604825" y="4622403"/>
            <a:ext cx="2070445" cy="950912"/>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Automated reasoning and multi-agent synthesis running within operational constraints</a:t>
            </a:r>
            <a:endParaRPr lang="en-US" sz="1250" dirty="0"/>
          </a:p>
        </p:txBody>
      </p:sp>
      <p:sp>
        <p:nvSpPr>
          <p:cNvPr id="18" name="Shape 12"/>
          <p:cNvSpPr/>
          <p:nvPr/>
        </p:nvSpPr>
        <p:spPr>
          <a:xfrm>
            <a:off x="6182463" y="1405334"/>
            <a:ext cx="5469793" cy="4501257"/>
          </a:xfrm>
          <a:prstGeom prst="roundRect">
            <a:avLst>
              <a:gd name="adj" fmla="val 535"/>
            </a:avLst>
          </a:prstGeom>
          <a:solidFill>
            <a:srgbClr val="EAF9EE"/>
          </a:solidFill>
          <a:ln/>
        </p:spPr>
      </p:sp>
      <p:sp>
        <p:nvSpPr>
          <p:cNvPr id="19" name="Shape 13"/>
          <p:cNvSpPr/>
          <p:nvPr/>
        </p:nvSpPr>
        <p:spPr>
          <a:xfrm>
            <a:off x="6343094" y="1558925"/>
            <a:ext cx="1942853" cy="243979"/>
          </a:xfrm>
          <a:prstGeom prst="roundRect">
            <a:avLst>
              <a:gd name="adj" fmla="val 7902"/>
            </a:avLst>
          </a:prstGeom>
          <a:solidFill>
            <a:srgbClr val="E8EAE1"/>
          </a:solidFill>
          <a:ln/>
        </p:spPr>
      </p:sp>
      <p:sp>
        <p:nvSpPr>
          <p:cNvPr id="20" name="Text 14"/>
          <p:cNvSpPr/>
          <p:nvPr/>
        </p:nvSpPr>
        <p:spPr>
          <a:xfrm>
            <a:off x="6439433" y="1607046"/>
            <a:ext cx="2359760" cy="147737"/>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Bitter" pitchFamily="34" charset="0"/>
                <a:ea typeface="Bitter" pitchFamily="34" charset="-122"/>
                <a:cs typeface="Bitter" pitchFamily="34" charset="-120"/>
              </a:rPr>
              <a:t>KEY PROJECT DELIVERABLES</a:t>
            </a:r>
            <a:endParaRPr lang="en-US" sz="10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43094" y="1956495"/>
            <a:ext cx="2506004" cy="1711127"/>
          </a:xfrm>
          <a:prstGeom prst="rect">
            <a:avLst/>
          </a:prstGeom>
        </p:spPr>
      </p:pic>
      <p:sp>
        <p:nvSpPr>
          <p:cNvPr id="22" name="Text 15"/>
          <p:cNvSpPr/>
          <p:nvPr/>
        </p:nvSpPr>
        <p:spPr>
          <a:xfrm>
            <a:off x="6598973" y="2136180"/>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End-to-End Pipeline Codebase</a:t>
            </a:r>
            <a:endParaRPr lang="en-US" sz="1550" dirty="0"/>
          </a:p>
        </p:txBody>
      </p:sp>
      <p:sp>
        <p:nvSpPr>
          <p:cNvPr id="23" name="Text 16"/>
          <p:cNvSpPr/>
          <p:nvPr/>
        </p:nvSpPr>
        <p:spPr>
          <a:xfrm>
            <a:off x="6598973" y="2774752"/>
            <a:ext cx="2070445"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Modular Python repository integrating VRT, ResNet34 U-Net, and CrewAI</a:t>
            </a:r>
            <a:endParaRPr lang="en-US" sz="12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85621" y="1956495"/>
            <a:ext cx="2506004" cy="1711127"/>
          </a:xfrm>
          <a:prstGeom prst="rect">
            <a:avLst/>
          </a:prstGeom>
        </p:spPr>
      </p:pic>
      <p:sp>
        <p:nvSpPr>
          <p:cNvPr id="25" name="Text 17"/>
          <p:cNvSpPr/>
          <p:nvPr/>
        </p:nvSpPr>
        <p:spPr>
          <a:xfrm>
            <a:off x="9241499" y="2136180"/>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Fine-Tuned VLM Weights</a:t>
            </a:r>
            <a:endParaRPr lang="en-US" sz="1550" dirty="0"/>
          </a:p>
        </p:txBody>
      </p:sp>
      <p:sp>
        <p:nvSpPr>
          <p:cNvPr id="26" name="Text 18"/>
          <p:cNvSpPr/>
          <p:nvPr/>
        </p:nvSpPr>
        <p:spPr>
          <a:xfrm>
            <a:off x="9241499" y="2774752"/>
            <a:ext cx="2070445"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Specialized Qwen2.5-VL model weights optimized for disaster reasoning</a:t>
            </a:r>
            <a:endParaRPr lang="en-US" sz="1250" dirty="0"/>
          </a:p>
        </p:txBody>
      </p:sp>
      <p:pic>
        <p:nvPicPr>
          <p:cNvPr id="2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43094" y="3804146"/>
            <a:ext cx="2506004" cy="1948855"/>
          </a:xfrm>
          <a:prstGeom prst="rect">
            <a:avLst/>
          </a:prstGeom>
        </p:spPr>
      </p:pic>
      <p:sp>
        <p:nvSpPr>
          <p:cNvPr id="28" name="Text 19"/>
          <p:cNvSpPr/>
          <p:nvPr/>
        </p:nvSpPr>
        <p:spPr>
          <a:xfrm>
            <a:off x="6598973" y="3983831"/>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Interactive Triage Dashboard</a:t>
            </a:r>
            <a:endParaRPr lang="en-US" sz="1550" dirty="0"/>
          </a:p>
        </p:txBody>
      </p:sp>
      <p:sp>
        <p:nvSpPr>
          <p:cNvPr id="29" name="Text 20"/>
          <p:cNvSpPr/>
          <p:nvPr/>
        </p:nvSpPr>
        <p:spPr>
          <a:xfrm>
            <a:off x="6598973" y="4622403"/>
            <a:ext cx="2070445" cy="950912"/>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User interface for rescue personnel to upload disaster imagery and get real time guidance.</a:t>
            </a:r>
            <a:endParaRPr lang="en-US" sz="1250" dirty="0"/>
          </a:p>
        </p:txBody>
      </p:sp>
      <p:pic>
        <p:nvPicPr>
          <p:cNvPr id="3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85621" y="3804146"/>
            <a:ext cx="2506004" cy="1948855"/>
          </a:xfrm>
          <a:prstGeom prst="rect">
            <a:avLst/>
          </a:prstGeom>
        </p:spPr>
      </p:pic>
      <p:sp>
        <p:nvSpPr>
          <p:cNvPr id="31" name="Text 21"/>
          <p:cNvSpPr/>
          <p:nvPr/>
        </p:nvSpPr>
        <p:spPr>
          <a:xfrm>
            <a:off x="9241499" y="3983831"/>
            <a:ext cx="2070445" cy="50204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Outfit Bold" pitchFamily="34" charset="0"/>
                <a:ea typeface="Outfit Bold" pitchFamily="34" charset="-122"/>
                <a:cs typeface="Outfit Bold" pitchFamily="34" charset="-120"/>
              </a:rPr>
              <a:t>Comprehensive Technical Report</a:t>
            </a:r>
            <a:endParaRPr lang="en-US" sz="1550" dirty="0"/>
          </a:p>
        </p:txBody>
      </p:sp>
      <p:sp>
        <p:nvSpPr>
          <p:cNvPr id="32" name="Text 22"/>
          <p:cNvSpPr/>
          <p:nvPr/>
        </p:nvSpPr>
        <p:spPr>
          <a:xfrm>
            <a:off x="9241499" y="4622403"/>
            <a:ext cx="2070445" cy="950912"/>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Bitter" pitchFamily="34" charset="0"/>
                <a:ea typeface="Bitter" pitchFamily="34" charset="-122"/>
                <a:cs typeface="Bitter" pitchFamily="34" charset="-120"/>
              </a:rPr>
              <a:t>Detailed documentation covering training metrics, validation logs, and policy compliance</a:t>
            </a:r>
            <a:endParaRPr lang="en-US" sz="1250" dirty="0"/>
          </a:p>
        </p:txBody>
      </p:sp>
      <p:sp>
        <p:nvSpPr>
          <p:cNvPr id="33" name="Shape 23"/>
          <p:cNvSpPr/>
          <p:nvPr/>
        </p:nvSpPr>
        <p:spPr>
          <a:xfrm>
            <a:off x="661475" y="6100266"/>
            <a:ext cx="10868745" cy="19050"/>
          </a:xfrm>
          <a:prstGeom prst="roundRect">
            <a:avLst>
              <a:gd name="adj" fmla="val 49999"/>
            </a:avLst>
          </a:prstGeom>
          <a:solidFill>
            <a:srgbClr val="C2C4B5">
              <a:alpha val="50000"/>
            </a:srgbClr>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920254"/>
            <a:ext cx="10868745" cy="443012"/>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utfit Bold" pitchFamily="34" charset="0"/>
                <a:ea typeface="Outfit Bold" pitchFamily="34" charset="-122"/>
                <a:cs typeface="Outfit Bold" pitchFamily="34" charset="-120"/>
              </a:rPr>
              <a:t>N- Future Plan and Next Steps</a:t>
            </a:r>
            <a:endParaRPr lang="en-US" sz="2750" dirty="0"/>
          </a:p>
        </p:txBody>
      </p:sp>
      <p:sp>
        <p:nvSpPr>
          <p:cNvPr id="3" name="Shape 1"/>
          <p:cNvSpPr/>
          <p:nvPr/>
        </p:nvSpPr>
        <p:spPr>
          <a:xfrm>
            <a:off x="661475" y="3756819"/>
            <a:ext cx="10868745" cy="19050"/>
          </a:xfrm>
          <a:prstGeom prst="roundRect">
            <a:avLst>
              <a:gd name="adj" fmla="val 49999"/>
            </a:avLst>
          </a:prstGeom>
          <a:solidFill>
            <a:srgbClr val="545557"/>
          </a:solidFill>
          <a:ln/>
        </p:spPr>
      </p:sp>
      <p:sp>
        <p:nvSpPr>
          <p:cNvPr id="4" name="Shape 2"/>
          <p:cNvSpPr/>
          <p:nvPr/>
        </p:nvSpPr>
        <p:spPr>
          <a:xfrm>
            <a:off x="2785794" y="3331567"/>
            <a:ext cx="19050" cy="425252"/>
          </a:xfrm>
          <a:prstGeom prst="roundRect">
            <a:avLst>
              <a:gd name="adj" fmla="val 49999"/>
            </a:avLst>
          </a:prstGeom>
          <a:solidFill>
            <a:srgbClr val="009CBA"/>
          </a:solidFill>
          <a:ln/>
        </p:spPr>
      </p:sp>
      <p:sp>
        <p:nvSpPr>
          <p:cNvPr id="5" name="Shape 3"/>
          <p:cNvSpPr/>
          <p:nvPr/>
        </p:nvSpPr>
        <p:spPr>
          <a:xfrm>
            <a:off x="2635879" y="3597374"/>
            <a:ext cx="318881" cy="318889"/>
          </a:xfrm>
          <a:prstGeom prst="roundRect">
            <a:avLst>
              <a:gd name="adj" fmla="val 6669"/>
            </a:avLst>
          </a:prstGeom>
          <a:solidFill>
            <a:srgbClr val="06B6D4"/>
          </a:solidFill>
          <a:ln/>
        </p:spPr>
      </p:sp>
      <p:sp>
        <p:nvSpPr>
          <p:cNvPr id="6" name="Text 4"/>
          <p:cNvSpPr/>
          <p:nvPr/>
        </p:nvSpPr>
        <p:spPr>
          <a:xfrm>
            <a:off x="2689009" y="3623915"/>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Outfit Bold" pitchFamily="34" charset="0"/>
                <a:ea typeface="Outfit Bold" pitchFamily="34" charset="-122"/>
                <a:cs typeface="Outfit Bold" pitchFamily="34" charset="-120"/>
              </a:rPr>
              <a:t>1</a:t>
            </a:r>
            <a:endParaRPr lang="en-US" sz="1650" dirty="0"/>
          </a:p>
        </p:txBody>
      </p:sp>
      <p:sp>
        <p:nvSpPr>
          <p:cNvPr id="7" name="Text 5"/>
          <p:cNvSpPr/>
          <p:nvPr/>
        </p:nvSpPr>
        <p:spPr>
          <a:xfrm>
            <a:off x="803156" y="1575891"/>
            <a:ext cx="3984426" cy="221456"/>
          </a:xfrm>
          <a:prstGeom prst="rect">
            <a:avLst/>
          </a:prstGeom>
          <a:noFill/>
          <a:ln/>
        </p:spPr>
        <p:txBody>
          <a:bodyPr wrap="none" lIns="0" tIns="0" rIns="0" bIns="0" rtlCol="0" anchor="t"/>
          <a:lstStyle/>
          <a:p>
            <a:pPr algn="ctr" indent="0" marL="0">
              <a:lnSpc>
                <a:spcPct val="104000"/>
              </a:lnSpc>
              <a:buNone/>
            </a:pPr>
            <a:r>
              <a:rPr lang="en-US" sz="1350" b="1" dirty="0">
                <a:solidFill>
                  <a:srgbClr val="C2C4B5"/>
                </a:solidFill>
                <a:latin typeface="Outfit Bold" pitchFamily="34" charset="0"/>
                <a:ea typeface="Outfit Bold" pitchFamily="34" charset="-122"/>
                <a:cs typeface="Outfit Bold" pitchFamily="34" charset="-120"/>
              </a:rPr>
              <a:t>Phase 1</a:t>
            </a:r>
            <a:endParaRPr lang="en-US" sz="1350" dirty="0"/>
          </a:p>
        </p:txBody>
      </p:sp>
      <p:sp>
        <p:nvSpPr>
          <p:cNvPr id="8" name="Text 6"/>
          <p:cNvSpPr/>
          <p:nvPr/>
        </p:nvSpPr>
        <p:spPr>
          <a:xfrm>
            <a:off x="803156" y="1861046"/>
            <a:ext cx="3984426" cy="198438"/>
          </a:xfrm>
          <a:prstGeom prst="rect">
            <a:avLst/>
          </a:prstGeom>
          <a:noFill/>
          <a:ln/>
        </p:spPr>
        <p:txBody>
          <a:bodyPr wrap="none" lIns="0" tIns="0" rIns="0" bIns="0" rtlCol="0" anchor="t"/>
          <a:lstStyle/>
          <a:p>
            <a:pPr algn="ctr" indent="0" marL="0">
              <a:lnSpc>
                <a:spcPct val="117000"/>
              </a:lnSpc>
              <a:buNone/>
            </a:pPr>
            <a:r>
              <a:rPr lang="en-US" sz="1100" b="1" dirty="0">
                <a:solidFill>
                  <a:srgbClr val="C2C4B5"/>
                </a:solidFill>
                <a:latin typeface="Bitter Bold" pitchFamily="34" charset="0"/>
                <a:ea typeface="Bitter Bold" pitchFamily="34" charset="-122"/>
                <a:cs typeface="Bitter Bold" pitchFamily="34" charset="-120"/>
              </a:rPr>
              <a:t>Dataset Collection &amp; Schema</a:t>
            </a:r>
            <a:endParaRPr lang="en-US" sz="1100" dirty="0"/>
          </a:p>
        </p:txBody>
      </p:sp>
      <p:sp>
        <p:nvSpPr>
          <p:cNvPr id="9" name="Text 7"/>
          <p:cNvSpPr/>
          <p:nvPr/>
        </p:nvSpPr>
        <p:spPr>
          <a:xfrm>
            <a:off x="803156" y="2123182"/>
            <a:ext cx="3984426" cy="1066602"/>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Aggregate aerial and satellite imagery from xBD, FloodNet, AIDER, and RescueNet into instruction triplets</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Auto-generate responses via GPT-4O Vision, then manually review against rescue schemas</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Apply a strict 70/15/15 split without scene overlap</a:t>
            </a:r>
            <a:endParaRPr lang="en-US" sz="1100" dirty="0"/>
          </a:p>
        </p:txBody>
      </p:sp>
      <p:sp>
        <p:nvSpPr>
          <p:cNvPr id="10" name="Shape 8"/>
          <p:cNvSpPr/>
          <p:nvPr/>
        </p:nvSpPr>
        <p:spPr>
          <a:xfrm>
            <a:off x="4986114" y="3756819"/>
            <a:ext cx="19050" cy="425252"/>
          </a:xfrm>
          <a:prstGeom prst="roundRect">
            <a:avLst>
              <a:gd name="adj" fmla="val 49999"/>
            </a:avLst>
          </a:prstGeom>
          <a:solidFill>
            <a:srgbClr val="A475FF"/>
          </a:solidFill>
          <a:ln/>
        </p:spPr>
      </p:sp>
      <p:sp>
        <p:nvSpPr>
          <p:cNvPr id="11" name="Shape 9"/>
          <p:cNvSpPr/>
          <p:nvPr/>
        </p:nvSpPr>
        <p:spPr>
          <a:xfrm>
            <a:off x="4836198" y="3597374"/>
            <a:ext cx="318881" cy="318889"/>
          </a:xfrm>
          <a:prstGeom prst="roundRect">
            <a:avLst>
              <a:gd name="adj" fmla="val 6669"/>
            </a:avLst>
          </a:prstGeom>
          <a:solidFill>
            <a:srgbClr val="8B5CF6"/>
          </a:solidFill>
          <a:ln/>
        </p:spPr>
      </p:sp>
      <p:sp>
        <p:nvSpPr>
          <p:cNvPr id="12" name="Text 10"/>
          <p:cNvSpPr/>
          <p:nvPr/>
        </p:nvSpPr>
        <p:spPr>
          <a:xfrm>
            <a:off x="4889328" y="3623915"/>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FFFFFF"/>
                </a:solidFill>
                <a:latin typeface="Outfit Bold" pitchFamily="34" charset="0"/>
                <a:ea typeface="Outfit Bold" pitchFamily="34" charset="-122"/>
                <a:cs typeface="Outfit Bold" pitchFamily="34" charset="-120"/>
              </a:rPr>
              <a:t>2</a:t>
            </a:r>
            <a:endParaRPr lang="en-US" sz="1650" dirty="0"/>
          </a:p>
        </p:txBody>
      </p:sp>
      <p:sp>
        <p:nvSpPr>
          <p:cNvPr id="13" name="Text 11"/>
          <p:cNvSpPr/>
          <p:nvPr/>
        </p:nvSpPr>
        <p:spPr>
          <a:xfrm>
            <a:off x="3003475" y="4323854"/>
            <a:ext cx="3984426" cy="221456"/>
          </a:xfrm>
          <a:prstGeom prst="rect">
            <a:avLst/>
          </a:prstGeom>
          <a:noFill/>
          <a:ln/>
        </p:spPr>
        <p:txBody>
          <a:bodyPr wrap="none" lIns="0" tIns="0" rIns="0" bIns="0" rtlCol="0" anchor="t"/>
          <a:lstStyle/>
          <a:p>
            <a:pPr algn="ctr" indent="0" marL="0">
              <a:lnSpc>
                <a:spcPct val="104000"/>
              </a:lnSpc>
              <a:buNone/>
            </a:pPr>
            <a:r>
              <a:rPr lang="en-US" sz="1350" b="1" dirty="0">
                <a:solidFill>
                  <a:srgbClr val="C2C4B5"/>
                </a:solidFill>
                <a:latin typeface="Outfit Bold" pitchFamily="34" charset="0"/>
                <a:ea typeface="Outfit Bold" pitchFamily="34" charset="-122"/>
                <a:cs typeface="Outfit Bold" pitchFamily="34" charset="-120"/>
              </a:rPr>
              <a:t>Phase 2</a:t>
            </a:r>
            <a:endParaRPr lang="en-US" sz="1350" dirty="0"/>
          </a:p>
        </p:txBody>
      </p:sp>
      <p:sp>
        <p:nvSpPr>
          <p:cNvPr id="14" name="Text 12"/>
          <p:cNvSpPr/>
          <p:nvPr/>
        </p:nvSpPr>
        <p:spPr>
          <a:xfrm>
            <a:off x="3003475" y="4609009"/>
            <a:ext cx="3984426" cy="198438"/>
          </a:xfrm>
          <a:prstGeom prst="rect">
            <a:avLst/>
          </a:prstGeom>
          <a:noFill/>
          <a:ln/>
        </p:spPr>
        <p:txBody>
          <a:bodyPr wrap="none" lIns="0" tIns="0" rIns="0" bIns="0" rtlCol="0" anchor="t"/>
          <a:lstStyle/>
          <a:p>
            <a:pPr algn="ctr" indent="0" marL="0">
              <a:lnSpc>
                <a:spcPct val="117000"/>
              </a:lnSpc>
              <a:buNone/>
            </a:pPr>
            <a:r>
              <a:rPr lang="en-US" sz="1100" b="1" dirty="0">
                <a:solidFill>
                  <a:srgbClr val="C2C4B5"/>
                </a:solidFill>
                <a:latin typeface="Bitter Bold" pitchFamily="34" charset="0"/>
                <a:ea typeface="Bitter Bold" pitchFamily="34" charset="-122"/>
                <a:cs typeface="Bitter Bold" pitchFamily="34" charset="-120"/>
              </a:rPr>
              <a:t>Baseline Inference &amp; Metrics</a:t>
            </a:r>
            <a:endParaRPr lang="en-US" sz="1100" dirty="0"/>
          </a:p>
        </p:txBody>
      </p:sp>
      <p:sp>
        <p:nvSpPr>
          <p:cNvPr id="15" name="Text 13"/>
          <p:cNvSpPr/>
          <p:nvPr/>
        </p:nvSpPr>
        <p:spPr>
          <a:xfrm>
            <a:off x="3003475" y="4871145"/>
            <a:ext cx="3984426" cy="1066602"/>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Run zero-shot inference for GPT-4O Vision, Gemini 1.5 Flash, Qwen2-VL-7B, LLAVA-1.5-7B, and InternVL2-8B</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Establish a metric harness with ROUGE-L, BERTScore, Zone Accuracy, and RAR</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Target inter-annotator agreement above 0.7</a:t>
            </a:r>
            <a:endParaRPr lang="en-US" sz="1100" dirty="0"/>
          </a:p>
        </p:txBody>
      </p:sp>
      <p:sp>
        <p:nvSpPr>
          <p:cNvPr id="16" name="Shape 14"/>
          <p:cNvSpPr/>
          <p:nvPr/>
        </p:nvSpPr>
        <p:spPr>
          <a:xfrm>
            <a:off x="7186433" y="3331567"/>
            <a:ext cx="19050" cy="425252"/>
          </a:xfrm>
          <a:prstGeom prst="roundRect">
            <a:avLst>
              <a:gd name="adj" fmla="val 49999"/>
            </a:avLst>
          </a:prstGeom>
          <a:solidFill>
            <a:srgbClr val="DB8400"/>
          </a:solidFill>
          <a:ln/>
        </p:spPr>
      </p:sp>
      <p:sp>
        <p:nvSpPr>
          <p:cNvPr id="17" name="Shape 15"/>
          <p:cNvSpPr/>
          <p:nvPr/>
        </p:nvSpPr>
        <p:spPr>
          <a:xfrm>
            <a:off x="7036517" y="3597374"/>
            <a:ext cx="318881" cy="318889"/>
          </a:xfrm>
          <a:prstGeom prst="roundRect">
            <a:avLst>
              <a:gd name="adj" fmla="val 6669"/>
            </a:avLst>
          </a:prstGeom>
          <a:solidFill>
            <a:srgbClr val="F59E0B"/>
          </a:solidFill>
          <a:ln/>
        </p:spPr>
      </p:sp>
      <p:sp>
        <p:nvSpPr>
          <p:cNvPr id="18" name="Text 16"/>
          <p:cNvSpPr/>
          <p:nvPr/>
        </p:nvSpPr>
        <p:spPr>
          <a:xfrm>
            <a:off x="7089647" y="3623915"/>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Outfit Bold" pitchFamily="34" charset="0"/>
                <a:ea typeface="Outfit Bold" pitchFamily="34" charset="-122"/>
                <a:cs typeface="Outfit Bold" pitchFamily="34" charset="-120"/>
              </a:rPr>
              <a:t>3</a:t>
            </a:r>
            <a:endParaRPr lang="en-US" sz="1650" dirty="0"/>
          </a:p>
        </p:txBody>
      </p:sp>
      <p:sp>
        <p:nvSpPr>
          <p:cNvPr id="19" name="Text 17"/>
          <p:cNvSpPr/>
          <p:nvPr/>
        </p:nvSpPr>
        <p:spPr>
          <a:xfrm>
            <a:off x="5203794" y="1575891"/>
            <a:ext cx="3984426" cy="221456"/>
          </a:xfrm>
          <a:prstGeom prst="rect">
            <a:avLst/>
          </a:prstGeom>
          <a:noFill/>
          <a:ln/>
        </p:spPr>
        <p:txBody>
          <a:bodyPr wrap="none" lIns="0" tIns="0" rIns="0" bIns="0" rtlCol="0" anchor="t"/>
          <a:lstStyle/>
          <a:p>
            <a:pPr algn="ctr" indent="0" marL="0">
              <a:lnSpc>
                <a:spcPct val="104000"/>
              </a:lnSpc>
              <a:buNone/>
            </a:pPr>
            <a:r>
              <a:rPr lang="en-US" sz="1350" b="1" dirty="0">
                <a:solidFill>
                  <a:srgbClr val="C2C4B5"/>
                </a:solidFill>
                <a:latin typeface="Outfit Bold" pitchFamily="34" charset="0"/>
                <a:ea typeface="Outfit Bold" pitchFamily="34" charset="-122"/>
                <a:cs typeface="Outfit Bold" pitchFamily="34" charset="-120"/>
              </a:rPr>
              <a:t>Phase 3</a:t>
            </a:r>
            <a:endParaRPr lang="en-US" sz="1350" dirty="0"/>
          </a:p>
        </p:txBody>
      </p:sp>
      <p:sp>
        <p:nvSpPr>
          <p:cNvPr id="20" name="Text 18"/>
          <p:cNvSpPr/>
          <p:nvPr/>
        </p:nvSpPr>
        <p:spPr>
          <a:xfrm>
            <a:off x="5203794" y="1861046"/>
            <a:ext cx="3984426" cy="198438"/>
          </a:xfrm>
          <a:prstGeom prst="rect">
            <a:avLst/>
          </a:prstGeom>
          <a:noFill/>
          <a:ln/>
        </p:spPr>
        <p:txBody>
          <a:bodyPr wrap="none" lIns="0" tIns="0" rIns="0" bIns="0" rtlCol="0" anchor="t"/>
          <a:lstStyle/>
          <a:p>
            <a:pPr algn="ctr" indent="0" marL="0">
              <a:lnSpc>
                <a:spcPct val="117000"/>
              </a:lnSpc>
              <a:buNone/>
            </a:pPr>
            <a:r>
              <a:rPr lang="en-US" sz="1100" b="1" dirty="0">
                <a:solidFill>
                  <a:srgbClr val="C2C4B5"/>
                </a:solidFill>
                <a:latin typeface="Bitter Bold" pitchFamily="34" charset="0"/>
                <a:ea typeface="Bitter Bold" pitchFamily="34" charset="-122"/>
                <a:cs typeface="Bitter Bold" pitchFamily="34" charset="-120"/>
              </a:rPr>
              <a:t>QLoRA Fine-Tuning &amp; Sweeps</a:t>
            </a:r>
            <a:endParaRPr lang="en-US" sz="1100" dirty="0"/>
          </a:p>
        </p:txBody>
      </p:sp>
      <p:sp>
        <p:nvSpPr>
          <p:cNvPr id="21" name="Text 19"/>
          <p:cNvSpPr/>
          <p:nvPr/>
        </p:nvSpPr>
        <p:spPr>
          <a:xfrm>
            <a:off x="5203794" y="2123182"/>
            <a:ext cx="3984426" cy="1066602"/>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Fine-tune Qwen2-VL-7B via QLoRA on Kaggle dual-T4 GPUs using 4-bit NF4, rank r=16, and α=32</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Use Unsloth and HuggingFace TRL SFTTrainer</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Run hyperparameter sweeps and data volume ablations at 25%, 50%, and 100%</a:t>
            </a:r>
            <a:endParaRPr lang="en-US" sz="1100" dirty="0"/>
          </a:p>
        </p:txBody>
      </p:sp>
      <p:sp>
        <p:nvSpPr>
          <p:cNvPr id="22" name="Shape 20"/>
          <p:cNvSpPr/>
          <p:nvPr/>
        </p:nvSpPr>
        <p:spPr>
          <a:xfrm>
            <a:off x="9386752" y="3756819"/>
            <a:ext cx="19050" cy="425252"/>
          </a:xfrm>
          <a:prstGeom prst="roundRect">
            <a:avLst>
              <a:gd name="adj" fmla="val 49999"/>
            </a:avLst>
          </a:prstGeom>
          <a:solidFill>
            <a:srgbClr val="FF5D5D"/>
          </a:solidFill>
          <a:ln/>
        </p:spPr>
      </p:sp>
      <p:sp>
        <p:nvSpPr>
          <p:cNvPr id="23" name="Shape 21"/>
          <p:cNvSpPr/>
          <p:nvPr/>
        </p:nvSpPr>
        <p:spPr>
          <a:xfrm>
            <a:off x="9236836" y="3597374"/>
            <a:ext cx="318881" cy="318889"/>
          </a:xfrm>
          <a:prstGeom prst="roundRect">
            <a:avLst>
              <a:gd name="adj" fmla="val 6669"/>
            </a:avLst>
          </a:prstGeom>
          <a:solidFill>
            <a:srgbClr val="EF4444"/>
          </a:solidFill>
          <a:ln/>
        </p:spPr>
      </p:sp>
      <p:sp>
        <p:nvSpPr>
          <p:cNvPr id="24" name="Text 22"/>
          <p:cNvSpPr/>
          <p:nvPr/>
        </p:nvSpPr>
        <p:spPr>
          <a:xfrm>
            <a:off x="9289966" y="3623915"/>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FFFFFF"/>
                </a:solidFill>
                <a:latin typeface="Outfit Bold" pitchFamily="34" charset="0"/>
                <a:ea typeface="Outfit Bold" pitchFamily="34" charset="-122"/>
                <a:cs typeface="Outfit Bold" pitchFamily="34" charset="-120"/>
              </a:rPr>
              <a:t>4</a:t>
            </a:r>
            <a:endParaRPr lang="en-US" sz="1650" dirty="0"/>
          </a:p>
        </p:txBody>
      </p:sp>
      <p:sp>
        <p:nvSpPr>
          <p:cNvPr id="25" name="Text 23"/>
          <p:cNvSpPr/>
          <p:nvPr/>
        </p:nvSpPr>
        <p:spPr>
          <a:xfrm>
            <a:off x="7404113" y="4323854"/>
            <a:ext cx="3984426" cy="221456"/>
          </a:xfrm>
          <a:prstGeom prst="rect">
            <a:avLst/>
          </a:prstGeom>
          <a:noFill/>
          <a:ln/>
        </p:spPr>
        <p:txBody>
          <a:bodyPr wrap="none" lIns="0" tIns="0" rIns="0" bIns="0" rtlCol="0" anchor="t"/>
          <a:lstStyle/>
          <a:p>
            <a:pPr algn="ctr" indent="0" marL="0">
              <a:lnSpc>
                <a:spcPct val="104000"/>
              </a:lnSpc>
              <a:buNone/>
            </a:pPr>
            <a:r>
              <a:rPr lang="en-US" sz="1350" b="1" dirty="0">
                <a:solidFill>
                  <a:srgbClr val="C2C4B5"/>
                </a:solidFill>
                <a:latin typeface="Outfit Bold" pitchFamily="34" charset="0"/>
                <a:ea typeface="Outfit Bold" pitchFamily="34" charset="-122"/>
                <a:cs typeface="Outfit Bold" pitchFamily="34" charset="-120"/>
              </a:rPr>
              <a:t>Phase 4</a:t>
            </a:r>
            <a:endParaRPr lang="en-US" sz="1350" dirty="0"/>
          </a:p>
        </p:txBody>
      </p:sp>
      <p:sp>
        <p:nvSpPr>
          <p:cNvPr id="26" name="Text 24"/>
          <p:cNvSpPr/>
          <p:nvPr/>
        </p:nvSpPr>
        <p:spPr>
          <a:xfrm>
            <a:off x="7404113" y="4609009"/>
            <a:ext cx="3984426" cy="198438"/>
          </a:xfrm>
          <a:prstGeom prst="rect">
            <a:avLst/>
          </a:prstGeom>
          <a:noFill/>
          <a:ln/>
        </p:spPr>
        <p:txBody>
          <a:bodyPr wrap="none" lIns="0" tIns="0" rIns="0" bIns="0" rtlCol="0" anchor="t"/>
          <a:lstStyle/>
          <a:p>
            <a:pPr algn="ctr" indent="0" marL="0">
              <a:lnSpc>
                <a:spcPct val="117000"/>
              </a:lnSpc>
              <a:buNone/>
            </a:pPr>
            <a:r>
              <a:rPr lang="en-US" sz="1100" b="1" dirty="0">
                <a:solidFill>
                  <a:srgbClr val="C2C4B5"/>
                </a:solidFill>
                <a:latin typeface="Bitter Bold" pitchFamily="34" charset="0"/>
                <a:ea typeface="Bitter Bold" pitchFamily="34" charset="-122"/>
                <a:cs typeface="Bitter Bold" pitchFamily="34" charset="-120"/>
              </a:rPr>
              <a:t>Evaluation &amp; Error Analysis</a:t>
            </a:r>
            <a:endParaRPr lang="en-US" sz="1100" dirty="0"/>
          </a:p>
        </p:txBody>
      </p:sp>
      <p:sp>
        <p:nvSpPr>
          <p:cNvPr id="27" name="Text 25"/>
          <p:cNvSpPr/>
          <p:nvPr/>
        </p:nvSpPr>
        <p:spPr>
          <a:xfrm>
            <a:off x="7404113" y="4871145"/>
            <a:ext cx="3984426" cy="1066602"/>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Conduct comprehensive benchmark evaluations across all models</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Perform human evaluations using RAR with 3 annotators and 50 samples each</a:t>
            </a:r>
            <a:endParaRPr lang="en-US" sz="1100" dirty="0"/>
          </a:p>
          <a:p>
            <a:pPr algn="l" marL="223520" indent="-223520">
              <a:lnSpc>
                <a:spcPct val="117000"/>
              </a:lnSpc>
              <a:buSzPct val="100000"/>
              <a:buChar char="•"/>
            </a:pPr>
            <a:r>
              <a:rPr lang="en-US" sz="1100" dirty="0">
                <a:solidFill>
                  <a:srgbClr val="C2C4B5"/>
                </a:solidFill>
                <a:latin typeface="Bitter" pitchFamily="34" charset="0"/>
                <a:ea typeface="Bitter" pitchFamily="34" charset="-122"/>
                <a:cs typeface="Bitter" pitchFamily="34" charset="-120"/>
              </a:rPr>
              <a:t>Generate comparison tables and analyze errors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129659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E1E5CD"/>
                </a:solidFill>
                <a:latin typeface="Outfit Bold" pitchFamily="34" charset="0"/>
                <a:ea typeface="Outfit Bold" pitchFamily="34" charset="-122"/>
                <a:cs typeface="Outfit Bold" pitchFamily="34" charset="-120"/>
              </a:rPr>
              <a:t>Team Contributions</a:t>
            </a:r>
            <a:endParaRPr lang="en-US" sz="3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1475" y="2265263"/>
          <a:ext cx="9143771" cy="914400"/>
        </p:xfrm>
        <a:graphic>
          <a:graphicData uri="http://schemas.openxmlformats.org/drawingml/2006/table">
            <a:tbl>
              <a:tblPr/>
              <a:tblGrid>
                <a:gridCol w="4782248"/>
                <a:gridCol w="2391124"/>
                <a:gridCol w="3695373"/>
              </a:tblGrid>
              <a:tr h="545094">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Name</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ID</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Role/Contribution</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548269">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Abdullah Al Noman</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2022095042</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548269">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Tamanna Akter Mou</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2211951042</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Model Accuracy Measurement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548269">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Aryan Sami</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2231407042</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U-Net Spatial Extraction</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548269">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Ridita Afrin Riya</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2211622042</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Multi-Agent Orchestration(CrewAI)</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r h="545094">
                <a:tc>
                  <a:txBody>
                    <a:bodyPr/>
                    <a:lstStyle/>
                    <a:p>
                      <a:pPr indent="0" marL="0">
                        <a:buNone/>
                      </a:pPr>
                      <a:r>
                        <a:rPr lang="en-US" sz="1450" b="1" dirty="0">
                          <a:solidFill>
                            <a:srgbClr val="C2C4B5"/>
                          </a:solidFill>
                          <a:latin typeface="Bitter" pitchFamily="34" charset="0"/>
                          <a:ea typeface="Bitter" pitchFamily="34" charset="-122"/>
                          <a:cs typeface="Bitter" pitchFamily="34" charset="-120"/>
                        </a:rPr>
                        <a:t>Abrar Mohammed Tanzim Alam</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2222864042</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c>
                  <a:txBody>
                    <a:bodyPr/>
                    <a:lstStyle/>
                    <a:p>
                      <a:pPr indent="0" marL="0">
                        <a:buNone/>
                      </a:pPr>
                      <a:r>
                        <a:rPr lang="en-US" sz="1450" dirty="0">
                          <a:solidFill>
                            <a:srgbClr val="C2C4B5"/>
                          </a:solidFill>
                          <a:latin typeface="Bitter" pitchFamily="34" charset="0"/>
                          <a:ea typeface="Bitter" pitchFamily="34" charset="-122"/>
                          <a:cs typeface="Bitter" pitchFamily="34" charset="-120"/>
                        </a:rPr>
                        <a:t>—</a:t>
                      </a:r>
                      <a:endParaRPr lang="en-US" sz="1450" dirty="0">
                        <a:latin typeface="Bitter" charset="0"/>
                        <a:ea typeface="Bitter" charset="0"/>
                        <a:cs typeface="Bitter" charset="0"/>
                      </a:endParaRPr>
                    </a:p>
                  </a:txBody>
                  <a:tcPr marL="189018" marR="189018" marT="6350" marB="6350"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1C1D1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2026-08-29T00:53:51Z</dcterms:created>
  <dcterms:modified xsi:type="dcterms:W3CDTF">2026-08-29T00:53:51Z</dcterms:modified>
</cp:coreProperties>
</file>