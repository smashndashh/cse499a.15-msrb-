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papers we reviewed this semester for CSE499B, one slide each, grouped by the question each one helps us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groups, one question each: the data, how buildings are found and graded, what a vision-language model reads reliably, and how to run the system small and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our whole project is built on. Its key finding for us: fine-tuning did not fix counting, even for the authors.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BRIGHT shaped two of our design choices: feeding the before-image, and finding buildings before grading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broad benchmark that confirms the counting weakness of vision-language models across the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 3 lets us find buildings without training a detector; a small grader then decides each building’s damage.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BDAChat does what we do with much bigger models. Its numbers come from the paper’s public code repository; the journal paper itself is paywalled.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 not adopt GeoPixel itself, but two of its ideas: reading big images in tiles, and numbering objects so answers can be checked.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small version of SAM 3 could run on a laptop in the field. Since the paper has no results yet, we would measure it ourselves.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clearest evidence for our two-stage design: VLMs are bad at finding buildings but good at judging buildings they are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the model the right part of a big image helps, but it still cannot count reliably.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DamageScope turns damage questions into database lookups. We do the same with a local model instead of the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disaster, a confident wrong number is worse than no answer. TrustSQL gives us a way to score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TimeSpot for its evaluation methods, not its data: calibration error, risk–coverage curves and consistency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QLoRA is the reason a 7B vision-language model can be fine-tuned on free hardware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QLoRA is for training; AWQ is for running the finished model small and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small model answers fast in the field and passes hard questions to a bigger one; Grace shows this costs no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Explanations make the small model learn more from less data, and they cost nothing at answer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lessons that run through the sixteen papers, and the parts of our system each one shaped.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Short-form references for the slides; the full citations are in the project’s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and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04" y="1102140"/>
            <a:ext cx="10566509" cy="4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04" y="1853908"/>
            <a:ext cx="10566496" cy="419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04" y="1102140"/>
            <a:ext cx="10566509" cy="44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04" y="1853908"/>
            <a:ext cx="10566496" cy="4191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1995883"/>
            <a:ext cx="10883505" cy="27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CSE499B · SECTION 13 · GROUP 5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2498747"/>
            <a:ext cx="10883505" cy="82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1E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Literature </a:t>
            </a:r>
            <a:r>
              <a:rPr lang="en-US" sz="6000" b="1" i="1" dirty="0">
                <a:solidFill>
                  <a:srgbClr val="C9A22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Review</a:t>
            </a:r>
            <a:endParaRPr lang="en-US" sz="60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-253" r="-253" t="0" b="0"/>
          <a:stretch/>
        </p:blipFill>
        <p:spPr>
          <a:xfrm>
            <a:off x="812704" y="3552825"/>
            <a:ext cx="1523966" cy="189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704" y="3825725"/>
            <a:ext cx="7848522" cy="355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Post-Disaster Damage Assessment and Rescue Guidance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2704" y="4409916"/>
            <a:ext cx="10883505" cy="27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16 papers · 4 questions · one slide each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704" y="6238308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479" y="6238308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01 / 21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4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919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Sixteen papers, grouped by the </a:t>
            </a:r>
            <a:r>
              <a:rPr lang="en-US" sz="3200" b="1" i="1" dirty="0">
                <a:solidFill>
                  <a:srgbClr val="7A5C0C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question</a:t>
            </a: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each one answers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04" y="2300792"/>
            <a:ext cx="2527371" cy="2908677"/>
          </a:xfrm>
          <a:prstGeom prst="roundRect">
            <a:avLst>
              <a:gd name="adj" fmla="val 3015"/>
            </a:avLst>
          </a:prstGeom>
          <a:solidFill>
            <a:srgbClr val="FFFDF7"/>
          </a:solidFill>
          <a:ln/>
        </p:spPr>
      </p:sp>
      <p:sp>
        <p:nvSpPr>
          <p:cNvPr id="5" name="Shape 3"/>
          <p:cNvSpPr/>
          <p:nvPr/>
        </p:nvSpPr>
        <p:spPr>
          <a:xfrm>
            <a:off x="812704" y="2300792"/>
            <a:ext cx="2527371" cy="2908677"/>
          </a:xfrm>
          <a:custGeom>
            <a:avLst/>
            <a:gdLst/>
            <a:ahLst/>
            <a:cxnLst/>
            <a:rect l="l" t="t" r="r" b="b"/>
            <a:pathLst>
              <a:path w="2527371" h="290867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451171" y="0"/>
                </a:lnTo>
                <a:arcTo hR="76200" wR="76200" stAng="16200000" swAng="5400000"/>
                <a:lnTo>
                  <a:pt x="2527371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1015880" y="2528725"/>
            <a:ext cx="2184649" cy="482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benchmarks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5880" y="3087483"/>
            <a:ext cx="2184649" cy="47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i="1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we train and test on?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3162" y="3634637"/>
            <a:ext cx="2079747" cy="82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DisasterM3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GEOBench-VLM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92385" y="2300792"/>
            <a:ext cx="2527371" cy="2908677"/>
          </a:xfrm>
          <a:prstGeom prst="roundRect">
            <a:avLst>
              <a:gd name="adj" fmla="val 3015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3492385" y="2300792"/>
            <a:ext cx="2527371" cy="2908677"/>
          </a:xfrm>
          <a:custGeom>
            <a:avLst/>
            <a:gdLst/>
            <a:ahLst/>
            <a:cxnLst/>
            <a:rect l="l" t="t" r="r" b="b"/>
            <a:pathLst>
              <a:path w="2527371" h="290867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451171" y="0"/>
                </a:lnTo>
                <a:arcTo hR="76200" wR="76200" stAng="16200000" swAng="5400000"/>
                <a:lnTo>
                  <a:pt x="2527371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695561" y="2528725"/>
            <a:ext cx="2184649" cy="482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&amp; grading buildings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95561" y="3087483"/>
            <a:ext cx="2184649" cy="47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i="1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find and grade each building?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2843" y="3634637"/>
            <a:ext cx="2079747" cy="1092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3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BDAChat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GeoPixel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EfficientSAM3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065" y="2300792"/>
            <a:ext cx="2527371" cy="2908677"/>
          </a:xfrm>
          <a:prstGeom prst="roundRect">
            <a:avLst>
              <a:gd name="adj" fmla="val 3015"/>
            </a:avLst>
          </a:prstGeom>
          <a:solidFill>
            <a:srgbClr val="FFFD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065" y="2300792"/>
            <a:ext cx="2527371" cy="2908677"/>
          </a:xfrm>
          <a:custGeom>
            <a:avLst/>
            <a:gdLst/>
            <a:ahLst/>
            <a:cxnLst/>
            <a:rect l="l" t="t" r="r" b="b"/>
            <a:pathLst>
              <a:path w="2527371" h="290867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451171" y="0"/>
                </a:lnTo>
                <a:arcTo hR="76200" wR="76200" stAng="16200000" swAng="5400000"/>
                <a:lnTo>
                  <a:pt x="2527371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375241" y="2528725"/>
            <a:ext cx="2184649" cy="482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VLMs that read damage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75241" y="3087483"/>
            <a:ext cx="2184649" cy="47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i="1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a VLM read reliably?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72523" y="3634637"/>
            <a:ext cx="2079747" cy="82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TEOChat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ImageRAG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DamageScope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851746" y="2300792"/>
            <a:ext cx="2527468" cy="2908677"/>
          </a:xfrm>
          <a:prstGeom prst="roundRect">
            <a:avLst>
              <a:gd name="adj" fmla="val 3015"/>
            </a:avLst>
          </a:prstGeom>
          <a:solidFill>
            <a:srgbClr val="FFFD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851746" y="2300792"/>
            <a:ext cx="2527468" cy="2908677"/>
          </a:xfrm>
          <a:custGeom>
            <a:avLst/>
            <a:gdLst/>
            <a:ahLst/>
            <a:cxnLst/>
            <a:rect l="l" t="t" r="r" b="b"/>
            <a:pathLst>
              <a:path w="2527468" h="290867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451268" y="0"/>
                </a:lnTo>
                <a:arcTo hR="76200" wR="76200" stAng="16200000" swAng="5400000"/>
                <a:lnTo>
                  <a:pt x="2527468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9054922" y="2528725"/>
            <a:ext cx="2184749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deployment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54922" y="2858874"/>
            <a:ext cx="2184749" cy="471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i="1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run it small and trustworthy?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52204" y="3406028"/>
            <a:ext cx="2079847" cy="1625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TrustSQL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TimeSpot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AWQ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</a:t>
            </a:r>
            <a:endParaRPr lang="en-US" sz="1400" dirty="0"/>
          </a:p>
          <a:p>
            <a:pPr algn="l" marL="156718" indent="-1567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Distilling Step-by-Step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12704" y="6238308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66479" y="6238308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 / 21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4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DATASETS &amp; BENCHMARKS · NEURIPS 2025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DisasterM3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remote sensing vision-language dataset for disaster damage assessment and response · Wang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26,988 bi-temporal optical and radar images from 36 disaster events, with nine VLM tasks from recognition to counting and reasoning.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26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Qwen2.5-VL-7B averages 31.2% on the optical benchmark and the authors’ fine-tune 40.4%, but counting barely moves: 34.2% to 34.3%.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training data and benchmark. VLMs cannot count buildings from pixels, so our counts come from a segmenter.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08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08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 / 21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5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DATASETS &amp; BENCHMARKS · ESSD 2025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2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BRIGHT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globally distributed multimodal building damage assessment dataset · Chen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2305434"/>
          </a:xfrm>
          <a:prstGeom prst="roundRect">
            <a:avLst>
              <a:gd name="adj" fmla="val 3305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2305434"/>
          </a:xfrm>
          <a:custGeom>
            <a:avLst/>
            <a:gdLst/>
            <a:ahLst/>
            <a:cxnLst/>
            <a:rect l="l" t="t" r="r" b="b"/>
            <a:pathLst>
              <a:path w="3386687" h="2305434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1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4,246 tile pairs from 14 events: optical before-images, radar after-images, and the same four damage classes as ours.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2305434"/>
          </a:xfrm>
          <a:prstGeom prst="roundRect">
            <a:avLst>
              <a:gd name="adj" fmla="val 3305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2305434"/>
          </a:xfrm>
          <a:custGeom>
            <a:avLst/>
            <a:gdLst/>
            <a:ahLst/>
            <a:cxnLst/>
            <a:rect l="l" t="t" r="r" b="b"/>
            <a:pathLst>
              <a:path w="3386687" h="2305434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1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518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buildings first and then grading them beats one-step segmentation, and the before-image improves the damage grade itself. Unseen disasters stay below 40% mIoU.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2305434"/>
          </a:xfrm>
          <a:prstGeom prst="roundRect">
            <a:avLst>
              <a:gd name="adj" fmla="val 3305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2305434"/>
          </a:xfrm>
          <a:custGeom>
            <a:avLst/>
            <a:gdLst/>
            <a:ahLst/>
            <a:cxnLst/>
            <a:rect l="l" t="t" r="r" b="b"/>
            <a:pathLst>
              <a:path w="3386687" h="2305434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1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26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support for our before + after input and our find-then-grade design. Its after-images are radar, so only its before-images fit our optical model.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08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08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 / 21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4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DATASETS &amp; BENCHMARKS · ICCV 2025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GEOBench-VLM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vision-language models for geospatial tasks · Danish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geospatial tasks and over 10,000 human-checked multiple-choice questions, including counting damaged buildings on xBD.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model scores 41.7% overall. Every model fails when the answer options lie within 20% of each other.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outside test for our counting, and a warning: VLMs reason poorly about numbers, so counts should not come from the VLM.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08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08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 / 21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4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FINDING &amp; GRADING BUILDINGS · META, 2025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SAM 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Anything with Concepts · Carion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26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Promptable concept segmentation: given a short noun phrase or example images, it returns every matching instance. Trained with 4M unique concept labels.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Doubles the accuracy of existing systems on image and video concept segmentation, and releases the SA-Co benchmark.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Prompted with “building” on the before-image, it finds buildings with no training. It is the finding half of our find-then-grade pipeline.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08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08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 / 21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7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FINDING &amp; GRADING BUILDINGS · ADV. ENG. INFORMATICS 2026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4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BDAChat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segmentation and a vision-language model for interpretable building damage assessment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3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fine-tuned SAM finds buildings and roads; a Video-LLaVA-7B grades each building from its before and after crops and explains its decision.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3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Object-level macro F1 of 0.763 on xBD, with damage maps and heatmaps. Training needs a multi-GPU setup.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3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closest competitor. We keep its per-building idea, but grade with a small classifier that trains on one free GPU.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11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11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 / 21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4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FINDING &amp; GRADING BUILDINGS · ICML 2025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GeoPixel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 grounding large multimodal model in remote sensing · Shabbir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26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7B model that answers with masks: special tokens drive a frozen SAM-2 decoder, and images up to 4K are read as tiles plus a global view.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Pixel-grounded conversation on high-resolution remote sensing images, trained on GeoPixelD (600,817 objects).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26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heavy, single-image and not about disasters. We borrow its tiling and its numbered marks, so every claim can be checked against a mask.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08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08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 / 21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7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FINDING &amp; GRADING BUILDINGS · ARXIV 2025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EfficientSAM3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hierarchical distillation for video concept segmentation from SAM 1, 2 and 3 · Zeng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Distils SAM 3 into small backbones (RepViT, TinyViT, EfficientViT) in three stages: image encoder, video memory, then end to end.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523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results published yet; the weights are already on GitHub.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candidate building finder for the field device, to be measured against SAM 3 on our own validation images.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11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11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 / 21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7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VLMS THAT READ DAMAGE · ICLR 2025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TEOChat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vision-language assistant for temporal Earth observation data · Irvin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7B VLM fine-tuned with LoRA on 554k examples to read sequences of before and after images. It trains on one 16 GB GPU.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at finding buildings on xBD (F1 38.9 against 85.9 for a specialist), but strong at grading buildings it is given (F1 50.0 against 26.5).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split we use: a specialist finds the buildings, and the VLM reasons about them from counts and boxes given as text.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11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11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 / 21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1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VLMS THAT READ DAMAGE · IEEE GRSM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ImageRAG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Enhancing ultra-high-resolution remote sensing imagery analysis with ImageRAG · Zhang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26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image tiles against key phrases from the question with a remote sensing CLIP, then sends the best tiles, with their coordinates, to the VLM.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regions add 8.7 points with no training. A fine-tuned version with chain-of-thought reaches 64.7%, yet counting stays at 42–50%.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segmenter is a better retriever than CLIP for buildings. Even with retrieval, counts should come from masks.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04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04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 / 21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7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VLMS THAT READ DAMAGE · NEC LABS, 2026 PREPRINT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DamageScope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Vision–language retrieval at scale for disaster damage assessment from satellite imagery · Rajendran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 each property, clusters similar buildings, has GPT-4o describe one per cluster, and stores the results in SQLite and a vector database.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14× faster loading, and tokens per question fall from 7,050 to 2,420. Tested on only two xBD tiles, without measuring answer accuracy.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blueprint for our per-building table: counting questions are answered offline by SQL over our segmentation.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11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11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 / 21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7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TRUST &amp; DEPLOYMENT · KAIST AI, 2024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7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TrustSQL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text-to-SQL reliability with penalty-based scoring · Lee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6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reliability as writing correct SQL for answerable questions and refusing the rest; wrong answers cost points.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6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77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well under severe penalties is hard, both for pipelines of separate detectors and for single models.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6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graded small SQL-writing models with its penalty score. None passed our bar, so the system uses fixed, pre-written queries.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11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11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13 / 21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1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TRUST &amp; DEPLOYMENT · ICML 2026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TimeSpot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geo-temporal understanding in vision-language models in real-world settings · Wasi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1,455 ground-level photos from about 80 countries; models must fill in a nine-field answer about time and place.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VLMs are weak at time (month accuracy 22–48%), and the open models are poorly calibrated: systematically overconfident.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trusting a small model’s confidence, we measure its calibration, and we check reports for self-contradiction.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04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04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14 / 21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7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TRUST &amp; DEPLOYMENT · NEURIPS 2023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QLoRA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finetuning of quantized LLMs · Dettmers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model frozen in 4-bit and trains small LoRA adapters; double quantization and paged optimizers save more memory.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65B model fine-tunes on one 48 GB GPU and matches full 16-bit fine-tuning; 9k clean examples beat 450k noisy ones.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fine-tune our 7B on free Kaggle GPUs, and why our distillation data is kept small and clean.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11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11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15 / 21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1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TRUST &amp; DEPLOYMENT · MLSYS 2024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0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AWQ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Activation-aware weight quantization for on-device LLM compression and acceleration · Lin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 compression after training that protects the roughly 1% most important weights, found from activation statistics. No retraining.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77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3.2–3.3× faster than FP16; it works on vision-language models and runs on a Jetson Orin.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523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way to shrink our distilled 3B for a field device.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04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04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16 / 21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1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TRUST &amp; DEPLOYMENT · ARXIV 2025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7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Grace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Near-realtime remote sensing via satellite–ground collaboration of large vision–language models · Li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2B VLM on the satellite and a 7B on the ground; a dispatcher keeps a job on board only when the small model is confident.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76–95% lower latency with no accuracy loss. Alone, the 2B scores 55.9% against the 7B’s 68.0% on RSVQA.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1807600"/>
          </a:xfrm>
          <a:prstGeom prst="roundRect">
            <a:avLst>
              <a:gd name="adj" fmla="val 4216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1807600"/>
          </a:xfrm>
          <a:custGeom>
            <a:avLst/>
            <a:gdLst/>
            <a:ahLst/>
            <a:cxnLst/>
            <a:rect l="l" t="t" r="r" b="b"/>
            <a:pathLst>
              <a:path w="3386687" h="1807600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77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field 3B will hand its low-confidence questions to the 7B in the same way.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04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04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17 / 21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1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TRUST &amp; DEPLOYMENT · FINDINGS OF ACL 2023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7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Distilling Step-by-Step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625216"/>
            <a:ext cx="10883505" cy="26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Outperforming larger language models with less training data and smaller model sizes · Hsieh et 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704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</p:sp>
      <p:sp>
        <p:nvSpPr>
          <p:cNvPr id="6" name="Shape 4"/>
          <p:cNvSpPr/>
          <p:nvPr/>
        </p:nvSpPr>
        <p:spPr>
          <a:xfrm>
            <a:off x="812704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41217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1217" y="2753370"/>
            <a:ext cx="3017551" cy="1269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model writes explanations; the small model learns the answer and the explanation as two tasks, and needs no explanation at test 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567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FFFDF7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567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631080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080" y="2753370"/>
            <a:ext cx="3017551" cy="1021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standard fine-tuning with over 50% fewer training examples; a 770M T5 outperforms the 540B PaLM.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430" y="2169951"/>
            <a:ext cx="3386687" cy="2056517"/>
          </a:xfrm>
          <a:prstGeom prst="roundRect">
            <a:avLst>
              <a:gd name="adj" fmla="val 3705"/>
            </a:avLst>
          </a:prstGeom>
          <a:solidFill>
            <a:srgbClr val="14213D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430" y="2169951"/>
            <a:ext cx="3386687" cy="2056517"/>
          </a:xfrm>
          <a:custGeom>
            <a:avLst/>
            <a:gdLst/>
            <a:ahLst/>
            <a:cxnLst/>
            <a:rect l="l" t="t" r="r" b="b"/>
            <a:pathLst>
              <a:path w="3386687" h="2056517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3310487" y="0"/>
                </a:lnTo>
                <a:arcTo hR="76200" wR="76200" stAng="16200000" swAng="5400000"/>
                <a:lnTo>
                  <a:pt x="3386687" y="76200"/>
                </a:lnTo>
                <a:arcTo hR="50800" wR="76200" stAng="0" swAng="-5400000"/>
                <a:lnTo>
                  <a:pt x="76200" y="25400"/>
                </a:lnTo>
                <a:arcTo hR="50800" wR="76200" stAng="16200000" swAng="-5400000"/>
                <a:close/>
              </a:path>
            </a:pathLst>
          </a:cu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942" y="2423220"/>
            <a:ext cx="3017551" cy="25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our project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0942" y="2753370"/>
            <a:ext cx="3017551" cy="77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for distilling our 7B into a 3B that answers briefly, and explains when asked why.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704" y="6238304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79" y="6238304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18 / 21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13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47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1E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the literature </a:t>
            </a:r>
            <a:r>
              <a:rPr lang="en-US" sz="3200" b="1" i="1" dirty="0">
                <a:solidFill>
                  <a:srgbClr val="C9A22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tells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04" y="1860178"/>
            <a:ext cx="5181618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880" y="2069381"/>
            <a:ext cx="4918524" cy="29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1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Find, then grade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15880" y="2419747"/>
            <a:ext cx="4918524" cy="523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 find buildings; a grader decides each one’s damage.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5880" y="2993690"/>
            <a:ext cx="491852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BRIGHT · TEOChat · BDAChat · SAM 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7498" y="1860178"/>
            <a:ext cx="5181715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674" y="2069381"/>
            <a:ext cx="4918624" cy="29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1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Show the before-image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674" y="2419747"/>
            <a:ext cx="4918624" cy="523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 building stood helps both finding rubble and grading 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674" y="2993690"/>
            <a:ext cx="491862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BRIGHT · TEOChat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704" y="3619711"/>
            <a:ext cx="5181618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5880" y="3828926"/>
            <a:ext cx="4918524" cy="29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1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Count from masks, not pixels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5880" y="4179280"/>
            <a:ext cx="4918524" cy="27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VLMs reason over counts well but cannot produce them.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15880" y="4504308"/>
            <a:ext cx="491852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DisasterM3 · GEOBench-VLM · ImageRAG · DamageScope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7498" y="3619711"/>
            <a:ext cx="5181715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674" y="3828926"/>
            <a:ext cx="4918624" cy="29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1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Small, calibrated, able to refuse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674" y="4179280"/>
            <a:ext cx="4918624" cy="27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models must know when to hand off or decline.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674" y="4504308"/>
            <a:ext cx="491862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Grace · TimeSpot · TrustSQL · QLoRA · AWQ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704" y="6238317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66479" y="6238317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19 / 21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812701"/>
            <a:ext cx="10883505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1102134"/>
            <a:ext cx="10883505" cy="472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sixteen papers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704" y="1803053"/>
            <a:ext cx="5284774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Wang et al. DisasterM3. NeurIPS 2025 (Datasets &amp; Benchmarks).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704" y="2097608"/>
            <a:ext cx="5284774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Chen et al. BRIGHT. Earth System Science Data, 2025.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704" y="2392176"/>
            <a:ext cx="5284774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Danish et al. GEOBench-VLM. ICCV 2025.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704" y="2686732"/>
            <a:ext cx="5284774" cy="43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Carion et al. SAM 3: Segment Anything with Concepts. arXiv 2511.16719, 2025.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04" y="3186981"/>
            <a:ext cx="5284774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BDAChat. Advanced Engineering Informatics 71, 104320, 2026.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704" y="3481549"/>
            <a:ext cx="5284774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Shabbir et al. GeoPixel. ICML 2025.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704" y="3776104"/>
            <a:ext cx="5284774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Zeng et al. EfficientSAM3. arXiv 2511.15833, 2025.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704" y="4070672"/>
            <a:ext cx="5284774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Irvin et al. TEOChat. ICLR 2025.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48268" y="1803053"/>
            <a:ext cx="5284873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Zhang et al. ImageRAG. IEEE GRSM; arXiv 2411.07688.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8268" y="2097608"/>
            <a:ext cx="5284873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Rajendran et al. DamageScope. arXiv 2608.21529, 2026.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48268" y="2392176"/>
            <a:ext cx="5284873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Lee et al. TrustSQL. arXiv 2403.15879, 2024.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48268" y="2686732"/>
            <a:ext cx="5284873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Wasi et al. TimeSpot. ICML 2026.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8268" y="2981300"/>
            <a:ext cx="5284873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Dettmers et al. QLoRA. NeurIPS 2023.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8268" y="3275856"/>
            <a:ext cx="5284873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Lin et al. AWQ. MLSys 2024.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48268" y="3570424"/>
            <a:ext cx="5284873" cy="436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Li et al. Grace: satellite–ground collaboration of VLMs. arXiv 2510.24242, 2025.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48268" y="4070672"/>
            <a:ext cx="5284873" cy="231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Hsieh et al. Distilling Step-by-Step. Findings of ACL 2023.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704" y="6238304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66479" y="6238304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A5C0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20 / 21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04" y="2247317"/>
            <a:ext cx="10883505" cy="274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CSE499B · GROUP 5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04" y="2750170"/>
            <a:ext cx="10883505" cy="825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1E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Thank </a:t>
            </a:r>
            <a:r>
              <a:rPr lang="en-US" sz="6000" b="1" i="1" dirty="0">
                <a:solidFill>
                  <a:srgbClr val="C9A227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you</a:t>
            </a:r>
            <a:endParaRPr lang="en-US" sz="60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-253" r="-253" t="0" b="0"/>
          <a:stretch/>
        </p:blipFill>
        <p:spPr>
          <a:xfrm>
            <a:off x="812704" y="3804258"/>
            <a:ext cx="1523966" cy="189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704" y="4077159"/>
            <a:ext cx="10883505" cy="355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DCE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12704" y="6238304"/>
            <a:ext cx="9679871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5 · Abdullah Al Noman · Tamanna Akter Mou · Aryan Sami · Ridita Afrin Riya · Abrar Mohammed Tanzim Alam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79" y="6238304"/>
            <a:ext cx="812734" cy="23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A227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21 / 21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E499B Literature Review">
  <a:themeElements>
    <a:clrScheme name="CSE499B Literature Review">
      <a:dk1>
        <a:srgbClr val="14213D"/>
      </a:dk1>
      <a:lt1>
        <a:srgbClr val="F6F1E4"/>
      </a:lt1>
      <a:dk2>
        <a:srgbClr val="4D5567"/>
      </a:dk2>
      <a:lt2>
        <a:srgbClr val="DFDCD3"/>
      </a:lt2>
      <a:accent1>
        <a:srgbClr val="7A5C0C"/>
      </a:accent1>
      <a:accent2>
        <a:srgbClr val="C9A227"/>
      </a:accent2>
      <a:accent3>
        <a:srgbClr val="3D4A5C"/>
      </a:accent3>
      <a:accent4>
        <a:srgbClr val="DCE3EE"/>
      </a:accent4>
      <a:accent5>
        <a:srgbClr val="5A6578"/>
      </a:accent5>
      <a:accent6>
        <a:srgbClr val="C9D3E3"/>
      </a:accent6>
      <a:hlink>
        <a:srgbClr val="0563C1"/>
      </a:hlink>
      <a:folHlink>
        <a:srgbClr val="954F72"/>
      </a:folHlink>
    </a:clrScheme>
    <a:fontScheme name="CSE499B Literature Revie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CSE499B Literature Review</dc:title>
  <dc:subject/>
  <dc:creator/>
  <cp:lastModifiedBy/>
  <cp:revision>1</cp:revision>
  <dcterms:created xsi:type="dcterms:W3CDTF">2026-10-26T19:18:29Z</dcterms:created>
  <dcterms:modified xsi:type="dcterms:W3CDTF">2026-10-26T19:18:29Z</dcterms:modified>
</cp:coreProperties>
</file>