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2" r:id="rId8"/>
    <p:sldId id="264" r:id="rId10"/>
    <p:sldId id="265" r:id="rId11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papers we reviewed this semester for CSE499B, one slide each, grouped by the question each one helps us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groups, one question each: the data, how buildings are found and graded, and what a vision-language model reads reliably. Only the papers behind this week's tests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our whole project is built on. Its key finding for us: fine-tuning did not fix counting, even for the authors.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BRIGHT shaped two of our design choices: feeding the before-image, and finding buildings before grading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 3 lets us find buildings without training a detector; a small grader then decides each building’s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BDAChat does what we do with much bigger models. Its numbers come from the paper’s public code repository; the journal paper itself is paywalled.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 version of SAM 3 could run on a laptop in the field. Since the paper has no results yet, we would measure it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clearest evidence for our two-stage design: VLMs are bad at finding buildings but good at judging buildings they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lessons that run through these six papers: find each building first and grade it after, and show the model the photo from before the disaster. This week's four tests rest on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Short-form references for the slides; the full citations are in the project’s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04" y="1102140"/>
            <a:ext cx="10566509" cy="4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04" y="1853908"/>
            <a:ext cx="10566496" cy="419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04" y="1102140"/>
            <a:ext cx="10566509" cy="4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04" y="1853908"/>
            <a:ext cx="10566496" cy="419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1995883"/>
            <a:ext cx="10883505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CSE499B · SECTION 13 · GROUP 5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2498747"/>
            <a:ext cx="10883505" cy="82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1E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Literature </a:t>
            </a:r>
            <a:r>
              <a:rPr lang="en-US" sz="6000" b="1" i="1" dirty="0">
                <a:solidFill>
                  <a:srgbClr val="C9A22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Review</a:t>
            </a:r>
            <a:endParaRPr lang="en-US" sz="60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-253" r="-253" t="0" b="0"/>
          <a:stretch/>
        </p:blipFill>
        <p:spPr>
          <a:xfrm>
            <a:off x="812704" y="3552825"/>
            <a:ext cx="1523966" cy="189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04" y="3825725"/>
            <a:ext cx="7848522" cy="35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Post-Disaster Damage Assessment and Rescue Guidance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704" y="4409916"/>
            <a:ext cx="10883505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 papers · 3 questions · one slide each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 /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4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919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Six papers, grouped by the question each one answers</a:t>
            </a:r>
            <a:r>
              <a:rPr lang="en-US" sz="3200" b="1" i="1" dirty="0">
                <a:solidFill>
                  <a:srgbClr val="7A5C0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/>
            </a: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/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2300792"/>
            <a:ext cx="3416808" cy="2908677"/>
          </a:xfrm>
          <a:prstGeom prst="roundRect">
            <a:avLst>
              <a:gd name="adj" fmla="val 301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13816" y="2300792"/>
            <a:ext cx="3416808" cy="2908677"/>
          </a:xfrm>
          <a:custGeom>
            <a:avLst/>
            <a:gdLst/>
            <a:ahLst/>
            <a:cxnLst/>
            <a:rect l="l" t="t" r="r" b="b"/>
            <a:pathLst>
              <a:path w="2527371" h="290867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51171" y="0"/>
                </a:lnTo>
                <a:arcTo hR="76200" wR="76200" stAng="16200000" swAng="5400000"/>
                <a:lnTo>
                  <a:pt x="2527371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14984" y="2528725"/>
            <a:ext cx="3078480" cy="48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benchmarks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4984" y="3087483"/>
            <a:ext cx="3078480" cy="47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we train and test 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3634637"/>
            <a:ext cx="2968752" cy="82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DisasterM3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6072" y="2300792"/>
            <a:ext cx="3416808" cy="2908677"/>
          </a:xfrm>
          <a:prstGeom prst="roundRect">
            <a:avLst>
              <a:gd name="adj" fmla="val 301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86072" y="2300792"/>
            <a:ext cx="3416808" cy="2908677"/>
          </a:xfrm>
          <a:custGeom>
            <a:avLst/>
            <a:gdLst/>
            <a:ahLst/>
            <a:cxnLst/>
            <a:rect l="l" t="t" r="r" b="b"/>
            <a:pathLst>
              <a:path w="2527371" h="290867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51171" y="0"/>
                </a:lnTo>
                <a:arcTo hR="76200" wR="76200" stAng="16200000" swAng="5400000"/>
                <a:lnTo>
                  <a:pt x="2527371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87240" y="2528725"/>
            <a:ext cx="3078480" cy="48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&amp; grading buildings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7240" y="3087483"/>
            <a:ext cx="3078480" cy="47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find and grade each building?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7824" y="3634637"/>
            <a:ext cx="2968752" cy="1092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3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BDAChat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EfficientSAM3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8328" y="2300792"/>
            <a:ext cx="3416808" cy="2908677"/>
          </a:xfrm>
          <a:prstGeom prst="roundRect">
            <a:avLst>
              <a:gd name="adj" fmla="val 301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958328" y="2300792"/>
            <a:ext cx="3416808" cy="2908677"/>
          </a:xfrm>
          <a:custGeom>
            <a:avLst/>
            <a:gdLst/>
            <a:ahLst/>
            <a:cxnLst/>
            <a:rect l="l" t="t" r="r" b="b"/>
            <a:pathLst>
              <a:path w="2527371" h="290867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51171" y="0"/>
                </a:lnTo>
                <a:arcTo hR="76200" wR="76200" stAng="16200000" swAng="5400000"/>
                <a:lnTo>
                  <a:pt x="2527371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59496" y="2528725"/>
            <a:ext cx="3078480" cy="48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VLMs that read damage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59496" y="3087483"/>
            <a:ext cx="3078480" cy="47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a VLM read reliably?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0080" y="3634637"/>
            <a:ext cx="2968752" cy="82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TEOChat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4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DATASETS &amp; BENCHMARKS · NEURIPS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DisasterM3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remote sensing vision-language dataset for disaster damage assessment and response · Wang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12704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26,988 bi-temporal optical and radar images from 36 disaster events, with nine VLM tasks from recognition to counting and reasoning.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02567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Qwen2.5-VL-7B averages 31.2% on the optical benchmark and the authors’ fine-tune 40.4%, but counting barely moves: 34.2% to 34.3%.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92430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training data and benchmark. VLMs cannot count buildings from pixels, so our counts come from a segmenter.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5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DATASETS &amp; BENCHMARKS · ESSD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2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BRIGHT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globally distributed multimodal building damage assessment dataset · Chen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305434"/>
          </a:xfrm>
          <a:prstGeom prst="roundRect">
            <a:avLst>
              <a:gd name="adj" fmla="val 330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12704" y="2169951"/>
            <a:ext cx="3386687" cy="2305434"/>
          </a:xfrm>
          <a:custGeom>
            <a:avLst/>
            <a:gdLst/>
            <a:ahLst/>
            <a:cxnLst/>
            <a:rect l="l" t="t" r="r" b="b"/>
            <a:pathLst>
              <a:path w="3386687" h="2305434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1217" y="2423221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4,246 tile pairs from 14 events: optical before-images, radar after-images, and the same four damage classes as 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305434"/>
          </a:xfrm>
          <a:prstGeom prst="roundRect">
            <a:avLst>
              <a:gd name="adj" fmla="val 330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02567" y="2169951"/>
            <a:ext cx="3386687" cy="2305434"/>
          </a:xfrm>
          <a:custGeom>
            <a:avLst/>
            <a:gdLst/>
            <a:ahLst/>
            <a:cxnLst/>
            <a:rect l="l" t="t" r="r" b="b"/>
            <a:pathLst>
              <a:path w="3386687" h="2305434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1080" y="2423221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518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buildings first and then grading them beats one-step segmentation, and the before-image improves the damage grade itself. Unseen disasters stay below 40% mIoU.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305434"/>
          </a:xfrm>
          <a:prstGeom prst="roundRect">
            <a:avLst>
              <a:gd name="adj" fmla="val 3305"/>
            </a:avLst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92430" y="2169951"/>
            <a:ext cx="3386687" cy="2305434"/>
          </a:xfrm>
          <a:custGeom>
            <a:avLst/>
            <a:gdLst/>
            <a:ahLst/>
            <a:cxnLst/>
            <a:rect l="l" t="t" r="r" b="b"/>
            <a:pathLst>
              <a:path w="3386687" h="2305434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0942" y="2423221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support for our before + after input and our find-then-grade design. Its after-images are radar, so only its before-images fit our optical model.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4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FINDING &amp; GRADING BUILDINGS · META,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SAM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Anything with Concepts · Carion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12704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Promptable concept segmentation: given a short noun phrase or example images, it returns every matching instance. Trained with 4M unique concept labels.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02567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Doubles the accuracy of existing systems on image and video concept segmentation, and releases the SA-Co benchmark.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92430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Prompted with “building” on the before-image, it finds buildings with no training. It is the finding half of our find-then-grade pipeline.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FINDING &amp; GRADING BUILDINGS · ADV. ENG. INFORMATICS 2026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4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BDAChat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segmentation and a vision-language model for interpretable building damage assessment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1217" y="2423223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fine-tuned SAM finds buildings and roads; a Video-LLaVA-7B grades each building from its before and after crops and explains its decision.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1080" y="2423223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macro F1 of 0.763 on xBD, with damage maps and heatmaps. Training needs a multi-GPU setup.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0942" y="2423223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closest competitor. We keep its per-building idea, but grade with a small classifier that trains on one free GPU.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FINDING &amp; GRADING BUILDINGS · ARXIV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EfficientSAM3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hierarchical distillation for video concept segmentation from SAM 1, 2 and 3 · Zeng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Distils SAM 3 into small backbones (RepViT, TinyViT, EfficientViT) in three stages: image encoder, video memory, then end to 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523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results published yet; the weights are already on GitHub.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building finder for the field device, to be measured against SAM 3 on our own validation images.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VLMS THAT READ DAMAGE · ICLR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TEOChat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vision-language assistant for temporal Earth observation data · Irvin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7B VLM fine-tuned with LoRA on 554k examples to read sequences of before and after images. It trains on one 16 GB GPU.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at finding buildings on xBD (F1 38.9 against 85.9 for a specialist), but strong at grading buildings it is given (F1 50.0 against 26.5).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split we use: a specialist finds the buildings, and the VLM reasons about them from counts and boxes given as text.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13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7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1E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the literature </a:t>
            </a:r>
            <a:r>
              <a:rPr lang="en-US" sz="3200" b="1" i="1" dirty="0">
                <a:solidFill>
                  <a:srgbClr val="C9A22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tells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04" y="3227206"/>
            <a:ext cx="5181618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5880" y="3436409"/>
            <a:ext cx="4918524" cy="29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1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Find, then grade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5880" y="3786775"/>
            <a:ext cx="4918524" cy="523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find buildings; a grader decides each one’s damage.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5880" y="4360718"/>
            <a:ext cx="491852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BRIGHT · TEOChat · BDAChat · SAM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498" y="3227206"/>
            <a:ext cx="5181715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674" y="3436409"/>
            <a:ext cx="4918624" cy="29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1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Show the before-image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674" y="3786775"/>
            <a:ext cx="4918624" cy="523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building stood helps both finding rubble and grading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674" y="4360718"/>
            <a:ext cx="491862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BRIGHT · TEOChat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704" y="6238317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66479" y="6238317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1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34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six papers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3816" y="1801368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Wang et al. DisasterM3. NeurIPS 2025 (Datasets &amp; Benchmarks).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3816" y="2093976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Chen et al. BRIGHT. Earth System Science Data, 2025.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3816" y="2386584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Carion et al. SAM 3: Segment Anything with Concepts. arXiv 2511.16719, 2025.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" y="2679191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BDAChat. Advanced Engineering Informatics 71, 104320, 2026.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" y="2971800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Zeng et al. EfficientSAM3. arXiv 2511.15833, 2025.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3264408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Irvin et al. TEOChat. ICLR 2025.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2247317"/>
            <a:ext cx="10883505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CSE499B · GROUP 5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2750170"/>
            <a:ext cx="10883505" cy="82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1E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Thank </a:t>
            </a:r>
            <a:r>
              <a:rPr lang="en-US" sz="6000" b="1" i="1" dirty="0">
                <a:solidFill>
                  <a:srgbClr val="C9A22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you</a:t>
            </a:r>
            <a:endParaRPr lang="en-US" sz="60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-253" r="-253" t="0" b="0"/>
          <a:stretch/>
        </p:blipFill>
        <p:spPr>
          <a:xfrm>
            <a:off x="812704" y="3804258"/>
            <a:ext cx="1523966" cy="189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04" y="4077159"/>
            <a:ext cx="10883505" cy="35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E499B Literature Review">
  <a:themeElements>
    <a:clrScheme name="CSE499B Literature Review">
      <a:dk1>
        <a:srgbClr val="14213D"/>
      </a:dk1>
      <a:lt1>
        <a:srgbClr val="F6F1E4"/>
      </a:lt1>
      <a:dk2>
        <a:srgbClr val="4D5567"/>
      </a:dk2>
      <a:lt2>
        <a:srgbClr val="DFDCD3"/>
      </a:lt2>
      <a:accent1>
        <a:srgbClr val="7A5C0C"/>
      </a:accent1>
      <a:accent2>
        <a:srgbClr val="C9A227"/>
      </a:accent2>
      <a:accent3>
        <a:srgbClr val="3D4A5C"/>
      </a:accent3>
      <a:accent4>
        <a:srgbClr val="DCE3EE"/>
      </a:accent4>
      <a:accent5>
        <a:srgbClr val="5A6578"/>
      </a:accent5>
      <a:accent6>
        <a:srgbClr val="C9D3E3"/>
      </a:accent6>
      <a:hlink>
        <a:srgbClr val="0563C1"/>
      </a:hlink>
      <a:folHlink>
        <a:srgbClr val="954F72"/>
      </a:folHlink>
    </a:clrScheme>
    <a:fontScheme name="CSE499B Literature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CSE499B Literature Review</dc:title>
  <dc:subject/>
  <dc:creator/>
  <cp:lastModifiedBy/>
  <cp:revision>1</cp:revision>
  <dcterms:created xsi:type="dcterms:W3CDTF">2026-10-26T19:18:29Z</dcterms:created>
  <dcterms:modified xsi:type="dcterms:W3CDTF">2026-10-26T19:18:29Z</dcterms:modified>
</cp:coreProperties>
</file>