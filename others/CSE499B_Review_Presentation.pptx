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In CSE499A we reproduced the DisasterM3 benchmark on free hardware and built a hybrid pipeline in which a U-Net counts buildings and a fine-tuned vision-language model reasons about the scene. This review covers three things: a short recap of where 499A left the project, the segmentation ablation sprint we have run in 499B so far (work in progress), and the future work: four directions and the proposed offline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(Section I-A of the report). Describing a disaster scene is no longer the hard part; current VLMs already do it. The hard part is giving responders building-level locations and counts they can trust, offline, on small GPUs. 499A exposed both halves of the gap: the fine-tuned VLM on its own became worse at counting than the untuned model, and our U-Net flagged destroyed buildings with many false alarms (Destroyed precision 0.18). 499B targets both, and keeps everything runnable offline on free or small GPUs. The 15 GB figure is the merged FP16 model (AbrarAlam/disasterm3-qwen2.5vl7b-mergedFP).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499A pipeline, following the four-phase architecture figure in the final report. We reproduced the DisasterM3 (NeurIPS 2025) fine-tuning recipe on a single free T4 using QLoRA, then merged and evaluated the model with vLLM. The hybrid phase routes counting questions to a U-Net and gives the VLM zoomed collages for spatial questions. The bottom row shows the supporting modules: DisasTeller (Ridita), the DisasterVQA evaluation (Abrar and Tamanna) and the VRT super-resolution study (Noman). DisasterVQA: our fine-tuned 7B model, with no extra training, scored 0.91 yes/no and 0.85 multiple choice on 500 questions, the same as GPT-4.1-mini (0.91 / 0.85) and ahead of Mistral-Small-3.1-24B (0.90 / 0.81) and Qwen2.5-VL-32B (0.89 / 0.81). Open-ended questions were not scored (judging cost). Check the metric name before the viva: the final report calls the multiple-choice score F1, Tamanna's comparison table calls it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499A results, all from the final report. Fine-tuning helped the classification tasks (largest gain: Bearing Body Recognition, +11.69 points from a near-random 4.7%) but hurt counting, because the 512-token image cap hides small structures. The DisasterVQA result shows the model generalises to a different benchmark. The segmentation baseline is the weak link that 499B starts from: Destroyed IoU 0.1658.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gaps come straight from the 499A limitations section. Gap 1 is Deviation D4, the resolution cap. Gap 2 is the extreme class imbalance: 63% of images contain no destroyed pixels at all. Gap 3: DisasTeller (Ridita's 499A module) is a standalone demo. Four CrewAI agents write team reports from hand-picked photos that Gemini describes, plus EMS-98 retrieval; it is not fed by our U-Net or VLM, and disaster zones often have no network. The proposed architecture later in the talk shows where it fits. Gap 4 is why the 499A roadmap includes 7B-to-3B distillation. We start with gap 2, because counts, collages and heatmaps all depend on the segmentation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objective per gap, each with a measurable key result. KR1 reuses the Phase Gate from our sprint plan (team_task_assignments.md). KR2's bar is the untuned base model's 34.2% on building counting, which the fine-tuned VLM alone fell below in 499A. O3 and O4 come from the 499A future-work list. The rest of this talk covers how far O1 has got, then the future work for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talking points before the sprint. One: accuracy is misleading here. Background is 92.77% of all pixels, so a model that predicts background everywhere is 92.8% accurate while finding no buildings at all. That is why we report IoU per class, and why Destroyed IoU is the number we watch. Two: destroyed is the hardest class. It is about 3 pixels in every 1,000, and 63% of images contain none, so most training crops give the model no destroyed example to learn from. Even our best sprint run, C5, reaches only 0.279 Destroyed IoU, below the 0.30 that counting from masks needs. Three: every technique we tried exists because of this imbalance. Focal Tversky (beta 0.7 above alpha 0.3) penalises a missed rare pixel more than a false alarm; that is track C. The weighted sampler draws images containing destroyed buildings 10 times as often, and damaged 5 times; copy-paste pastes extra damaged and destroyed buildings into training crops; those are track A. Our controlled re-runs now test them again, one change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15-day sprint from team_task_assignments.md. Each member owned one track and changed one thing against the B1 baseline; the lead (Abrar) planned the sprint and checked every result against the notebooks. Track A ran 10-epoch screens; B, C and D ran 40 epochs. Track B caveat: those notebooks also used a higher learning rate and smaller batch, so the architecture comparison is not fully fair; U-Net++ is being re-run under the better recipe. C6 EfficientNet-B4 matched ResNet-50 (0.5257) but trained 36% slower. D3's sliding window changed nothing (-0.0005). Results tables follow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notebook-verified (Ablation_Study_Reference_and_QA_Prep.md). Track A: the summary CSV's copy-paste score (0.4077) came from a run whose cut-out bank included validation images; the leak-free run gave 0.4017, roughly neutral. It also had a scale bug: cut-outs taken at 1024 were pasted onto images resized to 512. Track D: 768 crops keep small rubble that 512 crops lose. The sliding-window run actually ran on 768 crops, not native 1024, and changed nothing (-0.0005), so it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bar on this chart was scored the same way (resized 512 images), so these rows can be compared. Changing the loss from CE + Dice to Focal Tversky was the single biggest gain of the sprint. Phasing in Lovász-Softmax for the last 8 epochs added about +0.003, and the ResNet-50 encoder about +0.006 more. Decoder changes did not help under CE + Dice, but those runs also used a higher learning rate and a smaller batch, so U-Net++ is being re-run under the better recipe. C5 clears the mIoU half of the Phase Gate but not the Destroyed half; closing that gap is the job of the re-runs and the directions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from our October review of the literature (Essential_task_delegation/Research_Directions_Beyond_Finetuning.md). Our fine-tuning settings now move results by less than run-to-run noise, so the next gains have to be structural. 1: all five xView2 winners (Durnov, Seferbekov, Khvedchenya, Zheng, SI Analytics) used both pre- and post-disaster images; our U-Net only sees the post image. 2: SAM 3 (Meta, November 2025) finds every instance of a concept from a text prompt; a remote-sensing preprint reports 64% building IoU on xBD with no training. A small classifier then grades each building from its before/after crops, like xView2's top two. 16,682 destroyed instances come from our training-only copy-paste bank. 3: the textual bridge from the 499A roadmap plus an agent layer: the VLM calls tools and reasons over exact counts; DisasTeller's report agents run on our own model. 4: distillation notebooks are written; EfficientSAM3 is a distilled SAM 3 of about 90M parameters. Closest related work: BDAChat (Advanced Engineering Informatics, 2026) uses a modified SAM plus a fine-tuned temporal VLM; our difference is efficiency, counting and offline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directions combined into one system. Perception (orange): SAM 3 finds every building on the pre-disaster image, where buildings are still intact and sharp (the xView2 first-place idea), and a small classifier compares each building's before and after crops to label it intact, damaged or destroyed. That gives a per-building map with IDs and exact counts. Reasoning (blue): our fine-tuned Qwen2.5-VL acts as an agent; it receives the counts as text (the textual bridge), answers the responder's question, and hands the facts to DisasTeller's report agents, which now run on our model with EMS-98 retrieval instead of sending photos to Gemini. Output: a damage map with building IDs, counts, a survivability heatmap built from the masks, and the written report. Deployment: the full SAM 3 (about 848M parameters) is a server model, so the base station runs SAM 3 plus the 7B model, and the field laptop runs EfficientSAM3 or our U-Net plus the distilled 3B model. Before committing, a two-day test (S0 to S1) checks that SAM 3 runs on a Kaggle T4 and finds buildings on DisasterM3.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timeline for the rest of the Fall 2026 semester. The sprint is done. Controlled re-runs of the U-Net, one change at a time and scored on full-resolution images, are in progress; each takes about 7 to 10 GPU-hours, so they are spread across members' Kaggle accounts. Next is the two-day SAM 3 feasibility test. If it passes, before/after input and two-stage grading follow, then the VLM agent with offline DisasTeller reports, then distillation and the edge benchmark, and finally integration and the report. If the Destroyed IoU gate (0.30) still fails, we add xBD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deliverables, which map onto the objectives: O1 is the stronger segmentation model and results table, the SAM 3 path is the structural upgrade from the future-work slides, O3 is offline DisasTeller reports fed by our own results, O4 is the distilled 3B model with an edge benchmark. Then take questions. Likely questions and answers are in Essential_task_delegation/Ablation_Study_Reference_and_QA_Prep.md and Research_Directions_Beyond_Finetuning.md.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04" y="1076806"/>
            <a:ext cx="10566509" cy="408866"/>
          </a:xfrm>
          <a:prstGeom prst="rect">
            <a:avLst/>
          </a:prstGeom>
          <a:noFill/>
          <a:ln/>
        </p:spPr>
        <p:txBody>
          <a:bodyPr wrap="square" lIns="0" tIns="0" rIns="0" bIns="0" rtlCol="0" anchor="t"/>
          <a:lstStyle>
            <a:lvl1pPr algn="l" indent="0" marL="0">
              <a:lnSpc>
                <a:spcPct val="115000"/>
              </a:lnSpc>
              <a:buNone/>
              <a:defRPr lang="en-US" sz="2800" dirty="0">
                <a:solidFill>
                  <a:srgbClr val="1520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04" y="1790472"/>
            <a:ext cx="10566496" cy="4254728"/>
          </a:xfrm>
          <a:prstGeom prst="rect">
            <a:avLst/>
          </a:prstGeom>
          <a:noFill/>
          <a:ln/>
        </p:spPr>
        <p:txBody>
          <a:bodyPr wrap="square" lIns="0" tIns="0" rIns="0" bIns="0" rtlCol="0" anchor="t"/>
          <a:lstStyle>
            <a:lvl1pPr algn="l" indent="0" marL="0">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04" y="1076806"/>
            <a:ext cx="10566509" cy="408866"/>
          </a:xfrm>
          <a:prstGeom prst="rect">
            <a:avLst/>
          </a:prstGeom>
          <a:noFill/>
          <a:ln/>
        </p:spPr>
        <p:txBody>
          <a:bodyPr wrap="square" lIns="0" tIns="0" rIns="0" bIns="0" rtlCol="0" anchor="t"/>
          <a:lstStyle>
            <a:lvl1pPr algn="l" indent="0" marL="0">
              <a:lnSpc>
                <a:spcPct val="115000"/>
              </a:lnSpc>
              <a:buNone/>
              <a:defRPr lang="en-US" sz="2800" dirty="0">
                <a:solidFill>
                  <a:srgbClr val="1520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04" y="1790472"/>
            <a:ext cx="10566496" cy="4254728"/>
          </a:xfrm>
          <a:prstGeom prst="rect">
            <a:avLst/>
          </a:prstGeom>
          <a:noFill/>
          <a:ln/>
        </p:spPr>
        <p:txBody>
          <a:bodyPr wrap="square" lIns="0" tIns="0" rIns="0" bIns="0" rtlCol="0" anchor="t"/>
          <a:lstStyle>
            <a:lvl1pPr algn="l" indent="0" marL="0">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1 / 14</a:t>
            </a:r>
            <a:endParaRPr lang="en-US" sz="1200" dirty="0"/>
          </a:p>
        </p:txBody>
      </p:sp>
      <p:sp>
        <p:nvSpPr>
          <p:cNvPr id="3" name="Text 1"/>
          <p:cNvSpPr/>
          <p:nvPr/>
        </p:nvSpPr>
        <p:spPr>
          <a:xfrm>
            <a:off x="812704" y="812704"/>
            <a:ext cx="10889879"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833A"/>
                </a:solidFill>
                <a:latin typeface="IBM Plex Sans" pitchFamily="34" charset="0"/>
                <a:ea typeface="IBM Plex Sans" pitchFamily="34" charset="-122"/>
                <a:cs typeface="IBM Plex Sans" pitchFamily="34" charset="-120"/>
              </a:rPr>
              <a:t>CSE499B · SENIOR DESIGN II · REVIEW PRESENTATION</a:t>
            </a:r>
            <a:endParaRPr lang="en-US" sz="1200" dirty="0"/>
          </a:p>
        </p:txBody>
      </p:sp>
      <p:sp>
        <p:nvSpPr>
          <p:cNvPr id="4" name="Text 2"/>
          <p:cNvSpPr/>
          <p:nvPr>
            <p:ph type="title"/>
          </p:nvPr>
        </p:nvSpPr>
        <p:spPr>
          <a:xfrm>
            <a:off x="812704" y="1282688"/>
            <a:ext cx="10889879" cy="15339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7F4"/>
                </a:solidFill>
                <a:latin typeface="Space Grotesk" pitchFamily="34" charset="0"/>
                <a:ea typeface="Space Grotesk" pitchFamily="34" charset="-122"/>
                <a:cs typeface="Space Grotesk" pitchFamily="34" charset="-120"/>
              </a:rPr>
              <a:t>Resource-Efficient Neural Architectures for Post-Disaster Damage Assessment and Rescue Guidance</a:t>
            </a:r>
            <a:endParaRPr lang="en-US" sz="3600" dirty="0"/>
          </a:p>
        </p:txBody>
      </p:sp>
      <p:sp>
        <p:nvSpPr>
          <p:cNvPr id="5" name="Text 3"/>
          <p:cNvSpPr/>
          <p:nvPr/>
        </p:nvSpPr>
        <p:spPr>
          <a:xfrm>
            <a:off x="812704" y="3041645"/>
            <a:ext cx="11379296" cy="286792"/>
          </a:xfrm>
          <a:prstGeom prst="rect">
            <a:avLst/>
          </a:prstGeom>
          <a:noFill/>
          <a:ln/>
        </p:spPr>
        <p:txBody>
          <a:bodyPr wrap="square" lIns="0" tIns="0" rIns="0" bIns="0" rtlCol="0" anchor="t">
            <a:normAutofit/>
          </a:bodyPr>
          <a:lstStyle/>
          <a:p>
            <a:pPr algn="l" indent="0" marL="0">
              <a:lnSpc>
                <a:spcPts val="2058"/>
              </a:lnSpc>
              <a:buNone/>
            </a:pPr>
            <a:r>
              <a:rPr lang="en-US" sz="1470" dirty="0">
                <a:solidFill>
                  <a:srgbClr val="B84A0E"/>
                </a:solidFill>
                <a:latin typeface="IBM Plex Sans" pitchFamily="34" charset="0"/>
                <a:ea typeface="IBM Plex Sans" pitchFamily="34" charset="-122"/>
                <a:cs typeface="IBM Plex Sans" pitchFamily="34" charset="-120"/>
              </a:rPr>
              <a:t>From 499A's reproduced VLM and hybrid pipeline to a stronger damage-segmentation stage and an offline, end-to-end system</a:t>
            </a:r>
            <a:endParaRPr lang="en-US" sz="1470" dirty="0"/>
          </a:p>
        </p:txBody>
      </p:sp>
      <p:sp>
        <p:nvSpPr>
          <p:cNvPr id="6" name="Text 4"/>
          <p:cNvSpPr/>
          <p:nvPr/>
        </p:nvSpPr>
        <p:spPr>
          <a:xfrm>
            <a:off x="812704" y="4673533"/>
            <a:ext cx="2052473"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Abdullah Al Noman</a:t>
            </a:r>
            <a:endParaRPr lang="en-US" sz="1300" dirty="0"/>
          </a:p>
        </p:txBody>
      </p:sp>
      <p:sp>
        <p:nvSpPr>
          <p:cNvPr id="7" name="Text 5"/>
          <p:cNvSpPr/>
          <p:nvPr/>
        </p:nvSpPr>
        <p:spPr>
          <a:xfrm>
            <a:off x="812704" y="4929896"/>
            <a:ext cx="205247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2022095042</a:t>
            </a:r>
            <a:endParaRPr lang="en-US" sz="1200" dirty="0"/>
          </a:p>
        </p:txBody>
      </p:sp>
      <p:sp>
        <p:nvSpPr>
          <p:cNvPr id="8" name="Text 6"/>
          <p:cNvSpPr/>
          <p:nvPr/>
        </p:nvSpPr>
        <p:spPr>
          <a:xfrm>
            <a:off x="2957706" y="4673533"/>
            <a:ext cx="2052473"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Tamanna Akter Mou</a:t>
            </a:r>
            <a:endParaRPr lang="en-US" sz="1300" dirty="0"/>
          </a:p>
        </p:txBody>
      </p:sp>
      <p:sp>
        <p:nvSpPr>
          <p:cNvPr id="9" name="Text 7"/>
          <p:cNvSpPr/>
          <p:nvPr/>
        </p:nvSpPr>
        <p:spPr>
          <a:xfrm>
            <a:off x="2957706" y="4929896"/>
            <a:ext cx="205247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2211951042</a:t>
            </a:r>
            <a:endParaRPr lang="en-US" sz="1200" dirty="0"/>
          </a:p>
        </p:txBody>
      </p:sp>
      <p:sp>
        <p:nvSpPr>
          <p:cNvPr id="10" name="Text 8"/>
          <p:cNvSpPr/>
          <p:nvPr/>
        </p:nvSpPr>
        <p:spPr>
          <a:xfrm>
            <a:off x="5102707" y="4673533"/>
            <a:ext cx="2052473"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Aryan Sami</a:t>
            </a:r>
            <a:endParaRPr lang="en-US" sz="1300" dirty="0"/>
          </a:p>
        </p:txBody>
      </p:sp>
      <p:sp>
        <p:nvSpPr>
          <p:cNvPr id="11" name="Text 9"/>
          <p:cNvSpPr/>
          <p:nvPr/>
        </p:nvSpPr>
        <p:spPr>
          <a:xfrm>
            <a:off x="5102707" y="4929896"/>
            <a:ext cx="205247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2231407042</a:t>
            </a:r>
            <a:endParaRPr lang="en-US" sz="1200" dirty="0"/>
          </a:p>
        </p:txBody>
      </p:sp>
      <p:sp>
        <p:nvSpPr>
          <p:cNvPr id="12" name="Text 10"/>
          <p:cNvSpPr/>
          <p:nvPr/>
        </p:nvSpPr>
        <p:spPr>
          <a:xfrm>
            <a:off x="7247709" y="4673533"/>
            <a:ext cx="2052473"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Ridita Afrin Riya</a:t>
            </a:r>
            <a:endParaRPr lang="en-US" sz="1300" dirty="0"/>
          </a:p>
        </p:txBody>
      </p:sp>
      <p:sp>
        <p:nvSpPr>
          <p:cNvPr id="13" name="Text 11"/>
          <p:cNvSpPr/>
          <p:nvPr/>
        </p:nvSpPr>
        <p:spPr>
          <a:xfrm>
            <a:off x="7247709" y="4929896"/>
            <a:ext cx="205247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2211622042</a:t>
            </a:r>
            <a:endParaRPr lang="en-US" sz="1200" dirty="0"/>
          </a:p>
        </p:txBody>
      </p:sp>
      <p:sp>
        <p:nvSpPr>
          <p:cNvPr id="14" name="Text 12"/>
          <p:cNvSpPr/>
          <p:nvPr/>
        </p:nvSpPr>
        <p:spPr>
          <a:xfrm>
            <a:off x="9392710" y="4673533"/>
            <a:ext cx="2799290"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Abrar Mohammed Tanzim Alam</a:t>
            </a:r>
            <a:endParaRPr lang="en-US" sz="1300" dirty="0"/>
          </a:p>
        </p:txBody>
      </p:sp>
      <p:sp>
        <p:nvSpPr>
          <p:cNvPr id="15" name="Text 13"/>
          <p:cNvSpPr/>
          <p:nvPr/>
        </p:nvSpPr>
        <p:spPr>
          <a:xfrm>
            <a:off x="9392710" y="4929896"/>
            <a:ext cx="205247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2222864042</a:t>
            </a:r>
            <a:endParaRPr lang="en-US" sz="1200" dirty="0"/>
          </a:p>
        </p:txBody>
      </p:sp>
      <p:sp>
        <p:nvSpPr>
          <p:cNvPr id="16" name="Text 14"/>
          <p:cNvSpPr/>
          <p:nvPr/>
        </p:nvSpPr>
        <p:spPr>
          <a:xfrm>
            <a:off x="812704" y="5626072"/>
            <a:ext cx="1088987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Section 15 · Group 5 · Department of Electrical and Computer Engineering, North South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84A0E"/>
        </a:solidFill>
      </p:bgPr>
    </p:bg>
    <p:spTree>
      <p:nvGrpSpPr>
        <p:cNvPr id="1" name=""/>
        <p:cNvGrpSpPr/>
        <p:nvPr/>
      </p:nvGrpSpPr>
      <p:grpSpPr>
        <a:xfrm>
          <a:off x="0" y="0"/>
          <a:ext cx="0" cy="0"/>
          <a:chOff x="0" y="0"/>
          <a:chExt cx="0" cy="0"/>
        </a:xfrm>
      </p:grpSpPr>
      <p:sp>
        <p:nvSpPr>
          <p:cNvPr id="2" name="Text 0"/>
          <p:cNvSpPr/>
          <p:nvPr/>
        </p:nvSpPr>
        <p:spPr>
          <a:xfrm>
            <a:off x="812704" y="812704"/>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BF7F2"/>
                </a:solidFill>
                <a:latin typeface="IBM Plex Sans" pitchFamily="34" charset="0"/>
                <a:ea typeface="IBM Plex Sans" pitchFamily="34" charset="-122"/>
                <a:cs typeface="IBM Plex Sans" pitchFamily="34" charset="-120"/>
              </a:rPr>
              <a:t>REVIEW · PROBLEM STATEMENT</a:t>
            </a:r>
            <a:endParaRPr lang="en-US" sz="1200" dirty="0"/>
          </a:p>
        </p:txBody>
      </p:sp>
      <p:sp>
        <p:nvSpPr>
          <p:cNvPr id="3" name="Text 1"/>
          <p:cNvSpPr/>
          <p:nvPr>
            <p:ph type="title"/>
          </p:nvPr>
        </p:nvSpPr>
        <p:spPr>
          <a:xfrm>
            <a:off x="812704" y="1076804"/>
            <a:ext cx="10883505" cy="1251999"/>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BF7F2"/>
                </a:solidFill>
                <a:latin typeface="Space Grotesk" pitchFamily="34" charset="0"/>
                <a:ea typeface="Space Grotesk" pitchFamily="34" charset="-122"/>
                <a:cs typeface="Space Grotesk" pitchFamily="34" charset="-120"/>
              </a:rPr>
              <a:t>Responders need to know where buildings collapsed, and how many, within hours and on the hardware they actually have</a:t>
            </a:r>
            <a:endParaRPr lang="en-US" sz="2800" dirty="0"/>
          </a:p>
        </p:txBody>
      </p:sp>
      <p:sp>
        <p:nvSpPr>
          <p:cNvPr id="4" name="Shape 2"/>
          <p:cNvSpPr/>
          <p:nvPr/>
        </p:nvSpPr>
        <p:spPr>
          <a:xfrm>
            <a:off x="812704" y="2557349"/>
            <a:ext cx="3386687" cy="1751898"/>
          </a:xfrm>
          <a:prstGeom prst="roundRect">
            <a:avLst>
              <a:gd name="adj" fmla="val 5799"/>
            </a:avLst>
          </a:prstGeom>
          <a:solidFill>
            <a:srgbClr val="8F3A0C"/>
          </a:solidFill>
          <a:ln/>
        </p:spPr>
      </p:sp>
      <p:sp>
        <p:nvSpPr>
          <p:cNvPr id="5" name="Text 3"/>
          <p:cNvSpPr/>
          <p:nvPr/>
        </p:nvSpPr>
        <p:spPr>
          <a:xfrm>
            <a:off x="1066650" y="2811295"/>
            <a:ext cx="2965159"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7F2"/>
                </a:solidFill>
                <a:latin typeface="Space Grotesk" pitchFamily="34" charset="0"/>
                <a:ea typeface="Space Grotesk" pitchFamily="34" charset="-122"/>
                <a:cs typeface="Space Grotesk" pitchFamily="34" charset="-120"/>
              </a:rPr>
              <a:t>Count, don't guess</a:t>
            </a:r>
            <a:endParaRPr lang="en-US" sz="1600" dirty="0"/>
          </a:p>
        </p:txBody>
      </p:sp>
      <p:sp>
        <p:nvSpPr>
          <p:cNvPr id="6" name="Text 4"/>
          <p:cNvSpPr/>
          <p:nvPr/>
        </p:nvSpPr>
        <p:spPr>
          <a:xfrm>
            <a:off x="1066650" y="3131193"/>
            <a:ext cx="2965159"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7F2"/>
                </a:solidFill>
                <a:latin typeface="IBM Plex Sans" pitchFamily="34" charset="0"/>
                <a:ea typeface="IBM Plex Sans" pitchFamily="34" charset="-122"/>
                <a:cs typeface="IBM Plex Sans" pitchFamily="34" charset="-120"/>
              </a:rPr>
              <a:t>A VLM describes a scene well but cannot count. In 499A, VLM-only building counting fell 10.62 points below the untuned base model.</a:t>
            </a:r>
            <a:endParaRPr lang="en-US" sz="1300" dirty="0"/>
          </a:p>
        </p:txBody>
      </p:sp>
      <p:sp>
        <p:nvSpPr>
          <p:cNvPr id="7" name="Shape 5"/>
          <p:cNvSpPr/>
          <p:nvPr/>
        </p:nvSpPr>
        <p:spPr>
          <a:xfrm>
            <a:off x="4402567" y="2557349"/>
            <a:ext cx="3386784" cy="1751898"/>
          </a:xfrm>
          <a:prstGeom prst="roundRect">
            <a:avLst>
              <a:gd name="adj" fmla="val 5799"/>
            </a:avLst>
          </a:prstGeom>
          <a:solidFill>
            <a:srgbClr val="8F3A0C"/>
          </a:solidFill>
          <a:ln/>
        </p:spPr>
      </p:sp>
      <p:sp>
        <p:nvSpPr>
          <p:cNvPr id="8" name="Text 6"/>
          <p:cNvSpPr/>
          <p:nvPr/>
        </p:nvSpPr>
        <p:spPr>
          <a:xfrm>
            <a:off x="4656513" y="2811295"/>
            <a:ext cx="296525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7F2"/>
                </a:solidFill>
                <a:latin typeface="Space Grotesk" pitchFamily="34" charset="0"/>
                <a:ea typeface="Space Grotesk" pitchFamily="34" charset="-122"/>
                <a:cs typeface="Space Grotesk" pitchFamily="34" charset="-120"/>
              </a:rPr>
              <a:t>Find the rare class</a:t>
            </a:r>
            <a:endParaRPr lang="en-US" sz="1600" dirty="0"/>
          </a:p>
        </p:txBody>
      </p:sp>
      <p:sp>
        <p:nvSpPr>
          <p:cNvPr id="9" name="Text 7"/>
          <p:cNvSpPr/>
          <p:nvPr/>
        </p:nvSpPr>
        <p:spPr>
          <a:xfrm>
            <a:off x="4656513" y="3131193"/>
            <a:ext cx="2965258"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7F2"/>
                </a:solidFill>
                <a:latin typeface="IBM Plex Sans" pitchFamily="34" charset="0"/>
                <a:ea typeface="IBM Plex Sans" pitchFamily="34" charset="-122"/>
                <a:cs typeface="IBM Plex Sans" pitchFamily="34" charset="-120"/>
              </a:rPr>
              <a:t>Destroyed buildings are 0.33% of pixels. Our 499A U-Net reached 0.17 IoU on them, and about 4 of 5 pixels it called destroyed were false alarms.</a:t>
            </a:r>
            <a:endParaRPr lang="en-US" sz="1300" dirty="0"/>
          </a:p>
        </p:txBody>
      </p:sp>
      <p:sp>
        <p:nvSpPr>
          <p:cNvPr id="10" name="Shape 8"/>
          <p:cNvSpPr/>
          <p:nvPr/>
        </p:nvSpPr>
        <p:spPr>
          <a:xfrm>
            <a:off x="7992527" y="2557349"/>
            <a:ext cx="3386687" cy="1751898"/>
          </a:xfrm>
          <a:prstGeom prst="roundRect">
            <a:avLst>
              <a:gd name="adj" fmla="val 5799"/>
            </a:avLst>
          </a:prstGeom>
          <a:solidFill>
            <a:srgbClr val="8F3A0C"/>
          </a:solidFill>
          <a:ln/>
        </p:spPr>
      </p:sp>
      <p:sp>
        <p:nvSpPr>
          <p:cNvPr id="11" name="Text 9"/>
          <p:cNvSpPr/>
          <p:nvPr/>
        </p:nvSpPr>
        <p:spPr>
          <a:xfrm>
            <a:off x="8246473" y="2811295"/>
            <a:ext cx="2965159"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7F2"/>
                </a:solidFill>
                <a:latin typeface="Space Grotesk" pitchFamily="34" charset="0"/>
                <a:ea typeface="Space Grotesk" pitchFamily="34" charset="-122"/>
                <a:cs typeface="Space Grotesk" pitchFamily="34" charset="-120"/>
              </a:rPr>
              <a:t>Run where responders are</a:t>
            </a:r>
            <a:endParaRPr lang="en-US" sz="1600" dirty="0"/>
          </a:p>
        </p:txBody>
      </p:sp>
      <p:sp>
        <p:nvSpPr>
          <p:cNvPr id="12" name="Text 10"/>
          <p:cNvSpPr/>
          <p:nvPr/>
        </p:nvSpPr>
        <p:spPr>
          <a:xfrm>
            <a:off x="8246473" y="3131193"/>
            <a:ext cx="296515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7F2"/>
                </a:solidFill>
                <a:latin typeface="IBM Plex Sans" pitchFamily="34" charset="0"/>
                <a:ea typeface="IBM Plex Sans" pitchFamily="34" charset="-122"/>
                <a:cs typeface="IBM Plex Sans" pitchFamily="34" charset="-120"/>
              </a:rPr>
              <a:t>No paid API, no internet, small GPUs. Our fine-tuned 7B model is about 15 GB in FP16, too big for a field laptop.</a:t>
            </a:r>
            <a:endParaRPr lang="en-US" sz="1300" dirty="0"/>
          </a:p>
        </p:txBody>
      </p:sp>
      <p:sp>
        <p:nvSpPr>
          <p:cNvPr id="13" name="Text 11"/>
          <p:cNvSpPr/>
          <p:nvPr/>
        </p:nvSpPr>
        <p:spPr>
          <a:xfrm>
            <a:off x="812704" y="4563193"/>
            <a:ext cx="10883505"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F7F2"/>
                </a:solidFill>
                <a:latin typeface="IBM Plex Sans" pitchFamily="34" charset="0"/>
                <a:ea typeface="IBM Plex Sans" pitchFamily="34" charset="-122"/>
                <a:cs typeface="IBM Plex Sans" pitchFamily="34" charset="-120"/>
              </a:rPr>
              <a:t>499B goal:</a:t>
            </a:r>
            <a:r>
              <a:rPr lang="en-US" sz="1300" dirty="0">
                <a:solidFill>
                  <a:srgbClr val="FBF7F2"/>
                </a:solidFill>
                <a:latin typeface="IBM Plex Sans" pitchFamily="34" charset="0"/>
                <a:ea typeface="IBM Plex Sans" pitchFamily="34" charset="-122"/>
                <a:cs typeface="IBM Plex Sans" pitchFamily="34" charset="-120"/>
              </a:rPr>
              <a:t> a hybrid system that counts from pixels, reasons in language, and runs offline on free or small GPUs.</a:t>
            </a:r>
            <a:endParaRPr lang="en-US" sz="1300" dirty="0"/>
          </a:p>
        </p:txBody>
      </p:sp>
      <p:sp>
        <p:nvSpPr>
          <p:cNvPr id="14" name="Text 12"/>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F7F2"/>
                </a:solidFill>
                <a:latin typeface="IBM Plex Sans" pitchFamily="34" charset="0"/>
                <a:ea typeface="IBM Plex Sans" pitchFamily="34" charset="-122"/>
                <a:cs typeface="IBM Plex Sans" pitchFamily="34" charset="-120"/>
              </a:rPr>
              <a:t>Group 5</a:t>
            </a:r>
            <a:r>
              <a:rPr lang="en-US" sz="1200" dirty="0">
                <a:solidFill>
                  <a:srgbClr val="FBF7F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15" name="Text 13"/>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BF7F2"/>
                </a:solidFill>
                <a:latin typeface="IBM Plex Sans" pitchFamily="34" charset="0"/>
                <a:ea typeface="IBM Plex Sans" pitchFamily="34" charset="-122"/>
                <a:cs typeface="IBM Plex Sans"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812704"/>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REVIEW · CSE499A RECAP</a:t>
            </a:r>
            <a:endParaRPr lang="en-US" sz="1200" dirty="0"/>
          </a:p>
        </p:txBody>
      </p:sp>
      <p:sp>
        <p:nvSpPr>
          <p:cNvPr id="3" name="Text 1"/>
          <p:cNvSpPr/>
          <p:nvPr>
            <p:ph type="title"/>
          </p:nvPr>
        </p:nvSpPr>
        <p:spPr>
          <a:xfrm>
            <a:off x="812704" y="1076804"/>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What we built in 499A</a:t>
            </a:r>
            <a:endParaRPr lang="en-US" sz="2800" dirty="0"/>
          </a:p>
        </p:txBody>
      </p:sp>
      <p:sp>
        <p:nvSpPr>
          <p:cNvPr id="4" name="Shape 2"/>
          <p:cNvSpPr/>
          <p:nvPr/>
        </p:nvSpPr>
        <p:spPr>
          <a:xfrm>
            <a:off x="815879" y="1742791"/>
            <a:ext cx="2254407" cy="1945823"/>
          </a:xfrm>
          <a:prstGeom prst="roundRect">
            <a:avLst>
              <a:gd name="adj" fmla="val 5058"/>
            </a:avLst>
          </a:prstGeom>
          <a:solidFill>
            <a:srgbClr val="FDFDFB"/>
          </a:solidFill>
          <a:ln w="6350">
            <a:solidFill>
              <a:srgbClr val="D5DBE1"/>
            </a:solidFill>
            <a:prstDash val="solid"/>
          </a:ln>
        </p:spPr>
      </p:sp>
      <p:sp>
        <p:nvSpPr>
          <p:cNvPr id="5" name="Text 3"/>
          <p:cNvSpPr/>
          <p:nvPr/>
        </p:nvSpPr>
        <p:spPr>
          <a:xfrm>
            <a:off x="1022069" y="1948982"/>
            <a:ext cx="1897287"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Phase 1</a:t>
            </a:r>
            <a:endParaRPr lang="en-US" sz="1200" dirty="0"/>
          </a:p>
        </p:txBody>
      </p:sp>
      <p:sp>
        <p:nvSpPr>
          <p:cNvPr id="6" name="Text 4"/>
          <p:cNvSpPr/>
          <p:nvPr/>
        </p:nvSpPr>
        <p:spPr>
          <a:xfrm>
            <a:off x="1022069" y="2238418"/>
            <a:ext cx="1897287"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Data preparation</a:t>
            </a:r>
            <a:endParaRPr lang="en-US" sz="1600" dirty="0"/>
          </a:p>
        </p:txBody>
      </p:sp>
      <p:sp>
        <p:nvSpPr>
          <p:cNvPr id="7" name="Text 5"/>
          <p:cNvSpPr/>
          <p:nvPr/>
        </p:nvSpPr>
        <p:spPr>
          <a:xfrm>
            <a:off x="1022069" y="2558317"/>
            <a:ext cx="1897287"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DisasterM3: 92,968 entries; 55,764 text-task samples kept for training.</a:t>
            </a:r>
            <a:endParaRPr lang="en-US" sz="1300" dirty="0"/>
          </a:p>
        </p:txBody>
      </p:sp>
      <p:pic>
        <p:nvPicPr>
          <p:cNvPr id="8" name="Image 0" descr="arrow-right">    </p:cNvPr>
          <p:cNvPicPr>
            <a:picLocks noChangeAspect="1"/>
          </p:cNvPicPr>
          <p:nvPr/>
        </p:nvPicPr>
        <p:blipFill>
          <a:blip r:embed="rId1"/>
          <a:srcRect l="-16" r="-16" t="0" b="0"/>
          <a:stretch/>
        </p:blipFill>
        <p:spPr>
          <a:xfrm>
            <a:off x="3175001" y="2639547"/>
            <a:ext cx="304716" cy="152310"/>
          </a:xfrm>
          <a:prstGeom prst="rect">
            <a:avLst/>
          </a:prstGeom>
        </p:spPr>
      </p:pic>
      <p:sp>
        <p:nvSpPr>
          <p:cNvPr id="9" name="Shape 6"/>
          <p:cNvSpPr/>
          <p:nvPr/>
        </p:nvSpPr>
        <p:spPr>
          <a:xfrm>
            <a:off x="3584431" y="1742791"/>
            <a:ext cx="2254503" cy="1945823"/>
          </a:xfrm>
          <a:prstGeom prst="roundRect">
            <a:avLst>
              <a:gd name="adj" fmla="val 5058"/>
            </a:avLst>
          </a:prstGeom>
          <a:solidFill>
            <a:srgbClr val="FDFDFB"/>
          </a:solidFill>
          <a:ln w="6350">
            <a:solidFill>
              <a:srgbClr val="D5DBE1"/>
            </a:solidFill>
            <a:prstDash val="solid"/>
          </a:ln>
        </p:spPr>
      </p:sp>
      <p:sp>
        <p:nvSpPr>
          <p:cNvPr id="10" name="Text 7"/>
          <p:cNvSpPr/>
          <p:nvPr/>
        </p:nvSpPr>
        <p:spPr>
          <a:xfrm>
            <a:off x="3790621" y="1948982"/>
            <a:ext cx="1897387"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Phase 2</a:t>
            </a:r>
            <a:endParaRPr lang="en-US" sz="1200" dirty="0"/>
          </a:p>
        </p:txBody>
      </p:sp>
      <p:sp>
        <p:nvSpPr>
          <p:cNvPr id="11" name="Text 8"/>
          <p:cNvSpPr/>
          <p:nvPr/>
        </p:nvSpPr>
        <p:spPr>
          <a:xfrm>
            <a:off x="3790621" y="2238418"/>
            <a:ext cx="204513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QLoRA fine-tuning</a:t>
            </a:r>
            <a:endParaRPr lang="en-US" sz="1600" dirty="0"/>
          </a:p>
        </p:txBody>
      </p:sp>
      <p:sp>
        <p:nvSpPr>
          <p:cNvPr id="12" name="Text 9"/>
          <p:cNvSpPr/>
          <p:nvPr/>
        </p:nvSpPr>
        <p:spPr>
          <a:xfrm>
            <a:off x="3790621" y="2558317"/>
            <a:ext cx="1897387"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Qwen2.5-VL-7B in 4-bit on one T4: 217 steps over 11 Kaggle sessions.</a:t>
            </a:r>
            <a:endParaRPr lang="en-US" sz="1300" dirty="0"/>
          </a:p>
        </p:txBody>
      </p:sp>
      <p:pic>
        <p:nvPicPr>
          <p:cNvPr id="13" name="Image 1" descr="arrow-right">    </p:cNvPr>
          <p:cNvPicPr>
            <a:picLocks noChangeAspect="1"/>
          </p:cNvPicPr>
          <p:nvPr/>
        </p:nvPicPr>
        <p:blipFill>
          <a:blip r:embed="rId2"/>
          <a:srcRect l="-16" r="-16" t="0" b="0"/>
          <a:stretch/>
        </p:blipFill>
        <p:spPr>
          <a:xfrm>
            <a:off x="5943649" y="2639547"/>
            <a:ext cx="304716" cy="152310"/>
          </a:xfrm>
          <a:prstGeom prst="rect">
            <a:avLst/>
          </a:prstGeom>
        </p:spPr>
      </p:pic>
      <p:sp>
        <p:nvSpPr>
          <p:cNvPr id="14" name="Shape 10"/>
          <p:cNvSpPr/>
          <p:nvPr/>
        </p:nvSpPr>
        <p:spPr>
          <a:xfrm>
            <a:off x="6353080" y="1742791"/>
            <a:ext cx="2254407" cy="1945823"/>
          </a:xfrm>
          <a:prstGeom prst="roundRect">
            <a:avLst>
              <a:gd name="adj" fmla="val 5058"/>
            </a:avLst>
          </a:prstGeom>
          <a:solidFill>
            <a:srgbClr val="FDFDFB"/>
          </a:solidFill>
          <a:ln w="6350">
            <a:solidFill>
              <a:srgbClr val="D5DBE1"/>
            </a:solidFill>
            <a:prstDash val="solid"/>
          </a:ln>
        </p:spPr>
      </p:sp>
      <p:sp>
        <p:nvSpPr>
          <p:cNvPr id="15" name="Text 11"/>
          <p:cNvSpPr/>
          <p:nvPr/>
        </p:nvSpPr>
        <p:spPr>
          <a:xfrm>
            <a:off x="6559270" y="1948982"/>
            <a:ext cx="1897287"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Phase 3</a:t>
            </a:r>
            <a:endParaRPr lang="en-US" sz="1200" dirty="0"/>
          </a:p>
        </p:txBody>
      </p:sp>
      <p:sp>
        <p:nvSpPr>
          <p:cNvPr id="16" name="Text 12"/>
          <p:cNvSpPr/>
          <p:nvPr/>
        </p:nvSpPr>
        <p:spPr>
          <a:xfrm>
            <a:off x="6559270" y="2238418"/>
            <a:ext cx="1897287"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vLLM evaluation</a:t>
            </a:r>
            <a:endParaRPr lang="en-US" sz="1600" dirty="0"/>
          </a:p>
        </p:txBody>
      </p:sp>
      <p:sp>
        <p:nvSpPr>
          <p:cNvPr id="17" name="Text 13"/>
          <p:cNvSpPr/>
          <p:nvPr/>
        </p:nvSpPr>
        <p:spPr>
          <a:xfrm>
            <a:off x="6559270" y="2558317"/>
            <a:ext cx="1897287"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Merged FP16 model on 2× T4, six multiple-choice tasks, about 13,000 items.</a:t>
            </a:r>
            <a:endParaRPr lang="en-US" sz="1300" dirty="0"/>
          </a:p>
        </p:txBody>
      </p:sp>
      <p:pic>
        <p:nvPicPr>
          <p:cNvPr id="18" name="Image 2" descr="arrow-right">    </p:cNvPr>
          <p:cNvPicPr>
            <a:picLocks noChangeAspect="1"/>
          </p:cNvPicPr>
          <p:nvPr/>
        </p:nvPicPr>
        <p:blipFill>
          <a:blip r:embed="rId3"/>
          <a:srcRect l="-16" r="-16" t="0" b="0"/>
          <a:stretch/>
        </p:blipFill>
        <p:spPr>
          <a:xfrm>
            <a:off x="8712201" y="2639547"/>
            <a:ext cx="304716" cy="152310"/>
          </a:xfrm>
          <a:prstGeom prst="rect">
            <a:avLst/>
          </a:prstGeom>
        </p:spPr>
      </p:pic>
      <p:sp>
        <p:nvSpPr>
          <p:cNvPr id="19" name="Shape 14"/>
          <p:cNvSpPr/>
          <p:nvPr/>
        </p:nvSpPr>
        <p:spPr>
          <a:xfrm>
            <a:off x="9121632" y="1742791"/>
            <a:ext cx="2254407" cy="1945823"/>
          </a:xfrm>
          <a:prstGeom prst="roundRect">
            <a:avLst>
              <a:gd name="adj" fmla="val 5058"/>
            </a:avLst>
          </a:prstGeom>
          <a:solidFill>
            <a:srgbClr val="FDFDFB"/>
          </a:solidFill>
          <a:ln w="6350">
            <a:solidFill>
              <a:srgbClr val="D5DBE1"/>
            </a:solidFill>
            <a:prstDash val="solid"/>
          </a:ln>
        </p:spPr>
      </p:sp>
      <p:sp>
        <p:nvSpPr>
          <p:cNvPr id="20" name="Text 15"/>
          <p:cNvSpPr/>
          <p:nvPr/>
        </p:nvSpPr>
        <p:spPr>
          <a:xfrm>
            <a:off x="9327821" y="1948982"/>
            <a:ext cx="1897287"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Phase 4</a:t>
            </a:r>
            <a:endParaRPr lang="en-US" sz="1200" dirty="0"/>
          </a:p>
        </p:txBody>
      </p:sp>
      <p:sp>
        <p:nvSpPr>
          <p:cNvPr id="21" name="Text 16"/>
          <p:cNvSpPr/>
          <p:nvPr/>
        </p:nvSpPr>
        <p:spPr>
          <a:xfrm>
            <a:off x="9327821" y="2238418"/>
            <a:ext cx="1897287"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Hybrid triage</a:t>
            </a:r>
            <a:endParaRPr lang="en-US" sz="1600" dirty="0"/>
          </a:p>
        </p:txBody>
      </p:sp>
      <p:sp>
        <p:nvSpPr>
          <p:cNvPr id="22" name="Text 17"/>
          <p:cNvSpPr/>
          <p:nvPr/>
        </p:nvSpPr>
        <p:spPr>
          <a:xfrm>
            <a:off x="9327821" y="2558317"/>
            <a:ext cx="1897287"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A U-Net counts buildings; U-Net crops give the VLM zoomed views.</a:t>
            </a:r>
            <a:endParaRPr lang="en-US" sz="1300" dirty="0"/>
          </a:p>
        </p:txBody>
      </p:sp>
      <p:sp>
        <p:nvSpPr>
          <p:cNvPr id="23" name="Shape 18"/>
          <p:cNvSpPr/>
          <p:nvPr/>
        </p:nvSpPr>
        <p:spPr>
          <a:xfrm>
            <a:off x="812704" y="3945736"/>
            <a:ext cx="3386687" cy="1650358"/>
          </a:xfrm>
          <a:prstGeom prst="roundRect">
            <a:avLst>
              <a:gd name="adj" fmla="val 6156"/>
            </a:avLst>
          </a:prstGeom>
          <a:solidFill>
            <a:srgbClr val="EEF2F6"/>
          </a:solidFill>
          <a:ln/>
        </p:spPr>
      </p:sp>
      <p:sp>
        <p:nvSpPr>
          <p:cNvPr id="24" name="Text 19"/>
          <p:cNvSpPr/>
          <p:nvPr/>
        </p:nvSpPr>
        <p:spPr>
          <a:xfrm>
            <a:off x="1015880" y="4148911"/>
            <a:ext cx="3069745"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DisasTeller</a:t>
            </a:r>
            <a:endParaRPr lang="en-US" sz="1600" dirty="0"/>
          </a:p>
        </p:txBody>
      </p:sp>
      <p:sp>
        <p:nvSpPr>
          <p:cNvPr id="25" name="Text 20"/>
          <p:cNvSpPr/>
          <p:nvPr/>
        </p:nvSpPr>
        <p:spPr>
          <a:xfrm>
            <a:off x="1015880" y="4468809"/>
            <a:ext cx="3069745"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A standalone report demo: four CrewAI agents with EMS-98 retrieval; vision runs on Gemini.</a:t>
            </a:r>
            <a:endParaRPr lang="en-US" sz="1300" dirty="0"/>
          </a:p>
        </p:txBody>
      </p:sp>
      <p:sp>
        <p:nvSpPr>
          <p:cNvPr id="26" name="Shape 21"/>
          <p:cNvSpPr/>
          <p:nvPr/>
        </p:nvSpPr>
        <p:spPr>
          <a:xfrm>
            <a:off x="4402567" y="3945736"/>
            <a:ext cx="3386784" cy="1650358"/>
          </a:xfrm>
          <a:prstGeom prst="roundRect">
            <a:avLst>
              <a:gd name="adj" fmla="val 6156"/>
            </a:avLst>
          </a:prstGeom>
          <a:solidFill>
            <a:srgbClr val="EEF2F6"/>
          </a:solidFill>
          <a:ln/>
        </p:spPr>
      </p:sp>
      <p:sp>
        <p:nvSpPr>
          <p:cNvPr id="27" name="Text 22"/>
          <p:cNvSpPr/>
          <p:nvPr/>
        </p:nvSpPr>
        <p:spPr>
          <a:xfrm>
            <a:off x="4605743" y="4148911"/>
            <a:ext cx="3069844"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DisasterVQA</a:t>
            </a:r>
            <a:endParaRPr lang="en-US" sz="1600" dirty="0"/>
          </a:p>
        </p:txBody>
      </p:sp>
      <p:sp>
        <p:nvSpPr>
          <p:cNvPr id="28" name="Text 23"/>
          <p:cNvSpPr/>
          <p:nvPr/>
        </p:nvSpPr>
        <p:spPr>
          <a:xfrm>
            <a:off x="4605743" y="4468809"/>
            <a:ext cx="3069844"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Zero-shot on 500 questions: </a:t>
            </a:r>
            <a:r>
              <a:rPr lang="en-US" sz="1300" b="1" dirty="0">
                <a:solidFill>
                  <a:srgbClr val="3E4A56"/>
                </a:solidFill>
                <a:latin typeface="IBM Plex Sans" pitchFamily="34" charset="0"/>
                <a:ea typeface="IBM Plex Sans" pitchFamily="34" charset="-122"/>
                <a:cs typeface="IBM Plex Sans" pitchFamily="34" charset="-120"/>
              </a:rPr>
              <a:t>91.18%</a:t>
            </a:r>
            <a:r>
              <a:rPr lang="en-US" sz="1300" dirty="0">
                <a:solidFill>
                  <a:srgbClr val="3E4A56"/>
                </a:solidFill>
                <a:latin typeface="IBM Plex Sans" pitchFamily="34" charset="0"/>
                <a:ea typeface="IBM Plex Sans" pitchFamily="34" charset="-122"/>
                <a:cs typeface="IBM Plex Sans" pitchFamily="34" charset="-120"/>
              </a:rPr>
              <a:t> yes/no and </a:t>
            </a:r>
            <a:r>
              <a:rPr lang="en-US" sz="1300" b="1" dirty="0">
                <a:solidFill>
                  <a:srgbClr val="3E4A56"/>
                </a:solidFill>
                <a:latin typeface="IBM Plex Sans" pitchFamily="34" charset="0"/>
                <a:ea typeface="IBM Plex Sans" pitchFamily="34" charset="-122"/>
                <a:cs typeface="IBM Plex Sans" pitchFamily="34" charset="-120"/>
              </a:rPr>
              <a:t>84.65%</a:t>
            </a:r>
            <a:r>
              <a:rPr lang="en-US" sz="1300" dirty="0">
                <a:solidFill>
                  <a:srgbClr val="3E4A56"/>
                </a:solidFill>
                <a:latin typeface="IBM Plex Sans" pitchFamily="34" charset="0"/>
                <a:ea typeface="IBM Plex Sans" pitchFamily="34" charset="-122"/>
                <a:cs typeface="IBM Plex Sans" pitchFamily="34" charset="-120"/>
              </a:rPr>
              <a:t> multiple choice. Ties GPT-4.1-mini; beats the 4.5× larger Qwen2.5-VL-32B.</a:t>
            </a:r>
            <a:endParaRPr lang="en-US" sz="1300" dirty="0"/>
          </a:p>
        </p:txBody>
      </p:sp>
      <p:sp>
        <p:nvSpPr>
          <p:cNvPr id="29" name="Shape 24"/>
          <p:cNvSpPr/>
          <p:nvPr/>
        </p:nvSpPr>
        <p:spPr>
          <a:xfrm>
            <a:off x="7992527" y="3945736"/>
            <a:ext cx="3386687" cy="1650358"/>
          </a:xfrm>
          <a:prstGeom prst="roundRect">
            <a:avLst>
              <a:gd name="adj" fmla="val 6156"/>
            </a:avLst>
          </a:prstGeom>
          <a:solidFill>
            <a:srgbClr val="EEF2F6"/>
          </a:solidFill>
          <a:ln/>
        </p:spPr>
      </p:sp>
      <p:sp>
        <p:nvSpPr>
          <p:cNvPr id="30" name="Text 25"/>
          <p:cNvSpPr/>
          <p:nvPr/>
        </p:nvSpPr>
        <p:spPr>
          <a:xfrm>
            <a:off x="8195703" y="4148911"/>
            <a:ext cx="3069745"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VRT super-resolution</a:t>
            </a:r>
            <a:endParaRPr lang="en-US" sz="1600" dirty="0"/>
          </a:p>
        </p:txBody>
      </p:sp>
      <p:sp>
        <p:nvSpPr>
          <p:cNvPr id="31" name="Text 26"/>
          <p:cNvSpPr/>
          <p:nvPr/>
        </p:nvSpPr>
        <p:spPr>
          <a:xfrm>
            <a:off x="8195703" y="4468809"/>
            <a:ext cx="3069745" cy="4874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4× upscaling study, shown on 3 sample images.</a:t>
            </a:r>
            <a:endParaRPr lang="en-US" sz="1300" dirty="0"/>
          </a:p>
        </p:txBody>
      </p:sp>
      <p:sp>
        <p:nvSpPr>
          <p:cNvPr id="32" name="Text 27"/>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33" name="Text 28"/>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812705"/>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REVIEW · CSE499A RECAP</a:t>
            </a:r>
            <a:endParaRPr lang="en-US" sz="1200" dirty="0"/>
          </a:p>
        </p:txBody>
      </p:sp>
      <p:sp>
        <p:nvSpPr>
          <p:cNvPr id="3" name="Text 1"/>
          <p:cNvSpPr/>
          <p:nvPr>
            <p:ph type="title"/>
          </p:nvPr>
        </p:nvSpPr>
        <p:spPr>
          <a:xfrm>
            <a:off x="812704" y="1076806"/>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What 499A achieved on free hardware</a:t>
            </a:r>
            <a:endParaRPr lang="en-US" sz="2800" dirty="0"/>
          </a:p>
        </p:txBody>
      </p:sp>
      <p:sp>
        <p:nvSpPr>
          <p:cNvPr id="4" name="Shape 2"/>
          <p:cNvSpPr/>
          <p:nvPr/>
        </p:nvSpPr>
        <p:spPr>
          <a:xfrm>
            <a:off x="815879" y="1742793"/>
            <a:ext cx="2482823" cy="1946016"/>
          </a:xfrm>
          <a:prstGeom prst="roundRect">
            <a:avLst>
              <a:gd name="adj" fmla="val 5058"/>
            </a:avLst>
          </a:prstGeom>
          <a:solidFill>
            <a:srgbClr val="FDFDFB"/>
          </a:solidFill>
          <a:ln w="6350">
            <a:solidFill>
              <a:srgbClr val="D5DBE1"/>
            </a:solidFill>
            <a:prstDash val="solid"/>
          </a:ln>
        </p:spPr>
      </p:sp>
      <p:sp>
        <p:nvSpPr>
          <p:cNvPr id="5" name="Text 3"/>
          <p:cNvSpPr/>
          <p:nvPr/>
        </p:nvSpPr>
        <p:spPr>
          <a:xfrm>
            <a:off x="1072839" y="1999752"/>
            <a:ext cx="2027970" cy="482619"/>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DB5"/>
                </a:solidFill>
                <a:latin typeface="Space Grotesk" pitchFamily="34" charset="0"/>
                <a:ea typeface="Space Grotesk" pitchFamily="34" charset="-122"/>
                <a:cs typeface="Space Grotesk" pitchFamily="34" charset="-120"/>
              </a:rPr>
              <a:t>31.39%</a:t>
            </a:r>
            <a:endParaRPr lang="en-US" sz="3600" dirty="0"/>
          </a:p>
        </p:txBody>
      </p:sp>
      <p:sp>
        <p:nvSpPr>
          <p:cNvPr id="6" name="Text 4"/>
          <p:cNvSpPr/>
          <p:nvPr/>
        </p:nvSpPr>
        <p:spPr>
          <a:xfrm>
            <a:off x="1072839" y="2507740"/>
            <a:ext cx="2027970"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DisasterM3 six-task average (base model 31.2%; the paper's 4× H100 model 40.4%)</a:t>
            </a:r>
            <a:endParaRPr lang="en-US" sz="1300" dirty="0"/>
          </a:p>
        </p:txBody>
      </p:sp>
      <p:sp>
        <p:nvSpPr>
          <p:cNvPr id="7" name="Shape 5"/>
          <p:cNvSpPr/>
          <p:nvPr/>
        </p:nvSpPr>
        <p:spPr>
          <a:xfrm>
            <a:off x="3508228" y="1742793"/>
            <a:ext cx="2482919" cy="1946016"/>
          </a:xfrm>
          <a:prstGeom prst="roundRect">
            <a:avLst>
              <a:gd name="adj" fmla="val 5058"/>
            </a:avLst>
          </a:prstGeom>
          <a:solidFill>
            <a:srgbClr val="FDFDFB"/>
          </a:solidFill>
          <a:ln w="6350">
            <a:solidFill>
              <a:srgbClr val="D5DBE1"/>
            </a:solidFill>
            <a:prstDash val="solid"/>
          </a:ln>
        </p:spPr>
      </p:sp>
      <p:sp>
        <p:nvSpPr>
          <p:cNvPr id="8" name="Text 6"/>
          <p:cNvSpPr/>
          <p:nvPr/>
        </p:nvSpPr>
        <p:spPr>
          <a:xfrm>
            <a:off x="3765188" y="1999752"/>
            <a:ext cx="2028069" cy="482619"/>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DB5"/>
                </a:solidFill>
                <a:latin typeface="Space Grotesk" pitchFamily="34" charset="0"/>
                <a:ea typeface="Space Grotesk" pitchFamily="34" charset="-122"/>
                <a:cs typeface="Space Grotesk" pitchFamily="34" charset="-120"/>
              </a:rPr>
              <a:t>+11.69</a:t>
            </a:r>
            <a:endParaRPr lang="en-US" sz="3600" dirty="0"/>
          </a:p>
        </p:txBody>
      </p:sp>
      <p:sp>
        <p:nvSpPr>
          <p:cNvPr id="9" name="Text 7"/>
          <p:cNvSpPr/>
          <p:nvPr/>
        </p:nvSpPr>
        <p:spPr>
          <a:xfrm>
            <a:off x="3765188" y="2507740"/>
            <a:ext cx="202806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points on Bearing Body Recognition over the base model</a:t>
            </a:r>
            <a:endParaRPr lang="en-US" sz="1300" dirty="0"/>
          </a:p>
        </p:txBody>
      </p:sp>
      <p:sp>
        <p:nvSpPr>
          <p:cNvPr id="10" name="Shape 8"/>
          <p:cNvSpPr/>
          <p:nvPr/>
        </p:nvSpPr>
        <p:spPr>
          <a:xfrm>
            <a:off x="6200673" y="1742793"/>
            <a:ext cx="2482919" cy="1946016"/>
          </a:xfrm>
          <a:prstGeom prst="roundRect">
            <a:avLst>
              <a:gd name="adj" fmla="val 5058"/>
            </a:avLst>
          </a:prstGeom>
          <a:solidFill>
            <a:srgbClr val="FDFDFB"/>
          </a:solidFill>
          <a:ln w="6350">
            <a:solidFill>
              <a:srgbClr val="D5DBE1"/>
            </a:solidFill>
            <a:prstDash val="solid"/>
          </a:ln>
        </p:spPr>
      </p:sp>
      <p:sp>
        <p:nvSpPr>
          <p:cNvPr id="11" name="Text 9"/>
          <p:cNvSpPr/>
          <p:nvPr/>
        </p:nvSpPr>
        <p:spPr>
          <a:xfrm>
            <a:off x="6457633" y="1999752"/>
            <a:ext cx="2028069" cy="482619"/>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A0E"/>
                </a:solidFill>
                <a:latin typeface="Space Grotesk" pitchFamily="34" charset="0"/>
                <a:ea typeface="Space Grotesk" pitchFamily="34" charset="-122"/>
                <a:cs typeface="Space Grotesk" pitchFamily="34" charset="-120"/>
              </a:rPr>
              <a:t>−10.62</a:t>
            </a:r>
            <a:endParaRPr lang="en-US" sz="3600" dirty="0"/>
          </a:p>
        </p:txBody>
      </p:sp>
      <p:sp>
        <p:nvSpPr>
          <p:cNvPr id="12" name="Text 10"/>
          <p:cNvSpPr/>
          <p:nvPr/>
        </p:nvSpPr>
        <p:spPr>
          <a:xfrm>
            <a:off x="6457633" y="2507740"/>
            <a:ext cx="202806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points on Building Damage Counting: the VLM alone cannot count</a:t>
            </a:r>
            <a:endParaRPr lang="en-US" sz="1300" dirty="0"/>
          </a:p>
        </p:txBody>
      </p:sp>
      <p:sp>
        <p:nvSpPr>
          <p:cNvPr id="13" name="Shape 11"/>
          <p:cNvSpPr/>
          <p:nvPr/>
        </p:nvSpPr>
        <p:spPr>
          <a:xfrm>
            <a:off x="8893119" y="1742793"/>
            <a:ext cx="2482919" cy="1946016"/>
          </a:xfrm>
          <a:prstGeom prst="roundRect">
            <a:avLst>
              <a:gd name="adj" fmla="val 5058"/>
            </a:avLst>
          </a:prstGeom>
          <a:solidFill>
            <a:srgbClr val="FDFDFB"/>
          </a:solidFill>
          <a:ln w="6350">
            <a:solidFill>
              <a:srgbClr val="D5DBE1"/>
            </a:solidFill>
            <a:prstDash val="solid"/>
          </a:ln>
        </p:spPr>
      </p:sp>
      <p:sp>
        <p:nvSpPr>
          <p:cNvPr id="14" name="Text 12"/>
          <p:cNvSpPr/>
          <p:nvPr/>
        </p:nvSpPr>
        <p:spPr>
          <a:xfrm>
            <a:off x="9150079" y="1999752"/>
            <a:ext cx="2028069" cy="482619"/>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DB5"/>
                </a:solidFill>
                <a:latin typeface="Space Grotesk" pitchFamily="34" charset="0"/>
                <a:ea typeface="Space Grotesk" pitchFamily="34" charset="-122"/>
                <a:cs typeface="Space Grotesk" pitchFamily="34" charset="-120"/>
              </a:rPr>
              <a:t>91.18%</a:t>
            </a:r>
            <a:endParaRPr lang="en-US" sz="3600" dirty="0"/>
          </a:p>
        </p:txBody>
      </p:sp>
      <p:sp>
        <p:nvSpPr>
          <p:cNvPr id="15" name="Text 13"/>
          <p:cNvSpPr/>
          <p:nvPr/>
        </p:nvSpPr>
        <p:spPr>
          <a:xfrm>
            <a:off x="9150079" y="2507740"/>
            <a:ext cx="202806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DisasterVQA binary accuracy, tying GPT-4.1-mini with no extra training</a:t>
            </a:r>
            <a:endParaRPr lang="en-US" sz="1300" dirty="0"/>
          </a:p>
        </p:txBody>
      </p:sp>
      <p:sp>
        <p:nvSpPr>
          <p:cNvPr id="16" name="Text 14"/>
          <p:cNvSpPr/>
          <p:nvPr/>
        </p:nvSpPr>
        <p:spPr>
          <a:xfrm>
            <a:off x="812704" y="3945930"/>
            <a:ext cx="10883505"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Segmentation baseline: U-Net with ResNet-34, CE + Dice, images resized to 512</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5082" y="4278206"/>
          <a:ext cx="10553937" cy="717740"/>
        </p:xfrm>
        <a:graphic>
          <a:graphicData uri="http://schemas.openxmlformats.org/drawingml/2006/table">
            <a:tbl>
              <a:tblPr/>
              <a:tblGrid>
                <a:gridCol w="2110787"/>
                <a:gridCol w="1688630"/>
                <a:gridCol w="1688630"/>
                <a:gridCol w="1688630"/>
                <a:gridCol w="1688630"/>
                <a:gridCol w="1688630"/>
              </a:tblGrid>
              <a:tr h="358870">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IoU per class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Background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Intact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Damaged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Destroyed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Mean (mIoU)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Validation, 645 images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0.9255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0.4926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0.2636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B84A0E"/>
                          </a:solidFill>
                          <a:latin typeface="IBM Plex Sans" pitchFamily="34" charset="0"/>
                          <a:ea typeface="IBM Plex Sans" pitchFamily="34" charset="-122"/>
                          <a:cs typeface="IBM Plex Sans" pitchFamily="34" charset="-120"/>
                        </a:rPr>
                        <a:t>0.1658 (weakest)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0.4619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18" name="Text 15"/>
          <p:cNvSpPr/>
          <p:nvPr/>
        </p:nvSpPr>
        <p:spPr>
          <a:xfrm>
            <a:off x="812704" y="5249892"/>
            <a:ext cx="10883505"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Total compute cost: </a:t>
            </a:r>
            <a:r>
              <a:rPr lang="en-US" sz="1300" b="1" dirty="0">
                <a:solidFill>
                  <a:srgbClr val="3E4A56"/>
                </a:solidFill>
                <a:latin typeface="IBM Plex Sans" pitchFamily="34" charset="0"/>
                <a:ea typeface="IBM Plex Sans" pitchFamily="34" charset="-122"/>
                <a:cs typeface="IBM Plex Sans" pitchFamily="34" charset="-120"/>
              </a:rPr>
              <a:t>$0</a:t>
            </a:r>
            <a:r>
              <a:rPr lang="en-US" sz="1300" dirty="0">
                <a:solidFill>
                  <a:srgbClr val="3E4A56"/>
                </a:solidFill>
                <a:latin typeface="IBM Plex Sans" pitchFamily="34" charset="0"/>
                <a:ea typeface="IBM Plex Sans" pitchFamily="34" charset="-122"/>
                <a:cs typeface="IBM Plex Sans" pitchFamily="34" charset="-120"/>
              </a:rPr>
              <a:t>, on one free 16 GB T4 instead of the paper's 4× H100 (320 GB).</a:t>
            </a:r>
            <a:endParaRPr lang="en-US" sz="1300" dirty="0"/>
          </a:p>
        </p:txBody>
      </p:sp>
      <p:sp>
        <p:nvSpPr>
          <p:cNvPr id="19" name="Text 16"/>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20" name="Text 17"/>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1"/>
        </a:solidFill>
      </p:bgPr>
    </p:bg>
    <p:spTree>
      <p:nvGrpSpPr>
        <p:cNvPr id="1" name=""/>
        <p:cNvGrpSpPr/>
        <p:nvPr/>
      </p:nvGrpSpPr>
      <p:grpSpPr>
        <a:xfrm>
          <a:off x="0" y="0"/>
          <a:ext cx="0" cy="0"/>
          <a:chOff x="0" y="0"/>
          <a:chExt cx="0" cy="0"/>
        </a:xfrm>
      </p:grpSpPr>
      <p:sp>
        <p:nvSpPr>
          <p:cNvPr id="2" name="Text 0"/>
          <p:cNvSpPr/>
          <p:nvPr/>
        </p:nvSpPr>
        <p:spPr>
          <a:xfrm>
            <a:off x="812704" y="812704"/>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REVIEW · GAPS</a:t>
            </a:r>
            <a:endParaRPr lang="en-US" sz="1200" dirty="0"/>
          </a:p>
        </p:txBody>
      </p:sp>
      <p:sp>
        <p:nvSpPr>
          <p:cNvPr id="3" name="Text 1"/>
          <p:cNvSpPr/>
          <p:nvPr>
            <p:ph type="title"/>
          </p:nvPr>
        </p:nvSpPr>
        <p:spPr>
          <a:xfrm>
            <a:off x="812704" y="1076806"/>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Four gaps carried into 499B</a:t>
            </a:r>
            <a:endParaRPr lang="en-US" sz="2800" dirty="0"/>
          </a:p>
        </p:txBody>
      </p:sp>
      <p:sp>
        <p:nvSpPr>
          <p:cNvPr id="4" name="Shape 2"/>
          <p:cNvSpPr/>
          <p:nvPr/>
        </p:nvSpPr>
        <p:spPr>
          <a:xfrm>
            <a:off x="815879" y="1742793"/>
            <a:ext cx="5175268" cy="1400023"/>
          </a:xfrm>
          <a:prstGeom prst="roundRect">
            <a:avLst>
              <a:gd name="adj" fmla="val 7030"/>
            </a:avLst>
          </a:prstGeom>
          <a:solidFill>
            <a:srgbClr val="D5DBE1"/>
          </a:solidFill>
          <a:ln w="6350">
            <a:solidFill>
              <a:srgbClr val="D5DBE1"/>
            </a:solidFill>
            <a:prstDash val="solid"/>
          </a:ln>
        </p:spPr>
      </p:sp>
      <p:pic>
        <p:nvPicPr>
          <p:cNvPr id="5" name="Image 0" descr="Search">    </p:cNvPr>
          <p:cNvPicPr>
            <a:picLocks noChangeAspect="1"/>
          </p:cNvPicPr>
          <p:nvPr/>
        </p:nvPicPr>
        <p:blipFill>
          <a:blip r:embed="rId1"/>
          <a:srcRect l="0" r="0" t="0" b="0"/>
          <a:stretch/>
        </p:blipFill>
        <p:spPr>
          <a:xfrm>
            <a:off x="1022069" y="1948982"/>
            <a:ext cx="304716" cy="304716"/>
          </a:xfrm>
          <a:prstGeom prst="rect">
            <a:avLst/>
          </a:prstGeom>
        </p:spPr>
      </p:pic>
      <p:sp>
        <p:nvSpPr>
          <p:cNvPr id="6" name="Text 3"/>
          <p:cNvSpPr/>
          <p:nvPr/>
        </p:nvSpPr>
        <p:spPr>
          <a:xfrm>
            <a:off x="1479095" y="1948982"/>
            <a:ext cx="4435039"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1 · Spatial blindness</a:t>
            </a:r>
            <a:endParaRPr lang="en-US" sz="1600" dirty="0"/>
          </a:p>
        </p:txBody>
      </p:sp>
      <p:sp>
        <p:nvSpPr>
          <p:cNvPr id="7" name="Text 4"/>
          <p:cNvSpPr/>
          <p:nvPr/>
        </p:nvSpPr>
        <p:spPr>
          <a:xfrm>
            <a:off x="1479095" y="2243544"/>
            <a:ext cx="443503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The VLM sees at most 512 vision tokens per image on a T4, so small structures vanish. Building counting fell to 23.58%, below the base model's 34.2%.</a:t>
            </a:r>
            <a:endParaRPr lang="en-US" sz="1300" dirty="0"/>
          </a:p>
        </p:txBody>
      </p:sp>
      <p:sp>
        <p:nvSpPr>
          <p:cNvPr id="8" name="Shape 5"/>
          <p:cNvSpPr/>
          <p:nvPr/>
        </p:nvSpPr>
        <p:spPr>
          <a:xfrm>
            <a:off x="6200673" y="1742793"/>
            <a:ext cx="5175365" cy="1400023"/>
          </a:xfrm>
          <a:prstGeom prst="roundRect">
            <a:avLst>
              <a:gd name="adj" fmla="val 7030"/>
            </a:avLst>
          </a:prstGeom>
          <a:solidFill>
            <a:srgbClr val="D5DBE1"/>
          </a:solidFill>
          <a:ln w="6350">
            <a:solidFill>
              <a:srgbClr val="D5DBE1"/>
            </a:solidFill>
            <a:prstDash val="solid"/>
          </a:ln>
        </p:spPr>
      </p:sp>
      <p:pic>
        <p:nvPicPr>
          <p:cNvPr id="9" name="Image 1" descr="Warning">    </p:cNvPr>
          <p:cNvPicPr>
            <a:picLocks noChangeAspect="1"/>
          </p:cNvPicPr>
          <p:nvPr/>
        </p:nvPicPr>
        <p:blipFill>
          <a:blip r:embed="rId2"/>
          <a:srcRect l="0" r="0" t="0" b="0"/>
          <a:stretch/>
        </p:blipFill>
        <p:spPr>
          <a:xfrm>
            <a:off x="6406864" y="1948982"/>
            <a:ext cx="304716" cy="304716"/>
          </a:xfrm>
          <a:prstGeom prst="rect">
            <a:avLst/>
          </a:prstGeom>
        </p:spPr>
      </p:pic>
      <p:sp>
        <p:nvSpPr>
          <p:cNvPr id="10" name="Text 6"/>
          <p:cNvSpPr/>
          <p:nvPr/>
        </p:nvSpPr>
        <p:spPr>
          <a:xfrm>
            <a:off x="6863889" y="1948982"/>
            <a:ext cx="443513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2 · A weak spatial stage</a:t>
            </a:r>
            <a:endParaRPr lang="en-US" sz="1600" dirty="0"/>
          </a:p>
        </p:txBody>
      </p:sp>
      <p:sp>
        <p:nvSpPr>
          <p:cNvPr id="11" name="Text 7"/>
          <p:cNvSpPr/>
          <p:nvPr/>
        </p:nvSpPr>
        <p:spPr>
          <a:xfrm>
            <a:off x="6863889" y="2243544"/>
            <a:ext cx="4435138"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Destroyed buildings are 0.33% of pixels and absent from 63% of images. The U-Net's Destroyed IoU was 0.166, at 0.18 precision.</a:t>
            </a:r>
            <a:endParaRPr lang="en-US" sz="1300" dirty="0"/>
          </a:p>
        </p:txBody>
      </p:sp>
      <p:sp>
        <p:nvSpPr>
          <p:cNvPr id="12" name="Shape 8"/>
          <p:cNvSpPr/>
          <p:nvPr/>
        </p:nvSpPr>
        <p:spPr>
          <a:xfrm>
            <a:off x="815879" y="3352341"/>
            <a:ext cx="5175268" cy="1400023"/>
          </a:xfrm>
          <a:prstGeom prst="roundRect">
            <a:avLst>
              <a:gd name="adj" fmla="val 7030"/>
            </a:avLst>
          </a:prstGeom>
          <a:solidFill>
            <a:srgbClr val="D5DBE1"/>
          </a:solidFill>
          <a:ln w="6350">
            <a:solidFill>
              <a:srgbClr val="D5DBE1"/>
            </a:solidFill>
            <a:prstDash val="solid"/>
          </a:ln>
        </p:spPr>
      </p:sp>
      <p:pic>
        <p:nvPicPr>
          <p:cNvPr id="13" name="Image 2" descr="Cloud">    </p:cNvPr>
          <p:cNvPicPr>
            <a:picLocks noChangeAspect="1"/>
          </p:cNvPicPr>
          <p:nvPr/>
        </p:nvPicPr>
        <p:blipFill>
          <a:blip r:embed="rId3"/>
          <a:srcRect l="0" r="0" t="0" b="0"/>
          <a:stretch/>
        </p:blipFill>
        <p:spPr>
          <a:xfrm>
            <a:off x="1022069" y="3558530"/>
            <a:ext cx="304716" cy="304716"/>
          </a:xfrm>
          <a:prstGeom prst="rect">
            <a:avLst/>
          </a:prstGeom>
        </p:spPr>
      </p:pic>
      <p:sp>
        <p:nvSpPr>
          <p:cNvPr id="14" name="Text 9"/>
          <p:cNvSpPr/>
          <p:nvPr/>
        </p:nvSpPr>
        <p:spPr>
          <a:xfrm>
            <a:off x="1479095" y="3558530"/>
            <a:ext cx="4435039"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3 · Reports not connected</a:t>
            </a:r>
            <a:endParaRPr lang="en-US" sz="1600" dirty="0"/>
          </a:p>
        </p:txBody>
      </p:sp>
      <p:sp>
        <p:nvSpPr>
          <p:cNvPr id="15" name="Text 10"/>
          <p:cNvSpPr/>
          <p:nvPr/>
        </p:nvSpPr>
        <p:spPr>
          <a:xfrm>
            <a:off x="1479095" y="3853092"/>
            <a:ext cx="4435039"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Our report demo (DisasTeller) reads photos through a cloud API. It doesn't use our U-Net or VLM, and it stops without internet.</a:t>
            </a:r>
            <a:endParaRPr lang="en-US" sz="1300" dirty="0"/>
          </a:p>
        </p:txBody>
      </p:sp>
      <p:sp>
        <p:nvSpPr>
          <p:cNvPr id="16" name="Shape 11"/>
          <p:cNvSpPr/>
          <p:nvPr/>
        </p:nvSpPr>
        <p:spPr>
          <a:xfrm>
            <a:off x="6200673" y="3352341"/>
            <a:ext cx="5175365" cy="1400023"/>
          </a:xfrm>
          <a:prstGeom prst="roundRect">
            <a:avLst>
              <a:gd name="adj" fmla="val 7030"/>
            </a:avLst>
          </a:prstGeom>
          <a:solidFill>
            <a:srgbClr val="D5DBE1"/>
          </a:solidFill>
          <a:ln w="6350">
            <a:solidFill>
              <a:srgbClr val="D5DBE1"/>
            </a:solidFill>
            <a:prstDash val="solid"/>
          </a:ln>
        </p:spPr>
      </p:sp>
      <p:pic>
        <p:nvPicPr>
          <p:cNvPr id="17" name="Image 3" descr="Tool">    </p:cNvPr>
          <p:cNvPicPr>
            <a:picLocks noChangeAspect="1"/>
          </p:cNvPicPr>
          <p:nvPr/>
        </p:nvPicPr>
        <p:blipFill>
          <a:blip r:embed="rId4"/>
          <a:srcRect l="0" r="0" t="0" b="0"/>
          <a:stretch/>
        </p:blipFill>
        <p:spPr>
          <a:xfrm>
            <a:off x="6406864" y="3558530"/>
            <a:ext cx="304716" cy="304716"/>
          </a:xfrm>
          <a:prstGeom prst="rect">
            <a:avLst/>
          </a:prstGeom>
        </p:spPr>
      </p:pic>
      <p:sp>
        <p:nvSpPr>
          <p:cNvPr id="18" name="Text 12"/>
          <p:cNvSpPr/>
          <p:nvPr/>
        </p:nvSpPr>
        <p:spPr>
          <a:xfrm>
            <a:off x="6863889" y="3558530"/>
            <a:ext cx="443513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4 · Too big for the field</a:t>
            </a:r>
            <a:endParaRPr lang="en-US" sz="1600" dirty="0"/>
          </a:p>
        </p:txBody>
      </p:sp>
      <p:sp>
        <p:nvSpPr>
          <p:cNvPr id="19" name="Text 13"/>
          <p:cNvSpPr/>
          <p:nvPr/>
        </p:nvSpPr>
        <p:spPr>
          <a:xfrm>
            <a:off x="6863889" y="3853092"/>
            <a:ext cx="4435138" cy="4874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The merged 7B model is about 15 GB in FP16. Field laptops need a model that fits in roughly 6 GB.</a:t>
            </a:r>
            <a:endParaRPr lang="en-US" sz="1300" dirty="0"/>
          </a:p>
        </p:txBody>
      </p:sp>
      <p:sp>
        <p:nvSpPr>
          <p:cNvPr id="20" name="Text 14"/>
          <p:cNvSpPr/>
          <p:nvPr/>
        </p:nvSpPr>
        <p:spPr>
          <a:xfrm>
            <a:off x="812704" y="5009483"/>
            <a:ext cx="10883505"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6"/>
                </a:solidFill>
                <a:latin typeface="IBM Plex Sans" pitchFamily="34" charset="0"/>
                <a:ea typeface="IBM Plex Sans" pitchFamily="34" charset="-122"/>
                <a:cs typeface="IBM Plex Sans" pitchFamily="34" charset="-120"/>
              </a:rPr>
              <a:t>Why the segmentation stage comes first:</a:t>
            </a:r>
            <a:r>
              <a:rPr lang="en-US" sz="1300" dirty="0">
                <a:solidFill>
                  <a:srgbClr val="3E4A56"/>
                </a:solidFill>
                <a:latin typeface="IBM Plex Sans" pitchFamily="34" charset="0"/>
                <a:ea typeface="IBM Plex Sans" pitchFamily="34" charset="-122"/>
                <a:cs typeface="IBM Plex Sans" pitchFamily="34" charset="-120"/>
              </a:rPr>
              <a:t> every hybrid count, collage and heatmap inherits the U-Net's errors.</a:t>
            </a:r>
            <a:endParaRPr lang="en-US" sz="1300" dirty="0"/>
          </a:p>
        </p:txBody>
      </p:sp>
      <p:sp>
        <p:nvSpPr>
          <p:cNvPr id="21" name="Text 15"/>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22" name="Text 16"/>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812704"/>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REVIEW · 499B GOALS</a:t>
            </a:r>
            <a:endParaRPr lang="en-US" sz="1200" dirty="0"/>
          </a:p>
        </p:txBody>
      </p:sp>
      <p:sp>
        <p:nvSpPr>
          <p:cNvPr id="3" name="Text 1"/>
          <p:cNvSpPr/>
          <p:nvPr>
            <p:ph type="title"/>
          </p:nvPr>
        </p:nvSpPr>
        <p:spPr>
          <a:xfrm>
            <a:off x="812704" y="1076802"/>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499B objectives and key results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082" y="1751993"/>
          <a:ext cx="10553937" cy="2949486"/>
        </p:xfrm>
        <a:graphic>
          <a:graphicData uri="http://schemas.openxmlformats.org/drawingml/2006/table">
            <a:tbl>
              <a:tblPr/>
              <a:tblGrid>
                <a:gridCol w="2744024"/>
                <a:gridCol w="5699126"/>
                <a:gridCol w="2110787"/>
              </a:tblGrid>
              <a:tr h="358870">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Objective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Key result (how we will know)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589897">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O1 Strengthen the spatial stage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The champion U-Net passes the Phase Gate on full-resolution validation images, i.e having mIoU above 0.52 and Destroyed IoU above 0.30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Planned for the next week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589897">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O2 Ground the VLM spatially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Hybrid counting (champion U-Net plus a higher-resolution VLM) beats the base model's 34.2% on building counting; all six tasks re-scored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Planned after objective 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820924">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O3 One offline component of the system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DisasTeller's report agents run on our fine-tuned Qwen2.5-VL, read our per-building results with no cloud calls, and return a report, damage map, counts and survivability heatmap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Planned after objective 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589897">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O4 An edge-sized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A distilled Qwen2.5-VL-3B student fits in about 6 GB; per-task accuracy is reported against the 7B teacher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Notebooks prepared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
        <p:nvSpPr>
          <p:cNvPr id="5" name="Text 2"/>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6" name="Text 3"/>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FF1"/>
        </a:solidFill>
      </p:bgPr>
    </p:bg>
    <p:spTree>
      <p:nvGrpSpPr>
        <p:cNvPr id="1" name=""/>
        <p:cNvGrpSpPr/>
        <p:nvPr/>
      </p:nvGrpSpPr>
      <p:grpSpPr>
        <a:xfrm>
          <a:off x="0" y="0"/>
          <a:ext cx="0" cy="0"/>
          <a:chOff x="0" y="0"/>
          <a:chExt cx="0" cy="0"/>
        </a:xfrm>
      </p:grpSpPr>
      <p:sp>
        <p:nvSpPr>
          <p:cNvPr id="2" name="Text 0"/>
          <p:cNvSpPr/>
          <p:nvPr/>
        </p:nvSpPr>
        <p:spPr>
          <a:xfrm>
            <a:off x="812704" y="812707"/>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499B WORK SO FAR · CLASS IMBALANCE</a:t>
            </a:r>
            <a:endParaRPr lang="en-US" sz="1200" dirty="0"/>
          </a:p>
        </p:txBody>
      </p:sp>
      <p:sp>
        <p:nvSpPr>
          <p:cNvPr id="3" name="Text 1"/>
          <p:cNvSpPr/>
          <p:nvPr>
            <p:ph type="title"/>
          </p:nvPr>
        </p:nvSpPr>
        <p:spPr>
          <a:xfrm>
            <a:off x="812704" y="1076806"/>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Imbalance shapes how we score and train</a:t>
            </a:r>
            <a:endParaRPr lang="en-US" sz="2800" dirty="0"/>
          </a:p>
        </p:txBody>
      </p:sp>
      <p:sp>
        <p:nvSpPr>
          <p:cNvPr id="4" name="Shape 2"/>
          <p:cNvSpPr/>
          <p:nvPr/>
        </p:nvSpPr>
        <p:spPr>
          <a:xfrm>
            <a:off x="815879" y="1742793"/>
            <a:ext cx="3380337" cy="3357514"/>
          </a:xfrm>
          <a:prstGeom prst="roundRect">
            <a:avLst>
              <a:gd name="adj" fmla="val 2931"/>
            </a:avLst>
          </a:prstGeom>
          <a:solidFill>
            <a:srgbClr val="D5DBE1"/>
          </a:solidFill>
          <a:ln w="6350">
            <a:solidFill>
              <a:srgbClr val="D5DBE1"/>
            </a:solidFill>
            <a:prstDash val="solid"/>
          </a:ln>
        </p:spPr>
      </p:sp>
      <p:pic>
        <p:nvPicPr>
          <p:cNvPr id="5" name="Image 0" descr="Warning">    </p:cNvPr>
          <p:cNvPicPr>
            <a:picLocks noChangeAspect="1"/>
          </p:cNvPicPr>
          <p:nvPr/>
        </p:nvPicPr>
        <p:blipFill>
          <a:blip r:embed="rId1"/>
          <a:srcRect l="0" r="0" t="0" b="0"/>
          <a:stretch/>
        </p:blipFill>
        <p:spPr>
          <a:xfrm>
            <a:off x="1072839" y="1999754"/>
            <a:ext cx="304716" cy="304716"/>
          </a:xfrm>
          <a:prstGeom prst="rect">
            <a:avLst/>
          </a:prstGeom>
        </p:spPr>
      </p:pic>
      <p:sp>
        <p:nvSpPr>
          <p:cNvPr id="6" name="Text 3"/>
          <p:cNvSpPr/>
          <p:nvPr/>
        </p:nvSpPr>
        <p:spPr>
          <a:xfrm>
            <a:off x="1072839" y="2406008"/>
            <a:ext cx="2952409"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Accuracy is a trap</a:t>
            </a:r>
            <a:endParaRPr lang="en-US" sz="1600" dirty="0"/>
          </a:p>
        </p:txBody>
      </p:sp>
      <p:sp>
        <p:nvSpPr>
          <p:cNvPr id="7" name="Text 4"/>
          <p:cNvSpPr/>
          <p:nvPr/>
        </p:nvSpPr>
        <p:spPr>
          <a:xfrm>
            <a:off x="1072839" y="2751339"/>
            <a:ext cx="2952409" cy="9495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Calling every pixel background is </a:t>
            </a:r>
            <a:r>
              <a:rPr lang="en-US" sz="1300" b="1" dirty="0">
                <a:solidFill>
                  <a:srgbClr val="3E4A56"/>
                </a:solidFill>
                <a:latin typeface="IBM Plex Sans" pitchFamily="34" charset="0"/>
                <a:ea typeface="IBM Plex Sans" pitchFamily="34" charset="-122"/>
                <a:cs typeface="IBM Plex Sans" pitchFamily="34" charset="-120"/>
              </a:rPr>
              <a:t>92.8% accurate</a:t>
            </a:r>
            <a:r>
              <a:rPr lang="en-US" sz="1300" dirty="0">
                <a:solidFill>
                  <a:srgbClr val="3E4A56"/>
                </a:solidFill>
                <a:latin typeface="IBM Plex Sans" pitchFamily="34" charset="0"/>
                <a:ea typeface="IBM Plex Sans" pitchFamily="34" charset="-122"/>
                <a:cs typeface="IBM Plex Sans" pitchFamily="34" charset="-120"/>
              </a:rPr>
              <a:t> and finds zero buildings. So we score each class by its own IoU, never by overall accuracy.</a:t>
            </a:r>
            <a:endParaRPr lang="en-US" sz="1300" dirty="0"/>
          </a:p>
        </p:txBody>
      </p:sp>
      <p:sp>
        <p:nvSpPr>
          <p:cNvPr id="8" name="Shape 5"/>
          <p:cNvSpPr/>
          <p:nvPr/>
        </p:nvSpPr>
        <p:spPr>
          <a:xfrm>
            <a:off x="4405742" y="1742793"/>
            <a:ext cx="3380434" cy="3357514"/>
          </a:xfrm>
          <a:prstGeom prst="roundRect">
            <a:avLst>
              <a:gd name="adj" fmla="val 2931"/>
            </a:avLst>
          </a:prstGeom>
          <a:solidFill>
            <a:srgbClr val="D5DBE1"/>
          </a:solidFill>
          <a:ln w="6350">
            <a:solidFill>
              <a:srgbClr val="D5DBE1"/>
            </a:solidFill>
            <a:prstDash val="solid"/>
          </a:ln>
        </p:spPr>
      </p:sp>
      <p:pic>
        <p:nvPicPr>
          <p:cNvPr id="9" name="Image 1" descr="Search">    </p:cNvPr>
          <p:cNvPicPr>
            <a:picLocks noChangeAspect="1"/>
          </p:cNvPicPr>
          <p:nvPr/>
        </p:nvPicPr>
        <p:blipFill>
          <a:blip r:embed="rId2"/>
          <a:srcRect l="0" r="0" t="0" b="0"/>
          <a:stretch/>
        </p:blipFill>
        <p:spPr>
          <a:xfrm>
            <a:off x="4662702" y="1999754"/>
            <a:ext cx="304716" cy="304716"/>
          </a:xfrm>
          <a:prstGeom prst="rect">
            <a:avLst/>
          </a:prstGeom>
        </p:spPr>
      </p:pic>
      <p:sp>
        <p:nvSpPr>
          <p:cNvPr id="10" name="Text 6"/>
          <p:cNvSpPr/>
          <p:nvPr/>
        </p:nvSpPr>
        <p:spPr>
          <a:xfrm>
            <a:off x="4662702" y="2406008"/>
            <a:ext cx="2952509" cy="51298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Destroyed is the hardest class</a:t>
            </a:r>
            <a:endParaRPr lang="en-US" sz="1600" dirty="0"/>
          </a:p>
        </p:txBody>
      </p:sp>
      <p:sp>
        <p:nvSpPr>
          <p:cNvPr id="11" name="Text 7"/>
          <p:cNvSpPr/>
          <p:nvPr/>
        </p:nvSpPr>
        <p:spPr>
          <a:xfrm>
            <a:off x="4662702" y="2995132"/>
            <a:ext cx="2952509" cy="141156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It is </a:t>
            </a:r>
            <a:r>
              <a:rPr lang="en-US" sz="1300" b="1" dirty="0">
                <a:solidFill>
                  <a:srgbClr val="3E4A56"/>
                </a:solidFill>
                <a:latin typeface="IBM Plex Sans" pitchFamily="34" charset="0"/>
                <a:ea typeface="IBM Plex Sans" pitchFamily="34" charset="-122"/>
                <a:cs typeface="IBM Plex Sans" pitchFamily="34" charset="-120"/>
              </a:rPr>
              <a:t>3 pixels in every 1,000</a:t>
            </a:r>
            <a:r>
              <a:rPr lang="en-US" sz="1300" dirty="0">
                <a:solidFill>
                  <a:srgbClr val="3E4A56"/>
                </a:solidFill>
                <a:latin typeface="IBM Plex Sans" pitchFamily="34" charset="0"/>
                <a:ea typeface="IBM Plex Sans" pitchFamily="34" charset="-122"/>
                <a:cs typeface="IBM Plex Sans" pitchFamily="34" charset="-120"/>
              </a:rPr>
              <a:t> and absent from 63% of images, so the model rarely sees an example. Even our best sprint run reaches only 0.28 IoU on it, below the 0.30 needed for counting.</a:t>
            </a:r>
            <a:endParaRPr lang="en-US" sz="1300" dirty="0"/>
          </a:p>
        </p:txBody>
      </p:sp>
      <p:sp>
        <p:nvSpPr>
          <p:cNvPr id="12" name="Shape 8"/>
          <p:cNvSpPr/>
          <p:nvPr/>
        </p:nvSpPr>
        <p:spPr>
          <a:xfrm>
            <a:off x="7995702" y="1742793"/>
            <a:ext cx="3380337" cy="3357514"/>
          </a:xfrm>
          <a:prstGeom prst="roundRect">
            <a:avLst>
              <a:gd name="adj" fmla="val 2931"/>
            </a:avLst>
          </a:prstGeom>
          <a:solidFill>
            <a:srgbClr val="D5DBE1"/>
          </a:solidFill>
          <a:ln w="6350">
            <a:solidFill>
              <a:srgbClr val="D5DBE1"/>
            </a:solidFill>
            <a:prstDash val="solid"/>
          </a:ln>
        </p:spPr>
      </p:sp>
      <p:pic>
        <p:nvPicPr>
          <p:cNvPr id="13" name="Image 2" descr="Settings">    </p:cNvPr>
          <p:cNvPicPr>
            <a:picLocks noChangeAspect="1"/>
          </p:cNvPicPr>
          <p:nvPr/>
        </p:nvPicPr>
        <p:blipFill>
          <a:blip r:embed="rId3"/>
          <a:srcRect l="0" r="0" t="0" b="0"/>
          <a:stretch/>
        </p:blipFill>
        <p:spPr>
          <a:xfrm>
            <a:off x="8252661" y="1999754"/>
            <a:ext cx="304716" cy="304716"/>
          </a:xfrm>
          <a:prstGeom prst="rect">
            <a:avLst/>
          </a:prstGeom>
        </p:spPr>
      </p:pic>
      <p:sp>
        <p:nvSpPr>
          <p:cNvPr id="14" name="Text 9"/>
          <p:cNvSpPr/>
          <p:nvPr/>
        </p:nvSpPr>
        <p:spPr>
          <a:xfrm>
            <a:off x="8252661" y="2406008"/>
            <a:ext cx="2952409" cy="51298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Every fix targets the imbalance</a:t>
            </a:r>
            <a:endParaRPr lang="en-US" sz="1600" dirty="0"/>
          </a:p>
        </p:txBody>
      </p:sp>
      <p:sp>
        <p:nvSpPr>
          <p:cNvPr id="15" name="Text 10"/>
          <p:cNvSpPr/>
          <p:nvPr/>
        </p:nvSpPr>
        <p:spPr>
          <a:xfrm>
            <a:off x="8338005" y="2995132"/>
            <a:ext cx="2859445" cy="1873615"/>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3E4A56"/>
                </a:solidFill>
                <a:latin typeface="IBM Plex Sans" pitchFamily="34" charset="0"/>
                <a:ea typeface="IBM Plex Sans" pitchFamily="34" charset="-122"/>
                <a:cs typeface="IBM Plex Sans" pitchFamily="34" charset="-120"/>
              </a:rPr>
              <a:t>Focal Tversky:</a:t>
            </a:r>
            <a:r>
              <a:rPr lang="en-US" sz="1300" dirty="0">
                <a:solidFill>
                  <a:srgbClr val="3E4A56"/>
                </a:solidFill>
                <a:latin typeface="IBM Plex Sans" pitchFamily="34" charset="0"/>
                <a:ea typeface="IBM Plex Sans" pitchFamily="34" charset="-122"/>
                <a:cs typeface="IBM Plex Sans" pitchFamily="34" charset="-120"/>
              </a:rPr>
              <a:t> a missed rare pixel costs more</a:t>
            </a:r>
            <a:endParaRPr lang="en-US" sz="1300" dirty="0"/>
          </a:p>
          <a:p>
            <a:pPr algn="l" marL="168656" indent="-168656">
              <a:lnSpc>
                <a:spcPts val="1820"/>
              </a:lnSpc>
              <a:buSzPct val="100000"/>
              <a:buChar char="•"/>
            </a:pPr>
            <a:r>
              <a:rPr lang="en-US" sz="1300" b="1" dirty="0">
                <a:solidFill>
                  <a:srgbClr val="3E4A56"/>
                </a:solidFill>
                <a:latin typeface="IBM Plex Sans" pitchFamily="34" charset="0"/>
                <a:ea typeface="IBM Plex Sans" pitchFamily="34" charset="-122"/>
                <a:cs typeface="IBM Plex Sans" pitchFamily="34" charset="-120"/>
              </a:rPr>
              <a:t>Weighted sampler:</a:t>
            </a:r>
            <a:r>
              <a:rPr lang="en-US" sz="1300" dirty="0">
                <a:solidFill>
                  <a:srgbClr val="3E4A56"/>
                </a:solidFill>
                <a:latin typeface="IBM Plex Sans" pitchFamily="34" charset="0"/>
                <a:ea typeface="IBM Plex Sans" pitchFamily="34" charset="-122"/>
                <a:cs typeface="IBM Plex Sans" pitchFamily="34" charset="-120"/>
              </a:rPr>
              <a:t> destroyed-building images drawn 10× as often</a:t>
            </a:r>
            <a:endParaRPr lang="en-US" sz="1300" dirty="0"/>
          </a:p>
          <a:p>
            <a:pPr algn="l" marL="168656" indent="-168656">
              <a:lnSpc>
                <a:spcPts val="1820"/>
              </a:lnSpc>
              <a:buSzPct val="100000"/>
              <a:buChar char="•"/>
            </a:pPr>
            <a:r>
              <a:rPr lang="en-US" sz="1300" b="1" dirty="0">
                <a:solidFill>
                  <a:srgbClr val="3E4A56"/>
                </a:solidFill>
                <a:latin typeface="IBM Plex Sans" pitchFamily="34" charset="0"/>
                <a:ea typeface="IBM Plex Sans" pitchFamily="34" charset="-122"/>
                <a:cs typeface="IBM Plex Sans" pitchFamily="34" charset="-120"/>
              </a:rPr>
              <a:t>Copy-paste:</a:t>
            </a:r>
            <a:r>
              <a:rPr lang="en-US" sz="1300" dirty="0">
                <a:solidFill>
                  <a:srgbClr val="3E4A56"/>
                </a:solidFill>
                <a:latin typeface="IBM Plex Sans" pitchFamily="34" charset="0"/>
                <a:ea typeface="IBM Plex Sans" pitchFamily="34" charset="-122"/>
                <a:cs typeface="IBM Plex Sans" pitchFamily="34" charset="-120"/>
              </a:rPr>
              <a:t> extra damaged and destroyed buildings pasted into crops</a:t>
            </a:r>
            <a:endParaRPr lang="en-US" sz="1300" dirty="0"/>
          </a:p>
        </p:txBody>
      </p:sp>
      <p:sp>
        <p:nvSpPr>
          <p:cNvPr id="16" name="Text 11"/>
          <p:cNvSpPr/>
          <p:nvPr/>
        </p:nvSpPr>
        <p:spPr>
          <a:xfrm>
            <a:off x="812704" y="5357428"/>
            <a:ext cx="10883505"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Pixel share over all 6,443 images: background 92.77% · intact 5.86% · damaged 1.05% · destroyed 0.33% (dataset audit, A1).</a:t>
            </a:r>
            <a:endParaRPr lang="en-US" sz="1200" dirty="0"/>
          </a:p>
        </p:txBody>
      </p:sp>
      <p:sp>
        <p:nvSpPr>
          <p:cNvPr id="17" name="Text 12"/>
          <p:cNvSpPr/>
          <p:nvPr/>
        </p:nvSpPr>
        <p:spPr>
          <a:xfrm>
            <a:off x="812704" y="6238311"/>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18" name="Text 13"/>
          <p:cNvSpPr/>
          <p:nvPr/>
        </p:nvSpPr>
        <p:spPr>
          <a:xfrm>
            <a:off x="10312340" y="6238311"/>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812704"/>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499B WORK SO FAR · ABLATION SPRINT, TRACKS A–D</a:t>
            </a:r>
            <a:endParaRPr lang="en-US" sz="1200" dirty="0"/>
          </a:p>
        </p:txBody>
      </p:sp>
      <p:sp>
        <p:nvSpPr>
          <p:cNvPr id="3" name="Text 1"/>
          <p:cNvSpPr/>
          <p:nvPr>
            <p:ph type="title"/>
          </p:nvPr>
        </p:nvSpPr>
        <p:spPr>
          <a:xfrm>
            <a:off x="812704" y="1076806"/>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What each experiment tests, and why it matters</a:t>
            </a:r>
            <a:endParaRPr lang="en-US" sz="2800" dirty="0"/>
          </a:p>
        </p:txBody>
      </p:sp>
      <p:sp>
        <p:nvSpPr>
          <p:cNvPr id="4" name="Text 2"/>
          <p:cNvSpPr/>
          <p:nvPr/>
        </p:nvSpPr>
        <p:spPr>
          <a:xfrm>
            <a:off x="812704" y="1637981"/>
            <a:ext cx="10883505"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Baseline B1: U-Net + ResNet-34, CE + Dice, images resized to 512, mIoU 0.4619. One change per track.</a:t>
            </a:r>
            <a:endParaRPr lang="en-US" sz="1200" dirty="0"/>
          </a:p>
        </p:txBody>
      </p:sp>
      <p:sp>
        <p:nvSpPr>
          <p:cNvPr id="5" name="Text 3"/>
          <p:cNvSpPr/>
          <p:nvPr/>
        </p:nvSpPr>
        <p:spPr>
          <a:xfrm>
            <a:off x="812704" y="2003620"/>
            <a:ext cx="406352" cy="238667"/>
          </a:xfrm>
          <a:custGeom>
            <a:avLst/>
            <a:gdLst/>
            <a:ahLst/>
            <a:cxnLst/>
            <a:rect l="l" t="t" r="r" b="b"/>
            <a:pathLst>
              <a:path w="406352" h="238667">
                <a:moveTo>
                  <a:pt x="50800" y="0"/>
                </a:moveTo>
                <a:lnTo>
                  <a:pt x="355552" y="0"/>
                </a:lnTo>
                <a:arcTo hR="50800" wR="50800" stAng="16200000" swAng="5400000"/>
                <a:lnTo>
                  <a:pt x="406352" y="187867"/>
                </a:lnTo>
                <a:arcTo hR="50800" wR="50800" stAng="0" swAng="5400000"/>
                <a:lnTo>
                  <a:pt x="50800" y="238667"/>
                </a:lnTo>
                <a:arcTo hR="50800" wR="50800" stAng="5400000" swAng="5400000"/>
                <a:lnTo>
                  <a:pt x="0" y="50800"/>
                </a:lnTo>
                <a:arcTo hR="50800" wR="50800" stAng="10800000" swAng="5400000"/>
                <a:close/>
              </a:path>
            </a:pathLst>
          </a:custGeom>
          <a:solidFill>
            <a:srgbClr val="B84A0E"/>
          </a:solidFill>
          <a:ln/>
        </p:spPr>
        <p:txBody>
          <a:bodyPr wrap="square" lIns="0" tIns="12700" rIns="0" bIns="0" rtlCol="0" anchor="t">
            <a:normAutofit/>
          </a:bodyPr>
          <a:lstStyle/>
          <a:p>
            <a:pPr algn="ctr" indent="0" marL="0">
              <a:lnSpc>
                <a:spcPts val="1680"/>
              </a:lnSpc>
              <a:buNone/>
            </a:pPr>
            <a:r>
              <a:rPr lang="en-US" sz="1200" b="1" dirty="0">
                <a:solidFill>
                  <a:srgbClr val="F7F7F4"/>
                </a:solidFill>
                <a:latin typeface="IBM Plex Sans" pitchFamily="34" charset="0"/>
                <a:ea typeface="IBM Plex Sans" pitchFamily="34" charset="-122"/>
                <a:cs typeface="IBM Plex Sans" pitchFamily="34" charset="-120"/>
              </a:rPr>
              <a:t>A</a:t>
            </a:r>
            <a:endParaRPr lang="en-US" sz="1200" dirty="0"/>
          </a:p>
        </p:txBody>
      </p:sp>
      <p:sp>
        <p:nvSpPr>
          <p:cNvPr id="6" name="Text 4"/>
          <p:cNvSpPr/>
          <p:nvPr/>
        </p:nvSpPr>
        <p:spPr>
          <a:xfrm>
            <a:off x="1346029" y="2003620"/>
            <a:ext cx="47354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Data imbalance </a:t>
            </a:r>
            <a:r>
              <a:rPr lang="en-US" sz="1200" b="1" dirty="0">
                <a:solidFill>
                  <a:srgbClr val="5B6672"/>
                </a:solidFill>
                <a:latin typeface="IBM Plex Sans" pitchFamily="34" charset="0"/>
                <a:ea typeface="IBM Plex Sans" pitchFamily="34" charset="-122"/>
                <a:cs typeface="IBM Plex Sans" pitchFamily="34" charset="-120"/>
              </a:rPr>
              <a:t>· Aryan Sami</a:t>
            </a:r>
            <a:endParaRPr lang="en-US" sz="1200" dirty="0"/>
          </a:p>
        </p:txBody>
      </p:sp>
      <p:sp>
        <p:nvSpPr>
          <p:cNvPr id="7" name="Text 5"/>
          <p:cNvSpPr/>
          <p:nvPr/>
        </p:nvSpPr>
        <p:spPr>
          <a:xfrm>
            <a:off x="1346029" y="2242288"/>
            <a:ext cx="4735449" cy="66539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Tests:</a:t>
            </a:r>
            <a:r>
              <a:rPr lang="en-US" sz="1200" dirty="0">
                <a:solidFill>
                  <a:srgbClr val="3E4A56"/>
                </a:solidFill>
                <a:latin typeface="IBM Plex Sans" pitchFamily="34" charset="0"/>
                <a:ea typeface="IBM Plex Sans" pitchFamily="34" charset="-122"/>
                <a:cs typeface="IBM Plex Sans" pitchFamily="34" charset="-120"/>
              </a:rPr>
              <a:t> A2 weighted sampler (images with destroyed or damaged buildings drawn 10× / 5× as often) and A3 copy-paste of rare buildings.</a:t>
            </a:r>
            <a:endParaRPr lang="en-US" sz="1200" dirty="0"/>
          </a:p>
        </p:txBody>
      </p:sp>
      <p:sp>
        <p:nvSpPr>
          <p:cNvPr id="8" name="Text 6"/>
          <p:cNvSpPr/>
          <p:nvPr/>
        </p:nvSpPr>
        <p:spPr>
          <a:xfrm>
            <a:off x="1346029" y="2907615"/>
            <a:ext cx="47354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63% of images have no destroyed pixel, so most batches teach the model nothing about it.</a:t>
            </a:r>
            <a:endParaRPr lang="en-US" sz="1200" dirty="0"/>
          </a:p>
        </p:txBody>
      </p:sp>
      <p:sp>
        <p:nvSpPr>
          <p:cNvPr id="9" name="Text 7"/>
          <p:cNvSpPr/>
          <p:nvPr/>
        </p:nvSpPr>
        <p:spPr>
          <a:xfrm>
            <a:off x="1346029" y="3359609"/>
            <a:ext cx="47354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Result:</a:t>
            </a:r>
            <a:r>
              <a:rPr lang="en-US" sz="1200" dirty="0">
                <a:solidFill>
                  <a:srgbClr val="3E4A56"/>
                </a:solidFill>
                <a:latin typeface="IBM Plex Sans" pitchFamily="34" charset="0"/>
                <a:ea typeface="IBM Plex Sans" pitchFamily="34" charset="-122"/>
                <a:cs typeface="IBM Plex Sans" pitchFamily="34" charset="-120"/>
              </a:rPr>
              <a:t> </a:t>
            </a:r>
            <a:r>
              <a:rPr lang="en-US" sz="1200" dirty="0">
                <a:solidFill>
                  <a:srgbClr val="2F6DB5"/>
                </a:solidFill>
                <a:latin typeface="IBM Plex Sans" pitchFamily="34" charset="0"/>
                <a:ea typeface="IBM Plex Sans" pitchFamily="34" charset="-122"/>
                <a:cs typeface="IBM Plex Sans" pitchFamily="34" charset="-120"/>
              </a:rPr>
              <a:t>the sampler gave the clearest Destroyed gain; copy-paste was neutral.</a:t>
            </a:r>
            <a:endParaRPr lang="en-US" sz="1200" dirty="0"/>
          </a:p>
        </p:txBody>
      </p:sp>
      <p:sp>
        <p:nvSpPr>
          <p:cNvPr id="10" name="Text 8"/>
          <p:cNvSpPr/>
          <p:nvPr/>
        </p:nvSpPr>
        <p:spPr>
          <a:xfrm>
            <a:off x="812704" y="3938581"/>
            <a:ext cx="406352" cy="238667"/>
          </a:xfrm>
          <a:custGeom>
            <a:avLst/>
            <a:gdLst/>
            <a:ahLst/>
            <a:cxnLst/>
            <a:rect l="l" t="t" r="r" b="b"/>
            <a:pathLst>
              <a:path w="406352" h="238667">
                <a:moveTo>
                  <a:pt x="50800" y="0"/>
                </a:moveTo>
                <a:lnTo>
                  <a:pt x="355552" y="0"/>
                </a:lnTo>
                <a:arcTo hR="50800" wR="50800" stAng="16200000" swAng="5400000"/>
                <a:lnTo>
                  <a:pt x="406352" y="187867"/>
                </a:lnTo>
                <a:arcTo hR="50800" wR="50800" stAng="0" swAng="5400000"/>
                <a:lnTo>
                  <a:pt x="50800" y="238667"/>
                </a:lnTo>
                <a:arcTo hR="50800" wR="50800" stAng="5400000" swAng="5400000"/>
                <a:lnTo>
                  <a:pt x="0" y="50800"/>
                </a:lnTo>
                <a:arcTo hR="50800" wR="50800" stAng="10800000" swAng="5400000"/>
                <a:close/>
              </a:path>
            </a:pathLst>
          </a:custGeom>
          <a:solidFill>
            <a:srgbClr val="B84A0E"/>
          </a:solidFill>
          <a:ln/>
        </p:spPr>
        <p:txBody>
          <a:bodyPr wrap="square" lIns="0" tIns="12700" rIns="0" bIns="0" rtlCol="0" anchor="t">
            <a:normAutofit/>
          </a:bodyPr>
          <a:lstStyle/>
          <a:p>
            <a:pPr algn="ctr" indent="0" marL="0">
              <a:lnSpc>
                <a:spcPts val="1680"/>
              </a:lnSpc>
              <a:buNone/>
            </a:pPr>
            <a:r>
              <a:rPr lang="en-US" sz="1200" b="1" dirty="0">
                <a:solidFill>
                  <a:srgbClr val="F7F7F4"/>
                </a:solidFill>
                <a:latin typeface="IBM Plex Sans" pitchFamily="34" charset="0"/>
                <a:ea typeface="IBM Plex Sans" pitchFamily="34" charset="-122"/>
                <a:cs typeface="IBM Plex Sans" pitchFamily="34" charset="-120"/>
              </a:rPr>
              <a:t>B</a:t>
            </a:r>
            <a:endParaRPr lang="en-US" sz="1200" dirty="0"/>
          </a:p>
        </p:txBody>
      </p:sp>
      <p:sp>
        <p:nvSpPr>
          <p:cNvPr id="11" name="Text 9"/>
          <p:cNvSpPr/>
          <p:nvPr/>
        </p:nvSpPr>
        <p:spPr>
          <a:xfrm>
            <a:off x="1346029" y="3938581"/>
            <a:ext cx="47354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Architecture </a:t>
            </a:r>
            <a:r>
              <a:rPr lang="en-US" sz="1200" b="1" dirty="0">
                <a:solidFill>
                  <a:srgbClr val="5B6672"/>
                </a:solidFill>
                <a:latin typeface="IBM Plex Sans" pitchFamily="34" charset="0"/>
                <a:ea typeface="IBM Plex Sans" pitchFamily="34" charset="-122"/>
                <a:cs typeface="IBM Plex Sans" pitchFamily="34" charset="-120"/>
              </a:rPr>
              <a:t>· Tamanna Akter Mou</a:t>
            </a:r>
            <a:endParaRPr lang="en-US" sz="1200" dirty="0"/>
          </a:p>
        </p:txBody>
      </p:sp>
      <p:sp>
        <p:nvSpPr>
          <p:cNvPr id="12" name="Text 10"/>
          <p:cNvSpPr/>
          <p:nvPr/>
        </p:nvSpPr>
        <p:spPr>
          <a:xfrm>
            <a:off x="1346029" y="4177249"/>
            <a:ext cx="47354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Tests:</a:t>
            </a:r>
            <a:r>
              <a:rPr lang="en-US" sz="1200" dirty="0">
                <a:solidFill>
                  <a:srgbClr val="3E4A56"/>
                </a:solidFill>
                <a:latin typeface="IBM Plex Sans" pitchFamily="34" charset="0"/>
                <a:ea typeface="IBM Plex Sans" pitchFamily="34" charset="-122"/>
                <a:cs typeface="IBM Plex Sans" pitchFamily="34" charset="-120"/>
              </a:rPr>
              <a:t> B2 U-Net++, B3 U-Net++ with scSE attention, B4 DeepLabV3+ and B5 MA-Net against the plain U-Net.</a:t>
            </a:r>
            <a:endParaRPr lang="en-US" sz="1200" dirty="0"/>
          </a:p>
        </p:txBody>
      </p:sp>
      <p:sp>
        <p:nvSpPr>
          <p:cNvPr id="13" name="Text 11"/>
          <p:cNvSpPr/>
          <p:nvPr/>
        </p:nvSpPr>
        <p:spPr>
          <a:xfrm>
            <a:off x="1346029" y="4629246"/>
            <a:ext cx="47354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richer skip connections or attention might keep small, irregular rubble that a plain U-Net blurs.</a:t>
            </a:r>
            <a:endParaRPr lang="en-US" sz="1200" dirty="0"/>
          </a:p>
        </p:txBody>
      </p:sp>
      <p:sp>
        <p:nvSpPr>
          <p:cNvPr id="14" name="Text 12"/>
          <p:cNvSpPr/>
          <p:nvPr/>
        </p:nvSpPr>
        <p:spPr>
          <a:xfrm>
            <a:off x="1346029" y="5081237"/>
            <a:ext cx="47354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Result:</a:t>
            </a:r>
            <a:r>
              <a:rPr lang="en-US" sz="1200" dirty="0">
                <a:solidFill>
                  <a:srgbClr val="3E4A56"/>
                </a:solidFill>
                <a:latin typeface="IBM Plex Sans" pitchFamily="34" charset="0"/>
                <a:ea typeface="IBM Plex Sans" pitchFamily="34" charset="-122"/>
                <a:cs typeface="IBM Plex Sans" pitchFamily="34" charset="-120"/>
              </a:rPr>
              <a:t> </a:t>
            </a:r>
            <a:r>
              <a:rPr lang="en-US" sz="1200" dirty="0">
                <a:solidFill>
                  <a:srgbClr val="2F6DB5"/>
                </a:solidFill>
                <a:latin typeface="IBM Plex Sans" pitchFamily="34" charset="0"/>
                <a:ea typeface="IBM Plex Sans" pitchFamily="34" charset="-122"/>
                <a:cs typeface="IBM Plex Sans" pitchFamily="34" charset="-120"/>
              </a:rPr>
              <a:t>none beat U-Net under CE + Dice; MA-Net collapsed to all-background.</a:t>
            </a:r>
            <a:endParaRPr lang="en-US" sz="1200" dirty="0"/>
          </a:p>
        </p:txBody>
      </p:sp>
      <p:sp>
        <p:nvSpPr>
          <p:cNvPr id="15" name="Text 13"/>
          <p:cNvSpPr/>
          <p:nvPr/>
        </p:nvSpPr>
        <p:spPr>
          <a:xfrm>
            <a:off x="6248268" y="2003620"/>
            <a:ext cx="406352" cy="238667"/>
          </a:xfrm>
          <a:custGeom>
            <a:avLst/>
            <a:gdLst/>
            <a:ahLst/>
            <a:cxnLst/>
            <a:rect l="l" t="t" r="r" b="b"/>
            <a:pathLst>
              <a:path w="406352" h="238667">
                <a:moveTo>
                  <a:pt x="50800" y="0"/>
                </a:moveTo>
                <a:lnTo>
                  <a:pt x="355552" y="0"/>
                </a:lnTo>
                <a:arcTo hR="50800" wR="50800" stAng="16200000" swAng="5400000"/>
                <a:lnTo>
                  <a:pt x="406352" y="187867"/>
                </a:lnTo>
                <a:arcTo hR="50800" wR="50800" stAng="0" swAng="5400000"/>
                <a:lnTo>
                  <a:pt x="50800" y="238667"/>
                </a:lnTo>
                <a:arcTo hR="50800" wR="50800" stAng="5400000" swAng="5400000"/>
                <a:lnTo>
                  <a:pt x="0" y="50800"/>
                </a:lnTo>
                <a:arcTo hR="50800" wR="50800" stAng="10800000" swAng="5400000"/>
                <a:close/>
              </a:path>
            </a:pathLst>
          </a:custGeom>
          <a:solidFill>
            <a:srgbClr val="B84A0E"/>
          </a:solidFill>
          <a:ln/>
        </p:spPr>
        <p:txBody>
          <a:bodyPr wrap="square" lIns="0" tIns="12700" rIns="0" bIns="0" rtlCol="0" anchor="t">
            <a:normAutofit/>
          </a:bodyPr>
          <a:lstStyle/>
          <a:p>
            <a:pPr algn="ctr" indent="0" marL="0">
              <a:lnSpc>
                <a:spcPts val="1680"/>
              </a:lnSpc>
              <a:buNone/>
            </a:pPr>
            <a:r>
              <a:rPr lang="en-US" sz="1200" b="1" dirty="0">
                <a:solidFill>
                  <a:srgbClr val="F7F7F4"/>
                </a:solidFill>
                <a:latin typeface="IBM Plex Sans" pitchFamily="34" charset="0"/>
                <a:ea typeface="IBM Plex Sans" pitchFamily="34" charset="-122"/>
                <a:cs typeface="IBM Plex Sans" pitchFamily="34" charset="-120"/>
              </a:rPr>
              <a:t>C</a:t>
            </a:r>
            <a:endParaRPr lang="en-US" sz="1200" dirty="0"/>
          </a:p>
        </p:txBody>
      </p:sp>
      <p:sp>
        <p:nvSpPr>
          <p:cNvPr id="16" name="Text 14"/>
          <p:cNvSpPr/>
          <p:nvPr/>
        </p:nvSpPr>
        <p:spPr>
          <a:xfrm>
            <a:off x="6781593" y="2003620"/>
            <a:ext cx="47355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Loss and backbone </a:t>
            </a:r>
            <a:r>
              <a:rPr lang="en-US" sz="1200" b="1" dirty="0">
                <a:solidFill>
                  <a:srgbClr val="5B6672"/>
                </a:solidFill>
                <a:latin typeface="IBM Plex Sans" pitchFamily="34" charset="0"/>
                <a:ea typeface="IBM Plex Sans" pitchFamily="34" charset="-122"/>
                <a:cs typeface="IBM Plex Sans" pitchFamily="34" charset="-120"/>
              </a:rPr>
              <a:t>· Abdullah Al Noman</a:t>
            </a:r>
            <a:endParaRPr lang="en-US" sz="1200" dirty="0"/>
          </a:p>
        </p:txBody>
      </p:sp>
      <p:sp>
        <p:nvSpPr>
          <p:cNvPr id="17" name="Text 15"/>
          <p:cNvSpPr/>
          <p:nvPr/>
        </p:nvSpPr>
        <p:spPr>
          <a:xfrm>
            <a:off x="6781593" y="2242288"/>
            <a:ext cx="47355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Tests:</a:t>
            </a:r>
            <a:r>
              <a:rPr lang="en-US" sz="1200" dirty="0">
                <a:solidFill>
                  <a:srgbClr val="3E4A56"/>
                </a:solidFill>
                <a:latin typeface="IBM Plex Sans" pitchFamily="34" charset="0"/>
                <a:ea typeface="IBM Plex Sans" pitchFamily="34" charset="-122"/>
                <a:cs typeface="IBM Plex Sans" pitchFamily="34" charset="-120"/>
              </a:rPr>
              <a:t> C2/C3 Focal Tversky (two settings), C4 adding Lovász at the end, C5 ResNet-50 and C6 EfficientNet-B4.</a:t>
            </a:r>
            <a:endParaRPr lang="en-US" sz="1200" dirty="0"/>
          </a:p>
        </p:txBody>
      </p:sp>
      <p:sp>
        <p:nvSpPr>
          <p:cNvPr id="18" name="Text 16"/>
          <p:cNvSpPr/>
          <p:nvPr/>
        </p:nvSpPr>
        <p:spPr>
          <a:xfrm>
            <a:off x="6781593" y="2694282"/>
            <a:ext cx="47355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cross-entropy is swamped by 93% background; this loss makes a missed damaged pixel cost more.</a:t>
            </a:r>
            <a:endParaRPr lang="en-US" sz="1200" dirty="0"/>
          </a:p>
        </p:txBody>
      </p:sp>
      <p:sp>
        <p:nvSpPr>
          <p:cNvPr id="19" name="Text 17"/>
          <p:cNvSpPr/>
          <p:nvPr/>
        </p:nvSpPr>
        <p:spPr>
          <a:xfrm>
            <a:off x="6781593" y="3146279"/>
            <a:ext cx="47355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Result:</a:t>
            </a:r>
            <a:r>
              <a:rPr lang="en-US" sz="1200" dirty="0">
                <a:solidFill>
                  <a:srgbClr val="3E4A56"/>
                </a:solidFill>
                <a:latin typeface="IBM Plex Sans" pitchFamily="34" charset="0"/>
                <a:ea typeface="IBM Plex Sans" pitchFamily="34" charset="-122"/>
                <a:cs typeface="IBM Plex Sans" pitchFamily="34" charset="-120"/>
              </a:rPr>
              <a:t> </a:t>
            </a:r>
            <a:r>
              <a:rPr lang="en-US" sz="1200" dirty="0">
                <a:solidFill>
                  <a:srgbClr val="2F6DB5"/>
                </a:solidFill>
                <a:latin typeface="IBM Plex Sans" pitchFamily="34" charset="0"/>
                <a:ea typeface="IBM Plex Sans" pitchFamily="34" charset="-122"/>
                <a:cs typeface="IBM Plex Sans" pitchFamily="34" charset="-120"/>
              </a:rPr>
              <a:t>the biggest lever, +0.056 mIoU; C5 was best at 0.5296.</a:t>
            </a:r>
            <a:endParaRPr lang="en-US" sz="1200" dirty="0"/>
          </a:p>
        </p:txBody>
      </p:sp>
      <p:sp>
        <p:nvSpPr>
          <p:cNvPr id="20" name="Text 18"/>
          <p:cNvSpPr/>
          <p:nvPr/>
        </p:nvSpPr>
        <p:spPr>
          <a:xfrm>
            <a:off x="6248268" y="3511919"/>
            <a:ext cx="406352" cy="238667"/>
          </a:xfrm>
          <a:custGeom>
            <a:avLst/>
            <a:gdLst/>
            <a:ahLst/>
            <a:cxnLst/>
            <a:rect l="l" t="t" r="r" b="b"/>
            <a:pathLst>
              <a:path w="406352" h="238667">
                <a:moveTo>
                  <a:pt x="50800" y="0"/>
                </a:moveTo>
                <a:lnTo>
                  <a:pt x="355552" y="0"/>
                </a:lnTo>
                <a:arcTo hR="50800" wR="50800" stAng="16200000" swAng="5400000"/>
                <a:lnTo>
                  <a:pt x="406352" y="187867"/>
                </a:lnTo>
                <a:arcTo hR="50800" wR="50800" stAng="0" swAng="5400000"/>
                <a:lnTo>
                  <a:pt x="50800" y="238667"/>
                </a:lnTo>
                <a:arcTo hR="50800" wR="50800" stAng="5400000" swAng="5400000"/>
                <a:lnTo>
                  <a:pt x="0" y="50800"/>
                </a:lnTo>
                <a:arcTo hR="50800" wR="50800" stAng="10800000" swAng="5400000"/>
                <a:close/>
              </a:path>
            </a:pathLst>
          </a:custGeom>
          <a:solidFill>
            <a:srgbClr val="B84A0E"/>
          </a:solidFill>
          <a:ln/>
        </p:spPr>
        <p:txBody>
          <a:bodyPr wrap="square" lIns="0" tIns="12700" rIns="0" bIns="0" rtlCol="0" anchor="t">
            <a:normAutofit/>
          </a:bodyPr>
          <a:lstStyle/>
          <a:p>
            <a:pPr algn="ctr" indent="0" marL="0">
              <a:lnSpc>
                <a:spcPts val="1680"/>
              </a:lnSpc>
              <a:buNone/>
            </a:pPr>
            <a:r>
              <a:rPr lang="en-US" sz="1200" b="1" dirty="0">
                <a:solidFill>
                  <a:srgbClr val="F7F7F4"/>
                </a:solidFill>
                <a:latin typeface="IBM Plex Sans" pitchFamily="34" charset="0"/>
                <a:ea typeface="IBM Plex Sans" pitchFamily="34" charset="-122"/>
                <a:cs typeface="IBM Plex Sans" pitchFamily="34" charset="-120"/>
              </a:rPr>
              <a:t>D</a:t>
            </a:r>
            <a:endParaRPr lang="en-US" sz="1200" dirty="0"/>
          </a:p>
        </p:txBody>
      </p:sp>
      <p:sp>
        <p:nvSpPr>
          <p:cNvPr id="21" name="Text 19"/>
          <p:cNvSpPr/>
          <p:nvPr/>
        </p:nvSpPr>
        <p:spPr>
          <a:xfrm>
            <a:off x="6781593" y="3511919"/>
            <a:ext cx="47355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Resolution and inference </a:t>
            </a:r>
            <a:r>
              <a:rPr lang="en-US" sz="1200" b="1" dirty="0">
                <a:solidFill>
                  <a:srgbClr val="5B6672"/>
                </a:solidFill>
                <a:latin typeface="IBM Plex Sans" pitchFamily="34" charset="0"/>
                <a:ea typeface="IBM Plex Sans" pitchFamily="34" charset="-122"/>
                <a:cs typeface="IBM Plex Sans" pitchFamily="34" charset="-120"/>
              </a:rPr>
              <a:t>· Ridita Afrin Riya</a:t>
            </a:r>
            <a:endParaRPr lang="en-US" sz="1200" dirty="0"/>
          </a:p>
        </p:txBody>
      </p:sp>
      <p:sp>
        <p:nvSpPr>
          <p:cNvPr id="22" name="Text 20"/>
          <p:cNvSpPr/>
          <p:nvPr/>
        </p:nvSpPr>
        <p:spPr>
          <a:xfrm>
            <a:off x="6781593" y="3750587"/>
            <a:ext cx="47355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Tests:</a:t>
            </a:r>
            <a:r>
              <a:rPr lang="en-US" sz="1200" dirty="0">
                <a:solidFill>
                  <a:srgbClr val="3E4A56"/>
                </a:solidFill>
                <a:latin typeface="IBM Plex Sans" pitchFamily="34" charset="0"/>
                <a:ea typeface="IBM Plex Sans" pitchFamily="34" charset="-122"/>
                <a:cs typeface="IBM Plex Sans" pitchFamily="34" charset="-120"/>
              </a:rPr>
              <a:t> D1b/D1c 512 and 768 crops at full resolution instead of resizing, D2 8-view test-time augmentation, D3 sliding window.</a:t>
            </a:r>
            <a:endParaRPr lang="en-US" sz="1200" dirty="0"/>
          </a:p>
        </p:txBody>
      </p:sp>
      <p:sp>
        <p:nvSpPr>
          <p:cNvPr id="23" name="Text 21"/>
          <p:cNvSpPr/>
          <p:nvPr/>
        </p:nvSpPr>
        <p:spPr>
          <a:xfrm>
            <a:off x="6781593" y="4202581"/>
            <a:ext cx="47355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shrinking 1024 → 512 throws away 75% of pixels, so small rubble disappears.</a:t>
            </a:r>
            <a:endParaRPr lang="en-US" sz="1200" dirty="0"/>
          </a:p>
        </p:txBody>
      </p:sp>
      <p:sp>
        <p:nvSpPr>
          <p:cNvPr id="24" name="Text 22"/>
          <p:cNvSpPr/>
          <p:nvPr/>
        </p:nvSpPr>
        <p:spPr>
          <a:xfrm>
            <a:off x="6781593" y="4654578"/>
            <a:ext cx="4735549"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Result:</a:t>
            </a:r>
            <a:r>
              <a:rPr lang="en-US" sz="1200" dirty="0">
                <a:solidFill>
                  <a:srgbClr val="3E4A56"/>
                </a:solidFill>
                <a:latin typeface="IBM Plex Sans" pitchFamily="34" charset="0"/>
                <a:ea typeface="IBM Plex Sans" pitchFamily="34" charset="-122"/>
                <a:cs typeface="IBM Plex Sans" pitchFamily="34" charset="-120"/>
              </a:rPr>
              <a:t> </a:t>
            </a:r>
            <a:r>
              <a:rPr lang="en-US" sz="1200" dirty="0">
                <a:solidFill>
                  <a:srgbClr val="2F6DB5"/>
                </a:solidFill>
                <a:latin typeface="IBM Plex Sans" pitchFamily="34" charset="0"/>
                <a:ea typeface="IBM Plex Sans" pitchFamily="34" charset="-122"/>
                <a:cs typeface="IBM Plex Sans" pitchFamily="34" charset="-120"/>
              </a:rPr>
              <a:t>768 crops raised Destroyed IoU 65% over 512; TTA added up to 0.015.</a:t>
            </a:r>
            <a:endParaRPr lang="en-US" sz="1200" dirty="0"/>
          </a:p>
        </p:txBody>
      </p:sp>
      <p:sp>
        <p:nvSpPr>
          <p:cNvPr id="25" name="Text 23"/>
          <p:cNvSpPr/>
          <p:nvPr/>
        </p:nvSpPr>
        <p:spPr>
          <a:xfrm>
            <a:off x="812704" y="6238308"/>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26" name="Text 24"/>
          <p:cNvSpPr/>
          <p:nvPr/>
        </p:nvSpPr>
        <p:spPr>
          <a:xfrm>
            <a:off x="10312340" y="6238308"/>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FF1"/>
        </a:solidFill>
      </p:bgPr>
    </p:bg>
    <p:spTree>
      <p:nvGrpSpPr>
        <p:cNvPr id="1" name=""/>
        <p:cNvGrpSpPr/>
        <p:nvPr/>
      </p:nvGrpSpPr>
      <p:grpSpPr>
        <a:xfrm>
          <a:off x="0" y="0"/>
          <a:ext cx="0" cy="0"/>
          <a:chOff x="0" y="0"/>
          <a:chExt cx="0" cy="0"/>
        </a:xfrm>
      </p:grpSpPr>
      <p:sp>
        <p:nvSpPr>
          <p:cNvPr id="2" name="Text 0"/>
          <p:cNvSpPr/>
          <p:nvPr/>
        </p:nvSpPr>
        <p:spPr>
          <a:xfrm>
            <a:off x="812704" y="812707"/>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499B WORK SO FAR · TRACKS A AND D</a:t>
            </a:r>
            <a:endParaRPr lang="en-US" sz="1200" dirty="0"/>
          </a:p>
        </p:txBody>
      </p:sp>
      <p:sp>
        <p:nvSpPr>
          <p:cNvPr id="3" name="Text 1"/>
          <p:cNvSpPr/>
          <p:nvPr>
            <p:ph type="title"/>
          </p:nvPr>
        </p:nvSpPr>
        <p:spPr>
          <a:xfrm>
            <a:off x="812704" y="1076802"/>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Rare classes and resolution</a:t>
            </a:r>
            <a:endParaRPr lang="en-US" sz="2800" dirty="0"/>
          </a:p>
        </p:txBody>
      </p:sp>
      <p:sp>
        <p:nvSpPr>
          <p:cNvPr id="4" name="Shape 2"/>
          <p:cNvSpPr/>
          <p:nvPr/>
        </p:nvSpPr>
        <p:spPr>
          <a:xfrm>
            <a:off x="815879" y="1742790"/>
            <a:ext cx="5175268" cy="3332758"/>
          </a:xfrm>
          <a:prstGeom prst="roundRect">
            <a:avLst>
              <a:gd name="adj" fmla="val 2953"/>
            </a:avLst>
          </a:prstGeom>
          <a:solidFill>
            <a:srgbClr val="FDFDFB"/>
          </a:solidFill>
          <a:ln w="6350">
            <a:solidFill>
              <a:srgbClr val="D5DBE1"/>
            </a:solidFill>
            <a:prstDash val="solid"/>
          </a:ln>
        </p:spPr>
      </p:sp>
      <p:sp>
        <p:nvSpPr>
          <p:cNvPr id="5" name="Text 3"/>
          <p:cNvSpPr/>
          <p:nvPr/>
        </p:nvSpPr>
        <p:spPr>
          <a:xfrm>
            <a:off x="1072839" y="1999754"/>
            <a:ext cx="480118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A · Data imbalance (10-epoch screens)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5217" y="2357463"/>
          <a:ext cx="4661155" cy="1666508"/>
        </p:xfrm>
        <a:graphic>
          <a:graphicData uri="http://schemas.openxmlformats.org/drawingml/2006/table">
            <a:tbl>
              <a:tblPr/>
              <a:tblGrid>
                <a:gridCol w="2423800"/>
                <a:gridCol w="1118677"/>
                <a:gridCol w="1118677"/>
              </a:tblGrid>
              <a:tr h="589897">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mIoU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Destroyed IoU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Uniform shuffle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0.3978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0.0898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Weighted sampler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0.4051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0.1017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Copy-paste, leak-free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0.4017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0.0949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7" name="Text 4"/>
          <p:cNvSpPr/>
          <p:nvPr/>
        </p:nvSpPr>
        <p:spPr>
          <a:xfrm>
            <a:off x="1072839" y="4125509"/>
            <a:ext cx="4801188"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The sampler gave the clearest Destroyed gain. Copy-paste was neutral once a validation leak was removed, and it pasted buildings at 2× scale; a fixed version is being re-run.</a:t>
            </a:r>
            <a:endParaRPr lang="en-US" sz="1300" dirty="0"/>
          </a:p>
        </p:txBody>
      </p:sp>
      <p:sp>
        <p:nvSpPr>
          <p:cNvPr id="8" name="Shape 5"/>
          <p:cNvSpPr/>
          <p:nvPr/>
        </p:nvSpPr>
        <p:spPr>
          <a:xfrm>
            <a:off x="6200673" y="1742790"/>
            <a:ext cx="5175365" cy="3332758"/>
          </a:xfrm>
          <a:prstGeom prst="roundRect">
            <a:avLst>
              <a:gd name="adj" fmla="val 2953"/>
            </a:avLst>
          </a:prstGeom>
          <a:solidFill>
            <a:srgbClr val="FDFDFB"/>
          </a:solidFill>
          <a:ln w="6350">
            <a:solidFill>
              <a:srgbClr val="D5DBE1"/>
            </a:solidFill>
            <a:prstDash val="solid"/>
          </a:ln>
        </p:spPr>
      </p:sp>
      <p:sp>
        <p:nvSpPr>
          <p:cNvPr id="9" name="Text 6"/>
          <p:cNvSpPr/>
          <p:nvPr/>
        </p:nvSpPr>
        <p:spPr>
          <a:xfrm>
            <a:off x="6457633" y="1999754"/>
            <a:ext cx="4801288"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D · Resolution and inference (40 epochs)</a:t>
            </a:r>
            <a:endParaRPr lang="en-US" sz="1600" dirty="0"/>
          </a:p>
        </p:txBody>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470012" y="2357463"/>
          <a:ext cx="4661155" cy="1666508"/>
        </p:xfrm>
        <a:graphic>
          <a:graphicData uri="http://schemas.openxmlformats.org/drawingml/2006/table">
            <a:tbl>
              <a:tblPr/>
              <a:tblGrid>
                <a:gridCol w="2423800"/>
                <a:gridCol w="1118677"/>
                <a:gridCol w="1118677"/>
              </a:tblGrid>
              <a:tr h="589897">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mIoU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c>
                  <a:txBody>
                    <a:bodyPr/>
                    <a:lstStyle/>
                    <a:p>
                      <a:pPr indent="0" marL="0">
                        <a:lnSpc>
                          <a:spcPts val="1820"/>
                        </a:lnSpc>
                        <a:buNone/>
                      </a:pPr>
                      <a:r>
                        <a:rPr lang="en-US" sz="1300" b="1" dirty="0">
                          <a:solidFill>
                            <a:srgbClr val="F7F7F4"/>
                          </a:solidFill>
                          <a:latin typeface="IBM Plex Sans" pitchFamily="34" charset="0"/>
                          <a:ea typeface="IBM Plex Sans" pitchFamily="34" charset="-122"/>
                          <a:cs typeface="IBM Plex Sans" pitchFamily="34" charset="-120"/>
                        </a:rPr>
                        <a:t>Destroyed IoU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151D26"/>
                      </a:solidFill>
                      <a:prstDash val="solid"/>
                      <a:round/>
                      <a:headEnd type="none" w="med" len="med"/>
                      <a:tailEnd type="none" w="med" len="med"/>
                    </a:lnB>
                    <a:solidFill>
                      <a:srgbClr val="15202B"/>
                    </a:solidFill>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Random crop 512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0.4452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0.1070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Random crop 768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0.4757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0.1768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r h="358870">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768 + 8-view TTA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0.4902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c>
                  <a:txBody>
                    <a:bodyPr/>
                    <a:lstStyle/>
                    <a:p>
                      <a:pP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0.1953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ACAC8"/>
                      </a:solidFill>
                      <a:prstDash val="solid"/>
                      <a:round/>
                      <a:headEnd type="none" w="med" len="med"/>
                      <a:tailEnd type="none" w="med" len="med"/>
                    </a:lnL>
                    <a:lnR w="12700" cap="flat" cmpd="sng" algn="ctr">
                      <a:solidFill>
                        <a:srgbClr val="CACAC8"/>
                      </a:solidFill>
                      <a:prstDash val="solid"/>
                      <a:round/>
                      <a:headEnd type="none" w="med" len="med"/>
                      <a:tailEnd type="none" w="med" len="med"/>
                    </a:lnR>
                    <a:lnT w="12700" cap="flat" cmpd="sng" algn="ctr">
                      <a:solidFill>
                        <a:srgbClr val="CACAC8"/>
                      </a:solidFill>
                      <a:prstDash val="solid"/>
                      <a:round/>
                      <a:headEnd type="none" w="med" len="med"/>
                      <a:tailEnd type="none" w="med" len="med"/>
                    </a:lnT>
                    <a:lnB w="12700" cap="flat" cmpd="sng" algn="ctr">
                      <a:solidFill>
                        <a:srgbClr val="CACAC8"/>
                      </a:solidFill>
                      <a:prstDash val="solid"/>
                      <a:round/>
                      <a:headEnd type="none" w="med" len="med"/>
                      <a:tailEnd type="none" w="med" len="med"/>
                    </a:lnB>
                  </a:tcPr>
                </a:tc>
              </a:tr>
            </a:tbl>
          </a:graphicData>
        </a:graphic>
      </p:graphicFrame>
      <p:sp>
        <p:nvSpPr>
          <p:cNvPr id="11" name="Text 7"/>
          <p:cNvSpPr/>
          <p:nvPr/>
        </p:nvSpPr>
        <p:spPr>
          <a:xfrm>
            <a:off x="6457633" y="4125509"/>
            <a:ext cx="4801288" cy="7184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Native 768 crops beat 512 crops (Destroyed IoU +65%), and TTA added 0.004–0.015 mIoU for free. These scores came from random crops; we now re-score on whole native images.</a:t>
            </a:r>
            <a:endParaRPr lang="en-US" sz="1300" dirty="0"/>
          </a:p>
        </p:txBody>
      </p:sp>
      <p:sp>
        <p:nvSpPr>
          <p:cNvPr id="12" name="Text 8"/>
          <p:cNvSpPr/>
          <p:nvPr/>
        </p:nvSpPr>
        <p:spPr>
          <a:xfrm>
            <a:off x="812704" y="6238311"/>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13" name="Text 9"/>
          <p:cNvSpPr/>
          <p:nvPr/>
        </p:nvSpPr>
        <p:spPr>
          <a:xfrm>
            <a:off x="10312340" y="6238311"/>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6238311"/>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3" name="Text 1"/>
          <p:cNvSpPr/>
          <p:nvPr/>
        </p:nvSpPr>
        <p:spPr>
          <a:xfrm>
            <a:off x="10312340" y="6238311"/>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10 / 14</a:t>
            </a:r>
            <a:endParaRPr lang="en-US" sz="1200" dirty="0"/>
          </a:p>
        </p:txBody>
      </p:sp>
      <p:sp>
        <p:nvSpPr>
          <p:cNvPr id="4" name="Text 2"/>
          <p:cNvSpPr/>
          <p:nvPr/>
        </p:nvSpPr>
        <p:spPr>
          <a:xfrm>
            <a:off x="812704" y="812707"/>
            <a:ext cx="10889879"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499B WORK SO FAR · TRACKS B AND C</a:t>
            </a:r>
            <a:endParaRPr lang="en-US" sz="1200" dirty="0"/>
          </a:p>
        </p:txBody>
      </p:sp>
      <p:sp>
        <p:nvSpPr>
          <p:cNvPr id="5" name="Text 3"/>
          <p:cNvSpPr/>
          <p:nvPr>
            <p:ph type="title"/>
          </p:nvPr>
        </p:nvSpPr>
        <p:spPr>
          <a:xfrm>
            <a:off x="812704" y="1076809"/>
            <a:ext cx="10889879"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The loss function was the biggest lever</a:t>
            </a:r>
            <a:endParaRPr lang="en-US" sz="2800" dirty="0"/>
          </a:p>
        </p:txBody>
      </p:sp>
      <p:sp>
        <p:nvSpPr>
          <p:cNvPr id="6" name="Shape 4"/>
          <p:cNvSpPr/>
          <p:nvPr/>
        </p:nvSpPr>
        <p:spPr>
          <a:xfrm>
            <a:off x="812704" y="1771532"/>
            <a:ext cx="152310" cy="152310"/>
          </a:xfrm>
          <a:prstGeom prst="rect">
            <a:avLst/>
          </a:prstGeom>
          <a:solidFill>
            <a:srgbClr val="2F6DB5"/>
          </a:solidFill>
          <a:ln/>
        </p:spPr>
      </p:sp>
      <p:sp>
        <p:nvSpPr>
          <p:cNvPr id="7" name="Text 5"/>
          <p:cNvSpPr/>
          <p:nvPr/>
        </p:nvSpPr>
        <p:spPr>
          <a:xfrm>
            <a:off x="1041120" y="1741072"/>
            <a:ext cx="45826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IBM Plex Sans" pitchFamily="34" charset="0"/>
                <a:ea typeface="IBM Plex Sans" pitchFamily="34" charset="-122"/>
                <a:cs typeface="IBM Plex Sans" pitchFamily="34" charset="-120"/>
              </a:rPr>
              <a:t>mIoU</a:t>
            </a:r>
            <a:endParaRPr lang="en-US" sz="1200" dirty="0"/>
          </a:p>
        </p:txBody>
      </p:sp>
      <p:sp>
        <p:nvSpPr>
          <p:cNvPr id="8" name="Shape 6"/>
          <p:cNvSpPr/>
          <p:nvPr/>
        </p:nvSpPr>
        <p:spPr>
          <a:xfrm>
            <a:off x="1626182" y="1771532"/>
            <a:ext cx="152310" cy="152310"/>
          </a:xfrm>
          <a:prstGeom prst="rect">
            <a:avLst/>
          </a:prstGeom>
          <a:solidFill>
            <a:srgbClr val="D9601A"/>
          </a:solidFill>
          <a:ln/>
        </p:spPr>
      </p:sp>
      <p:sp>
        <p:nvSpPr>
          <p:cNvPr id="9" name="Text 7"/>
          <p:cNvSpPr/>
          <p:nvPr/>
        </p:nvSpPr>
        <p:spPr>
          <a:xfrm>
            <a:off x="1854598" y="1741072"/>
            <a:ext cx="118122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IBM Plex Sans" pitchFamily="34" charset="0"/>
                <a:ea typeface="IBM Plex Sans" pitchFamily="34" charset="-122"/>
                <a:cs typeface="IBM Plex Sans" pitchFamily="34" charset="-120"/>
              </a:rPr>
              <a:t>Destroyed IoU</a:t>
            </a:r>
            <a:endParaRPr lang="en-US" sz="1200" dirty="0"/>
          </a:p>
        </p:txBody>
      </p:sp>
      <p:sp>
        <p:nvSpPr>
          <p:cNvPr id="10" name="Shape 8"/>
          <p:cNvSpPr/>
          <p:nvPr/>
        </p:nvSpPr>
        <p:spPr>
          <a:xfrm>
            <a:off x="3042129" y="1847974"/>
            <a:ext cx="253946" cy="0"/>
          </a:xfrm>
          <a:prstGeom prst="line">
            <a:avLst/>
          </a:prstGeom>
          <a:noFill/>
          <a:ln w="19050">
            <a:solidFill>
              <a:srgbClr val="15202B"/>
            </a:solidFill>
            <a:prstDash val="dash"/>
          </a:ln>
        </p:spPr>
      </p:sp>
      <p:sp>
        <p:nvSpPr>
          <p:cNvPr id="11" name="Text 9"/>
          <p:cNvSpPr/>
          <p:nvPr/>
        </p:nvSpPr>
        <p:spPr>
          <a:xfrm>
            <a:off x="3372181" y="1741072"/>
            <a:ext cx="174599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IBM Plex Sans" pitchFamily="34" charset="0"/>
                <a:ea typeface="IBM Plex Sans" pitchFamily="34" charset="-122"/>
                <a:cs typeface="IBM Plex Sans" pitchFamily="34" charset="-120"/>
              </a:rPr>
              <a:t>Phase Gate thresholds</a:t>
            </a:r>
            <a:endParaRPr lang="en-US" sz="1200" dirty="0"/>
          </a:p>
        </p:txBody>
      </p:sp>
      <p:sp>
        <p:nvSpPr>
          <p:cNvPr id="12" name="Text 10"/>
          <p:cNvSpPr/>
          <p:nvPr/>
        </p:nvSpPr>
        <p:spPr>
          <a:xfrm>
            <a:off x="5118180" y="1741072"/>
            <a:ext cx="6033430"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40 epochs · evaluated on images resized to 512 · ResNet-34 unless noted</a:t>
            </a:r>
            <a:endParaRPr lang="en-US" sz="1200" dirty="0"/>
          </a:p>
        </p:txBody>
      </p:sp>
      <p:sp>
        <p:nvSpPr>
          <p:cNvPr id="13" name="Text 11"/>
          <p:cNvSpPr/>
          <p:nvPr/>
        </p:nvSpPr>
        <p:spPr>
          <a:xfrm>
            <a:off x="812704" y="2259310"/>
            <a:ext cx="300858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B1 · U-Net, CE + Dice (baseline)</a:t>
            </a:r>
            <a:endParaRPr lang="en-US" sz="1300" dirty="0"/>
          </a:p>
        </p:txBody>
      </p:sp>
      <p:sp>
        <p:nvSpPr>
          <p:cNvPr id="14" name="Shape 12"/>
          <p:cNvSpPr/>
          <p:nvPr/>
        </p:nvSpPr>
        <p:spPr>
          <a:xfrm>
            <a:off x="3885972" y="2209794"/>
            <a:ext cx="4889474" cy="152310"/>
          </a:xfrm>
          <a:prstGeom prst="rect">
            <a:avLst/>
          </a:prstGeom>
          <a:solidFill>
            <a:srgbClr val="2F6DB5"/>
          </a:solidFill>
          <a:ln/>
        </p:spPr>
      </p:sp>
      <p:sp>
        <p:nvSpPr>
          <p:cNvPr id="15" name="Text 13"/>
          <p:cNvSpPr/>
          <p:nvPr/>
        </p:nvSpPr>
        <p:spPr>
          <a:xfrm>
            <a:off x="10337416" y="2209794"/>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0.4619</a:t>
            </a:r>
            <a:endParaRPr lang="en-US" sz="1200" dirty="0"/>
          </a:p>
        </p:txBody>
      </p:sp>
      <p:sp>
        <p:nvSpPr>
          <p:cNvPr id="16" name="Shape 14"/>
          <p:cNvSpPr/>
          <p:nvPr/>
        </p:nvSpPr>
        <p:spPr>
          <a:xfrm>
            <a:off x="3885972" y="2387538"/>
            <a:ext cx="1752575" cy="152310"/>
          </a:xfrm>
          <a:prstGeom prst="rect">
            <a:avLst/>
          </a:prstGeom>
          <a:solidFill>
            <a:srgbClr val="D9601A"/>
          </a:solidFill>
          <a:ln/>
        </p:spPr>
      </p:sp>
      <p:sp>
        <p:nvSpPr>
          <p:cNvPr id="17" name="Text 15"/>
          <p:cNvSpPr/>
          <p:nvPr/>
        </p:nvSpPr>
        <p:spPr>
          <a:xfrm>
            <a:off x="10337416" y="2387538"/>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0.1658</a:t>
            </a:r>
            <a:endParaRPr lang="en-US" sz="1200" dirty="0"/>
          </a:p>
        </p:txBody>
      </p:sp>
      <p:sp>
        <p:nvSpPr>
          <p:cNvPr id="18" name="Text 16"/>
          <p:cNvSpPr/>
          <p:nvPr/>
        </p:nvSpPr>
        <p:spPr>
          <a:xfrm>
            <a:off x="812704" y="2690999"/>
            <a:ext cx="300858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B2 · U-Net++, CE + Dice</a:t>
            </a:r>
            <a:endParaRPr lang="en-US" sz="1300" dirty="0"/>
          </a:p>
        </p:txBody>
      </p:sp>
      <p:sp>
        <p:nvSpPr>
          <p:cNvPr id="19" name="Shape 17"/>
          <p:cNvSpPr/>
          <p:nvPr/>
        </p:nvSpPr>
        <p:spPr>
          <a:xfrm>
            <a:off x="3885972" y="2641482"/>
            <a:ext cx="4660865" cy="152310"/>
          </a:xfrm>
          <a:prstGeom prst="rect">
            <a:avLst/>
          </a:prstGeom>
          <a:solidFill>
            <a:srgbClr val="2F6DB5"/>
          </a:solidFill>
          <a:ln/>
        </p:spPr>
      </p:sp>
      <p:sp>
        <p:nvSpPr>
          <p:cNvPr id="20" name="Text 18"/>
          <p:cNvSpPr/>
          <p:nvPr/>
        </p:nvSpPr>
        <p:spPr>
          <a:xfrm>
            <a:off x="10337416" y="2641482"/>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0.4405</a:t>
            </a:r>
            <a:endParaRPr lang="en-US" sz="1200" dirty="0"/>
          </a:p>
        </p:txBody>
      </p:sp>
      <p:sp>
        <p:nvSpPr>
          <p:cNvPr id="21" name="Shape 19"/>
          <p:cNvSpPr/>
          <p:nvPr/>
        </p:nvSpPr>
        <p:spPr>
          <a:xfrm>
            <a:off x="3885972" y="2819226"/>
            <a:ext cx="1384228" cy="152310"/>
          </a:xfrm>
          <a:prstGeom prst="rect">
            <a:avLst/>
          </a:prstGeom>
          <a:solidFill>
            <a:srgbClr val="D9601A"/>
          </a:solidFill>
          <a:ln/>
        </p:spPr>
      </p:sp>
      <p:sp>
        <p:nvSpPr>
          <p:cNvPr id="22" name="Text 20"/>
          <p:cNvSpPr/>
          <p:nvPr/>
        </p:nvSpPr>
        <p:spPr>
          <a:xfrm>
            <a:off x="10337416" y="2819226"/>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0.1307</a:t>
            </a:r>
            <a:endParaRPr lang="en-US" sz="1200" dirty="0"/>
          </a:p>
        </p:txBody>
      </p:sp>
      <p:sp>
        <p:nvSpPr>
          <p:cNvPr id="23" name="Text 21"/>
          <p:cNvSpPr/>
          <p:nvPr/>
        </p:nvSpPr>
        <p:spPr>
          <a:xfrm>
            <a:off x="812704" y="3122687"/>
            <a:ext cx="300858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B4 · DeepLabV3+, CE + Dice</a:t>
            </a:r>
            <a:endParaRPr lang="en-US" sz="1300" dirty="0"/>
          </a:p>
        </p:txBody>
      </p:sp>
      <p:sp>
        <p:nvSpPr>
          <p:cNvPr id="24" name="Shape 22"/>
          <p:cNvSpPr/>
          <p:nvPr/>
        </p:nvSpPr>
        <p:spPr>
          <a:xfrm>
            <a:off x="3885972" y="3073171"/>
            <a:ext cx="4286232" cy="152310"/>
          </a:xfrm>
          <a:prstGeom prst="rect">
            <a:avLst/>
          </a:prstGeom>
          <a:solidFill>
            <a:srgbClr val="2F6DB5"/>
          </a:solidFill>
          <a:ln/>
        </p:spPr>
      </p:sp>
      <p:sp>
        <p:nvSpPr>
          <p:cNvPr id="25" name="Text 23"/>
          <p:cNvSpPr/>
          <p:nvPr/>
        </p:nvSpPr>
        <p:spPr>
          <a:xfrm>
            <a:off x="10337416" y="3073171"/>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0.4052</a:t>
            </a:r>
            <a:endParaRPr lang="en-US" sz="1200" dirty="0"/>
          </a:p>
        </p:txBody>
      </p:sp>
      <p:sp>
        <p:nvSpPr>
          <p:cNvPr id="26" name="Shape 24"/>
          <p:cNvSpPr/>
          <p:nvPr/>
        </p:nvSpPr>
        <p:spPr>
          <a:xfrm>
            <a:off x="3885972" y="3250915"/>
            <a:ext cx="977875" cy="152310"/>
          </a:xfrm>
          <a:prstGeom prst="rect">
            <a:avLst/>
          </a:prstGeom>
          <a:solidFill>
            <a:srgbClr val="D9601A"/>
          </a:solidFill>
          <a:ln/>
        </p:spPr>
      </p:sp>
      <p:sp>
        <p:nvSpPr>
          <p:cNvPr id="27" name="Text 25"/>
          <p:cNvSpPr/>
          <p:nvPr/>
        </p:nvSpPr>
        <p:spPr>
          <a:xfrm>
            <a:off x="10337416" y="3250915"/>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0.0923</a:t>
            </a:r>
            <a:endParaRPr lang="en-US" sz="1200" dirty="0"/>
          </a:p>
        </p:txBody>
      </p:sp>
      <p:sp>
        <p:nvSpPr>
          <p:cNvPr id="28" name="Text 26"/>
          <p:cNvSpPr/>
          <p:nvPr/>
        </p:nvSpPr>
        <p:spPr>
          <a:xfrm>
            <a:off x="812704" y="3554375"/>
            <a:ext cx="300858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C2 · Focal Tversky loss</a:t>
            </a:r>
            <a:endParaRPr lang="en-US" sz="1300" dirty="0"/>
          </a:p>
        </p:txBody>
      </p:sp>
      <p:sp>
        <p:nvSpPr>
          <p:cNvPr id="29" name="Shape 27"/>
          <p:cNvSpPr/>
          <p:nvPr/>
        </p:nvSpPr>
        <p:spPr>
          <a:xfrm>
            <a:off x="3885972" y="3504859"/>
            <a:ext cx="5486334" cy="152310"/>
          </a:xfrm>
          <a:prstGeom prst="rect">
            <a:avLst/>
          </a:prstGeom>
          <a:solidFill>
            <a:srgbClr val="2F6DB5"/>
          </a:solidFill>
          <a:ln/>
        </p:spPr>
      </p:sp>
      <p:sp>
        <p:nvSpPr>
          <p:cNvPr id="30" name="Text 28"/>
          <p:cNvSpPr/>
          <p:nvPr/>
        </p:nvSpPr>
        <p:spPr>
          <a:xfrm>
            <a:off x="10337416" y="3504859"/>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0.5181</a:t>
            </a:r>
            <a:endParaRPr lang="en-US" sz="1200" dirty="0"/>
          </a:p>
        </p:txBody>
      </p:sp>
      <p:sp>
        <p:nvSpPr>
          <p:cNvPr id="31" name="Shape 29"/>
          <p:cNvSpPr/>
          <p:nvPr/>
        </p:nvSpPr>
        <p:spPr>
          <a:xfrm>
            <a:off x="3885972" y="3682603"/>
            <a:ext cx="2717782" cy="152310"/>
          </a:xfrm>
          <a:prstGeom prst="rect">
            <a:avLst/>
          </a:prstGeom>
          <a:solidFill>
            <a:srgbClr val="D9601A"/>
          </a:solidFill>
          <a:ln/>
        </p:spPr>
      </p:sp>
      <p:sp>
        <p:nvSpPr>
          <p:cNvPr id="32" name="Text 30"/>
          <p:cNvSpPr/>
          <p:nvPr/>
        </p:nvSpPr>
        <p:spPr>
          <a:xfrm>
            <a:off x="10337416" y="3682603"/>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0.2568</a:t>
            </a:r>
            <a:endParaRPr lang="en-US" sz="1200" dirty="0"/>
          </a:p>
        </p:txBody>
      </p:sp>
      <p:sp>
        <p:nvSpPr>
          <p:cNvPr id="33" name="Text 31"/>
          <p:cNvSpPr/>
          <p:nvPr/>
        </p:nvSpPr>
        <p:spPr>
          <a:xfrm>
            <a:off x="812704" y="3986064"/>
            <a:ext cx="300858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C4 · Focal Tversky → Lovász</a:t>
            </a:r>
            <a:endParaRPr lang="en-US" sz="1300" dirty="0"/>
          </a:p>
        </p:txBody>
      </p:sp>
      <p:sp>
        <p:nvSpPr>
          <p:cNvPr id="34" name="Shape 32"/>
          <p:cNvSpPr/>
          <p:nvPr/>
        </p:nvSpPr>
        <p:spPr>
          <a:xfrm>
            <a:off x="3885972" y="3936554"/>
            <a:ext cx="5537104" cy="152310"/>
          </a:xfrm>
          <a:prstGeom prst="rect">
            <a:avLst/>
          </a:prstGeom>
          <a:solidFill>
            <a:srgbClr val="2F6DB5"/>
          </a:solidFill>
          <a:ln/>
        </p:spPr>
      </p:sp>
      <p:sp>
        <p:nvSpPr>
          <p:cNvPr id="35" name="Text 33"/>
          <p:cNvSpPr/>
          <p:nvPr/>
        </p:nvSpPr>
        <p:spPr>
          <a:xfrm>
            <a:off x="10337416" y="3936554"/>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0.5233</a:t>
            </a:r>
            <a:endParaRPr lang="en-US" sz="1200" dirty="0"/>
          </a:p>
        </p:txBody>
      </p:sp>
      <p:sp>
        <p:nvSpPr>
          <p:cNvPr id="36" name="Shape 34"/>
          <p:cNvSpPr/>
          <p:nvPr/>
        </p:nvSpPr>
        <p:spPr>
          <a:xfrm>
            <a:off x="3885972" y="4114292"/>
            <a:ext cx="2882857" cy="152310"/>
          </a:xfrm>
          <a:prstGeom prst="rect">
            <a:avLst/>
          </a:prstGeom>
          <a:solidFill>
            <a:srgbClr val="D9601A"/>
          </a:solidFill>
          <a:ln/>
        </p:spPr>
      </p:sp>
      <p:sp>
        <p:nvSpPr>
          <p:cNvPr id="37" name="Text 35"/>
          <p:cNvSpPr/>
          <p:nvPr/>
        </p:nvSpPr>
        <p:spPr>
          <a:xfrm>
            <a:off x="10337416" y="4114292"/>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0.2722</a:t>
            </a:r>
            <a:endParaRPr lang="en-US" sz="1200" dirty="0"/>
          </a:p>
        </p:txBody>
      </p:sp>
      <p:sp>
        <p:nvSpPr>
          <p:cNvPr id="38" name="Text 36"/>
          <p:cNvSpPr/>
          <p:nvPr/>
        </p:nvSpPr>
        <p:spPr>
          <a:xfrm>
            <a:off x="812704" y="4417752"/>
            <a:ext cx="3008587" cy="2564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02B"/>
                </a:solidFill>
                <a:latin typeface="IBM Plex Sans" pitchFamily="34" charset="0"/>
                <a:ea typeface="IBM Plex Sans" pitchFamily="34" charset="-122"/>
                <a:cs typeface="IBM Plex Sans" pitchFamily="34" charset="-120"/>
              </a:rPr>
              <a:t>C5 · C4 + ResNet-50 (best)</a:t>
            </a:r>
            <a:endParaRPr lang="en-US" sz="1300" dirty="0"/>
          </a:p>
        </p:txBody>
      </p:sp>
      <p:sp>
        <p:nvSpPr>
          <p:cNvPr id="39" name="Shape 37"/>
          <p:cNvSpPr/>
          <p:nvPr/>
        </p:nvSpPr>
        <p:spPr>
          <a:xfrm>
            <a:off x="3885972" y="4368242"/>
            <a:ext cx="5607021" cy="152310"/>
          </a:xfrm>
          <a:prstGeom prst="rect">
            <a:avLst/>
          </a:prstGeom>
          <a:solidFill>
            <a:srgbClr val="2F6DB5"/>
          </a:solidFill>
          <a:ln/>
        </p:spPr>
      </p:sp>
      <p:sp>
        <p:nvSpPr>
          <p:cNvPr id="40" name="Text 38"/>
          <p:cNvSpPr/>
          <p:nvPr/>
        </p:nvSpPr>
        <p:spPr>
          <a:xfrm>
            <a:off x="10337416" y="4368242"/>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2F6DB5"/>
                </a:solidFill>
                <a:latin typeface="IBM Plex Sans" pitchFamily="34" charset="0"/>
                <a:ea typeface="IBM Plex Sans" pitchFamily="34" charset="-122"/>
                <a:cs typeface="IBM Plex Sans" pitchFamily="34" charset="-120"/>
              </a:rPr>
              <a:t>0.5296</a:t>
            </a:r>
            <a:endParaRPr lang="en-US" sz="1200" dirty="0"/>
          </a:p>
        </p:txBody>
      </p:sp>
      <p:sp>
        <p:nvSpPr>
          <p:cNvPr id="41" name="Shape 39"/>
          <p:cNvSpPr/>
          <p:nvPr/>
        </p:nvSpPr>
        <p:spPr>
          <a:xfrm>
            <a:off x="3885972" y="4545980"/>
            <a:ext cx="2952677" cy="152310"/>
          </a:xfrm>
          <a:prstGeom prst="rect">
            <a:avLst/>
          </a:prstGeom>
          <a:solidFill>
            <a:srgbClr val="D9601A"/>
          </a:solidFill>
          <a:ln/>
        </p:spPr>
      </p:sp>
      <p:sp>
        <p:nvSpPr>
          <p:cNvPr id="42" name="Text 40"/>
          <p:cNvSpPr/>
          <p:nvPr/>
        </p:nvSpPr>
        <p:spPr>
          <a:xfrm>
            <a:off x="10337416" y="4545980"/>
            <a:ext cx="812734" cy="177806"/>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B84A0E"/>
                </a:solidFill>
                <a:latin typeface="IBM Plex Sans" pitchFamily="34" charset="0"/>
                <a:ea typeface="IBM Plex Sans" pitchFamily="34" charset="-122"/>
                <a:cs typeface="IBM Plex Sans" pitchFamily="34" charset="-120"/>
              </a:rPr>
              <a:t>0.2790</a:t>
            </a:r>
            <a:endParaRPr lang="en-US" sz="1200" dirty="0"/>
          </a:p>
        </p:txBody>
      </p:sp>
      <p:sp>
        <p:nvSpPr>
          <p:cNvPr id="43" name="Shape 41"/>
          <p:cNvSpPr/>
          <p:nvPr/>
        </p:nvSpPr>
        <p:spPr>
          <a:xfrm>
            <a:off x="7070594" y="2463744"/>
            <a:ext cx="0" cy="2489173"/>
          </a:xfrm>
          <a:prstGeom prst="line">
            <a:avLst/>
          </a:prstGeom>
          <a:noFill/>
          <a:ln w="19050">
            <a:solidFill>
              <a:srgbClr val="15202B"/>
            </a:solidFill>
            <a:prstDash val="dash"/>
          </a:ln>
        </p:spPr>
      </p:sp>
      <p:sp>
        <p:nvSpPr>
          <p:cNvPr id="44" name="Shape 42"/>
          <p:cNvSpPr/>
          <p:nvPr/>
        </p:nvSpPr>
        <p:spPr>
          <a:xfrm>
            <a:off x="9401075" y="2463744"/>
            <a:ext cx="0" cy="2489173"/>
          </a:xfrm>
          <a:prstGeom prst="line">
            <a:avLst/>
          </a:prstGeom>
          <a:noFill/>
          <a:ln w="19050">
            <a:solidFill>
              <a:srgbClr val="15202B"/>
            </a:solidFill>
            <a:prstDash val="dash"/>
          </a:ln>
        </p:spPr>
      </p:sp>
      <p:sp>
        <p:nvSpPr>
          <p:cNvPr id="45" name="Text 43"/>
          <p:cNvSpPr/>
          <p:nvPr/>
        </p:nvSpPr>
        <p:spPr>
          <a:xfrm>
            <a:off x="9436614" y="4727978"/>
            <a:ext cx="170173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IBM Plex Sans" pitchFamily="34" charset="0"/>
                <a:ea typeface="IBM Plex Sans" pitchFamily="34" charset="-122"/>
                <a:cs typeface="IBM Plex Sans" pitchFamily="34" charset="-120"/>
              </a:rPr>
              <a:t>mIoU gate 0.52</a:t>
            </a:r>
            <a:endParaRPr lang="en-US" sz="1200" dirty="0"/>
          </a:p>
        </p:txBody>
      </p:sp>
      <p:sp>
        <p:nvSpPr>
          <p:cNvPr id="46" name="Text 44"/>
          <p:cNvSpPr/>
          <p:nvPr/>
        </p:nvSpPr>
        <p:spPr>
          <a:xfrm>
            <a:off x="812704" y="5206957"/>
            <a:ext cx="10889879" cy="48745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6"/>
                </a:solidFill>
                <a:latin typeface="IBM Plex Sans" pitchFamily="34" charset="0"/>
                <a:ea typeface="IBM Plex Sans" pitchFamily="34" charset="-122"/>
                <a:cs typeface="IBM Plex Sans" pitchFamily="34" charset="-120"/>
              </a:rPr>
              <a:t>Focal Tversky alone added +0.056 mIoU and +55% Destroyed IoU;</a:t>
            </a:r>
            <a:r>
              <a:rPr lang="en-US" sz="1300" dirty="0">
                <a:solidFill>
                  <a:srgbClr val="3E4A56"/>
                </a:solidFill>
                <a:latin typeface="IBM Plex Sans" pitchFamily="34" charset="0"/>
                <a:ea typeface="IBM Plex Sans" pitchFamily="34" charset="-122"/>
                <a:cs typeface="IBM Plex Sans" pitchFamily="34" charset="-120"/>
              </a:rPr>
              <a:t> decoder swaps under CE + Dice did not help, and MA-Net collapsed to all-background. The best run, C5, passes the mIoU gate (0.5296) but not the Destroyed gate (0.279).</a:t>
            </a:r>
            <a:endParaRPr lang="en-US" sz="1300" dirty="0"/>
          </a:p>
        </p:txBody>
      </p:sp>
      <p:sp>
        <p:nvSpPr>
          <p:cNvPr id="47" name="Text 45"/>
          <p:cNvSpPr/>
          <p:nvPr/>
        </p:nvSpPr>
        <p:spPr>
          <a:xfrm>
            <a:off x="7106231" y="4739487"/>
            <a:ext cx="1962130"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2B"/>
                </a:solidFill>
                <a:latin typeface="IBM Plex Sans" pitchFamily="34" charset="0"/>
                <a:ea typeface="IBM Plex Sans" pitchFamily="34" charset="-122"/>
                <a:cs typeface="IBM Plex Sans" pitchFamily="34" charset="-120"/>
              </a:rPr>
              <a:t>Destroyed gate 0.30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FF1"/>
        </a:solidFill>
      </p:bgPr>
    </p:bg>
    <p:spTree>
      <p:nvGrpSpPr>
        <p:cNvPr id="1" name=""/>
        <p:cNvGrpSpPr/>
        <p:nvPr/>
      </p:nvGrpSpPr>
      <p:grpSpPr>
        <a:xfrm>
          <a:off x="0" y="0"/>
          <a:ext cx="0" cy="0"/>
          <a:chOff x="0" y="0"/>
          <a:chExt cx="0" cy="0"/>
        </a:xfrm>
      </p:grpSpPr>
      <p:sp>
        <p:nvSpPr>
          <p:cNvPr id="2" name="Text 0"/>
          <p:cNvSpPr/>
          <p:nvPr/>
        </p:nvSpPr>
        <p:spPr>
          <a:xfrm>
            <a:off x="812704" y="812701"/>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FUTURE WORK · BEYOND FINE-TUNING</a:t>
            </a:r>
            <a:endParaRPr lang="en-US" sz="1200" dirty="0"/>
          </a:p>
        </p:txBody>
      </p:sp>
      <p:sp>
        <p:nvSpPr>
          <p:cNvPr id="3" name="Text 1"/>
          <p:cNvSpPr/>
          <p:nvPr>
            <p:ph type="title"/>
          </p:nvPr>
        </p:nvSpPr>
        <p:spPr>
          <a:xfrm>
            <a:off x="812704" y="1076802"/>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Four directions for the rest of 499B</a:t>
            </a:r>
            <a:endParaRPr lang="en-US" sz="2800" dirty="0"/>
          </a:p>
        </p:txBody>
      </p:sp>
      <p:sp>
        <p:nvSpPr>
          <p:cNvPr id="4" name="Shape 2"/>
          <p:cNvSpPr/>
          <p:nvPr/>
        </p:nvSpPr>
        <p:spPr>
          <a:xfrm>
            <a:off x="815879" y="1692021"/>
            <a:ext cx="5200702" cy="1661705"/>
          </a:xfrm>
          <a:prstGeom prst="roundRect">
            <a:avLst>
              <a:gd name="adj" fmla="val 5923"/>
            </a:avLst>
          </a:prstGeom>
          <a:solidFill>
            <a:srgbClr val="FDFDFB"/>
          </a:solidFill>
          <a:ln w="6350">
            <a:solidFill>
              <a:srgbClr val="D5DBE1"/>
            </a:solidFill>
            <a:prstDash val="solid"/>
          </a:ln>
        </p:spPr>
      </p:sp>
      <p:sp>
        <p:nvSpPr>
          <p:cNvPr id="5" name="Text 3"/>
          <p:cNvSpPr/>
          <p:nvPr/>
        </p:nvSpPr>
        <p:spPr>
          <a:xfrm>
            <a:off x="1022069" y="1898210"/>
            <a:ext cx="4931971"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1 · Show the model the "before" image</a:t>
            </a:r>
            <a:endParaRPr lang="en-US" sz="1600" dirty="0"/>
          </a:p>
        </p:txBody>
      </p:sp>
      <p:sp>
        <p:nvSpPr>
          <p:cNvPr id="6" name="Text 4"/>
          <p:cNvSpPr/>
          <p:nvPr/>
        </p:nvSpPr>
        <p:spPr>
          <a:xfrm>
            <a:off x="1022069" y="2218110"/>
            <a:ext cx="4931971"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What:</a:t>
            </a:r>
            <a:r>
              <a:rPr lang="en-US" sz="1200" dirty="0">
                <a:solidFill>
                  <a:srgbClr val="3E4A56"/>
                </a:solidFill>
                <a:latin typeface="IBM Plex Sans" pitchFamily="34" charset="0"/>
                <a:ea typeface="IBM Plex Sans" pitchFamily="34" charset="-122"/>
                <a:cs typeface="IBM Plex Sans" pitchFamily="34" charset="-120"/>
              </a:rPr>
              <a:t> feed the pre-disaster image with the post one; DisasterM3 has both.</a:t>
            </a:r>
            <a:endParaRPr lang="en-US" sz="1200" dirty="0"/>
          </a:p>
        </p:txBody>
      </p:sp>
      <p:sp>
        <p:nvSpPr>
          <p:cNvPr id="7" name="Text 5"/>
          <p:cNvSpPr/>
          <p:nvPr/>
        </p:nvSpPr>
        <p:spPr>
          <a:xfrm>
            <a:off x="1022069" y="2720876"/>
            <a:ext cx="4931971"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all five xView2 winners compared before and after; ours only sees rubble.</a:t>
            </a:r>
            <a:endParaRPr lang="en-US" sz="1200" dirty="0"/>
          </a:p>
        </p:txBody>
      </p:sp>
      <p:sp>
        <p:nvSpPr>
          <p:cNvPr id="8" name="Shape 6"/>
          <p:cNvSpPr/>
          <p:nvPr/>
        </p:nvSpPr>
        <p:spPr>
          <a:xfrm>
            <a:off x="6175240" y="1692021"/>
            <a:ext cx="5200798" cy="1661705"/>
          </a:xfrm>
          <a:prstGeom prst="roundRect">
            <a:avLst>
              <a:gd name="adj" fmla="val 5923"/>
            </a:avLst>
          </a:prstGeom>
          <a:solidFill>
            <a:srgbClr val="FDFDFB"/>
          </a:solidFill>
          <a:ln w="6350">
            <a:solidFill>
              <a:srgbClr val="D5DBE1"/>
            </a:solidFill>
            <a:prstDash val="solid"/>
          </a:ln>
        </p:spPr>
      </p:sp>
      <p:sp>
        <p:nvSpPr>
          <p:cNvPr id="9" name="Text 7"/>
          <p:cNvSpPr/>
          <p:nvPr/>
        </p:nvSpPr>
        <p:spPr>
          <a:xfrm>
            <a:off x="6381430" y="1898210"/>
            <a:ext cx="4932070"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2 · Find buildings, then grade each one</a:t>
            </a:r>
            <a:endParaRPr lang="en-US" sz="1600" dirty="0"/>
          </a:p>
        </p:txBody>
      </p:sp>
      <p:sp>
        <p:nvSpPr>
          <p:cNvPr id="10" name="Text 8"/>
          <p:cNvSpPr/>
          <p:nvPr/>
        </p:nvSpPr>
        <p:spPr>
          <a:xfrm>
            <a:off x="6381430" y="2218110"/>
            <a:ext cx="4932070"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What:</a:t>
            </a:r>
            <a:r>
              <a:rPr lang="en-US" sz="1200" dirty="0">
                <a:solidFill>
                  <a:srgbClr val="3E4A56"/>
                </a:solidFill>
                <a:latin typeface="IBM Plex Sans" pitchFamily="34" charset="0"/>
                <a:ea typeface="IBM Plex Sans" pitchFamily="34" charset="-122"/>
                <a:cs typeface="IBM Plex Sans" pitchFamily="34" charset="-120"/>
              </a:rPr>
              <a:t> SAM 3 outlines every building from one text prompt; a small classifier grades each.</a:t>
            </a:r>
            <a:endParaRPr lang="en-US" sz="1200" dirty="0"/>
          </a:p>
        </p:txBody>
      </p:sp>
      <p:sp>
        <p:nvSpPr>
          <p:cNvPr id="11" name="Text 9"/>
          <p:cNvSpPr/>
          <p:nvPr/>
        </p:nvSpPr>
        <p:spPr>
          <a:xfrm>
            <a:off x="6381430" y="2720876"/>
            <a:ext cx="4932070"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rare pixels become rare objects: 16,682 destroyed buildings, counted one by one.</a:t>
            </a:r>
            <a:endParaRPr lang="en-US" sz="1200" dirty="0"/>
          </a:p>
        </p:txBody>
      </p:sp>
      <p:sp>
        <p:nvSpPr>
          <p:cNvPr id="12" name="Shape 10"/>
          <p:cNvSpPr/>
          <p:nvPr/>
        </p:nvSpPr>
        <p:spPr>
          <a:xfrm>
            <a:off x="815879" y="3512387"/>
            <a:ext cx="5200702" cy="1661705"/>
          </a:xfrm>
          <a:prstGeom prst="roundRect">
            <a:avLst>
              <a:gd name="adj" fmla="val 5923"/>
            </a:avLst>
          </a:prstGeom>
          <a:solidFill>
            <a:srgbClr val="FDFDFB"/>
          </a:solidFill>
          <a:ln w="6350">
            <a:solidFill>
              <a:srgbClr val="D5DBE1"/>
            </a:solidFill>
            <a:prstDash val="solid"/>
          </a:ln>
        </p:spPr>
      </p:sp>
      <p:sp>
        <p:nvSpPr>
          <p:cNvPr id="13" name="Text 11"/>
          <p:cNvSpPr/>
          <p:nvPr/>
        </p:nvSpPr>
        <p:spPr>
          <a:xfrm>
            <a:off x="1022069" y="3718576"/>
            <a:ext cx="4931971"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3 · A VLM that plans, not guesses</a:t>
            </a:r>
            <a:endParaRPr lang="en-US" sz="1600" dirty="0"/>
          </a:p>
        </p:txBody>
      </p:sp>
      <p:sp>
        <p:nvSpPr>
          <p:cNvPr id="14" name="Text 12"/>
          <p:cNvSpPr/>
          <p:nvPr/>
        </p:nvSpPr>
        <p:spPr>
          <a:xfrm>
            <a:off x="1022069" y="4038476"/>
            <a:ext cx="4931971"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What:</a:t>
            </a:r>
            <a:r>
              <a:rPr lang="en-US" sz="1200" dirty="0">
                <a:solidFill>
                  <a:srgbClr val="3E4A56"/>
                </a:solidFill>
                <a:latin typeface="IBM Plex Sans" pitchFamily="34" charset="0"/>
                <a:ea typeface="IBM Plex Sans" pitchFamily="34" charset="-122"/>
                <a:cs typeface="IBM Plex Sans" pitchFamily="34" charset="-120"/>
              </a:rPr>
              <a:t> our fine-tuned Qwen calls tools (segmenter, counter, EMS-98 search) and reads exact counts.</a:t>
            </a:r>
            <a:endParaRPr lang="en-US" sz="1200" dirty="0"/>
          </a:p>
        </p:txBody>
      </p:sp>
      <p:sp>
        <p:nvSpPr>
          <p:cNvPr id="15" name="Text 13"/>
          <p:cNvSpPr/>
          <p:nvPr/>
        </p:nvSpPr>
        <p:spPr>
          <a:xfrm>
            <a:off x="1022069" y="4541242"/>
            <a:ext cx="4931971"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a VLM alone can't count (−10.62 in 499A); DisasTeller's reports become ours, offline.</a:t>
            </a:r>
            <a:endParaRPr lang="en-US" sz="1200" dirty="0"/>
          </a:p>
        </p:txBody>
      </p:sp>
      <p:sp>
        <p:nvSpPr>
          <p:cNvPr id="16" name="Shape 14"/>
          <p:cNvSpPr/>
          <p:nvPr/>
        </p:nvSpPr>
        <p:spPr>
          <a:xfrm>
            <a:off x="6175240" y="3512387"/>
            <a:ext cx="5200798" cy="1661705"/>
          </a:xfrm>
          <a:prstGeom prst="roundRect">
            <a:avLst>
              <a:gd name="adj" fmla="val 5923"/>
            </a:avLst>
          </a:prstGeom>
          <a:solidFill>
            <a:srgbClr val="FDFDFB"/>
          </a:solidFill>
          <a:ln w="6350">
            <a:solidFill>
              <a:srgbClr val="D5DBE1"/>
            </a:solidFill>
            <a:prstDash val="solid"/>
          </a:ln>
        </p:spPr>
      </p:sp>
      <p:sp>
        <p:nvSpPr>
          <p:cNvPr id="17" name="Text 15"/>
          <p:cNvSpPr/>
          <p:nvPr/>
        </p:nvSpPr>
        <p:spPr>
          <a:xfrm>
            <a:off x="6381430" y="3718576"/>
            <a:ext cx="4932070" cy="26919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B"/>
                </a:solidFill>
                <a:latin typeface="Space Grotesk" pitchFamily="34" charset="0"/>
                <a:ea typeface="Space Grotesk" pitchFamily="34" charset="-122"/>
                <a:cs typeface="Space Grotesk" pitchFamily="34" charset="-120"/>
              </a:rPr>
              <a:t>4 · Small enough for the field</a:t>
            </a:r>
            <a:endParaRPr lang="en-US" sz="1600" dirty="0"/>
          </a:p>
        </p:txBody>
      </p:sp>
      <p:sp>
        <p:nvSpPr>
          <p:cNvPr id="18" name="Text 16"/>
          <p:cNvSpPr/>
          <p:nvPr/>
        </p:nvSpPr>
        <p:spPr>
          <a:xfrm>
            <a:off x="6381430" y="4038476"/>
            <a:ext cx="4932070"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What:</a:t>
            </a:r>
            <a:r>
              <a:rPr lang="en-US" sz="1200" dirty="0">
                <a:solidFill>
                  <a:srgbClr val="3E4A56"/>
                </a:solidFill>
                <a:latin typeface="IBM Plex Sans" pitchFamily="34" charset="0"/>
                <a:ea typeface="IBM Plex Sans" pitchFamily="34" charset="-122"/>
                <a:cs typeface="IBM Plex Sans" pitchFamily="34" charset="-120"/>
              </a:rPr>
              <a:t> 7B → 3B distillation (notebooks ready), 4-bit quantisation, a lighter SAM 3.</a:t>
            </a:r>
            <a:endParaRPr lang="en-US" sz="1200" dirty="0"/>
          </a:p>
        </p:txBody>
      </p:sp>
      <p:sp>
        <p:nvSpPr>
          <p:cNvPr id="19" name="Text 17"/>
          <p:cNvSpPr/>
          <p:nvPr/>
        </p:nvSpPr>
        <p:spPr>
          <a:xfrm>
            <a:off x="6381430" y="4541242"/>
            <a:ext cx="4932070"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A0E"/>
                </a:solidFill>
                <a:latin typeface="IBM Plex Sans" pitchFamily="34" charset="0"/>
                <a:ea typeface="IBM Plex Sans" pitchFamily="34" charset="-122"/>
                <a:cs typeface="IBM Plex Sans" pitchFamily="34" charset="-120"/>
              </a:rPr>
              <a:t>Why:</a:t>
            </a:r>
            <a:r>
              <a:rPr lang="en-US" sz="1200" dirty="0">
                <a:solidFill>
                  <a:srgbClr val="3E4A56"/>
                </a:solidFill>
                <a:latin typeface="IBM Plex Sans" pitchFamily="34" charset="0"/>
                <a:ea typeface="IBM Plex Sans" pitchFamily="34" charset="-122"/>
                <a:cs typeface="IBM Plex Sans" pitchFamily="34" charset="-120"/>
              </a:rPr>
              <a:t> rescue laptops have about 6 GB; we will measure speed, memory and accuracy lost.</a:t>
            </a:r>
            <a:endParaRPr lang="en-US" sz="1200" dirty="0"/>
          </a:p>
        </p:txBody>
      </p:sp>
      <p:sp>
        <p:nvSpPr>
          <p:cNvPr id="20" name="Text 18"/>
          <p:cNvSpPr/>
          <p:nvPr/>
        </p:nvSpPr>
        <p:spPr>
          <a:xfrm>
            <a:off x="812704" y="5380441"/>
            <a:ext cx="10883505"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Closest related work:</a:t>
            </a:r>
            <a:r>
              <a:rPr lang="en-US" sz="1200" dirty="0">
                <a:solidFill>
                  <a:srgbClr val="5B6672"/>
                </a:solidFill>
                <a:latin typeface="IBM Plex Sans" pitchFamily="34" charset="0"/>
                <a:ea typeface="IBM Plex Sans" pitchFamily="34" charset="-122"/>
                <a:cs typeface="IBM Plex Sans" pitchFamily="34" charset="-120"/>
              </a:rPr>
              <a:t> BDAChat (2026) also segments buildings and grades each one, but with a large fine-tuned VLM. Ours is built to be cheap, countable and offline.</a:t>
            </a:r>
            <a:endParaRPr lang="en-US" sz="1200" dirty="0"/>
          </a:p>
        </p:txBody>
      </p:sp>
      <p:sp>
        <p:nvSpPr>
          <p:cNvPr id="21" name="Text 19"/>
          <p:cNvSpPr/>
          <p:nvPr/>
        </p:nvSpPr>
        <p:spPr>
          <a:xfrm>
            <a:off x="812704" y="6238304"/>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22" name="Text 20"/>
          <p:cNvSpPr/>
          <p:nvPr/>
        </p:nvSpPr>
        <p:spPr>
          <a:xfrm>
            <a:off x="10312340" y="6238304"/>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812707"/>
            <a:ext cx="1088350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FUTURE WORK · PROPOSED ARCHITECTURE</a:t>
            </a:r>
            <a:endParaRPr lang="en-US" sz="1200" dirty="0"/>
          </a:p>
        </p:txBody>
      </p:sp>
      <p:sp>
        <p:nvSpPr>
          <p:cNvPr id="3" name="Text 1"/>
          <p:cNvSpPr/>
          <p:nvPr>
            <p:ph type="title"/>
          </p:nvPr>
        </p:nvSpPr>
        <p:spPr>
          <a:xfrm>
            <a:off x="812704" y="1076802"/>
            <a:ext cx="10883505"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Proposed offline triage architecture</a:t>
            </a:r>
            <a:endParaRPr lang="en-US" sz="2800" dirty="0"/>
          </a:p>
        </p:txBody>
      </p:sp>
      <p:sp>
        <p:nvSpPr>
          <p:cNvPr id="4" name="Text 2"/>
          <p:cNvSpPr/>
          <p:nvPr/>
        </p:nvSpPr>
        <p:spPr>
          <a:xfrm>
            <a:off x="819054" y="1644334"/>
            <a:ext cx="1511266" cy="812769"/>
          </a:xfrm>
          <a:prstGeom prst="roundRect">
            <a:avLst>
              <a:gd name="adj" fmla="val 8594"/>
            </a:avLst>
          </a:prstGeom>
          <a:solidFill>
            <a:srgbClr val="FDFDFB"/>
          </a:solidFill>
          <a:ln w="12700">
            <a:solidFill>
              <a:srgbClr val="5B6672"/>
            </a:solidFill>
            <a:prstDash val="solid"/>
          </a:ln>
        </p:spPr>
        <p:txBody>
          <a:bodyPr wrap="none" lIns="0" tIns="61770" rIns="0" bIns="61770" rtlCol="0" anchor="ctr">
            <a:normAutofit/>
          </a:bodyPr>
          <a:lstStyle/>
          <a:p>
            <a:pPr algn="ctr"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Pre-disaster image</a:t>
            </a:r>
            <a:endParaRPr lang="en-US" sz="1200" dirty="0"/>
          </a:p>
        </p:txBody>
      </p:sp>
      <p:sp>
        <p:nvSpPr>
          <p:cNvPr id="5" name="Text 3"/>
          <p:cNvSpPr/>
          <p:nvPr/>
        </p:nvSpPr>
        <p:spPr>
          <a:xfrm>
            <a:off x="819054" y="2723747"/>
            <a:ext cx="1511266" cy="812769"/>
          </a:xfrm>
          <a:prstGeom prst="roundRect">
            <a:avLst>
              <a:gd name="adj" fmla="val 8594"/>
            </a:avLst>
          </a:prstGeom>
          <a:solidFill>
            <a:srgbClr val="FDFDFB"/>
          </a:solidFill>
          <a:ln w="12700">
            <a:solidFill>
              <a:srgbClr val="5B6672"/>
            </a:solidFill>
            <a:prstDash val="solid"/>
          </a:ln>
        </p:spPr>
        <p:txBody>
          <a:bodyPr wrap="square" lIns="87109" tIns="61770" rIns="36309" bIns="61770" rtlCol="0" anchor="ctr">
            <a:normAutofit/>
          </a:bodyPr>
          <a:lstStyle/>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Post-disaster image</a:t>
            </a:r>
            <a:endParaRPr lang="en-US" sz="1200" dirty="0"/>
          </a:p>
        </p:txBody>
      </p:sp>
      <p:sp>
        <p:nvSpPr>
          <p:cNvPr id="6" name="Text 4"/>
          <p:cNvSpPr/>
          <p:nvPr/>
        </p:nvSpPr>
        <p:spPr>
          <a:xfrm>
            <a:off x="819054" y="3739821"/>
            <a:ext cx="1511266" cy="812769"/>
          </a:xfrm>
          <a:prstGeom prst="roundRect">
            <a:avLst>
              <a:gd name="adj" fmla="val 8594"/>
            </a:avLst>
          </a:prstGeom>
          <a:solidFill>
            <a:srgbClr val="FDFDFB"/>
          </a:solidFill>
          <a:ln w="12700">
            <a:solidFill>
              <a:srgbClr val="5B6672"/>
            </a:solidFill>
            <a:prstDash val="solid"/>
          </a:ln>
        </p:spPr>
        <p:txBody>
          <a:bodyPr wrap="square" lIns="87109" tIns="61770" rIns="36309" bIns="61770" rtlCol="0" anchor="ctr">
            <a:normAutofit/>
          </a:bodyPr>
          <a:lstStyle/>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Responder's question</a:t>
            </a:r>
            <a:endParaRPr lang="en-US" sz="1200" dirty="0"/>
          </a:p>
        </p:txBody>
      </p:sp>
      <p:sp>
        <p:nvSpPr>
          <p:cNvPr id="7" name="Text 5"/>
          <p:cNvSpPr/>
          <p:nvPr/>
        </p:nvSpPr>
        <p:spPr>
          <a:xfrm>
            <a:off x="2724035" y="1644334"/>
            <a:ext cx="2654216" cy="812769"/>
          </a:xfrm>
          <a:prstGeom prst="roundRect">
            <a:avLst>
              <a:gd name="adj" fmla="val 8594"/>
            </a:avLst>
          </a:prstGeom>
          <a:solidFill>
            <a:srgbClr val="FDFDFB"/>
          </a:solidFill>
          <a:ln w="12700">
            <a:solidFill>
              <a:srgbClr val="D9601A"/>
            </a:solidFill>
            <a:prstDash val="solid"/>
          </a:ln>
        </p:spPr>
        <p:txBody>
          <a:bodyPr wrap="square" lIns="99778" tIns="61770" rIns="27365" bIns="61770" rtlCol="0" anchor="ctr">
            <a:normAutofit/>
          </a:bodyPr>
          <a:lstStyle/>
          <a:p>
            <a:pPr algn="l" indent="0" marL="0">
              <a:lnSpc>
                <a:spcPts val="1560"/>
              </a:lnSpc>
              <a:buNone/>
            </a:pPr>
            <a:r>
              <a:rPr lang="en-US" sz="1200" b="1" dirty="0">
                <a:solidFill>
                  <a:srgbClr val="15202B"/>
                </a:solidFill>
                <a:latin typeface="IBM Plex Sans" pitchFamily="34" charset="0"/>
                <a:ea typeface="IBM Plex Sans" pitchFamily="34" charset="-122"/>
                <a:cs typeface="IBM Plex Sans" pitchFamily="34" charset="-120"/>
              </a:rPr>
              <a:t>SAM 3</a:t>
            </a:r>
            <a:r>
              <a:rPr lang="en-US" sz="1200" dirty="0">
                <a:solidFill>
                  <a:srgbClr val="15202B"/>
                </a:solidFill>
                <a:latin typeface="IBM Plex Sans" pitchFamily="34" charset="0"/>
                <a:ea typeface="IBM Plex Sans" pitchFamily="34" charset="-122"/>
                <a:cs typeface="IBM Plex Sans" pitchFamily="34" charset="-120"/>
              </a:rPr>
              <a:t> outlines every building</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text prompt, no training</a:t>
            </a:r>
            <a:endParaRPr lang="en-US" sz="1200" dirty="0"/>
          </a:p>
        </p:txBody>
      </p:sp>
      <p:sp>
        <p:nvSpPr>
          <p:cNvPr id="8" name="Text 6"/>
          <p:cNvSpPr/>
          <p:nvPr/>
        </p:nvSpPr>
        <p:spPr>
          <a:xfrm>
            <a:off x="2724035" y="2723747"/>
            <a:ext cx="2654216" cy="812769"/>
          </a:xfrm>
          <a:prstGeom prst="roundRect">
            <a:avLst>
              <a:gd name="adj" fmla="val 8594"/>
            </a:avLst>
          </a:prstGeom>
          <a:solidFill>
            <a:srgbClr val="FDFDFB"/>
          </a:solidFill>
          <a:ln w="12700">
            <a:solidFill>
              <a:srgbClr val="D9601A"/>
            </a:solidFill>
            <a:prstDash val="solid"/>
          </a:ln>
        </p:spPr>
        <p:txBody>
          <a:bodyPr wrap="square" lIns="99778" tIns="61770" rIns="27365" bIns="61770" rtlCol="0" anchor="ctr">
            <a:normAutofit/>
          </a:bodyPr>
          <a:lstStyle/>
          <a:p>
            <a:pPr algn="l" indent="0" marL="0">
              <a:lnSpc>
                <a:spcPts val="1560"/>
              </a:lnSpc>
              <a:buNone/>
            </a:pPr>
            <a:r>
              <a:rPr lang="en-US" sz="1200" b="1" dirty="0">
                <a:solidFill>
                  <a:srgbClr val="15202B"/>
                </a:solidFill>
                <a:latin typeface="IBM Plex Sans" pitchFamily="34" charset="0"/>
                <a:ea typeface="IBM Plex Sans" pitchFamily="34" charset="-122"/>
                <a:cs typeface="IBM Plex Sans" pitchFamily="34" charset="-120"/>
              </a:rPr>
              <a:t>Damage grader</a:t>
            </a:r>
            <a:r>
              <a:rPr lang="en-US" sz="1200" dirty="0">
                <a:solidFill>
                  <a:srgbClr val="15202B"/>
                </a:solidFill>
                <a:latin typeface="IBM Plex Sans" pitchFamily="34" charset="0"/>
                <a:ea typeface="IBM Plex Sans" pitchFamily="34" charset="-122"/>
                <a:cs typeface="IBM Plex Sans" pitchFamily="34" charset="-120"/>
              </a:rPr>
              <a:t> (small CNN)</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compares pre + post crops</a:t>
            </a:r>
            <a:endParaRPr lang="en-US" sz="1200" dirty="0"/>
          </a:p>
        </p:txBody>
      </p:sp>
      <p:sp>
        <p:nvSpPr>
          <p:cNvPr id="9" name="Text 7"/>
          <p:cNvSpPr/>
          <p:nvPr/>
        </p:nvSpPr>
        <p:spPr>
          <a:xfrm>
            <a:off x="5771966" y="1898278"/>
            <a:ext cx="2527242" cy="1384293"/>
          </a:xfrm>
          <a:prstGeom prst="roundRect">
            <a:avLst>
              <a:gd name="adj" fmla="val 5046"/>
            </a:avLst>
          </a:prstGeom>
          <a:solidFill>
            <a:srgbClr val="FDFDFB"/>
          </a:solidFill>
          <a:ln w="12700">
            <a:solidFill>
              <a:srgbClr val="D9601A"/>
            </a:solidFill>
            <a:prstDash val="solid"/>
          </a:ln>
        </p:spPr>
        <p:txBody>
          <a:bodyPr wrap="square" lIns="99778" tIns="61770" rIns="31175" bIns="61770" rtlCol="0" anchor="ctr">
            <a:normAutofit/>
          </a:bodyPr>
          <a:lstStyle/>
          <a:p>
            <a:pPr algn="l" indent="0" marL="0">
              <a:lnSpc>
                <a:spcPts val="1560"/>
              </a:lnSpc>
              <a:buNone/>
            </a:pPr>
            <a:r>
              <a:rPr lang="en-US" sz="1200" b="1" dirty="0">
                <a:solidFill>
                  <a:srgbClr val="15202B"/>
                </a:solidFill>
                <a:latin typeface="IBM Plex Sans" pitchFamily="34" charset="0"/>
                <a:ea typeface="IBM Plex Sans" pitchFamily="34" charset="-122"/>
                <a:cs typeface="IBM Plex Sans" pitchFamily="34" charset="-120"/>
              </a:rPr>
              <a:t>Per-building map</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an ID and a label for each building: intact, damaged or destroyed</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 exact counts</a:t>
            </a:r>
            <a:endParaRPr lang="en-US" sz="1200" dirty="0"/>
          </a:p>
        </p:txBody>
      </p:sp>
      <p:sp>
        <p:nvSpPr>
          <p:cNvPr id="10" name="Text 8"/>
          <p:cNvSpPr/>
          <p:nvPr/>
        </p:nvSpPr>
        <p:spPr>
          <a:xfrm>
            <a:off x="5771966" y="3739821"/>
            <a:ext cx="2527242" cy="812769"/>
          </a:xfrm>
          <a:prstGeom prst="roundRect">
            <a:avLst>
              <a:gd name="adj" fmla="val 8594"/>
            </a:avLst>
          </a:prstGeom>
          <a:solidFill>
            <a:srgbClr val="FDFDFB"/>
          </a:solidFill>
          <a:ln w="12700">
            <a:solidFill>
              <a:srgbClr val="2F6DB5"/>
            </a:solidFill>
            <a:prstDash val="solid"/>
          </a:ln>
        </p:spPr>
        <p:txBody>
          <a:bodyPr wrap="square" lIns="99778" tIns="61770" rIns="31175" bIns="61770" rtlCol="0" anchor="ctr">
            <a:normAutofit/>
          </a:bodyPr>
          <a:lstStyle/>
          <a:p>
            <a:pPr algn="l" indent="0" marL="0">
              <a:lnSpc>
                <a:spcPts val="1560"/>
              </a:lnSpc>
              <a:buNone/>
            </a:pPr>
            <a:r>
              <a:rPr lang="en-US" sz="1200" b="1" dirty="0">
                <a:solidFill>
                  <a:srgbClr val="15202B"/>
                </a:solidFill>
                <a:latin typeface="IBM Plex Sans" pitchFamily="34" charset="0"/>
                <a:ea typeface="IBM Plex Sans" pitchFamily="34" charset="-122"/>
                <a:cs typeface="IBM Plex Sans" pitchFamily="34" charset="-120"/>
              </a:rPr>
              <a:t>Qwen2.5-VL agent</a:t>
            </a:r>
            <a:r>
              <a:rPr lang="en-US" sz="1200" dirty="0">
                <a:solidFill>
                  <a:srgbClr val="15202B"/>
                </a:solidFill>
                <a:latin typeface="IBM Plex Sans" pitchFamily="34" charset="0"/>
                <a:ea typeface="IBM Plex Sans" pitchFamily="34" charset="-122"/>
                <a:cs typeface="IBM Plex Sans" pitchFamily="34" charset="-120"/>
              </a:rPr>
              <a:t> (ours)</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plans, calls tools, reasons over exact counts</a:t>
            </a:r>
            <a:endParaRPr lang="en-US" sz="1200" dirty="0"/>
          </a:p>
        </p:txBody>
      </p:sp>
      <p:sp>
        <p:nvSpPr>
          <p:cNvPr id="11" name="Text 9"/>
          <p:cNvSpPr/>
          <p:nvPr/>
        </p:nvSpPr>
        <p:spPr>
          <a:xfrm>
            <a:off x="8693021" y="3739821"/>
            <a:ext cx="2679649" cy="812769"/>
          </a:xfrm>
          <a:prstGeom prst="roundRect">
            <a:avLst>
              <a:gd name="adj" fmla="val 8594"/>
            </a:avLst>
          </a:prstGeom>
          <a:solidFill>
            <a:srgbClr val="FDFDFB"/>
          </a:solidFill>
          <a:ln w="12700">
            <a:solidFill>
              <a:srgbClr val="2F6DB5"/>
            </a:solidFill>
            <a:prstDash val="solid"/>
          </a:ln>
        </p:spPr>
        <p:txBody>
          <a:bodyPr wrap="square" lIns="99778" tIns="61770" rIns="26603" bIns="61770" rtlCol="0" anchor="ctr">
            <a:normAutofit/>
          </a:bodyPr>
          <a:lstStyle/>
          <a:p>
            <a:pPr algn="l" indent="0" marL="0">
              <a:lnSpc>
                <a:spcPts val="1560"/>
              </a:lnSpc>
              <a:buNone/>
            </a:pPr>
            <a:r>
              <a:rPr lang="en-US" sz="1200" b="1" dirty="0">
                <a:solidFill>
                  <a:srgbClr val="15202B"/>
                </a:solidFill>
                <a:latin typeface="IBM Plex Sans" pitchFamily="34" charset="0"/>
                <a:ea typeface="IBM Plex Sans" pitchFamily="34" charset="-122"/>
                <a:cs typeface="IBM Plex Sans" pitchFamily="34" charset="-120"/>
              </a:rPr>
              <a:t>DisasTeller report agents</a:t>
            </a:r>
            <a:endParaRPr lang="en-US" sz="1200" dirty="0"/>
          </a:p>
          <a:p>
            <a:pPr algn="l" indent="0" marL="0">
              <a:lnSpc>
                <a:spcPts val="1560"/>
              </a:lnSpc>
              <a:buNone/>
            </a:pPr>
            <a:r>
              <a:rPr lang="en-US" sz="1200" dirty="0">
                <a:solidFill>
                  <a:srgbClr val="15202B"/>
                </a:solidFill>
                <a:latin typeface="IBM Plex Sans" pitchFamily="34" charset="0"/>
                <a:ea typeface="IBM Plex Sans" pitchFamily="34" charset="-122"/>
                <a:cs typeface="IBM Plex Sans" pitchFamily="34" charset="-120"/>
              </a:rPr>
              <a:t>EMS-98 search, on our model</a:t>
            </a:r>
            <a:endParaRPr lang="en-US" sz="1200" dirty="0"/>
          </a:p>
        </p:txBody>
      </p:sp>
      <p:sp>
        <p:nvSpPr>
          <p:cNvPr id="12" name="Text 10"/>
          <p:cNvSpPr/>
          <p:nvPr/>
        </p:nvSpPr>
        <p:spPr>
          <a:xfrm>
            <a:off x="8686671" y="1891928"/>
            <a:ext cx="2692349" cy="1396993"/>
          </a:xfrm>
          <a:prstGeom prst="roundRect">
            <a:avLst>
              <a:gd name="adj" fmla="val 5455"/>
            </a:avLst>
          </a:prstGeom>
          <a:solidFill>
            <a:srgbClr val="15202B"/>
          </a:solidFill>
          <a:ln/>
        </p:spPr>
        <p:txBody>
          <a:bodyPr wrap="square" lIns="91890" tIns="53882" rIns="17972" bIns="53882" rtlCol="0" anchor="ctr">
            <a:normAutofit/>
          </a:bodyPr>
          <a:lstStyle/>
          <a:p>
            <a:pPr algn="l" indent="0" marL="0">
              <a:lnSpc>
                <a:spcPts val="1560"/>
              </a:lnSpc>
              <a:buNone/>
            </a:pPr>
            <a:r>
              <a:rPr lang="en-US" sz="1200" b="1" dirty="0">
                <a:solidFill>
                  <a:srgbClr val="F7F7F4"/>
                </a:solidFill>
                <a:latin typeface="IBM Plex Sans" pitchFamily="34" charset="0"/>
                <a:ea typeface="IBM Plex Sans" pitchFamily="34" charset="-122"/>
                <a:cs typeface="IBM Plex Sans" pitchFamily="34" charset="-120"/>
              </a:rPr>
              <a:t>For responders</a:t>
            </a:r>
            <a:endParaRPr lang="en-US" sz="1200" dirty="0"/>
          </a:p>
          <a:p>
            <a:pPr algn="l" indent="0" marL="0">
              <a:lnSpc>
                <a:spcPts val="1560"/>
              </a:lnSpc>
              <a:buNone/>
            </a:pPr>
            <a:r>
              <a:rPr lang="en-US" sz="1200" dirty="0">
                <a:solidFill>
                  <a:srgbClr val="F7F7F4"/>
                </a:solidFill>
                <a:latin typeface="IBM Plex Sans" pitchFamily="34" charset="0"/>
                <a:ea typeface="IBM Plex Sans" pitchFamily="34" charset="-122"/>
                <a:cs typeface="IBM Plex Sans" pitchFamily="34" charset="-120"/>
              </a:rPr>
              <a:t>Damage map with building IDs</a:t>
            </a:r>
            <a:endParaRPr lang="en-US" sz="1200" dirty="0"/>
          </a:p>
          <a:p>
            <a:pPr algn="l" indent="0" marL="0">
              <a:lnSpc>
                <a:spcPts val="1560"/>
              </a:lnSpc>
              <a:buNone/>
            </a:pPr>
            <a:r>
              <a:rPr lang="en-US" sz="1200" dirty="0">
                <a:solidFill>
                  <a:srgbClr val="F7F7F4"/>
                </a:solidFill>
                <a:latin typeface="IBM Plex Sans" pitchFamily="34" charset="0"/>
                <a:ea typeface="IBM Plex Sans" pitchFamily="34" charset="-122"/>
                <a:cs typeface="IBM Plex Sans" pitchFamily="34" charset="-120"/>
              </a:rPr>
              <a:t>Counts per damage class</a:t>
            </a:r>
            <a:endParaRPr lang="en-US" sz="1200" dirty="0"/>
          </a:p>
          <a:p>
            <a:pPr algn="l" indent="0" marL="0">
              <a:lnSpc>
                <a:spcPts val="1560"/>
              </a:lnSpc>
              <a:buNone/>
            </a:pPr>
            <a:r>
              <a:rPr lang="en-US" sz="1200" dirty="0">
                <a:solidFill>
                  <a:srgbClr val="F7F7F4"/>
                </a:solidFill>
                <a:latin typeface="IBM Plex Sans" pitchFamily="34" charset="0"/>
                <a:ea typeface="IBM Plex Sans" pitchFamily="34" charset="-122"/>
                <a:cs typeface="IBM Plex Sans" pitchFamily="34" charset="-120"/>
              </a:rPr>
              <a:t>Survivability heatmap</a:t>
            </a:r>
            <a:endParaRPr lang="en-US" sz="1200" dirty="0"/>
          </a:p>
          <a:p>
            <a:pPr algn="l" indent="0" marL="0">
              <a:lnSpc>
                <a:spcPts val="1560"/>
              </a:lnSpc>
              <a:buNone/>
            </a:pPr>
            <a:r>
              <a:rPr lang="en-US" sz="1200" dirty="0">
                <a:solidFill>
                  <a:srgbClr val="F7F7F4"/>
                </a:solidFill>
                <a:latin typeface="IBM Plex Sans" pitchFamily="34" charset="0"/>
                <a:ea typeface="IBM Plex Sans" pitchFamily="34" charset="-122"/>
                <a:cs typeface="IBM Plex Sans" pitchFamily="34" charset="-120"/>
              </a:rPr>
              <a:t>Report and alerts</a:t>
            </a:r>
            <a:endParaRPr lang="en-US" sz="1200" dirty="0"/>
          </a:p>
        </p:txBody>
      </p:sp>
      <p:pic>
        <p:nvPicPr>
          <p:cNvPr id="13" name="Image 0" descr="connector">    </p:cNvPr>
          <p:cNvPicPr>
            <a:picLocks noChangeAspect="1"/>
          </p:cNvPicPr>
          <p:nvPr/>
        </p:nvPicPr>
        <p:blipFill>
          <a:blip r:embed="rId1"/>
          <a:srcRect l="-25" r="-25" t="0" b="0"/>
          <a:stretch/>
        </p:blipFill>
        <p:spPr>
          <a:xfrm>
            <a:off x="2285900" y="1999847"/>
            <a:ext cx="482555" cy="101540"/>
          </a:xfrm>
          <a:prstGeom prst="rect">
            <a:avLst/>
          </a:prstGeom>
        </p:spPr>
      </p:pic>
      <p:pic>
        <p:nvPicPr>
          <p:cNvPr id="14" name="Image 1" descr="connector">    </p:cNvPr>
          <p:cNvPicPr>
            <a:picLocks noChangeAspect="1"/>
          </p:cNvPicPr>
          <p:nvPr/>
        </p:nvPicPr>
        <p:blipFill>
          <a:blip r:embed="rId2"/>
          <a:srcRect l="-25" r="-25" t="0" b="0"/>
          <a:stretch/>
        </p:blipFill>
        <p:spPr>
          <a:xfrm>
            <a:off x="2285900" y="3079359"/>
            <a:ext cx="482555" cy="101540"/>
          </a:xfrm>
          <a:prstGeom prst="rect">
            <a:avLst/>
          </a:prstGeom>
        </p:spPr>
      </p:pic>
      <p:pic>
        <p:nvPicPr>
          <p:cNvPr id="15" name="Image 2" descr="connector">    </p:cNvPr>
          <p:cNvPicPr>
            <a:picLocks noChangeAspect="1"/>
          </p:cNvPicPr>
          <p:nvPr/>
        </p:nvPicPr>
        <p:blipFill>
          <a:blip r:embed="rId3"/>
          <a:srcRect l="0" r="0" t="-27" b="-27"/>
          <a:stretch/>
        </p:blipFill>
        <p:spPr>
          <a:xfrm>
            <a:off x="4000373" y="2412678"/>
            <a:ext cx="101540" cy="355582"/>
          </a:xfrm>
          <a:prstGeom prst="rect">
            <a:avLst/>
          </a:prstGeom>
        </p:spPr>
      </p:pic>
      <p:pic>
        <p:nvPicPr>
          <p:cNvPr id="16" name="Image 3" descr="connector">    </p:cNvPr>
          <p:cNvPicPr>
            <a:picLocks noChangeAspect="1"/>
          </p:cNvPicPr>
          <p:nvPr/>
        </p:nvPicPr>
        <p:blipFill>
          <a:blip r:embed="rId4"/>
          <a:srcRect l="-25" r="-25" t="0" b="0"/>
          <a:stretch/>
        </p:blipFill>
        <p:spPr>
          <a:xfrm>
            <a:off x="5333831" y="3079359"/>
            <a:ext cx="482555" cy="101540"/>
          </a:xfrm>
          <a:prstGeom prst="rect">
            <a:avLst/>
          </a:prstGeom>
        </p:spPr>
      </p:pic>
      <p:pic>
        <p:nvPicPr>
          <p:cNvPr id="17" name="Image 4" descr="connector">    </p:cNvPr>
          <p:cNvPicPr>
            <a:picLocks noChangeAspect="1"/>
          </p:cNvPicPr>
          <p:nvPr/>
        </p:nvPicPr>
        <p:blipFill>
          <a:blip r:embed="rId5"/>
          <a:srcRect l="-25" r="-25" t="0" b="0"/>
          <a:stretch/>
        </p:blipFill>
        <p:spPr>
          <a:xfrm>
            <a:off x="8254886" y="2539653"/>
            <a:ext cx="482555" cy="101540"/>
          </a:xfrm>
          <a:prstGeom prst="rect">
            <a:avLst/>
          </a:prstGeom>
        </p:spPr>
      </p:pic>
      <p:pic>
        <p:nvPicPr>
          <p:cNvPr id="18" name="Image 5" descr="connector">    </p:cNvPr>
          <p:cNvPicPr>
            <a:picLocks noChangeAspect="1"/>
          </p:cNvPicPr>
          <p:nvPr/>
        </p:nvPicPr>
        <p:blipFill>
          <a:blip r:embed="rId6"/>
          <a:srcRect l="0" r="0" t="-29" b="-29"/>
          <a:stretch/>
        </p:blipFill>
        <p:spPr>
          <a:xfrm>
            <a:off x="6984866" y="3238147"/>
            <a:ext cx="101540" cy="546090"/>
          </a:xfrm>
          <a:prstGeom prst="rect">
            <a:avLst/>
          </a:prstGeom>
        </p:spPr>
      </p:pic>
      <p:pic>
        <p:nvPicPr>
          <p:cNvPr id="19" name="Image 6" descr="connector">    </p:cNvPr>
          <p:cNvPicPr>
            <a:picLocks noChangeAspect="1"/>
          </p:cNvPicPr>
          <p:nvPr/>
        </p:nvPicPr>
        <p:blipFill>
          <a:blip r:embed="rId7"/>
          <a:srcRect l="-30" r="-30" t="0" b="0"/>
          <a:stretch/>
        </p:blipFill>
        <p:spPr>
          <a:xfrm>
            <a:off x="2285900" y="4095341"/>
            <a:ext cx="3530583" cy="101540"/>
          </a:xfrm>
          <a:prstGeom prst="rect">
            <a:avLst/>
          </a:prstGeom>
        </p:spPr>
      </p:pic>
      <p:pic>
        <p:nvPicPr>
          <p:cNvPr id="20" name="Image 7" descr="connector">    </p:cNvPr>
          <p:cNvPicPr>
            <a:picLocks noChangeAspect="1"/>
          </p:cNvPicPr>
          <p:nvPr/>
        </p:nvPicPr>
        <p:blipFill>
          <a:blip r:embed="rId8"/>
          <a:srcRect l="-25" r="-25" t="0" b="0"/>
          <a:stretch/>
        </p:blipFill>
        <p:spPr>
          <a:xfrm>
            <a:off x="8254886" y="4095341"/>
            <a:ext cx="482555" cy="101540"/>
          </a:xfrm>
          <a:prstGeom prst="rect">
            <a:avLst/>
          </a:prstGeom>
        </p:spPr>
      </p:pic>
      <p:pic>
        <p:nvPicPr>
          <p:cNvPr id="21" name="Image 8" descr="connector">    </p:cNvPr>
          <p:cNvPicPr>
            <a:picLocks noChangeAspect="1"/>
          </p:cNvPicPr>
          <p:nvPr/>
        </p:nvPicPr>
        <p:blipFill>
          <a:blip r:embed="rId9"/>
          <a:srcRect l="0" r="0" t="-29" b="-29"/>
          <a:stretch/>
        </p:blipFill>
        <p:spPr>
          <a:xfrm>
            <a:off x="9982027" y="3238147"/>
            <a:ext cx="101540" cy="546090"/>
          </a:xfrm>
          <a:prstGeom prst="rect">
            <a:avLst/>
          </a:prstGeom>
        </p:spPr>
      </p:pic>
      <p:sp>
        <p:nvSpPr>
          <p:cNvPr id="22" name="Text 11"/>
          <p:cNvSpPr/>
          <p:nvPr/>
        </p:nvSpPr>
        <p:spPr>
          <a:xfrm>
            <a:off x="7137272" y="3403222"/>
            <a:ext cx="1511231" cy="22345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672"/>
                </a:solidFill>
                <a:latin typeface="IBM Plex Sans" pitchFamily="34" charset="0"/>
                <a:ea typeface="IBM Plex Sans" pitchFamily="34" charset="-122"/>
                <a:cs typeface="IBM Plex Sans" pitchFamily="34" charset="-120"/>
              </a:rPr>
              <a:t>counts as text</a:t>
            </a:r>
            <a:endParaRPr lang="en-US" sz="1200" dirty="0"/>
          </a:p>
        </p:txBody>
      </p:sp>
      <p:sp>
        <p:nvSpPr>
          <p:cNvPr id="23" name="Text 12"/>
          <p:cNvSpPr/>
          <p:nvPr/>
        </p:nvSpPr>
        <p:spPr>
          <a:xfrm>
            <a:off x="812704" y="4711247"/>
            <a:ext cx="3420630" cy="944609"/>
          </a:xfrm>
          <a:prstGeom prst="roundRect">
            <a:avLst>
              <a:gd name="adj" fmla="val 10756"/>
            </a:avLst>
          </a:prstGeom>
          <a:solidFill>
            <a:srgbClr val="ECEFF1"/>
          </a:solidFill>
          <a:ln/>
        </p:spPr>
        <p:txBody>
          <a:bodyPr wrap="square" lIns="122552" tIns="122642" rIns="29072" bIns="97061"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Two tiers.</a:t>
            </a:r>
            <a:r>
              <a:rPr lang="en-US" sz="1200" dirty="0">
                <a:solidFill>
                  <a:srgbClr val="3E4A56"/>
                </a:solidFill>
                <a:latin typeface="IBM Plex Sans" pitchFamily="34" charset="0"/>
                <a:ea typeface="IBM Plex Sans" pitchFamily="34" charset="-122"/>
                <a:cs typeface="IBM Plex Sans" pitchFamily="34" charset="-120"/>
              </a:rPr>
              <a:t> Base station: SAM 3 + our 7B model. Field laptop: a lighter SAM 3 or our U-Net, plus the 3B model in 4-bit (~6 GB).</a:t>
            </a:r>
            <a:endParaRPr lang="en-US" sz="1200" dirty="0"/>
          </a:p>
        </p:txBody>
      </p:sp>
      <p:sp>
        <p:nvSpPr>
          <p:cNvPr id="24" name="Text 13"/>
          <p:cNvSpPr/>
          <p:nvPr/>
        </p:nvSpPr>
        <p:spPr>
          <a:xfrm>
            <a:off x="4385644" y="4711247"/>
            <a:ext cx="3420630" cy="944609"/>
          </a:xfrm>
          <a:prstGeom prst="roundRect">
            <a:avLst>
              <a:gd name="adj" fmla="val 10756"/>
            </a:avLst>
          </a:prstGeom>
          <a:solidFill>
            <a:srgbClr val="ECEFF1"/>
          </a:solidFill>
          <a:ln/>
        </p:spPr>
        <p:txBody>
          <a:bodyPr wrap="square" lIns="122552" tIns="122642" rIns="29072" bIns="97061"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Where DisasTeller fits.</a:t>
            </a:r>
            <a:r>
              <a:rPr lang="en-US" sz="1200" dirty="0">
                <a:solidFill>
                  <a:srgbClr val="3E4A56"/>
                </a:solidFill>
                <a:latin typeface="IBM Plex Sans" pitchFamily="34" charset="0"/>
                <a:ea typeface="IBM Plex Sans" pitchFamily="34" charset="-122"/>
                <a:cs typeface="IBM Plex Sans" pitchFamily="34" charset="-120"/>
              </a:rPr>
              <a:t> No more photos sent to a cloud API: it writes the report from our per-building facts, offline.</a:t>
            </a:r>
            <a:endParaRPr lang="en-US" sz="1200" dirty="0"/>
          </a:p>
        </p:txBody>
      </p:sp>
      <p:sp>
        <p:nvSpPr>
          <p:cNvPr id="25" name="Text 14"/>
          <p:cNvSpPr/>
          <p:nvPr/>
        </p:nvSpPr>
        <p:spPr>
          <a:xfrm>
            <a:off x="7958583" y="4711247"/>
            <a:ext cx="3420630" cy="944609"/>
          </a:xfrm>
          <a:prstGeom prst="roundRect">
            <a:avLst>
              <a:gd name="adj" fmla="val 10756"/>
            </a:avLst>
          </a:prstGeom>
          <a:solidFill>
            <a:srgbClr val="ECEFF1"/>
          </a:solidFill>
          <a:ln/>
        </p:spPr>
        <p:txBody>
          <a:bodyPr wrap="square" lIns="122552" tIns="122642" rIns="29072" bIns="97061" rtlCol="0" anchor="t">
            <a:normAutofit/>
          </a:bodyPr>
          <a:lstStyle/>
          <a:p>
            <a:pPr algn="l" indent="0" marL="0">
              <a:lnSpc>
                <a:spcPts val="1680"/>
              </a:lnSpc>
              <a:buNone/>
            </a:pPr>
            <a:r>
              <a:rPr lang="en-US" sz="1200" b="1" dirty="0">
                <a:solidFill>
                  <a:srgbClr val="3E4A56"/>
                </a:solidFill>
                <a:latin typeface="IBM Plex Sans" pitchFamily="34" charset="0"/>
                <a:ea typeface="IBM Plex Sans" pitchFamily="34" charset="-122"/>
                <a:cs typeface="IBM Plex Sans" pitchFamily="34" charset="-120"/>
              </a:rPr>
              <a:t>Tested first.</a:t>
            </a:r>
            <a:r>
              <a:rPr lang="en-US" sz="1200" dirty="0">
                <a:solidFill>
                  <a:srgbClr val="3E4A56"/>
                </a:solidFill>
                <a:latin typeface="IBM Plex Sans" pitchFamily="34" charset="0"/>
                <a:ea typeface="IBM Plex Sans" pitchFamily="34" charset="-122"/>
                <a:cs typeface="IBM Plex Sans" pitchFamily="34" charset="-120"/>
              </a:rPr>
              <a:t> Does SAM 3 run on a free T4 and find buildings in DisasterM3's pre-disaster images? About 2 days, no training.</a:t>
            </a:r>
            <a:endParaRPr lang="en-US" sz="1200" dirty="0"/>
          </a:p>
        </p:txBody>
      </p:sp>
      <p:sp>
        <p:nvSpPr>
          <p:cNvPr id="26" name="Text 15"/>
          <p:cNvSpPr/>
          <p:nvPr/>
        </p:nvSpPr>
        <p:spPr>
          <a:xfrm>
            <a:off x="8889944" y="952444"/>
            <a:ext cx="2563848" cy="4520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601A"/>
                </a:solidFill>
                <a:latin typeface="IBM Plex Sans" pitchFamily="34" charset="0"/>
                <a:ea typeface="IBM Plex Sans" pitchFamily="34" charset="-122"/>
                <a:cs typeface="IBM Plex Sans" pitchFamily="34" charset="-120"/>
              </a:rPr>
              <a:t>Orange:</a:t>
            </a:r>
            <a:r>
              <a:rPr lang="en-US" sz="1200" dirty="0">
                <a:solidFill>
                  <a:srgbClr val="5B6672"/>
                </a:solidFill>
                <a:latin typeface="IBM Plex Sans" pitchFamily="34" charset="0"/>
                <a:ea typeface="IBM Plex Sans" pitchFamily="34" charset="-122"/>
                <a:cs typeface="IBM Plex Sans" pitchFamily="34" charset="-120"/>
              </a:rPr>
              <a:t> perception</a:t>
            </a:r>
            <a:endParaRPr lang="en-US" sz="1200" dirty="0"/>
          </a:p>
          <a:p>
            <a:pPr algn="l" indent="0" marL="0">
              <a:lnSpc>
                <a:spcPts val="1680"/>
              </a:lnSpc>
              <a:buNone/>
            </a:pPr>
            <a:r>
              <a:rPr lang="en-US" sz="1200" b="1" dirty="0">
                <a:solidFill>
                  <a:srgbClr val="2F6DB5"/>
                </a:solidFill>
                <a:latin typeface="IBM Plex Sans" pitchFamily="34" charset="0"/>
                <a:ea typeface="IBM Plex Sans" pitchFamily="34" charset="-122"/>
                <a:cs typeface="IBM Plex Sans" pitchFamily="34" charset="-120"/>
              </a:rPr>
              <a:t>Blue:</a:t>
            </a:r>
            <a:r>
              <a:rPr lang="en-US" sz="1200" dirty="0">
                <a:solidFill>
                  <a:srgbClr val="5B6672"/>
                </a:solidFill>
                <a:latin typeface="IBM Plex Sans" pitchFamily="34" charset="0"/>
                <a:ea typeface="IBM Plex Sans" pitchFamily="34" charset="-122"/>
                <a:cs typeface="IBM Plex Sans" pitchFamily="34" charset="-120"/>
              </a:rPr>
              <a:t> reasoning</a:t>
            </a:r>
            <a:endParaRPr lang="en-US" sz="1200" dirty="0"/>
          </a:p>
        </p:txBody>
      </p:sp>
      <p:sp>
        <p:nvSpPr>
          <p:cNvPr id="27" name="Text 16"/>
          <p:cNvSpPr/>
          <p:nvPr/>
        </p:nvSpPr>
        <p:spPr>
          <a:xfrm>
            <a:off x="812704" y="6238311"/>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28" name="Text 17"/>
          <p:cNvSpPr/>
          <p:nvPr/>
        </p:nvSpPr>
        <p:spPr>
          <a:xfrm>
            <a:off x="10312340" y="6238311"/>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04" y="6238311"/>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Group 5</a:t>
            </a:r>
            <a:r>
              <a:rPr lang="en-US" sz="1200" dirty="0">
                <a:solidFill>
                  <a:srgbClr val="5B6672"/>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3" name="Text 1"/>
          <p:cNvSpPr/>
          <p:nvPr/>
        </p:nvSpPr>
        <p:spPr>
          <a:xfrm>
            <a:off x="10312340" y="6238311"/>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13 / 14</a:t>
            </a:r>
            <a:endParaRPr lang="en-US" sz="1200" dirty="0"/>
          </a:p>
        </p:txBody>
      </p:sp>
      <p:sp>
        <p:nvSpPr>
          <p:cNvPr id="4" name="Text 2"/>
          <p:cNvSpPr/>
          <p:nvPr/>
        </p:nvSpPr>
        <p:spPr>
          <a:xfrm>
            <a:off x="812704" y="812707"/>
            <a:ext cx="10889879"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A0E"/>
                </a:solidFill>
                <a:latin typeface="IBM Plex Sans" pitchFamily="34" charset="0"/>
                <a:ea typeface="IBM Plex Sans" pitchFamily="34" charset="-122"/>
                <a:cs typeface="IBM Plex Sans" pitchFamily="34" charset="-120"/>
              </a:rPr>
              <a:t>PLAN</a:t>
            </a:r>
            <a:endParaRPr lang="en-US" sz="1200" dirty="0"/>
          </a:p>
        </p:txBody>
      </p:sp>
      <p:sp>
        <p:nvSpPr>
          <p:cNvPr id="5" name="Text 3"/>
          <p:cNvSpPr/>
          <p:nvPr>
            <p:ph type="title"/>
          </p:nvPr>
        </p:nvSpPr>
        <p:spPr>
          <a:xfrm>
            <a:off x="812704" y="1076809"/>
            <a:ext cx="10889879"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02B"/>
                </a:solidFill>
                <a:latin typeface="Space Grotesk" pitchFamily="34" charset="0"/>
                <a:ea typeface="Space Grotesk" pitchFamily="34" charset="-122"/>
                <a:cs typeface="Space Grotesk" pitchFamily="34" charset="-120"/>
              </a:rPr>
              <a:t>Semester timeline (proposed)</a:t>
            </a:r>
            <a:endParaRPr lang="en-US" sz="2800" dirty="0"/>
          </a:p>
        </p:txBody>
      </p:sp>
      <p:sp>
        <p:nvSpPr>
          <p:cNvPr id="6" name="Text 4"/>
          <p:cNvSpPr/>
          <p:nvPr/>
        </p:nvSpPr>
        <p:spPr>
          <a:xfrm>
            <a:off x="4552943" y="1739813"/>
            <a:ext cx="749296"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Sep 2026</a:t>
            </a:r>
            <a:endParaRPr lang="en-US" sz="1200" dirty="0"/>
          </a:p>
        </p:txBody>
      </p:sp>
      <p:sp>
        <p:nvSpPr>
          <p:cNvPr id="7" name="Text 5"/>
          <p:cNvSpPr/>
          <p:nvPr/>
        </p:nvSpPr>
        <p:spPr>
          <a:xfrm>
            <a:off x="6972295" y="1739813"/>
            <a:ext cx="43171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Oct</a:t>
            </a:r>
            <a:endParaRPr lang="en-US" sz="1200" dirty="0"/>
          </a:p>
        </p:txBody>
      </p:sp>
      <p:sp>
        <p:nvSpPr>
          <p:cNvPr id="8" name="Text 6"/>
          <p:cNvSpPr/>
          <p:nvPr/>
        </p:nvSpPr>
        <p:spPr>
          <a:xfrm>
            <a:off x="9004249" y="1739813"/>
            <a:ext cx="43171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Nov</a:t>
            </a:r>
            <a:endParaRPr lang="en-US" sz="1200" dirty="0"/>
          </a:p>
        </p:txBody>
      </p:sp>
      <p:sp>
        <p:nvSpPr>
          <p:cNvPr id="9" name="Text 7"/>
          <p:cNvSpPr/>
          <p:nvPr/>
        </p:nvSpPr>
        <p:spPr>
          <a:xfrm>
            <a:off x="11048967" y="1739813"/>
            <a:ext cx="38094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02B"/>
                </a:solidFill>
                <a:latin typeface="IBM Plex Sans" pitchFamily="34" charset="0"/>
                <a:ea typeface="IBM Plex Sans" pitchFamily="34" charset="-122"/>
                <a:cs typeface="IBM Plex Sans" pitchFamily="34" charset="-120"/>
              </a:rPr>
              <a:t>Dec</a:t>
            </a:r>
            <a:endParaRPr lang="en-US" sz="1200" dirty="0"/>
          </a:p>
        </p:txBody>
      </p:sp>
      <p:sp>
        <p:nvSpPr>
          <p:cNvPr id="10" name="Text 8"/>
          <p:cNvSpPr/>
          <p:nvPr/>
        </p:nvSpPr>
        <p:spPr>
          <a:xfrm>
            <a:off x="812704" y="2119573"/>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Segmentation ablation sprint (A–D)</a:t>
            </a:r>
            <a:endParaRPr lang="en-US" sz="1300" dirty="0"/>
          </a:p>
        </p:txBody>
      </p:sp>
      <p:sp>
        <p:nvSpPr>
          <p:cNvPr id="11" name="Shape 9"/>
          <p:cNvSpPr/>
          <p:nvPr/>
        </p:nvSpPr>
        <p:spPr>
          <a:xfrm>
            <a:off x="4520933" y="2082726"/>
            <a:ext cx="6857990" cy="304716"/>
          </a:xfrm>
          <a:prstGeom prst="roundRect">
            <a:avLst>
              <a:gd name="adj" fmla="val 16671"/>
            </a:avLst>
          </a:prstGeom>
          <a:solidFill>
            <a:srgbClr val="ECEFF1"/>
          </a:solidFill>
          <a:ln/>
        </p:spPr>
      </p:sp>
      <p:sp>
        <p:nvSpPr>
          <p:cNvPr id="12" name="Text 10"/>
          <p:cNvSpPr/>
          <p:nvPr/>
        </p:nvSpPr>
        <p:spPr>
          <a:xfrm>
            <a:off x="4520933" y="2082726"/>
            <a:ext cx="2412970" cy="304716"/>
          </a:xfrm>
          <a:prstGeom prst="roundRect">
            <a:avLst>
              <a:gd name="adj" fmla="val 16671"/>
            </a:avLst>
          </a:prstGeom>
          <a:solidFill>
            <a:srgbClr val="2F6DB5"/>
          </a:solidFill>
          <a:ln/>
        </p:spPr>
        <p:txBody>
          <a:bodyPr wrap="square" lIns="86721" tIns="0" rIns="86721" bIns="0" rtlCol="0" anchor="ctr">
            <a:normAutofit/>
          </a:bodyPr>
          <a:lstStyle/>
          <a:p>
            <a:pPr algn="l" indent="0" marL="0">
              <a:lnSpc>
                <a:spcPts val="1680"/>
              </a:lnSpc>
              <a:buNone/>
            </a:pPr>
            <a:r>
              <a:rPr lang="en-US" sz="1200" dirty="0">
                <a:solidFill>
                  <a:srgbClr val="F7F7F4"/>
                </a:solidFill>
                <a:latin typeface="IBM Plex Sans" pitchFamily="34" charset="0"/>
                <a:ea typeface="IBM Plex Sans" pitchFamily="34" charset="-122"/>
                <a:cs typeface="IBM Plex Sans" pitchFamily="34" charset="-120"/>
              </a:rPr>
              <a:t>Done</a:t>
            </a:r>
            <a:endParaRPr lang="en-US" sz="1200" dirty="0"/>
          </a:p>
        </p:txBody>
      </p:sp>
      <p:sp>
        <p:nvSpPr>
          <p:cNvPr id="13" name="Text 11"/>
          <p:cNvSpPr/>
          <p:nvPr/>
        </p:nvSpPr>
        <p:spPr>
          <a:xfrm>
            <a:off x="812704" y="2551354"/>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Controlled U-Net re-runs</a:t>
            </a:r>
            <a:endParaRPr lang="en-US" sz="1300" dirty="0"/>
          </a:p>
        </p:txBody>
      </p:sp>
      <p:sp>
        <p:nvSpPr>
          <p:cNvPr id="14" name="Shape 12"/>
          <p:cNvSpPr/>
          <p:nvPr/>
        </p:nvSpPr>
        <p:spPr>
          <a:xfrm>
            <a:off x="4520933" y="2514513"/>
            <a:ext cx="6857990" cy="304716"/>
          </a:xfrm>
          <a:prstGeom prst="roundRect">
            <a:avLst>
              <a:gd name="adj" fmla="val 16671"/>
            </a:avLst>
          </a:prstGeom>
          <a:solidFill>
            <a:srgbClr val="ECEFF1"/>
          </a:solidFill>
          <a:ln/>
        </p:spPr>
      </p:sp>
      <p:sp>
        <p:nvSpPr>
          <p:cNvPr id="15" name="Text 13"/>
          <p:cNvSpPr/>
          <p:nvPr/>
        </p:nvSpPr>
        <p:spPr>
          <a:xfrm>
            <a:off x="6616422" y="2514513"/>
            <a:ext cx="1396993" cy="304716"/>
          </a:xfrm>
          <a:prstGeom prst="roundRect">
            <a:avLst>
              <a:gd name="adj" fmla="val 16671"/>
            </a:avLst>
          </a:prstGeom>
          <a:solidFill>
            <a:srgbClr val="B84A0E"/>
          </a:solidFill>
          <a:ln/>
        </p:spPr>
        <p:txBody>
          <a:bodyPr wrap="square" lIns="86721" tIns="0" rIns="86721" bIns="0" rtlCol="0" anchor="ctr">
            <a:normAutofit/>
          </a:bodyPr>
          <a:lstStyle/>
          <a:p>
            <a:pPr algn="l" indent="0" marL="0">
              <a:lnSpc>
                <a:spcPts val="1680"/>
              </a:lnSpc>
              <a:buNone/>
            </a:pPr>
            <a:r>
              <a:rPr lang="en-US" sz="1200" dirty="0">
                <a:solidFill>
                  <a:srgbClr val="FBF7F2"/>
                </a:solidFill>
                <a:latin typeface="IBM Plex Sans" pitchFamily="34" charset="0"/>
                <a:ea typeface="IBM Plex Sans" pitchFamily="34" charset="-122"/>
                <a:cs typeface="IBM Plex Sans" pitchFamily="34" charset="-120"/>
              </a:rPr>
              <a:t>In progress</a:t>
            </a:r>
            <a:endParaRPr lang="en-US" sz="1200" dirty="0"/>
          </a:p>
        </p:txBody>
      </p:sp>
      <p:sp>
        <p:nvSpPr>
          <p:cNvPr id="16" name="Text 14"/>
          <p:cNvSpPr/>
          <p:nvPr/>
        </p:nvSpPr>
        <p:spPr>
          <a:xfrm>
            <a:off x="812704" y="2983241"/>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SAM 3 feasibility test (S0–S1)</a:t>
            </a:r>
            <a:endParaRPr lang="en-US" sz="1300" dirty="0"/>
          </a:p>
        </p:txBody>
      </p:sp>
      <p:sp>
        <p:nvSpPr>
          <p:cNvPr id="17" name="Shape 15"/>
          <p:cNvSpPr/>
          <p:nvPr/>
        </p:nvSpPr>
        <p:spPr>
          <a:xfrm>
            <a:off x="4520933" y="2946394"/>
            <a:ext cx="6857990" cy="304716"/>
          </a:xfrm>
          <a:prstGeom prst="roundRect">
            <a:avLst>
              <a:gd name="adj" fmla="val 16671"/>
            </a:avLst>
          </a:prstGeom>
          <a:solidFill>
            <a:srgbClr val="ECEFF1"/>
          </a:solidFill>
          <a:ln/>
        </p:spPr>
      </p:sp>
      <p:sp>
        <p:nvSpPr>
          <p:cNvPr id="18" name="Text 16"/>
          <p:cNvSpPr/>
          <p:nvPr/>
        </p:nvSpPr>
        <p:spPr>
          <a:xfrm>
            <a:off x="7384707" y="2952744"/>
            <a:ext cx="939742" cy="292016"/>
          </a:xfrm>
          <a:prstGeom prst="roundRect">
            <a:avLst>
              <a:gd name="adj" fmla="val 15222"/>
            </a:avLst>
          </a:prstGeom>
          <a:solidFill>
            <a:srgbClr val="FDFDFB"/>
          </a:solidFill>
          <a:ln w="12700">
            <a:solidFill>
              <a:srgbClr val="B84A0E"/>
            </a:solidFill>
            <a:prstDash val="sysDot"/>
          </a:ln>
        </p:spPr>
        <p:txBody>
          <a:bodyPr wrap="square" lIns="94609" tIns="0" rIns="94609" bIns="0" rtlCol="0" anchor="ctr">
            <a:normAutofit/>
          </a:bodyPr>
          <a:lstStyle/>
          <a:p>
            <a:pPr algn="l" indent="0" marL="0">
              <a:lnSpc>
                <a:spcPts val="1680"/>
              </a:lnSpc>
              <a:buNone/>
            </a:pPr>
            <a:r>
              <a:rPr lang="en-US" sz="1200" dirty="0">
                <a:solidFill>
                  <a:srgbClr val="B84A0E"/>
                </a:solidFill>
                <a:latin typeface="IBM Plex Sans" pitchFamily="34" charset="0"/>
                <a:ea typeface="IBM Plex Sans" pitchFamily="34" charset="-122"/>
                <a:cs typeface="IBM Plex Sans" pitchFamily="34" charset="-120"/>
              </a:rPr>
              <a:t>Next</a:t>
            </a:r>
            <a:endParaRPr lang="en-US" sz="1200" dirty="0"/>
          </a:p>
        </p:txBody>
      </p:sp>
      <p:sp>
        <p:nvSpPr>
          <p:cNvPr id="19" name="Text 17"/>
          <p:cNvSpPr/>
          <p:nvPr/>
        </p:nvSpPr>
        <p:spPr>
          <a:xfrm>
            <a:off x="812704" y="3415023"/>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Before/after input + two-stage</a:t>
            </a:r>
            <a:endParaRPr lang="en-US" sz="1300" dirty="0"/>
          </a:p>
        </p:txBody>
      </p:sp>
      <p:sp>
        <p:nvSpPr>
          <p:cNvPr id="20" name="Shape 18"/>
          <p:cNvSpPr/>
          <p:nvPr/>
        </p:nvSpPr>
        <p:spPr>
          <a:xfrm>
            <a:off x="4520933" y="3378181"/>
            <a:ext cx="6857990" cy="304716"/>
          </a:xfrm>
          <a:prstGeom prst="roundRect">
            <a:avLst>
              <a:gd name="adj" fmla="val 16671"/>
            </a:avLst>
          </a:prstGeom>
          <a:solidFill>
            <a:srgbClr val="ECEFF1"/>
          </a:solidFill>
          <a:ln/>
        </p:spPr>
      </p:sp>
      <p:sp>
        <p:nvSpPr>
          <p:cNvPr id="21" name="Text 19"/>
          <p:cNvSpPr/>
          <p:nvPr/>
        </p:nvSpPr>
        <p:spPr>
          <a:xfrm>
            <a:off x="7829257" y="3384531"/>
            <a:ext cx="1892281" cy="292016"/>
          </a:xfrm>
          <a:prstGeom prst="roundRect">
            <a:avLst>
              <a:gd name="adj" fmla="val 15222"/>
            </a:avLst>
          </a:prstGeom>
          <a:solidFill>
            <a:srgbClr val="FDFDFB"/>
          </a:solidFill>
          <a:ln w="12700">
            <a:solidFill>
              <a:srgbClr val="5B6672"/>
            </a:solidFill>
            <a:prstDash val="dash"/>
          </a:ln>
        </p:spPr>
        <p:txBody>
          <a:bodyPr wrap="square" lIns="94609" tIns="0" rIns="94609" bIns="0" rtlCol="0" anchor="ctr">
            <a:normAutofit/>
          </a:bodyPr>
          <a:lstStyle/>
          <a:p>
            <a:pPr algn="l" indent="0" marL="0">
              <a:lnSpc>
                <a:spcPts val="1680"/>
              </a:lnSpc>
              <a:buNone/>
            </a:pPr>
            <a:r>
              <a:rPr lang="en-US" sz="1200" dirty="0">
                <a:solidFill>
                  <a:srgbClr val="3E4A56"/>
                </a:solidFill>
                <a:latin typeface="IBM Plex Sans" pitchFamily="34" charset="0"/>
                <a:ea typeface="IBM Plex Sans" pitchFamily="34" charset="-122"/>
                <a:cs typeface="IBM Plex Sans" pitchFamily="34" charset="-120"/>
              </a:rPr>
              <a:t>Planned</a:t>
            </a:r>
            <a:endParaRPr lang="en-US" sz="1200" dirty="0"/>
          </a:p>
        </p:txBody>
      </p:sp>
      <p:sp>
        <p:nvSpPr>
          <p:cNvPr id="22" name="Text 20"/>
          <p:cNvSpPr/>
          <p:nvPr/>
        </p:nvSpPr>
        <p:spPr>
          <a:xfrm>
            <a:off x="812704" y="3846810"/>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VLM agent + offline reports</a:t>
            </a:r>
            <a:endParaRPr lang="en-US" sz="1300" dirty="0"/>
          </a:p>
        </p:txBody>
      </p:sp>
      <p:sp>
        <p:nvSpPr>
          <p:cNvPr id="23" name="Shape 21"/>
          <p:cNvSpPr/>
          <p:nvPr/>
        </p:nvSpPr>
        <p:spPr>
          <a:xfrm>
            <a:off x="4520933" y="3809963"/>
            <a:ext cx="6857990" cy="304716"/>
          </a:xfrm>
          <a:prstGeom prst="roundRect">
            <a:avLst>
              <a:gd name="adj" fmla="val 16671"/>
            </a:avLst>
          </a:prstGeom>
          <a:solidFill>
            <a:srgbClr val="ECEFF1"/>
          </a:solidFill>
          <a:ln/>
        </p:spPr>
      </p:sp>
      <p:sp>
        <p:nvSpPr>
          <p:cNvPr id="24" name="Text 22"/>
          <p:cNvSpPr/>
          <p:nvPr/>
        </p:nvSpPr>
        <p:spPr>
          <a:xfrm>
            <a:off x="8591191" y="3816313"/>
            <a:ext cx="1892281" cy="292016"/>
          </a:xfrm>
          <a:prstGeom prst="roundRect">
            <a:avLst>
              <a:gd name="adj" fmla="val 15222"/>
            </a:avLst>
          </a:prstGeom>
          <a:solidFill>
            <a:srgbClr val="FDFDFB"/>
          </a:solidFill>
          <a:ln w="12700">
            <a:solidFill>
              <a:srgbClr val="5B6672"/>
            </a:solidFill>
            <a:prstDash val="dash"/>
          </a:ln>
        </p:spPr>
        <p:txBody>
          <a:bodyPr wrap="square" lIns="94609" tIns="0" rIns="94609" bIns="0" rtlCol="0" anchor="ctr">
            <a:normAutofit/>
          </a:bodyPr>
          <a:lstStyle/>
          <a:p>
            <a:pPr algn="l" indent="0" marL="0">
              <a:lnSpc>
                <a:spcPts val="1680"/>
              </a:lnSpc>
              <a:buNone/>
            </a:pPr>
            <a:r>
              <a:rPr lang="en-US" sz="1200" dirty="0">
                <a:solidFill>
                  <a:srgbClr val="3E4A56"/>
                </a:solidFill>
                <a:latin typeface="IBM Plex Sans" pitchFamily="34" charset="0"/>
                <a:ea typeface="IBM Plex Sans" pitchFamily="34" charset="-122"/>
                <a:cs typeface="IBM Plex Sans" pitchFamily="34" charset="-120"/>
              </a:rPr>
              <a:t>Planned</a:t>
            </a:r>
            <a:endParaRPr lang="en-US" sz="1200" dirty="0"/>
          </a:p>
        </p:txBody>
      </p:sp>
      <p:sp>
        <p:nvSpPr>
          <p:cNvPr id="25" name="Text 23"/>
          <p:cNvSpPr/>
          <p:nvPr/>
        </p:nvSpPr>
        <p:spPr>
          <a:xfrm>
            <a:off x="812704" y="4278598"/>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3B distillation + edge benchmark</a:t>
            </a:r>
            <a:endParaRPr lang="en-US" sz="1300" dirty="0"/>
          </a:p>
        </p:txBody>
      </p:sp>
      <p:sp>
        <p:nvSpPr>
          <p:cNvPr id="26" name="Shape 24"/>
          <p:cNvSpPr/>
          <p:nvPr/>
        </p:nvSpPr>
        <p:spPr>
          <a:xfrm>
            <a:off x="4520933" y="4241750"/>
            <a:ext cx="6857990" cy="304716"/>
          </a:xfrm>
          <a:prstGeom prst="roundRect">
            <a:avLst>
              <a:gd name="adj" fmla="val 16671"/>
            </a:avLst>
          </a:prstGeom>
          <a:solidFill>
            <a:srgbClr val="ECEFF1"/>
          </a:solidFill>
          <a:ln/>
        </p:spPr>
      </p:sp>
      <p:sp>
        <p:nvSpPr>
          <p:cNvPr id="27" name="Text 25"/>
          <p:cNvSpPr/>
          <p:nvPr/>
        </p:nvSpPr>
        <p:spPr>
          <a:xfrm>
            <a:off x="9353223" y="4248100"/>
            <a:ext cx="1892281" cy="292016"/>
          </a:xfrm>
          <a:prstGeom prst="roundRect">
            <a:avLst>
              <a:gd name="adj" fmla="val 15222"/>
            </a:avLst>
          </a:prstGeom>
          <a:solidFill>
            <a:srgbClr val="FDFDFB"/>
          </a:solidFill>
          <a:ln w="12700">
            <a:solidFill>
              <a:srgbClr val="5B6672"/>
            </a:solidFill>
            <a:prstDash val="dash"/>
          </a:ln>
        </p:spPr>
        <p:txBody>
          <a:bodyPr wrap="square" lIns="94609" tIns="0" rIns="94609" bIns="0" rtlCol="0" anchor="ctr">
            <a:normAutofit/>
          </a:bodyPr>
          <a:lstStyle/>
          <a:p>
            <a:pPr algn="l" indent="0" marL="0">
              <a:lnSpc>
                <a:spcPts val="1680"/>
              </a:lnSpc>
              <a:buNone/>
            </a:pPr>
            <a:r>
              <a:rPr lang="en-US" sz="1200" dirty="0">
                <a:solidFill>
                  <a:srgbClr val="3E4A56"/>
                </a:solidFill>
                <a:latin typeface="IBM Plex Sans" pitchFamily="34" charset="0"/>
                <a:ea typeface="IBM Plex Sans" pitchFamily="34" charset="-122"/>
                <a:cs typeface="IBM Plex Sans" pitchFamily="34" charset="-120"/>
              </a:rPr>
              <a:t>Planned</a:t>
            </a:r>
            <a:endParaRPr lang="en-US" sz="1200" dirty="0"/>
          </a:p>
        </p:txBody>
      </p:sp>
      <p:sp>
        <p:nvSpPr>
          <p:cNvPr id="28" name="Text 26"/>
          <p:cNvSpPr/>
          <p:nvPr/>
        </p:nvSpPr>
        <p:spPr>
          <a:xfrm>
            <a:off x="812704" y="4710379"/>
            <a:ext cx="3662597" cy="2564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B"/>
                </a:solidFill>
                <a:latin typeface="IBM Plex Sans" pitchFamily="34" charset="0"/>
                <a:ea typeface="IBM Plex Sans" pitchFamily="34" charset="-122"/>
                <a:cs typeface="IBM Plex Sans" pitchFamily="34" charset="-120"/>
              </a:rPr>
              <a:t>Integration and final report</a:t>
            </a:r>
            <a:endParaRPr lang="en-US" sz="1300" dirty="0"/>
          </a:p>
        </p:txBody>
      </p:sp>
      <p:sp>
        <p:nvSpPr>
          <p:cNvPr id="29" name="Shape 27"/>
          <p:cNvSpPr/>
          <p:nvPr/>
        </p:nvSpPr>
        <p:spPr>
          <a:xfrm>
            <a:off x="4520933" y="4673538"/>
            <a:ext cx="6857990" cy="304716"/>
          </a:xfrm>
          <a:prstGeom prst="roundRect">
            <a:avLst>
              <a:gd name="adj" fmla="val 16671"/>
            </a:avLst>
          </a:prstGeom>
          <a:solidFill>
            <a:srgbClr val="ECEFF1"/>
          </a:solidFill>
          <a:ln/>
        </p:spPr>
      </p:sp>
      <p:sp>
        <p:nvSpPr>
          <p:cNvPr id="30" name="Text 28"/>
          <p:cNvSpPr/>
          <p:nvPr/>
        </p:nvSpPr>
        <p:spPr>
          <a:xfrm>
            <a:off x="10242227" y="4679888"/>
            <a:ext cx="1130250" cy="292016"/>
          </a:xfrm>
          <a:prstGeom prst="roundRect">
            <a:avLst>
              <a:gd name="adj" fmla="val 15222"/>
            </a:avLst>
          </a:prstGeom>
          <a:solidFill>
            <a:srgbClr val="FDFDFB"/>
          </a:solidFill>
          <a:ln w="12700">
            <a:solidFill>
              <a:srgbClr val="5B6672"/>
            </a:solidFill>
            <a:prstDash val="dash"/>
          </a:ln>
        </p:spPr>
        <p:txBody>
          <a:bodyPr wrap="square" lIns="94609" tIns="0" rIns="94609" bIns="0" rtlCol="0" anchor="ctr">
            <a:normAutofit/>
          </a:bodyPr>
          <a:lstStyle/>
          <a:p>
            <a:pPr algn="l" indent="0" marL="0">
              <a:lnSpc>
                <a:spcPts val="1680"/>
              </a:lnSpc>
              <a:buNone/>
            </a:pPr>
            <a:r>
              <a:rPr lang="en-US" sz="1200" dirty="0">
                <a:solidFill>
                  <a:srgbClr val="3E4A56"/>
                </a:solidFill>
                <a:latin typeface="IBM Plex Sans" pitchFamily="34" charset="0"/>
                <a:ea typeface="IBM Plex Sans" pitchFamily="34" charset="-122"/>
                <a:cs typeface="IBM Plex Sans" pitchFamily="34" charset="-120"/>
              </a:rPr>
              <a:t>Planned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704" y="6238304"/>
            <a:ext cx="9679871"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A8B6"/>
                </a:solidFill>
                <a:latin typeface="IBM Plex Sans" pitchFamily="34" charset="0"/>
                <a:ea typeface="IBM Plex Sans" pitchFamily="34" charset="-122"/>
                <a:cs typeface="IBM Plex Sans" pitchFamily="34" charset="-120"/>
              </a:rPr>
              <a:t>Group 5</a:t>
            </a:r>
            <a:r>
              <a:rPr lang="en-US" sz="1200" dirty="0">
                <a:solidFill>
                  <a:srgbClr val="9AA8B6"/>
                </a:solidFill>
                <a:latin typeface="IBM Plex Sans" pitchFamily="34" charset="0"/>
                <a:ea typeface="IBM Plex Sans" pitchFamily="34" charset="-122"/>
                <a:cs typeface="IBM Plex Sans" pitchFamily="34" charset="-120"/>
              </a:rPr>
              <a:t> · Abdullah Al Noman · Tamanna Akter Mou · Aryan Sami · Ridita Afrin Riya · Abrar Mohammed Tanzim Alam</a:t>
            </a:r>
            <a:endParaRPr lang="en-US" sz="1200" dirty="0"/>
          </a:p>
        </p:txBody>
      </p:sp>
      <p:sp>
        <p:nvSpPr>
          <p:cNvPr id="3" name="Text 1"/>
          <p:cNvSpPr/>
          <p:nvPr/>
        </p:nvSpPr>
        <p:spPr>
          <a:xfrm>
            <a:off x="10312340" y="6238304"/>
            <a:ext cx="1066777" cy="2387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6"/>
                </a:solidFill>
                <a:latin typeface="IBM Plex Sans" pitchFamily="34" charset="0"/>
                <a:ea typeface="IBM Plex Sans" pitchFamily="34" charset="-122"/>
                <a:cs typeface="IBM Plex Sans" pitchFamily="34" charset="-120"/>
              </a:rPr>
              <a:t>14 / 14</a:t>
            </a:r>
            <a:endParaRPr lang="en-US" sz="1200" dirty="0"/>
          </a:p>
        </p:txBody>
      </p:sp>
      <p:sp>
        <p:nvSpPr>
          <p:cNvPr id="4" name="Text 2"/>
          <p:cNvSpPr/>
          <p:nvPr/>
        </p:nvSpPr>
        <p:spPr>
          <a:xfrm>
            <a:off x="812704" y="812701"/>
            <a:ext cx="10889879"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833A"/>
                </a:solidFill>
                <a:latin typeface="IBM Plex Sans" pitchFamily="34" charset="0"/>
                <a:ea typeface="IBM Plex Sans" pitchFamily="34" charset="-122"/>
                <a:cs typeface="IBM Plex Sans" pitchFamily="34" charset="-120"/>
              </a:rPr>
              <a:t>DELIVERABLES</a:t>
            </a:r>
            <a:endParaRPr lang="en-US" sz="1200" dirty="0"/>
          </a:p>
        </p:txBody>
      </p:sp>
      <p:sp>
        <p:nvSpPr>
          <p:cNvPr id="5" name="Text 3"/>
          <p:cNvSpPr/>
          <p:nvPr>
            <p:ph type="title"/>
          </p:nvPr>
        </p:nvSpPr>
        <p:spPr>
          <a:xfrm>
            <a:off x="812704" y="1076802"/>
            <a:ext cx="10889879" cy="434266"/>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7F7F4"/>
                </a:solidFill>
                <a:latin typeface="Space Grotesk" pitchFamily="34" charset="0"/>
                <a:ea typeface="Space Grotesk" pitchFamily="34" charset="-122"/>
                <a:cs typeface="Space Grotesk" pitchFamily="34" charset="-120"/>
              </a:rPr>
              <a:t>What 499B will hand in</a:t>
            </a:r>
            <a:endParaRPr lang="en-US" sz="2800" dirty="0"/>
          </a:p>
        </p:txBody>
      </p:sp>
      <p:sp>
        <p:nvSpPr>
          <p:cNvPr id="6" name="Text 4"/>
          <p:cNvSpPr/>
          <p:nvPr/>
        </p:nvSpPr>
        <p:spPr>
          <a:xfrm>
            <a:off x="883643" y="1739807"/>
            <a:ext cx="6206853" cy="1873615"/>
          </a:xfrm>
          <a:prstGeom prst="rect">
            <a:avLst/>
          </a:prstGeom>
          <a:noFill/>
          <a:ln/>
        </p:spPr>
        <p:txBody>
          <a:bodyPr wrap="square" lIns="0" tIns="0" rIns="0" bIns="0" rtlCol="0" anchor="t">
            <a:normAutofit/>
          </a:bodyPr>
          <a:lstStyle/>
          <a:p>
            <a:pPr algn="l" marL="183062" indent="-183062">
              <a:lnSpc>
                <a:spcPts val="1820"/>
              </a:lnSpc>
              <a:buSzPct val="100000"/>
              <a:buFontTx/>
              <a:buAutoNum type="arabicPeriod" startAt="1"/>
            </a:pPr>
            <a:r>
              <a:rPr lang="en-US" sz="1300" dirty="0">
                <a:solidFill>
                  <a:srgbClr val="C9D3DD"/>
                </a:solidFill>
                <a:latin typeface="IBM Plex Sans" pitchFamily="34" charset="0"/>
                <a:ea typeface="IBM Plex Sans" pitchFamily="34" charset="-122"/>
                <a:cs typeface="IBM Plex Sans" pitchFamily="34" charset="-120"/>
              </a:rPr>
              <a:t>A stronger damage-segmentation model and a full results table</a:t>
            </a:r>
            <a:endParaRPr lang="en-US" sz="1300" dirty="0"/>
          </a:p>
          <a:p>
            <a:pPr algn="l" marL="183062" indent="-183062">
              <a:lnSpc>
                <a:spcPts val="1820"/>
              </a:lnSpc>
              <a:buSzPct val="100000"/>
              <a:buFontTx/>
              <a:buAutoNum type="arabicPeriod" startAt="1"/>
            </a:pPr>
            <a:r>
              <a:rPr lang="en-US" sz="1300" dirty="0">
                <a:solidFill>
                  <a:srgbClr val="C9D3DD"/>
                </a:solidFill>
                <a:latin typeface="IBM Plex Sans" pitchFamily="34" charset="0"/>
                <a:ea typeface="IBM Plex Sans" pitchFamily="34" charset="-122"/>
                <a:cs typeface="IBM Plex Sans" pitchFamily="34" charset="-120"/>
              </a:rPr>
              <a:t>SAM 3 building finding with per-building damage grades, if the feasibility test passes</a:t>
            </a:r>
            <a:endParaRPr lang="en-US" sz="1300" dirty="0"/>
          </a:p>
          <a:p>
            <a:pPr algn="l" marL="183062" indent="-183062">
              <a:lnSpc>
                <a:spcPts val="1820"/>
              </a:lnSpc>
              <a:buSzPct val="100000"/>
              <a:buFontTx/>
              <a:buAutoNum type="arabicPeriod" startAt="1"/>
            </a:pPr>
            <a:r>
              <a:rPr lang="en-US" sz="1300" dirty="0">
                <a:solidFill>
                  <a:srgbClr val="C9D3DD"/>
                </a:solidFill>
                <a:latin typeface="IBM Plex Sans" pitchFamily="34" charset="0"/>
                <a:ea typeface="IBM Plex Sans" pitchFamily="34" charset="-122"/>
                <a:cs typeface="IBM Plex Sans" pitchFamily="34" charset="-120"/>
              </a:rPr>
              <a:t>Offline DisasTeller reports on our fine-tuned Qwen2.5-VL, with damage map, counts and survivability heatmap</a:t>
            </a:r>
            <a:endParaRPr lang="en-US" sz="1300" dirty="0"/>
          </a:p>
          <a:p>
            <a:pPr algn="l" marL="183062" indent="-183062">
              <a:lnSpc>
                <a:spcPts val="1820"/>
              </a:lnSpc>
              <a:buSzPct val="100000"/>
              <a:buFontTx/>
              <a:buAutoNum type="arabicPeriod" startAt="1"/>
            </a:pPr>
            <a:r>
              <a:rPr lang="en-US" sz="1300" dirty="0">
                <a:solidFill>
                  <a:srgbClr val="C9D3DD"/>
                </a:solidFill>
                <a:latin typeface="IBM Plex Sans" pitchFamily="34" charset="0"/>
                <a:ea typeface="IBM Plex Sans" pitchFamily="34" charset="-122"/>
                <a:cs typeface="IBM Plex Sans" pitchFamily="34" charset="-120"/>
              </a:rPr>
              <a:t>A distilled Qwen2.5-VL-3B (about 6 GB) and an edge speed and memory benchmark</a:t>
            </a:r>
            <a:endParaRPr lang="en-US" sz="1300" dirty="0"/>
          </a:p>
          <a:p>
            <a:pPr algn="l" marL="183062" indent="-183062">
              <a:lnSpc>
                <a:spcPts val="1820"/>
              </a:lnSpc>
              <a:buSzPct val="100000"/>
              <a:buFontTx/>
              <a:buAutoNum type="arabicPeriod" startAt="1"/>
            </a:pPr>
            <a:r>
              <a:rPr lang="en-US" sz="1300" dirty="0">
                <a:solidFill>
                  <a:srgbClr val="C9D3DD"/>
                </a:solidFill>
                <a:latin typeface="IBM Plex Sans" pitchFamily="34" charset="0"/>
                <a:ea typeface="IBM Plex Sans" pitchFamily="34" charset="-122"/>
                <a:cs typeface="IBM Plex Sans" pitchFamily="34" charset="-120"/>
              </a:rPr>
              <a:t>Final IEEE-format report, with code and checkpoints on Hugging Face</a:t>
            </a:r>
            <a:endParaRPr lang="en-US" sz="1300" dirty="0"/>
          </a:p>
        </p:txBody>
      </p:sp>
      <p:sp>
        <p:nvSpPr>
          <p:cNvPr id="7" name="Text 5"/>
          <p:cNvSpPr/>
          <p:nvPr/>
        </p:nvSpPr>
        <p:spPr>
          <a:xfrm>
            <a:off x="7321494" y="1739807"/>
            <a:ext cx="4192399" cy="528263"/>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7F7F4"/>
                </a:solidFill>
                <a:latin typeface="Space Grotesk" pitchFamily="34" charset="0"/>
                <a:ea typeface="Space Grotesk" pitchFamily="34" charset="-122"/>
                <a:cs typeface="Space Grotesk" pitchFamily="34" charset="-120"/>
              </a:rPr>
              <a:t>Thank you</a:t>
            </a:r>
            <a:endParaRPr lang="en-US" sz="3600" dirty="0"/>
          </a:p>
        </p:txBody>
      </p:sp>
      <p:sp>
        <p:nvSpPr>
          <p:cNvPr id="8" name="Text 6"/>
          <p:cNvSpPr/>
          <p:nvPr/>
        </p:nvSpPr>
        <p:spPr>
          <a:xfrm>
            <a:off x="7321494" y="2344210"/>
            <a:ext cx="4192399" cy="30980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833A"/>
                </a:solidFill>
                <a:latin typeface="Space Grotesk" pitchFamily="34" charset="0"/>
                <a:ea typeface="Space Grotesk" pitchFamily="34" charset="-122"/>
                <a:cs typeface="Space Grotesk" pitchFamily="34" charset="-120"/>
              </a:rPr>
              <a:t>Questions?</a:t>
            </a:r>
            <a:endParaRPr lang="en-US" sz="1600" dirty="0"/>
          </a:p>
        </p:txBody>
      </p:sp>
      <p:sp>
        <p:nvSpPr>
          <p:cNvPr id="9" name="Text 7"/>
          <p:cNvSpPr/>
          <p:nvPr/>
        </p:nvSpPr>
        <p:spPr>
          <a:xfrm>
            <a:off x="7321494" y="2730450"/>
            <a:ext cx="4074666" cy="4874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DD"/>
                </a:solidFill>
                <a:latin typeface="IBM Plex Sans" pitchFamily="34" charset="0"/>
                <a:ea typeface="IBM Plex Sans" pitchFamily="34" charset="-122"/>
                <a:cs typeface="IBM Plex Sans" pitchFamily="34" charset="-120"/>
              </a:rPr>
              <a:t>Decision support for rescue responders, not a replacement for them.</a:t>
            </a:r>
            <a:endParaRPr lang="en-US" sz="1300" dirty="0"/>
          </a:p>
        </p:txBody>
      </p:sp>
    </p:spTree>
  </p:cSld>
  <p:clrMapOvr>
    <a:masterClrMapping/>
  </p:clrMapOvr>
</p:sld>
</file>

<file path=ppt/theme/theme1.xml><?xml version="1.0" encoding="utf-8"?>
<a:theme xmlns:a="http://schemas.openxmlformats.org/drawingml/2006/main" name="CSE499B Review Presentation">
  <a:themeElements>
    <a:clrScheme name="CSE499B Review Presentation">
      <a:dk1>
        <a:srgbClr val="15202B"/>
      </a:dk1>
      <a:lt1>
        <a:srgbClr val="F7F7F4"/>
      </a:lt1>
      <a:dk2>
        <a:srgbClr val="4E565D"/>
      </a:dk2>
      <a:lt2>
        <a:srgbClr val="E0E2E0"/>
      </a:lt2>
      <a:accent1>
        <a:srgbClr val="B84A0E"/>
      </a:accent1>
      <a:accent2>
        <a:srgbClr val="2F6DB5"/>
      </a:accent2>
      <a:accent3>
        <a:srgbClr val="D9601A"/>
      </a:accent3>
      <a:accent4>
        <a:srgbClr val="8F3A0C"/>
      </a:accent4>
      <a:accent5>
        <a:srgbClr val="E8833A"/>
      </a:accent5>
      <a:accent6>
        <a:srgbClr val="3E4A56"/>
      </a:accent6>
      <a:hlink>
        <a:srgbClr val="0563C1"/>
      </a:hlink>
      <a:folHlink>
        <a:srgbClr val="954F72"/>
      </a:folHlink>
    </a:clrScheme>
    <a:fontScheme name="CSE499B Review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CSE499B Review Presentation</dc:title>
  <dc:subject/>
  <dc:creator/>
  <cp:lastModifiedBy/>
  <cp:revision>1</cp:revision>
  <dcterms:created xsi:type="dcterms:W3CDTF">2026-10-06T19:23:19Z</dcterms:created>
  <dcterms:modified xsi:type="dcterms:W3CDTF">2026-10-06T19:23:19Z</dcterms:modified>
</cp:coreProperties>
</file>