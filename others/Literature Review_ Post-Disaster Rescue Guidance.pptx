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y="6858000" cx="12192000"/>
  <p:notesSz cx="6858000" cy="9144000"/>
  <p:embeddedFontLst>
    <p:embeddedFont>
      <p:font typeface="Spline Sans"/>
      <p:bold r:id="rId27"/>
    </p:embeddedFont>
    <p:embeddedFont>
      <p:font typeface="Urbanist SemiBold"/>
      <p:regular r:id="rId28"/>
      <p:bold r:id="rId29"/>
      <p:italic r:id="rId30"/>
      <p:boldItalic r:id="rId31"/>
    </p:embeddedFont>
    <p:embeddedFont>
      <p:font typeface="Urbanist Medium"/>
      <p:regular r:id="rId32"/>
      <p:bold r:id="rId33"/>
      <p:italic r:id="rId34"/>
      <p:boldItalic r:id="rId35"/>
    </p:embeddedFont>
    <p:embeddedFont>
      <p:font typeface="Urbanist"/>
      <p:regular r:id="rId36"/>
      <p:bold r:id="rId37"/>
      <p:italic r:id="rId38"/>
      <p:boldItalic r:id="rId39"/>
    </p:embeddedFont>
    <p:embeddedFont>
      <p:font typeface="Barlow"/>
      <p:regular r:id="rId40"/>
      <p:bold r:id="rId41"/>
      <p:italic r:id="rId42"/>
      <p:boldItalic r:id="rId4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Barlow-regular.fntdata"/><Relationship Id="rId20" Type="http://schemas.openxmlformats.org/officeDocument/2006/relationships/slide" Target="slides/slide15.xml"/><Relationship Id="rId42" Type="http://schemas.openxmlformats.org/officeDocument/2006/relationships/font" Target="fonts/Barlow-italic.fntdata"/><Relationship Id="rId41" Type="http://schemas.openxmlformats.org/officeDocument/2006/relationships/font" Target="fonts/Barlow-bold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schemas.openxmlformats.org/officeDocument/2006/relationships/font" Target="fonts/Barlow-boldItalic.fntdata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font" Target="fonts/UrbanistSemiBold-regular.fntdata"/><Relationship Id="rId27" Type="http://schemas.openxmlformats.org/officeDocument/2006/relationships/font" Target="fonts/SplineSa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UrbanistSemiBold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UrbanistSemiBold-boldItalic.fntdata"/><Relationship Id="rId30" Type="http://schemas.openxmlformats.org/officeDocument/2006/relationships/font" Target="fonts/UrbanistSemiBold-italic.fntdata"/><Relationship Id="rId11" Type="http://schemas.openxmlformats.org/officeDocument/2006/relationships/slide" Target="slides/slide6.xml"/><Relationship Id="rId33" Type="http://schemas.openxmlformats.org/officeDocument/2006/relationships/font" Target="fonts/UrbanistMedium-bold.fntdata"/><Relationship Id="rId10" Type="http://schemas.openxmlformats.org/officeDocument/2006/relationships/slide" Target="slides/slide5.xml"/><Relationship Id="rId32" Type="http://schemas.openxmlformats.org/officeDocument/2006/relationships/font" Target="fonts/UrbanistMedium-regular.fntdata"/><Relationship Id="rId13" Type="http://schemas.openxmlformats.org/officeDocument/2006/relationships/slide" Target="slides/slide8.xml"/><Relationship Id="rId35" Type="http://schemas.openxmlformats.org/officeDocument/2006/relationships/font" Target="fonts/UrbanistMedium-boldItalic.fntdata"/><Relationship Id="rId12" Type="http://schemas.openxmlformats.org/officeDocument/2006/relationships/slide" Target="slides/slide7.xml"/><Relationship Id="rId34" Type="http://schemas.openxmlformats.org/officeDocument/2006/relationships/font" Target="fonts/UrbanistMedium-italic.fntdata"/><Relationship Id="rId15" Type="http://schemas.openxmlformats.org/officeDocument/2006/relationships/slide" Target="slides/slide10.xml"/><Relationship Id="rId37" Type="http://schemas.openxmlformats.org/officeDocument/2006/relationships/font" Target="fonts/Urbanist-bold.fntdata"/><Relationship Id="rId14" Type="http://schemas.openxmlformats.org/officeDocument/2006/relationships/slide" Target="slides/slide9.xml"/><Relationship Id="rId36" Type="http://schemas.openxmlformats.org/officeDocument/2006/relationships/font" Target="fonts/Urbanist-regular.fntdata"/><Relationship Id="rId17" Type="http://schemas.openxmlformats.org/officeDocument/2006/relationships/slide" Target="slides/slide12.xml"/><Relationship Id="rId39" Type="http://schemas.openxmlformats.org/officeDocument/2006/relationships/font" Target="fonts/Urbanist-boldItalic.fntdata"/><Relationship Id="rId16" Type="http://schemas.openxmlformats.org/officeDocument/2006/relationships/slide" Target="slides/slide11.xml"/><Relationship Id="rId38" Type="http://schemas.openxmlformats.org/officeDocument/2006/relationships/font" Target="fonts/Urbanist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7bae3a9fa_17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7bae3a9fa_17_2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bae3a9fa_17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f7bae3a9fa_17_2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7bae3a9fa_16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f7bae3a9fa_16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3663af712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f3663af712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f37856b383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f37856b38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7bae3a9fa_18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f7bae3a9fa_18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>
                <a:solidFill>
                  <a:schemeClr val="dk1"/>
                </a:solidFill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Char char="●"/>
              <a:defRPr sz="2400">
                <a:solidFill>
                  <a:schemeClr val="lt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lt2"/>
                </a:solidFill>
              </a:defRPr>
            </a:lvl1pPr>
            <a:lvl2pPr lvl="1" algn="r">
              <a:buNone/>
              <a:defRPr sz="1300">
                <a:solidFill>
                  <a:schemeClr val="lt2"/>
                </a:solidFill>
              </a:defRPr>
            </a:lvl2pPr>
            <a:lvl3pPr lvl="2" algn="r">
              <a:buNone/>
              <a:defRPr sz="1300">
                <a:solidFill>
                  <a:schemeClr val="lt2"/>
                </a:solidFill>
              </a:defRPr>
            </a:lvl3pPr>
            <a:lvl4pPr lvl="3" algn="r">
              <a:buNone/>
              <a:defRPr sz="1300">
                <a:solidFill>
                  <a:schemeClr val="lt2"/>
                </a:solidFill>
              </a:defRPr>
            </a:lvl4pPr>
            <a:lvl5pPr lvl="4" algn="r">
              <a:buNone/>
              <a:defRPr sz="1300">
                <a:solidFill>
                  <a:schemeClr val="lt2"/>
                </a:solidFill>
              </a:defRPr>
            </a:lvl5pPr>
            <a:lvl6pPr lvl="5" algn="r">
              <a:buNone/>
              <a:defRPr sz="1300">
                <a:solidFill>
                  <a:schemeClr val="lt2"/>
                </a:solidFill>
              </a:defRPr>
            </a:lvl6pPr>
            <a:lvl7pPr lvl="6" algn="r">
              <a:buNone/>
              <a:defRPr sz="1300">
                <a:solidFill>
                  <a:schemeClr val="lt2"/>
                </a:solidFill>
              </a:defRPr>
            </a:lvl7pPr>
            <a:lvl8pPr lvl="7" algn="r">
              <a:buNone/>
              <a:defRPr sz="1300">
                <a:solidFill>
                  <a:schemeClr val="lt2"/>
                </a:solidFill>
              </a:defRPr>
            </a:lvl8pPr>
            <a:lvl9pPr lvl="8" algn="r">
              <a:buNone/>
              <a:defRPr sz="13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hyperlink" Target="https://drive.google.com/file/d/1vvKunQ-viQD5_WM3gV3WKGIbaXPNZ57l/view?usp=sharing" TargetMode="External"/><Relationship Id="rId5" Type="http://schemas.openxmlformats.org/officeDocument/2006/relationships/hyperlink" Target="https://drive.google.com/file/d/1vvKunQ-viQD5_WM3gV3WKGIbaXPNZ57l/view?usp=sharing" TargetMode="External"/><Relationship Id="rId6" Type="http://schemas.openxmlformats.org/officeDocument/2006/relationships/hyperlink" Target="https://drive.google.com/file/d/1vvKunQ-viQD5_WM3gV3WKGIbaXPNZ57l/view?usp=sharing" TargetMode="External"/><Relationship Id="rId7" Type="http://schemas.openxmlformats.org/officeDocument/2006/relationships/image" Target="../media/image11.png"/><Relationship Id="rId8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7.png"/><Relationship Id="rId10" Type="http://schemas.openxmlformats.org/officeDocument/2006/relationships/image" Target="../media/image4.png"/><Relationship Id="rId13" Type="http://schemas.openxmlformats.org/officeDocument/2006/relationships/image" Target="../media/image9.png"/><Relationship Id="rId1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9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20.png"/><Relationship Id="rId7" Type="http://schemas.openxmlformats.org/officeDocument/2006/relationships/image" Target="../media/image15.png"/><Relationship Id="rId8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4.png"/><Relationship Id="rId6" Type="http://schemas.openxmlformats.org/officeDocument/2006/relationships/image" Target="../media/image16.png"/><Relationship Id="rId7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image" Target="../media/image23.png"/><Relationship Id="rId6" Type="http://schemas.openxmlformats.org/officeDocument/2006/relationships/image" Target="../media/image11.png"/><Relationship Id="rId7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1.png"/><Relationship Id="rId5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Relationship Id="rId4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6.png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0"/>
            <a:ext cx="153352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571500" y="667684"/>
            <a:ext cx="11049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LITERATURE  REVIEW</a:t>
            </a:r>
            <a:endParaRPr b="1" sz="3900"/>
          </a:p>
        </p:txBody>
      </p:sp>
      <p:sp>
        <p:nvSpPr>
          <p:cNvPr id="56" name="Google Shape;56;p13"/>
          <p:cNvSpPr txBox="1"/>
          <p:nvPr/>
        </p:nvSpPr>
        <p:spPr>
          <a:xfrm>
            <a:off x="571500" y="1419025"/>
            <a:ext cx="11601600" cy="13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Post-Disaster Rescue Guidance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via </a:t>
            </a:r>
            <a:r>
              <a:rPr b="1" i="0" lang="en-US" sz="4200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Fine-Tuning VLMs</a:t>
            </a:r>
            <a:endParaRPr sz="800"/>
          </a:p>
        </p:txBody>
      </p:sp>
      <p:sp>
        <p:nvSpPr>
          <p:cNvPr id="57" name="Google Shape;57;p13"/>
          <p:cNvSpPr txBox="1"/>
          <p:nvPr/>
        </p:nvSpPr>
        <p:spPr>
          <a:xfrm>
            <a:off x="571500" y="3240425"/>
            <a:ext cx="81777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Generate structured, rescue-actionable text from single post-disaster aerial &amp; satellite images.</a:t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571500" y="4306925"/>
            <a:ext cx="158367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2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CSE499A · Section 15 · </a:t>
            </a:r>
            <a:r>
              <a:rPr b="1" i="0" lang="en-US" sz="1792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Group 5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71500" y="5038831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Abdullah Al Noman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71500" y="5388244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Tamanna Akter Mou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71500" y="5737658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Aryan Sami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0825" y="5038831"/>
            <a:ext cx="31266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Ridita Afrin Riya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3110825" y="5388244"/>
            <a:ext cx="31266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Abrar Mohammed Tanzim Alam</a:t>
            </a:r>
            <a:endParaRPr b="1" sz="1863">
              <a:solidFill>
                <a:srgbClr val="4ADE8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8" name="Google Shape;6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57262" y="2068550"/>
            <a:ext cx="4090275" cy="4000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" name="Google Shape;6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4"/>
          <p:cNvSpPr txBox="1"/>
          <p:nvPr/>
        </p:nvSpPr>
        <p:spPr>
          <a:xfrm>
            <a:off x="762000" y="971550"/>
            <a:ext cx="11401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uFill>
                  <a:noFill/>
                </a:uFill>
                <a:latin typeface="Urbanist SemiBold"/>
                <a:ea typeface="Urbanist SemiBold"/>
                <a:cs typeface="Urbanist SemiBold"/>
                <a:sym typeface="Urbanist SemiBold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DisasterM3: A Remote Sensing Vision-Language Dataset for Disaster Damage Assessment and Respons</a:t>
            </a:r>
            <a:r>
              <a:rPr lang="en-US" sz="2950">
                <a:solidFill>
                  <a:srgbClr val="4ADE80"/>
                </a:solidFill>
                <a:uFill>
                  <a:noFill/>
                </a:uFill>
                <a:latin typeface="Urbanist SemiBold"/>
                <a:ea typeface="Urbanist SemiBold"/>
                <a:cs typeface="Urbanist SemiBold"/>
                <a:sym typeface="Urbanist SemiBold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</a:t>
            </a:r>
            <a:endParaRPr sz="1200">
              <a:solidFill>
                <a:srgbClr val="4ADE80"/>
              </a:solidFill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904875" y="2557450"/>
            <a:ext cx="6380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Problem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Generic VLMs struggle with disaster imagery due to domain gaps, sensor limitations, and lack of multi-task reasoning capability.</a:t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904875" y="3309925"/>
            <a:ext cx="6405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Objective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Curate the first global-scale, multi-hazard, multi-sensor, multi-task remote sensing VLM benchmark for disaster damage assessment and response.</a:t>
            </a:r>
            <a:endParaRPr/>
          </a:p>
        </p:txBody>
      </p:sp>
      <p:sp>
        <p:nvSpPr>
          <p:cNvPr id="74" name="Google Shape;74;p14"/>
          <p:cNvSpPr txBox="1"/>
          <p:nvPr/>
        </p:nvSpPr>
        <p:spPr>
          <a:xfrm>
            <a:off x="904875" y="4431700"/>
            <a:ext cx="6405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Scale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26,988 bi-temporal satellite images and 123,010 instruction pairs across 36 historical disaster events spanning 5 continents.</a:t>
            </a:r>
            <a:endParaRPr/>
          </a:p>
        </p:txBody>
      </p:sp>
      <p:sp>
        <p:nvSpPr>
          <p:cNvPr id="75" name="Google Shape;75;p14"/>
          <p:cNvSpPr txBox="1"/>
          <p:nvPr/>
        </p:nvSpPr>
        <p:spPr>
          <a:xfrm>
            <a:off x="904875" y="5184175"/>
            <a:ext cx="6380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Three "M"s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Multi-hazard (10 disaster types), Multi-sensor (Optical + SAR), Multi-task (9 distinct visual perception and reasoning tasks).</a:t>
            </a:r>
            <a:endParaRPr/>
          </a:p>
        </p:txBody>
      </p:sp>
      <p:pic>
        <p:nvPicPr>
          <p:cNvPr descr="image.png" id="76" name="Google Shape;7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" name="Google Shape;77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8" name="Google Shape;78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4317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" name="Google Shape;7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5184175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4"/>
          <p:cNvSpPr/>
          <p:nvPr/>
        </p:nvSpPr>
        <p:spPr>
          <a:xfrm>
            <a:off x="7603135" y="2181791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26,988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4"/>
          <p:cNvSpPr/>
          <p:nvPr/>
        </p:nvSpPr>
        <p:spPr>
          <a:xfrm>
            <a:off x="8725767" y="2693363"/>
            <a:ext cx="17532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Bi-temporal satellite images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4"/>
          <p:cNvSpPr/>
          <p:nvPr/>
        </p:nvSpPr>
        <p:spPr>
          <a:xfrm>
            <a:off x="7603135" y="3073768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123,010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4"/>
          <p:cNvSpPr/>
          <p:nvPr/>
        </p:nvSpPr>
        <p:spPr>
          <a:xfrm>
            <a:off x="8939479" y="3585340"/>
            <a:ext cx="13257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Instruction pairs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7603135" y="3965745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36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4"/>
          <p:cNvSpPr/>
          <p:nvPr/>
        </p:nvSpPr>
        <p:spPr>
          <a:xfrm>
            <a:off x="8811192" y="4477316"/>
            <a:ext cx="15822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Historical disaster events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6526638" y="4689545"/>
            <a:ext cx="61515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00"/>
              <a:buFont typeface="Barlow"/>
              <a:buNone/>
            </a:pPr>
            <a:r>
              <a:rPr b="0" i="0" lang="en-US" sz="90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Across 5 continents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7603135" y="5061715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10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4"/>
          <p:cNvSpPr/>
          <p:nvPr/>
        </p:nvSpPr>
        <p:spPr>
          <a:xfrm>
            <a:off x="8939479" y="5573287"/>
            <a:ext cx="13257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Disaster types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6526638" y="5785516"/>
            <a:ext cx="61515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00"/>
              <a:buFont typeface="Barlow"/>
              <a:buNone/>
            </a:pPr>
            <a:r>
              <a:rPr b="0" i="0" lang="en-US" sz="90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Multi-hazard coverage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0" name="Google Shape;9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4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762000" y="1970604"/>
            <a:ext cx="2123400" cy="314400"/>
          </a:xfrm>
          <a:prstGeom prst="roundRect">
            <a:avLst>
              <a:gd fmla="val 72557" name="adj"/>
            </a:avLst>
          </a:prstGeom>
          <a:solidFill>
            <a:srgbClr val="004D36"/>
          </a:solidFill>
          <a:ln>
            <a:noFill/>
          </a:ln>
        </p:spPr>
        <p:txBody>
          <a:bodyPr anchorCtr="0" anchor="ctr" bIns="145575" lIns="145575" spcFirstLastPara="1" rIns="145575" wrap="square" tIns="145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875906" y="2027478"/>
            <a:ext cx="28662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4"/>
              <a:buFont typeface="Barlow"/>
              <a:buNone/>
            </a:pPr>
            <a:r>
              <a:rPr b="0" i="0" lang="en-US" sz="1194" cap="none" strike="noStrike">
                <a:solidFill>
                  <a:schemeClr val="dk1"/>
                </a:solidFill>
                <a:uFill>
                  <a:noFill/>
                </a:uFill>
                <a:latin typeface="Barlow"/>
                <a:ea typeface="Barlow"/>
                <a:cs typeface="Barlow"/>
                <a:sym typeface="Barlow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WANG ET AL., NEURIPS 2025</a:t>
            </a:r>
            <a:endParaRPr b="0" i="0" sz="1194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762000" y="971550"/>
            <a:ext cx="114015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9-TASK TAXONOMY</a:t>
            </a:r>
            <a:endParaRPr sz="1200"/>
          </a:p>
        </p:txBody>
      </p:sp>
      <p:sp>
        <p:nvSpPr>
          <p:cNvPr id="102" name="Google Shape;102;p15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571500" y="6410325"/>
            <a:ext cx="485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05" name="Google Shape;105;p15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i="0" lang="en-US" sz="1000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From Simple Recognition to Complex Reasoning</a:t>
            </a:r>
            <a:endParaRPr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/>
          <p:nvPr/>
        </p:nvSpPr>
        <p:spPr>
          <a:xfrm>
            <a:off x="783478" y="1731418"/>
            <a:ext cx="113328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50"/>
              <a:buFont typeface="Barlow"/>
              <a:buNone/>
            </a:pPr>
            <a:r>
              <a:rPr b="0" i="0" lang="en-US" sz="125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DisasterM3 defines nine tasks across five functional categories, progressing from basic identification to actionable reporting.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7" name="Google Shape;10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2049450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/>
          <p:nvPr/>
        </p:nvSpPr>
        <p:spPr>
          <a:xfrm>
            <a:off x="1377957" y="2192850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Recognition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1377957" y="2424545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1.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 Scene Recognition, 2</a:t>
            </a: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 Type Recognition, 3</a:t>
            </a: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Bearing Body Recognition — identifying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what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happened and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what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is affected.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0" name="Google Shape;11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2900111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/>
          <p:nvPr/>
        </p:nvSpPr>
        <p:spPr>
          <a:xfrm>
            <a:off x="1377957" y="3043516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Quantification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1377957" y="3275210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1.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Damaged Building Counting, 2.  Damaged Road Area Estimation — measuring the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extent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of destruction using polygon masks.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3" name="Google Shape;11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3750772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/>
          <p:nvPr/>
        </p:nvSpPr>
        <p:spPr>
          <a:xfrm>
            <a:off x="1377957" y="3894181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Localization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1377957" y="4125875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1.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Referring Segmentation — outputting precise bounding boxes/masks for specific damaged objects.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6" name="Google Shape;116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452099"/>
            <a:ext cx="10527049" cy="727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/>
          <p:nvPr/>
        </p:nvSpPr>
        <p:spPr>
          <a:xfrm>
            <a:off x="1377957" y="5595512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Reporting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1377949" y="5827200"/>
            <a:ext cx="99111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1.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 Caption </a:t>
            </a: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+ 2.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Restoration Advice — generating comprehensive damage summaries and actionable Immediate/Long-term recovery plans aligned with UNITAR/FEMA guidelines.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9" name="Google Shape;11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4601437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/>
          <p:nvPr/>
        </p:nvSpPr>
        <p:spPr>
          <a:xfrm>
            <a:off x="1365130" y="4775410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Reasoning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1365130" y="5007104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lang="en-US" sz="961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1. 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Object Relational Reasoning — describing spatial/causal relationships between damaged structures (e.g., "collapsed building adjacent to blocked road").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8286" y="2339969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3" name="Google Shape;123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58286" y="3190634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4" name="Google Shape;124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58286" y="4041300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5" name="Google Shape;125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8299" y="5713278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6" name="Google Shape;126;p1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58297" y="4885027"/>
            <a:ext cx="189001" cy="189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1" name="Google Shape;13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62000" y="971550"/>
            <a:ext cx="114015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METHODOLOGY &amp; RESULTS</a:t>
            </a:r>
            <a:endParaRPr sz="2850"/>
          </a:p>
        </p:txBody>
      </p:sp>
      <p:sp>
        <p:nvSpPr>
          <p:cNvPr id="134" name="Google Shape;134;p16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lang="en-US" sz="1000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How They Built It, What They Found</a:t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t/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692700" y="1737775"/>
            <a:ext cx="5529900" cy="4208100"/>
          </a:xfrm>
          <a:prstGeom prst="roundRect">
            <a:avLst>
              <a:gd fmla="val 8832" name="adj"/>
            </a:avLst>
          </a:prstGeom>
          <a:solidFill>
            <a:srgbClr val="091231">
              <a:alpha val="74900"/>
            </a:srgbClr>
          </a:solidFill>
          <a:ln>
            <a:noFill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978901" y="1905424"/>
            <a:ext cx="2686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Ground Truth Pipeline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978901" y="2328712"/>
            <a:ext cx="5243700" cy="8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GPT-4o generated question prompts → Human disaster experts annotated correct answers and drafted FEMA-aligned reports → GPT-4o polished drafts → Multi-round human verification.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978901" y="3347796"/>
            <a:ext cx="2644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Fine-Tuning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978901" y="3771084"/>
            <a:ext cx="52437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Trained Qwen2.5-VL-7B, InternVL3-8B, LISA, and PSALM on the 92K-pair Instruct Set.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978901" y="4507771"/>
            <a:ext cx="2644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Evaluation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978901" y="4931059"/>
            <a:ext cx="5243700" cy="8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LLM-as-a-Judge (GPT-4.1) scored open-ended outputs on a 1–5 rubric: Damage Assessment Precision, Factual Correctness, Action Priority Precision.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6660999" y="1884834"/>
            <a:ext cx="22620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Headline Results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6660999" y="2265347"/>
            <a:ext cx="2212500" cy="11886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16F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6832706" y="2437059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+10.4%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6832706" y="2799160"/>
            <a:ext cx="18690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QA accuracy gain from fine-tuning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9020500" y="2265347"/>
            <a:ext cx="2212500" cy="11886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29DD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6"/>
          <p:cNvSpPr/>
          <p:nvPr/>
        </p:nvSpPr>
        <p:spPr>
          <a:xfrm>
            <a:off x="9192208" y="2437059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+2.1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9192208" y="2799160"/>
            <a:ext cx="1869300" cy="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Report score improvement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660999" y="3601067"/>
            <a:ext cx="4572000" cy="9471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692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6832706" y="3772778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+40.8%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6832706" y="4134879"/>
            <a:ext cx="4228800" cy="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Referring Segmentation mIoU boost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6660999" y="4713623"/>
            <a:ext cx="4572000" cy="1066500"/>
          </a:xfrm>
          <a:prstGeom prst="roundRect">
            <a:avLst>
              <a:gd fmla="val 21775" name="adj"/>
            </a:avLst>
          </a:prstGeom>
          <a:solidFill>
            <a:srgbClr val="00805A"/>
          </a:solidFill>
          <a:ln>
            <a:noFill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5791" y="4952028"/>
            <a:ext cx="193556" cy="15479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/>
          <p:nvPr/>
        </p:nvSpPr>
        <p:spPr>
          <a:xfrm>
            <a:off x="7164139" y="4884630"/>
            <a:ext cx="39141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99"/>
              <a:buFont typeface="Barlow"/>
              <a:buNone/>
            </a:pPr>
            <a:r>
              <a:rPr b="1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Key conclusion:</a:t>
            </a:r>
            <a:r>
              <a:rPr b="0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Domain-specific instruction tuning is </a:t>
            </a:r>
            <a:r>
              <a:rPr b="1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mandatory</a:t>
            </a:r>
            <a:r>
              <a:rPr b="0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— generic VLMs cannot achieve these results without targeted fine-tuning on disaster data.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762000" y="971550"/>
            <a:ext cx="10313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Limitations, Gaps &amp; Relevance to Our Project</a:t>
            </a:r>
            <a:endParaRPr sz="29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lang="en-US" sz="1000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What Remains Unsolved &amp; Why It Matters for our project</a:t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t/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5663816" y="3939970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5676767" y="1611325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676775" y="2775650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Overfitting Risk: Fine-tuned counting models overfit on low-density scenes and degraded on high-density ones — a direct warning for our own pipeline.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663826" y="5104273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5894157" y="5260125"/>
            <a:ext cx="60216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Relevance to Us: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Their GPT-4.1-as-judge rubric scoring for reports directly justifies our planned RAR evaluation metric. Their use of Qwen2.5-VL + LoRA on xBD-derived data is architecturally identical to our own 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project’s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 QLoRA pipeline on AIDER and xBD.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 title="Screenshot 2026-07-07 010313.png"/>
          <p:cNvPicPr preferRelativeResize="0"/>
          <p:nvPr/>
        </p:nvPicPr>
        <p:blipFill rotWithShape="1">
          <a:blip r:embed="rId5">
            <a:alphaModFix/>
          </a:blip>
          <a:srcRect b="12111" l="0" r="0" t="7793"/>
          <a:stretch/>
        </p:blipFill>
        <p:spPr>
          <a:xfrm>
            <a:off x="628550" y="1907050"/>
            <a:ext cx="4534200" cy="3623700"/>
          </a:xfrm>
          <a:prstGeom prst="flowChartAlternateProcess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619125" y="5530500"/>
            <a:ext cx="4228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Spline Sans"/>
                <a:ea typeface="Spline Sans"/>
                <a:cs typeface="Spline Sans"/>
                <a:sym typeface="Spline Sans"/>
              </a:rPr>
              <a:t>snapshot of an pre-disaster image from xBD dataset</a:t>
            </a:r>
            <a:endParaRPr sz="1000">
              <a:solidFill>
                <a:srgbClr val="64748B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5900225" y="4196698"/>
            <a:ext cx="54612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Research Gap: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No existing benchmark combines multi-hazard, multi-sensor, and multi-task reasoning in one unified framework — DisasterM3 is the first attempt.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5916575" y="3048925"/>
            <a:ext cx="57039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Overfitting Risk: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Fine-tuned counting models overfit on low-density scenes and degraded on high-density ones — a direct warning for our own pipeline.</a:t>
            </a:r>
            <a:endParaRPr sz="1199">
              <a:solidFill>
                <a:srgbClr val="E0E4E6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5887564" y="1891184"/>
            <a:ext cx="60216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Unresolved Limitation: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The Optical-vs-SAR cross-sensor performance gap remains significant even after fine-tuning — SAR imagery lacks the rich semantics of optical data.</a:t>
            </a:r>
            <a:endParaRPr sz="1199">
              <a:solidFill>
                <a:srgbClr val="E0E4E6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762000" y="971550"/>
            <a:ext cx="1140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From Pixels to Semantics: A Multi-Stage AI Framework for Structural Damage Detection in Satellite Imagery </a:t>
            </a:r>
            <a:endParaRPr sz="31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7" name="Google Shape;18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2071687"/>
            <a:ext cx="10191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 txBox="1"/>
          <p:nvPr/>
        </p:nvSpPr>
        <p:spPr>
          <a:xfrm>
            <a:off x="904875" y="27098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904875" y="3374490"/>
            <a:ext cx="49530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Bijay Shakya, Catherine Hoier, Khandaker Mamun Ahmed </a:t>
            </a:r>
            <a:endParaRPr sz="13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Beacom College of Computer &amp; Cyber Sciences</a:t>
            </a:r>
            <a:r>
              <a:rPr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 sz="13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Dakota State University, </a:t>
            </a:r>
            <a:r>
              <a:rPr i="1" lang="en-US" sz="11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USA</a:t>
            </a:r>
            <a:r>
              <a:rPr lang="en-US" sz="11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904875" y="421481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904875" y="496728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192" name="Google Shape;19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01197" y="1941150"/>
            <a:ext cx="5710954" cy="4316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8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0" name="Google Shape;2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Three-Stage Pipeline 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349275" y="2328200"/>
            <a:ext cx="3503100" cy="27624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rgbClr val="4ADE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4232250" y="2354602"/>
            <a:ext cx="3566700" cy="27096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2. Building Detection </a:t>
            </a: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Deploys a fine-tuned YOLOv11 object detector on pre-disaster images to identify building footprints. It automatically crops each structure with a custom 30% safety padding to completely avoid cutting off edges.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8242300" y="2375900"/>
            <a:ext cx="3706200" cy="26670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3. Multimodal Analysis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Feeds pairs of cropped pre- and post-disaster crops to highly capable Vision-Language Models (VLMs). The AI classifies structural damage across 4 severity levels and instantly produces emergency safety recommendations.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338625" y="2709325"/>
            <a:ext cx="3566700" cy="25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1. AI Super-Resolution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Enhances raw post-disaster satellite imagery from 1024 X 1024 px up to a razor-sharp 4096 X 4096 px using a specialized Video Restoration Transformer (VRT). This exposes tiny structural cracks and fine rubble details.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07" name="Google Shape;2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4" name="Google Shape;21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0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Key Findings &amp; Validation </a:t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571500" y="2211150"/>
            <a:ext cx="53763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Eliminating AI Bias with a Jury</a:t>
            </a:r>
            <a:r>
              <a:rPr b="1" lang="en-US" sz="17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Instead of relying on a single AI's guess, the framework introduces a robust VLM-as-a-Jury panel to grade visual reports.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Models evaluated include variants of Qwen3-VL (reasoning capabilities) and Gemma3 (non-thinking capabilities).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Qwen3-VL 32B dominated the evaluation, achieving 87.1% accuracy and 0.87 F1-score on damage classification.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8" name="Google Shape;21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2783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35253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433071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0"/>
          <p:cNvSpPr txBox="1"/>
          <p:nvPr/>
        </p:nvSpPr>
        <p:spPr>
          <a:xfrm>
            <a:off x="6354225" y="2120138"/>
            <a:ext cx="57150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Why Super-Resolution Matters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Upscaling images with VRT directly boosted semantic alignment, yielding a solid +2.35 point increase in CLIPScore on Moore Tornado imagery.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framework is tested on actual real-world disasters from the xBD dataset, including the Moore Tornado and Hurricane Matthew.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Provides direct, actionable insights to first responders, allowing them to instantly isolate highly compromised, unstable structures.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22" name="Google Shape;22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800" y="2692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37571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46101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0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2" name="Google Shape;23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1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LIMITATIONS &amp; RESEARCH GAPS </a:t>
            </a:r>
            <a:endParaRPr/>
          </a:p>
        </p:txBody>
      </p:sp>
      <p:sp>
        <p:nvSpPr>
          <p:cNvPr id="234" name="Google Shape;234;p21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 txBox="1"/>
          <p:nvPr/>
        </p:nvSpPr>
        <p:spPr>
          <a:xfrm>
            <a:off x="571500" y="2211150"/>
            <a:ext cx="53763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WHAT THEY HAVE YET TO ACHIEVE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Fine-Grain Degradation: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VLMs struggle to maintain high assessment accuracy when evaluating small, highly localized building crop patches.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Visual Quality Collapse: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Performance degraded consistently across all tested VLMs on cropped subsets due to low-quality, pixel-diluted visual features.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Hallucination Risks: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framework has yet to fully resolve baseline model hallucination risks natively without relying on resource-heavy consensus.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36" name="Google Shape;23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2783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3684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8" name="Google Shape;23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45846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1"/>
          <p:cNvSpPr txBox="1"/>
          <p:nvPr/>
        </p:nvSpPr>
        <p:spPr>
          <a:xfrm>
            <a:off x="6354225" y="2120138"/>
            <a:ext cx="57150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RESEARCH GAP IDENTIFIED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Heavy Foundation Reliance: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Current architecture relies on massive, computationally expensive foundation models operating in a zero-shot setup.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Excessive Jury Overhead: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Requires a complex, costly "jury" of multiple concurrent models just to verify and double-check output accuracy.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Lack of Lightweight Alternatives: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Clear research gap for a locally fine-tuned, smaller model (e.g., a 7B parameter backbone using QLoRA) to natively output structured data.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40" name="Google Shape;24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800" y="2692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35666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42396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45" name="Google Shape;245;p21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0" name="Google Shape;25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2"/>
          <p:cNvSpPr txBox="1"/>
          <p:nvPr/>
        </p:nvSpPr>
        <p:spPr>
          <a:xfrm>
            <a:off x="762000" y="971550"/>
            <a:ext cx="1140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4ADE8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remote sensing and AI-driven analysis of post-disaster cultural landscape recovery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571500" y="971550"/>
            <a:ext cx="57300" cy="8652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426850" y="2188775"/>
            <a:ext cx="5361000" cy="48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The Problem 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Traditional cultural heritage management lacks rapid assessment capabilities in post-disaster scenarios where accessibility is restricted and time-sensitive interventions are critical.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Research Objective: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To investigate the application of satellite remote sensing and AI in assessing, monitoring, and tracing the long-term recovery of 95 heritage sites globally (2018–2023).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Methodology: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Integrated satellite-AI monitoring framework analyzing impact from earthquakes, floods, and wildfires across five global regions.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4" name="Google Shape;254;p22"/>
          <p:cNvSpPr txBox="1"/>
          <p:nvPr/>
        </p:nvSpPr>
        <p:spPr>
          <a:xfrm>
            <a:off x="6667500" y="33099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Focuses on urban flooding, building damage, and road traversability.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6667500" y="40624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Supports three core tasks: Classification, Semantic Segmentation, and Visual Question Answering.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6667500" y="48148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Critical for identifying flooded roads and natural vs. flooded water distinctions.</a:t>
            </a:r>
            <a:endParaRPr/>
          </a:p>
        </p:txBody>
      </p:sp>
      <p:pic>
        <p:nvPicPr>
          <p:cNvPr descr="image.png" id="257" name="Google Shape;25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4062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4814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2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C78D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</a:t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C78D8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3C78D8"/>
              </a:solidFill>
            </a:endParaRPr>
          </a:p>
        </p:txBody>
      </p:sp>
      <p:sp>
        <p:nvSpPr>
          <p:cNvPr id="264" name="Google Shape;264;p22"/>
          <p:cNvSpPr txBox="1"/>
          <p:nvPr/>
        </p:nvSpPr>
        <p:spPr>
          <a:xfrm>
            <a:off x="6667500" y="2477350"/>
            <a:ext cx="5026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Dataset of high-resolution UAV imagery captured after Hurricane Harvey.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9" name="Google Shape;26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6670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3"/>
          <p:cNvSpPr txBox="1"/>
          <p:nvPr/>
        </p:nvSpPr>
        <p:spPr>
          <a:xfrm>
            <a:off x="762000" y="97155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FLOOD SCENE UNDERSTANDING</a:t>
            </a:r>
            <a:endParaRPr/>
          </a:p>
        </p:txBody>
      </p:sp>
      <p:sp>
        <p:nvSpPr>
          <p:cNvPr id="272" name="Google Shape;272;p23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3" name="Google Shape;27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2071687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3"/>
          <p:cNvSpPr txBox="1"/>
          <p:nvPr/>
        </p:nvSpPr>
        <p:spPr>
          <a:xfrm>
            <a:off x="904875" y="25574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Provides clarity in scenes where satellite imagery fails due to cloud cover or smoke.</a:t>
            </a:r>
            <a:endParaRPr/>
          </a:p>
        </p:txBody>
      </p:sp>
      <p:sp>
        <p:nvSpPr>
          <p:cNvPr id="275" name="Google Shape;275;p23"/>
          <p:cNvSpPr txBox="1"/>
          <p:nvPr/>
        </p:nvSpPr>
        <p:spPr>
          <a:xfrm>
            <a:off x="904875" y="33099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Pixel-level annotations allow deep learning models to make precise damage assessment.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904875" y="40624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Enables rapid evaluation of flooded buildings to prioritize water rescue teams.</a:t>
            </a:r>
            <a:endParaRPr/>
          </a:p>
        </p:txBody>
      </p:sp>
      <p:sp>
        <p:nvSpPr>
          <p:cNvPr id="277" name="Google Shape;277;p23"/>
          <p:cNvSpPr txBox="1"/>
          <p:nvPr/>
        </p:nvSpPr>
        <p:spPr>
          <a:xfrm>
            <a:off x="904875" y="48148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UAVs offer lower altitude shots, capturing survivor signals more effectively.</a:t>
            </a:r>
            <a:endParaRPr/>
          </a:p>
        </p:txBody>
      </p:sp>
      <p:pic>
        <p:nvPicPr>
          <p:cNvPr descr="image.png" id="278" name="Google Shape;278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62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814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3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 txBox="1"/>
          <p:nvPr/>
        </p:nvSpPr>
        <p:spPr>
          <a:xfrm>
            <a:off x="436300" y="245875"/>
            <a:ext cx="11426100" cy="58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5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0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4450">
                <a:solidFill>
                  <a:srgbClr val="F5F5F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Landscape </a:t>
            </a:r>
            <a:r>
              <a:rPr lang="en-US" sz="445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Scene Understanding</a:t>
            </a:r>
            <a:endParaRPr sz="445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Findings &amp; Performance Milestones</a:t>
            </a:r>
            <a:endParaRPr sz="190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Accuracy Optimization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AI classification accuracy for landscape damage and recovery tracking surged from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75% to 95%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during the study period.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Global Initiatives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 significant increase in satellite remote sensing projects was observed, jumping from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4 to 33 active projects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globally.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Regional Focus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90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Analysis revealed the highest project concentration in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Asia (30)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and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Europe (25)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, aiding preservation decision-making.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image.png" id="290" name="Google Shape;29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6670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4"/>
          <p:cNvSpPr txBox="1"/>
          <p:nvPr/>
        </p:nvSpPr>
        <p:spPr>
          <a:xfrm>
            <a:off x="180800" y="6327675"/>
            <a:ext cx="30000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3C78D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3C78D8"/>
              </a:solidFill>
            </a:endParaRPr>
          </a:p>
        </p:txBody>
      </p:sp>
      <p:sp>
        <p:nvSpPr>
          <p:cNvPr id="292" name="Google Shape;292;p24"/>
          <p:cNvSpPr txBox="1"/>
          <p:nvPr/>
        </p:nvSpPr>
        <p:spPr>
          <a:xfrm>
            <a:off x="5194900" y="6255375"/>
            <a:ext cx="6667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C78D8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 b="1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677375" y="828675"/>
            <a:ext cx="5514000" cy="52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50">
                <a:solidFill>
                  <a:srgbClr val="F5F5F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Limitations &amp; </a:t>
            </a:r>
            <a:r>
              <a:rPr lang="en-US" sz="435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Relevance</a:t>
            </a:r>
            <a:endParaRPr sz="435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 they yet to achieve: </a:t>
            </a:r>
            <a:endParaRPr sz="200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DAFFD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interactive processing for immediate triage.Dynamic conversational querying for rescue coordinators.Direct generation of tactical, rescue-actionable text.</a:t>
            </a:r>
            <a:endParaRPr sz="1700">
              <a:solidFill>
                <a:srgbClr val="DAFFD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marR="0" rtl="0" algn="l"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31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299" name="Google Shape;299;p25"/>
          <p:cNvSpPr/>
          <p:nvPr/>
        </p:nvSpPr>
        <p:spPr>
          <a:xfrm>
            <a:off x="571500" y="1005200"/>
            <a:ext cx="57300" cy="10065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5"/>
          <p:cNvSpPr txBox="1"/>
          <p:nvPr/>
        </p:nvSpPr>
        <p:spPr>
          <a:xfrm>
            <a:off x="6667500" y="1342675"/>
            <a:ext cx="4953000" cy="51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EFF9A"/>
              </a:solidFill>
              <a:highlight>
                <a:srgbClr val="000000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DEFF9A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Research Gap : 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Existing literature remains </a:t>
            </a:r>
            <a:r>
              <a:rPr b="1"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retrospective and passive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, focusing on quantification rather than providing situational directives during a crisis window.</a:t>
            </a:r>
            <a:endParaRPr sz="17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Relevance to Group 5: 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project bridges this gap by utilizing </a:t>
            </a:r>
            <a:r>
              <a:rPr b="1"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Fine-Tuned VLMs (Qwen2-VL-7B)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to transform these high-accuracy visual patterns into active, text-based guidance for ground responders.</a:t>
            </a:r>
            <a:endParaRPr sz="17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01" name="Google Shape;30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5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AA84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</a:t>
            </a:r>
            <a:endParaRPr/>
          </a:p>
        </p:txBody>
      </p:sp>
      <p:sp>
        <p:nvSpPr>
          <p:cNvPr id="303" name="Google Shape;303;p25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AA84F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6AA84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8" name="Google Shape;30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6"/>
          <p:cNvSpPr txBox="1"/>
          <p:nvPr/>
        </p:nvSpPr>
        <p:spPr>
          <a:xfrm>
            <a:off x="762000" y="971550"/>
            <a:ext cx="9657600" cy="23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rgbClr val="4ADE80"/>
                </a:solidFill>
              </a:rPr>
              <a:t>The Potential of Copernicus Satellites for Disaster Response: Retrieving Building Damage from Sentinel-1 and Sentinel-2</a:t>
            </a:r>
            <a:endParaRPr b="1" sz="2300">
              <a:solidFill>
                <a:srgbClr val="4ADE8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4ADE80"/>
                </a:solidFill>
              </a:rPr>
              <a:t>Dietrich et al., 2026</a:t>
            </a:r>
            <a:endParaRPr b="1" sz="1700">
              <a:solidFill>
                <a:srgbClr val="4ADE8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4ADE80"/>
                </a:solidFill>
              </a:rPr>
              <a:t>Using Sentinel-1 &amp; Sentinel-2 for disaster response</a:t>
            </a:r>
            <a:endParaRPr sz="1100">
              <a:solidFill>
                <a:srgbClr val="4ADE80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150">
              <a:solidFill>
                <a:schemeClr val="lt1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310" name="Google Shape;310;p26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6"/>
          <p:cNvSpPr txBox="1"/>
          <p:nvPr/>
        </p:nvSpPr>
        <p:spPr>
          <a:xfrm>
            <a:off x="-507950" y="20305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6"/>
          <p:cNvSpPr txBox="1"/>
          <p:nvPr/>
        </p:nvSpPr>
        <p:spPr>
          <a:xfrm>
            <a:off x="904875" y="330993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13" name="Google Shape;31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26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15" name="Google Shape;315;p26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316" name="Google Shape;316;p26"/>
          <p:cNvSpPr txBox="1"/>
          <p:nvPr/>
        </p:nvSpPr>
        <p:spPr>
          <a:xfrm>
            <a:off x="7848925" y="3796925"/>
            <a:ext cx="43659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</a:endParaRPr>
          </a:p>
        </p:txBody>
      </p:sp>
      <p:pic>
        <p:nvPicPr>
          <p:cNvPr id="317" name="Google Shape;317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15750" y="2894300"/>
            <a:ext cx="6063300" cy="3211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81B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9375" y="996175"/>
            <a:ext cx="8879450" cy="534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7"/>
          <p:cNvSpPr/>
          <p:nvPr/>
        </p:nvSpPr>
        <p:spPr>
          <a:xfrm>
            <a:off x="5243700" y="336375"/>
            <a:ext cx="1584300" cy="5445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6AA84F"/>
              </a:solidFill>
            </a:endParaRPr>
          </a:p>
        </p:txBody>
      </p:sp>
      <p:sp>
        <p:nvSpPr>
          <p:cNvPr id="324" name="Google Shape;324;p27"/>
          <p:cNvSpPr txBox="1"/>
          <p:nvPr/>
        </p:nvSpPr>
        <p:spPr>
          <a:xfrm>
            <a:off x="5303850" y="340681"/>
            <a:ext cx="1584300" cy="5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</a:rPr>
              <a:t>xBD-S12</a:t>
            </a:r>
            <a:endParaRPr b="1" sz="2400">
              <a:solidFill>
                <a:schemeClr val="dk1"/>
              </a:solidFill>
            </a:endParaRPr>
          </a:p>
        </p:txBody>
      </p:sp>
      <p:pic>
        <p:nvPicPr>
          <p:cNvPr descr="image.png" id="325" name="Google Shape;325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27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27" name="Google Shape;327;p27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8"/>
          <p:cNvSpPr/>
          <p:nvPr/>
        </p:nvSpPr>
        <p:spPr>
          <a:xfrm>
            <a:off x="4612050" y="1133025"/>
            <a:ext cx="2967900" cy="5445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6AA8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28"/>
          <p:cNvSpPr txBox="1"/>
          <p:nvPr/>
        </p:nvSpPr>
        <p:spPr>
          <a:xfrm>
            <a:off x="4664078" y="1133409"/>
            <a:ext cx="29070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dk1"/>
                </a:solidFill>
              </a:rPr>
              <a:t>Research Overview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4" name="Google Shape;33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8"/>
          <p:cNvSpPr/>
          <p:nvPr/>
        </p:nvSpPr>
        <p:spPr>
          <a:xfrm>
            <a:off x="513113" y="2193600"/>
            <a:ext cx="3247500" cy="24708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lt1"/>
                </a:solidFill>
              </a:rPr>
              <a:t>             </a:t>
            </a:r>
            <a:r>
              <a:rPr b="1" lang="en-US" sz="1100">
                <a:solidFill>
                  <a:schemeClr val="dk1"/>
                </a:solidFill>
              </a:rPr>
              <a:t>       </a:t>
            </a:r>
            <a:r>
              <a:rPr b="1" lang="en-US" sz="1100">
                <a:solidFill>
                  <a:schemeClr val="dk1"/>
                </a:solidFill>
              </a:rPr>
              <a:t>Objective &amp; Approach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Test whether medium-resolution Copernicus satellite data (Sentinel-1 SAR, Sentinel-2 optical) can assess building damage during disasters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Created xBD-S12 dataset by aligning Sentinel imagery with existing damage labels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Trained multiple architectures including geospatial foundation models (Prithvi-EO-2.0, DOFA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8"/>
          <p:cNvSpPr/>
          <p:nvPr/>
        </p:nvSpPr>
        <p:spPr>
          <a:xfrm>
            <a:off x="4472250" y="2259450"/>
            <a:ext cx="3247500" cy="23391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</a:t>
            </a:r>
            <a:r>
              <a:rPr lang="en-US" sz="1100">
                <a:solidFill>
                  <a:schemeClr val="dk1"/>
                </a:solidFill>
              </a:rPr>
              <a:t>    </a:t>
            </a:r>
            <a:r>
              <a:rPr b="1" lang="en-US" sz="1100">
                <a:solidFill>
                  <a:schemeClr val="dk1"/>
                </a:solidFill>
              </a:rPr>
              <a:t> </a:t>
            </a:r>
            <a:r>
              <a:rPr b="1" lang="en-US" sz="1100">
                <a:solidFill>
                  <a:schemeClr val="dk1"/>
                </a:solidFill>
              </a:rPr>
              <a:t>Key Methods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Corrected geolocation errors using building footprints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Compared early vs. late fusion strategies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Applied morphological buffers to handle coregistration errors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Used ensemble methods and biased sampling for class imbalance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37" name="Google Shape;337;p28"/>
          <p:cNvSpPr/>
          <p:nvPr/>
        </p:nvSpPr>
        <p:spPr>
          <a:xfrm>
            <a:off x="8431388" y="2216700"/>
            <a:ext cx="3247500" cy="24246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  </a:t>
            </a:r>
            <a:r>
              <a:rPr b="1" lang="en-US" sz="1100">
                <a:solidFill>
                  <a:schemeClr val="dk1"/>
                </a:solidFill>
              </a:rPr>
              <a:t>        </a:t>
            </a:r>
            <a:r>
              <a:rPr b="1" lang="en-US" sz="1100">
                <a:solidFill>
                  <a:schemeClr val="dk1"/>
                </a:solidFill>
              </a:rPr>
              <a:t>Results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Evaluated using F1 scores for building localization and damage classification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Tested on both random splits and geographically separated events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Validated with real-world case studies (Mexico earthquake, Palisades fire)</a:t>
            </a:r>
            <a:endParaRPr b="1" sz="1100">
              <a:solidFill>
                <a:schemeClr val="dk1"/>
              </a:solidFill>
            </a:endParaRPr>
          </a:p>
        </p:txBody>
      </p:sp>
      <p:pic>
        <p:nvPicPr>
          <p:cNvPr descr="image.png" id="338" name="Google Shape;338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8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40" name="Google Shape;340;p28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5" name="Google Shape;34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29"/>
          <p:cNvSpPr txBox="1"/>
          <p:nvPr/>
        </p:nvSpPr>
        <p:spPr>
          <a:xfrm>
            <a:off x="-3540875" y="1024775"/>
            <a:ext cx="1140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29"/>
          <p:cNvSpPr/>
          <p:nvPr/>
        </p:nvSpPr>
        <p:spPr>
          <a:xfrm>
            <a:off x="8516825" y="2216700"/>
            <a:ext cx="3247500" cy="24246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</a:rPr>
              <a:t>              Relevance to our Project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Validates use of pre- and post-disaster satellite comparisons for identifying damaged areas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Justifies incorporating multi-source remote sensing (optical + radar) for better disaster understanding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Supports generating rescue-oriented image-response pairs from disaster imagery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t/>
            </a:r>
            <a:endParaRPr b="1" sz="1100">
              <a:solidFill>
                <a:schemeClr val="lt1"/>
              </a:solidFill>
            </a:endParaRPr>
          </a:p>
        </p:txBody>
      </p:sp>
      <p:sp>
        <p:nvSpPr>
          <p:cNvPr id="348" name="Google Shape;348;p29"/>
          <p:cNvSpPr/>
          <p:nvPr/>
        </p:nvSpPr>
        <p:spPr>
          <a:xfrm>
            <a:off x="4472250" y="2216700"/>
            <a:ext cx="3247500" cy="24246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 </a:t>
            </a:r>
            <a:r>
              <a:rPr b="1" lang="en-US" sz="1100">
                <a:solidFill>
                  <a:schemeClr val="dk1"/>
                </a:solidFill>
              </a:rPr>
              <a:t>Research Gaps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Need for richer temporal information (longer Sentinel-1 time series)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Incorporation of InSAR coherence or damage-proxy maps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Further development of geospatial foundation models for fine-grained damage mapping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</a:t>
            </a:r>
            <a:endParaRPr b="1" sz="1100">
              <a:solidFill>
                <a:schemeClr val="lt1"/>
              </a:solidFill>
            </a:endParaRPr>
          </a:p>
        </p:txBody>
      </p:sp>
      <p:sp>
        <p:nvSpPr>
          <p:cNvPr id="349" name="Google Shape;349;p29"/>
          <p:cNvSpPr/>
          <p:nvPr/>
        </p:nvSpPr>
        <p:spPr>
          <a:xfrm>
            <a:off x="427675" y="2216700"/>
            <a:ext cx="3247500" cy="2424600"/>
          </a:xfrm>
          <a:prstGeom prst="roundRect">
            <a:avLst>
              <a:gd fmla="val 16667" name="adj"/>
            </a:avLst>
          </a:prstGeom>
          <a:solidFill>
            <a:srgbClr val="6AA84F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</a:t>
            </a:r>
            <a:r>
              <a:rPr b="1" lang="en-US" sz="1100">
                <a:solidFill>
                  <a:schemeClr val="dk1"/>
                </a:solidFill>
              </a:rPr>
              <a:t>Current Limitations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Cannot detect sparse, low-intensity damage in dense urban areas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Building localization remains weak at 10 m GSD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No quantitative ground truth for real-world validation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t/>
            </a:r>
            <a:endParaRPr b="1" sz="1100">
              <a:solidFill>
                <a:schemeClr val="lt1"/>
              </a:solidFill>
            </a:endParaRPr>
          </a:p>
        </p:txBody>
      </p:sp>
      <p:pic>
        <p:nvPicPr>
          <p:cNvPr descr="image.png" id="350" name="Google Shape;350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29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52" name="Google Shape;352;p29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353" name="Google Shape;353;p29"/>
          <p:cNvSpPr txBox="1"/>
          <p:nvPr/>
        </p:nvSpPr>
        <p:spPr>
          <a:xfrm>
            <a:off x="1548725" y="1169275"/>
            <a:ext cx="1747696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200">
              <a:solidFill>
                <a:srgbClr val="4ADE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30"/>
          <p:cNvSpPr txBox="1"/>
          <p:nvPr/>
        </p:nvSpPr>
        <p:spPr>
          <a:xfrm>
            <a:off x="859350" y="1036425"/>
            <a:ext cx="74253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Integrating Large Vision-Language Models for Post-Disaster Damage Assessment</a:t>
            </a:r>
            <a:endParaRPr sz="24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AA84F"/>
                </a:solidFill>
              </a:rPr>
              <a:t>Chen et al., 2026 — DisasTeller: A Multi-Agent LVLM Framework | Nature Communications</a:t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AA84F"/>
                </a:solidFill>
              </a:rPr>
              <a:t>Related Work — how autonomous LVLM agents are reshaping emergency response</a:t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</a:endParaRPr>
          </a:p>
        </p:txBody>
      </p:sp>
      <p:sp>
        <p:nvSpPr>
          <p:cNvPr id="359" name="Google Shape;359;p30"/>
          <p:cNvSpPr txBox="1"/>
          <p:nvPr/>
        </p:nvSpPr>
        <p:spPr>
          <a:xfrm>
            <a:off x="3380025" y="5870550"/>
            <a:ext cx="6187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 sz="11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2"/>
              </a:solidFill>
            </a:endParaRPr>
          </a:p>
        </p:txBody>
      </p:sp>
      <p:sp>
        <p:nvSpPr>
          <p:cNvPr id="360" name="Google Shape;360;p30"/>
          <p:cNvSpPr txBox="1"/>
          <p:nvPr/>
        </p:nvSpPr>
        <p:spPr>
          <a:xfrm>
            <a:off x="1098300" y="5870550"/>
            <a:ext cx="1044300" cy="3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Group 5</a:t>
            </a:r>
            <a:endParaRPr sz="24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5" name="Google Shape;36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5525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1"/>
          <p:cNvSpPr txBox="1"/>
          <p:nvPr/>
        </p:nvSpPr>
        <p:spPr>
          <a:xfrm>
            <a:off x="571450" y="983675"/>
            <a:ext cx="4000500" cy="4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Paper &amp; Its Contribution </a:t>
            </a:r>
            <a:endParaRPr sz="1800">
              <a:solidFill>
                <a:srgbClr val="00FF0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367" name="Google Shape;367;p31"/>
          <p:cNvSpPr txBox="1"/>
          <p:nvPr/>
        </p:nvSpPr>
        <p:spPr>
          <a:xfrm flipH="1">
            <a:off x="571450" y="1496750"/>
            <a:ext cx="11049000" cy="4612200"/>
          </a:xfrm>
          <a:prstGeom prst="rect">
            <a:avLst/>
          </a:pr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Objective:</a:t>
            </a:r>
            <a:endParaRPr b="1">
              <a:solidFill>
                <a:srgbClr val="00FF00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AA84F"/>
                </a:solidFill>
              </a:rPr>
              <a:t>I</a:t>
            </a:r>
            <a:r>
              <a:rPr b="1" lang="en-US" sz="1800">
                <a:solidFill>
                  <a:srgbClr val="6AA84F"/>
                </a:solidFill>
              </a:rPr>
              <a:t>ntroduce a multi-LVLM-powered framework that automates post-disaster management — on-site assessment, emergency alerts, resource allocation, and recovery planning.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Core Idea:</a:t>
            </a:r>
            <a:endParaRPr b="1">
              <a:solidFill>
                <a:srgbClr val="00FF00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Four specialised LVLM agents (Expert, Alerts, Emergency, Assignment) — coordinated with GPT-4o as core — simulate real disaster-response teamwork.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4  Agents:</a:t>
            </a:r>
            <a:endParaRPr b="1">
              <a:solidFill>
                <a:srgbClr val="00FF00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AA84F"/>
                </a:solidFill>
              </a:rPr>
              <a:t>- </a:t>
            </a:r>
            <a:r>
              <a:rPr b="1" lang="en-US" sz="1800">
                <a:solidFill>
                  <a:srgbClr val="6AA84F"/>
                </a:solidFill>
              </a:rPr>
              <a:t>Expert Team – On-site damage grading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Alerts Team – Danger-zone alerts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Emergency Team – Shelters &amp; recovery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Assignment Team – Resource allocation</a:t>
            </a:r>
            <a:endParaRPr b="1" sz="1800">
              <a:solidFill>
                <a:srgbClr val="6AA84F"/>
              </a:solidFill>
            </a:endParaRPr>
          </a:p>
          <a:p>
            <a:pPr indent="0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6AA84F"/>
              </a:solidFill>
            </a:endParaRPr>
          </a:p>
        </p:txBody>
      </p:sp>
      <p:pic>
        <p:nvPicPr>
          <p:cNvPr descr="image.png" id="368" name="Google Shape;368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p31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70" name="Google Shape;370;p31"/>
          <p:cNvSpPr txBox="1"/>
          <p:nvPr/>
        </p:nvSpPr>
        <p:spPr>
          <a:xfrm>
            <a:off x="5063350" y="6410313"/>
            <a:ext cx="70485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</a:t>
            </a:r>
            <a:r>
              <a:rPr b="0" i="0" lang="en-US" sz="110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Alam</a:t>
            </a:r>
            <a:endParaRPr sz="11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32"/>
          <p:cNvSpPr txBox="1"/>
          <p:nvPr/>
        </p:nvSpPr>
        <p:spPr>
          <a:xfrm>
            <a:off x="904875" y="25574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76" name="Google Shape;37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32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78" name="Google Shape;378;p32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pic>
        <p:nvPicPr>
          <p:cNvPr descr="image.png" id="379" name="Google Shape;379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4025" y="257100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2"/>
          <p:cNvSpPr txBox="1"/>
          <p:nvPr/>
        </p:nvSpPr>
        <p:spPr>
          <a:xfrm>
            <a:off x="904875" y="25574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81" name="Google Shape;38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32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83" name="Google Shape;383;p32"/>
          <p:cNvSpPr txBox="1"/>
          <p:nvPr/>
        </p:nvSpPr>
        <p:spPr>
          <a:xfrm>
            <a:off x="1196325" y="1711050"/>
            <a:ext cx="6228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GIS Integration — spatial logic not linked to systems like QGIS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Ungrounded Web Retrieval — depends fully on open web search, no curated knowledge base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Structured Validation — no formal ground-truth benchmark, only human-in-the-loop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Limited to Zero-Shot Reasoning — no fine-tuning explored for disaster-specific tasks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</p:txBody>
      </p:sp>
      <p:sp>
        <p:nvSpPr>
          <p:cNvPr id="384" name="Google Shape;384;p32"/>
          <p:cNvSpPr txBox="1"/>
          <p:nvPr/>
        </p:nvSpPr>
        <p:spPr>
          <a:xfrm>
            <a:off x="1196325" y="783100"/>
            <a:ext cx="4370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Research Gap:</a:t>
            </a:r>
            <a:endParaRPr sz="24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9" name="Google Shape;38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0" name="Google Shape;39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33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Relevance to Our Project </a:t>
            </a:r>
            <a:endParaRPr/>
          </a:p>
        </p:txBody>
      </p:sp>
      <p:sp>
        <p:nvSpPr>
          <p:cNvPr id="392" name="Google Shape;392;p33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93" name="Google Shape;393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71687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94" name="Google Shape;394;p33"/>
          <p:cNvSpPr txBox="1"/>
          <p:nvPr/>
        </p:nvSpPr>
        <p:spPr>
          <a:xfrm>
            <a:off x="6783225" y="1645475"/>
            <a:ext cx="4837200" cy="46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DisasTeller shows LVLMs can ingest multi-source disaster imagery (local + map view) and output actionable reports without full fine-tuning.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DisasTeller: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Zero-shot, prompt-based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Crisis image dataset (ASONAM 17)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RAG grounded in open web search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GIS-linked spatial reasoning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Our Project: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Multi-agent LVLM ingestion of local + map-view images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Zero-shot &amp; Chain-of-Thought prompting with RAG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Extends toward rescue-oriented reporting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Targets the spatial-reasoning gap DisasTeller leaves open</a:t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descr="image.png" id="395" name="Google Shape;395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33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97" name="Google Shape;397;p33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