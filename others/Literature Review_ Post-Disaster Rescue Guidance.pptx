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6858000" cx="12192000"/>
  <p:notesSz cx="6858000" cy="9144000"/>
  <p:embeddedFontLst>
    <p:embeddedFont>
      <p:font typeface="Spline Sans"/>
      <p:bold r:id="rId26"/>
    </p:embeddedFont>
    <p:embeddedFont>
      <p:font typeface="Urbanist SemiBold"/>
      <p:regular r:id="rId27"/>
      <p:bold r:id="rId28"/>
      <p:italic r:id="rId29"/>
      <p:boldItalic r:id="rId30"/>
    </p:embeddedFont>
    <p:embeddedFont>
      <p:font typeface="Urbanist Medium"/>
      <p:regular r:id="rId31"/>
      <p:bold r:id="rId32"/>
      <p:italic r:id="rId33"/>
      <p:boldItalic r:id="rId34"/>
    </p:embeddedFont>
    <p:embeddedFont>
      <p:font typeface="Urbanist"/>
      <p:regular r:id="rId35"/>
      <p:bold r:id="rId36"/>
      <p:italic r:id="rId37"/>
      <p:boldItalic r:id="rId38"/>
    </p:embeddedFont>
    <p:embeddedFont>
      <p:font typeface="Barlow"/>
      <p:regular r:id="rId39"/>
      <p:bold r:id="rId40"/>
      <p:italic r:id="rId41"/>
      <p:boldItalic r:id="rId4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Barlow-bold.fntdata"/><Relationship Id="rId20" Type="http://schemas.openxmlformats.org/officeDocument/2006/relationships/slide" Target="slides/slide15.xml"/><Relationship Id="rId42" Type="http://schemas.openxmlformats.org/officeDocument/2006/relationships/font" Target="fonts/Barlow-boldItalic.fntdata"/><Relationship Id="rId41" Type="http://schemas.openxmlformats.org/officeDocument/2006/relationships/font" Target="fonts/Barlow-italic.fntdata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SplineSans-bold.fntdata"/><Relationship Id="rId25" Type="http://schemas.openxmlformats.org/officeDocument/2006/relationships/slide" Target="slides/slide20.xml"/><Relationship Id="rId28" Type="http://schemas.openxmlformats.org/officeDocument/2006/relationships/font" Target="fonts/UrbanistSemiBold-bold.fntdata"/><Relationship Id="rId27" Type="http://schemas.openxmlformats.org/officeDocument/2006/relationships/font" Target="fonts/UrbanistSemiBold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UrbanistSemiBold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UrbanistMedium-regular.fntdata"/><Relationship Id="rId30" Type="http://schemas.openxmlformats.org/officeDocument/2006/relationships/font" Target="fonts/UrbanistSemiBold-boldItalic.fntdata"/><Relationship Id="rId11" Type="http://schemas.openxmlformats.org/officeDocument/2006/relationships/slide" Target="slides/slide6.xml"/><Relationship Id="rId33" Type="http://schemas.openxmlformats.org/officeDocument/2006/relationships/font" Target="fonts/UrbanistMedium-italic.fntdata"/><Relationship Id="rId10" Type="http://schemas.openxmlformats.org/officeDocument/2006/relationships/slide" Target="slides/slide5.xml"/><Relationship Id="rId32" Type="http://schemas.openxmlformats.org/officeDocument/2006/relationships/font" Target="fonts/UrbanistMedium-bold.fntdata"/><Relationship Id="rId13" Type="http://schemas.openxmlformats.org/officeDocument/2006/relationships/slide" Target="slides/slide8.xml"/><Relationship Id="rId35" Type="http://schemas.openxmlformats.org/officeDocument/2006/relationships/font" Target="fonts/Urbanist-regular.fntdata"/><Relationship Id="rId12" Type="http://schemas.openxmlformats.org/officeDocument/2006/relationships/slide" Target="slides/slide7.xml"/><Relationship Id="rId34" Type="http://schemas.openxmlformats.org/officeDocument/2006/relationships/font" Target="fonts/UrbanistMedium-boldItalic.fntdata"/><Relationship Id="rId15" Type="http://schemas.openxmlformats.org/officeDocument/2006/relationships/slide" Target="slides/slide10.xml"/><Relationship Id="rId37" Type="http://schemas.openxmlformats.org/officeDocument/2006/relationships/font" Target="fonts/Urbanist-italic.fntdata"/><Relationship Id="rId14" Type="http://schemas.openxmlformats.org/officeDocument/2006/relationships/slide" Target="slides/slide9.xml"/><Relationship Id="rId36" Type="http://schemas.openxmlformats.org/officeDocument/2006/relationships/font" Target="fonts/Urbanist-bold.fntdata"/><Relationship Id="rId17" Type="http://schemas.openxmlformats.org/officeDocument/2006/relationships/slide" Target="slides/slide12.xml"/><Relationship Id="rId39" Type="http://schemas.openxmlformats.org/officeDocument/2006/relationships/font" Target="fonts/Barlow-regular.fntdata"/><Relationship Id="rId16" Type="http://schemas.openxmlformats.org/officeDocument/2006/relationships/slide" Target="slides/slide11.xml"/><Relationship Id="rId38" Type="http://schemas.openxmlformats.org/officeDocument/2006/relationships/font" Target="fonts/Urbanist-bold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7bae3a9fa_17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f7bae3a9fa_17_20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7bae3a9fa_17_2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f7bae3a9fa_17_25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7bae3a9fa_16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f7bae3a9fa_16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f3663af712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f3663af712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f7bae3a9fa_18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f7bae3a9fa_18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  <a:defRPr>
                <a:solidFill>
                  <a:schemeClr val="dk1"/>
                </a:solidFill>
              </a:defRPr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  <a:defRPr>
                <a:solidFill>
                  <a:schemeClr val="dk1"/>
                </a:solidFill>
              </a:defRPr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●"/>
              <a:defRPr>
                <a:solidFill>
                  <a:schemeClr val="dk1"/>
                </a:solidFill>
              </a:defRPr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○"/>
              <a:defRPr>
                <a:solidFill>
                  <a:schemeClr val="dk1"/>
                </a:solidFill>
              </a:defRPr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Char char="●"/>
              <a:defRPr sz="2400">
                <a:solidFill>
                  <a:schemeClr val="lt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●"/>
              <a:defRPr sz="1900">
                <a:solidFill>
                  <a:schemeClr val="lt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●"/>
              <a:defRPr sz="1900">
                <a:solidFill>
                  <a:schemeClr val="lt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○"/>
              <a:defRPr sz="1900">
                <a:solidFill>
                  <a:schemeClr val="lt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900"/>
              <a:buChar char="■"/>
              <a:defRPr sz="19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lt2"/>
                </a:solidFill>
              </a:defRPr>
            </a:lvl1pPr>
            <a:lvl2pPr lvl="1" algn="r">
              <a:buNone/>
              <a:defRPr sz="1300">
                <a:solidFill>
                  <a:schemeClr val="lt2"/>
                </a:solidFill>
              </a:defRPr>
            </a:lvl2pPr>
            <a:lvl3pPr lvl="2" algn="r">
              <a:buNone/>
              <a:defRPr sz="1300">
                <a:solidFill>
                  <a:schemeClr val="lt2"/>
                </a:solidFill>
              </a:defRPr>
            </a:lvl3pPr>
            <a:lvl4pPr lvl="3" algn="r">
              <a:buNone/>
              <a:defRPr sz="1300">
                <a:solidFill>
                  <a:schemeClr val="lt2"/>
                </a:solidFill>
              </a:defRPr>
            </a:lvl4pPr>
            <a:lvl5pPr lvl="4" algn="r">
              <a:buNone/>
              <a:defRPr sz="1300">
                <a:solidFill>
                  <a:schemeClr val="lt2"/>
                </a:solidFill>
              </a:defRPr>
            </a:lvl5pPr>
            <a:lvl6pPr lvl="5" algn="r">
              <a:buNone/>
              <a:defRPr sz="1300">
                <a:solidFill>
                  <a:schemeClr val="lt2"/>
                </a:solidFill>
              </a:defRPr>
            </a:lvl6pPr>
            <a:lvl7pPr lvl="6" algn="r">
              <a:buNone/>
              <a:defRPr sz="1300">
                <a:solidFill>
                  <a:schemeClr val="lt2"/>
                </a:solidFill>
              </a:defRPr>
            </a:lvl7pPr>
            <a:lvl8pPr lvl="7" algn="r">
              <a:buNone/>
              <a:defRPr sz="1300">
                <a:solidFill>
                  <a:schemeClr val="lt2"/>
                </a:solidFill>
              </a:defRPr>
            </a:lvl8pPr>
            <a:lvl9pPr lvl="8" algn="r">
              <a:buNone/>
              <a:defRPr sz="13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3.png"/><Relationship Id="rId4" Type="http://schemas.openxmlformats.org/officeDocument/2006/relationships/image" Target="../media/image3.png"/><Relationship Id="rId9" Type="http://schemas.openxmlformats.org/officeDocument/2006/relationships/hyperlink" Target="https://drive.google.com/file/d/1vvKunQ-viQD5_WM3gV3WKGIbaXPNZ57l/view?usp=sharing" TargetMode="External"/><Relationship Id="rId5" Type="http://schemas.openxmlformats.org/officeDocument/2006/relationships/hyperlink" Target="https://drive.google.com/file/d/1vvKunQ-viQD5_WM3gV3WKGIbaXPNZ57l/view?usp=sharing" TargetMode="External"/><Relationship Id="rId6" Type="http://schemas.openxmlformats.org/officeDocument/2006/relationships/hyperlink" Target="https://drive.google.com/file/d/1vvKunQ-viQD5_WM3gV3WKGIbaXPNZ57l/view?usp=sharing" TargetMode="External"/><Relationship Id="rId7" Type="http://schemas.openxmlformats.org/officeDocument/2006/relationships/image" Target="../media/image5.png"/><Relationship Id="rId8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8.png"/><Relationship Id="rId10" Type="http://schemas.openxmlformats.org/officeDocument/2006/relationships/image" Target="../media/image4.png"/><Relationship Id="rId13" Type="http://schemas.openxmlformats.org/officeDocument/2006/relationships/image" Target="../media/image14.png"/><Relationship Id="rId12" Type="http://schemas.openxmlformats.org/officeDocument/2006/relationships/image" Target="../media/image13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image" Target="../media/image6.png"/><Relationship Id="rId5" Type="http://schemas.openxmlformats.org/officeDocument/2006/relationships/image" Target="../media/image1.png"/><Relationship Id="rId6" Type="http://schemas.openxmlformats.org/officeDocument/2006/relationships/image" Target="../media/image24.png"/><Relationship Id="rId7" Type="http://schemas.openxmlformats.org/officeDocument/2006/relationships/image" Target="../media/image9.png"/><Relationship Id="rId8" Type="http://schemas.openxmlformats.org/officeDocument/2006/relationships/image" Target="../media/image2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image11.png"/><Relationship Id="rId5" Type="http://schemas.openxmlformats.org/officeDocument/2006/relationships/image" Target="../media/image10.png"/><Relationship Id="rId6" Type="http://schemas.openxmlformats.org/officeDocument/2006/relationships/image" Target="../media/image15.png"/><Relationship Id="rId7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png"/><Relationship Id="rId4" Type="http://schemas.openxmlformats.org/officeDocument/2006/relationships/image" Target="../media/image16.png"/><Relationship Id="rId5" Type="http://schemas.openxmlformats.org/officeDocument/2006/relationships/image" Target="../media/image18.png"/><Relationship Id="rId6" Type="http://schemas.openxmlformats.org/officeDocument/2006/relationships/image" Target="../media/image5.png"/><Relationship Id="rId7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25.png"/><Relationship Id="rId5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19.png"/><Relationship Id="rId5" Type="http://schemas.openxmlformats.org/officeDocument/2006/relationships/image" Target="../media/image21.png"/><Relationship Id="rId6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4" name="Google Shape;5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0"/>
            <a:ext cx="153352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571500" y="667684"/>
            <a:ext cx="11049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700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LITERATURE  REVIEW</a:t>
            </a:r>
            <a:endParaRPr b="1" sz="3900"/>
          </a:p>
        </p:txBody>
      </p:sp>
      <p:sp>
        <p:nvSpPr>
          <p:cNvPr id="56" name="Google Shape;56;p13"/>
          <p:cNvSpPr txBox="1"/>
          <p:nvPr/>
        </p:nvSpPr>
        <p:spPr>
          <a:xfrm>
            <a:off x="571500" y="1419025"/>
            <a:ext cx="11601600" cy="13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Post-Disaster Rescue Guidance</a:t>
            </a:r>
            <a:br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4200" u="none" cap="none" strike="noStrike">
                <a:solidFill>
                  <a:srgbClr val="F8FAFC"/>
                </a:solidFill>
                <a:latin typeface="Urbanist"/>
                <a:ea typeface="Urbanist"/>
                <a:cs typeface="Urbanist"/>
                <a:sym typeface="Urbanist"/>
              </a:rPr>
              <a:t>via </a:t>
            </a:r>
            <a:r>
              <a:rPr b="1" i="0" lang="en-US" sz="4200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Fine-Tuning VLMs</a:t>
            </a:r>
            <a:endParaRPr sz="800"/>
          </a:p>
        </p:txBody>
      </p:sp>
      <p:sp>
        <p:nvSpPr>
          <p:cNvPr id="57" name="Google Shape;57;p13"/>
          <p:cNvSpPr txBox="1"/>
          <p:nvPr/>
        </p:nvSpPr>
        <p:spPr>
          <a:xfrm>
            <a:off x="571500" y="3240425"/>
            <a:ext cx="8177700" cy="7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Generate structured, rescue-actionable text from single post-disaster aerial &amp; satellite images.</a:t>
            </a:r>
            <a:endParaRPr/>
          </a:p>
        </p:txBody>
      </p:sp>
      <p:sp>
        <p:nvSpPr>
          <p:cNvPr id="58" name="Google Shape;58;p13"/>
          <p:cNvSpPr txBox="1"/>
          <p:nvPr/>
        </p:nvSpPr>
        <p:spPr>
          <a:xfrm>
            <a:off x="571500" y="4306925"/>
            <a:ext cx="158367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92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CSE499A · Section 15 · </a:t>
            </a:r>
            <a:r>
              <a:rPr b="1" i="0" lang="en-US" sz="1792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Group 5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71500" y="5038831"/>
            <a:ext cx="19935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Abdullah Al Noman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571500" y="5388244"/>
            <a:ext cx="19935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Tamanna Akter Mou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571500" y="5737658"/>
            <a:ext cx="19935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Aryan Sami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0825" y="5038831"/>
            <a:ext cx="31266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Ridita Afrin Riya</a:t>
            </a:r>
            <a:endParaRPr b="1" sz="1863">
              <a:solidFill>
                <a:srgbClr val="4ADE80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3110825" y="5388244"/>
            <a:ext cx="3126600" cy="24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77" u="none" cap="none" strike="noStrike">
                <a:solidFill>
                  <a:srgbClr val="4ADE80"/>
                </a:solidFill>
                <a:latin typeface="Urbanist"/>
                <a:ea typeface="Urbanist"/>
                <a:cs typeface="Urbanist"/>
                <a:sym typeface="Urbanist"/>
              </a:rPr>
              <a:t>Abrar Mohammed Tanzim Alam</a:t>
            </a:r>
            <a:endParaRPr b="1" sz="1863">
              <a:solidFill>
                <a:srgbClr val="4ADE8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8" name="Google Shape;6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57262" y="2068550"/>
            <a:ext cx="4090275" cy="4000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" name="Google Shape;6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371475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4"/>
          <p:cNvSpPr txBox="1"/>
          <p:nvPr/>
        </p:nvSpPr>
        <p:spPr>
          <a:xfrm>
            <a:off x="762000" y="971550"/>
            <a:ext cx="114015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0">
                <a:solidFill>
                  <a:srgbClr val="4ADE80"/>
                </a:solidFill>
                <a:uFill>
                  <a:noFill/>
                </a:uFill>
                <a:latin typeface="Urbanist SemiBold"/>
                <a:ea typeface="Urbanist SemiBold"/>
                <a:cs typeface="Urbanist SemiBold"/>
                <a:sym typeface="Urbanist SemiBold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DisasterM3: A Remote Sensing Vision-Language Dataset for Disaster Damage Assessment and Respons</a:t>
            </a:r>
            <a:r>
              <a:rPr lang="en-US" sz="2950">
                <a:solidFill>
                  <a:srgbClr val="4ADE80"/>
                </a:solidFill>
                <a:uFill>
                  <a:noFill/>
                </a:uFill>
                <a:latin typeface="Urbanist SemiBold"/>
                <a:ea typeface="Urbanist SemiBold"/>
                <a:cs typeface="Urbanist SemiBold"/>
                <a:sym typeface="Urbanist SemiBold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e</a:t>
            </a:r>
            <a:endParaRPr sz="1200">
              <a:solidFill>
                <a:srgbClr val="4ADE80"/>
              </a:solidFill>
            </a:endParaRPr>
          </a:p>
        </p:txBody>
      </p:sp>
      <p:sp>
        <p:nvSpPr>
          <p:cNvPr id="71" name="Google Shape;71;p14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904875" y="2557450"/>
            <a:ext cx="6380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Problem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Generic VLMs struggle with disaster imagery due to domain gaps, sensor limitations, and lack of multi-task reasoning capability.</a:t>
            </a:r>
            <a:endParaRPr/>
          </a:p>
        </p:txBody>
      </p:sp>
      <p:sp>
        <p:nvSpPr>
          <p:cNvPr id="73" name="Google Shape;73;p14"/>
          <p:cNvSpPr txBox="1"/>
          <p:nvPr/>
        </p:nvSpPr>
        <p:spPr>
          <a:xfrm>
            <a:off x="904875" y="3309925"/>
            <a:ext cx="64053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Objective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Curate the first global-scale, multi-hazard, multi-sensor, multi-task remote sensing VLM benchmark for disaster damage assessment and response.</a:t>
            </a:r>
            <a:endParaRPr/>
          </a:p>
        </p:txBody>
      </p:sp>
      <p:sp>
        <p:nvSpPr>
          <p:cNvPr id="74" name="Google Shape;74;p14"/>
          <p:cNvSpPr txBox="1"/>
          <p:nvPr/>
        </p:nvSpPr>
        <p:spPr>
          <a:xfrm>
            <a:off x="904875" y="4431700"/>
            <a:ext cx="6405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Scale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26,988 bi-temporal satellite images and 123,010 instruction pairs across 36 historical disaster events spanning 5 continents.</a:t>
            </a:r>
            <a:endParaRPr/>
          </a:p>
        </p:txBody>
      </p:sp>
      <p:sp>
        <p:nvSpPr>
          <p:cNvPr id="75" name="Google Shape;75;p14"/>
          <p:cNvSpPr txBox="1"/>
          <p:nvPr/>
        </p:nvSpPr>
        <p:spPr>
          <a:xfrm>
            <a:off x="904875" y="5184175"/>
            <a:ext cx="6380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Three "M"s</a:t>
            </a: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: Multi-hazard (10 disaster types), Multi-sensor (Optical + SAR), Multi-task (9 distinct visual perception and reasoning tasks).</a:t>
            </a:r>
            <a:endParaRPr/>
          </a:p>
        </p:txBody>
      </p:sp>
      <p:pic>
        <p:nvPicPr>
          <p:cNvPr descr="image.png" id="76" name="Google Shape;76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25574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7" name="Google Shape;77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3309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8" name="Google Shape;78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4317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9" name="Google Shape;7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5184175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4"/>
          <p:cNvSpPr/>
          <p:nvPr/>
        </p:nvSpPr>
        <p:spPr>
          <a:xfrm>
            <a:off x="7603135" y="2181791"/>
            <a:ext cx="39984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3100"/>
              <a:buFont typeface="Spline Sans"/>
              <a:buNone/>
            </a:pPr>
            <a:r>
              <a:rPr b="1" i="0" lang="en-US" sz="31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26,988</a:t>
            </a:r>
            <a:endParaRPr b="0" i="0" sz="3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4"/>
          <p:cNvSpPr/>
          <p:nvPr/>
        </p:nvSpPr>
        <p:spPr>
          <a:xfrm>
            <a:off x="8725767" y="2693363"/>
            <a:ext cx="175320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00"/>
              <a:buFont typeface="Spline Sans"/>
              <a:buNone/>
            </a:pPr>
            <a:r>
              <a:rPr b="1" i="0" lang="en-US" sz="10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Bi-temporal satellite images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4"/>
          <p:cNvSpPr/>
          <p:nvPr/>
        </p:nvSpPr>
        <p:spPr>
          <a:xfrm>
            <a:off x="7603135" y="3073768"/>
            <a:ext cx="39984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3100"/>
              <a:buFont typeface="Spline Sans"/>
              <a:buNone/>
            </a:pPr>
            <a:r>
              <a:rPr b="1" i="0" lang="en-US" sz="31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123,010</a:t>
            </a:r>
            <a:endParaRPr b="0" i="0" sz="3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4"/>
          <p:cNvSpPr/>
          <p:nvPr/>
        </p:nvSpPr>
        <p:spPr>
          <a:xfrm>
            <a:off x="8939479" y="3585340"/>
            <a:ext cx="132570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00"/>
              <a:buFont typeface="Spline Sans"/>
              <a:buNone/>
            </a:pPr>
            <a:r>
              <a:rPr b="1" i="0" lang="en-US" sz="10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Instruction pairs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14"/>
          <p:cNvSpPr/>
          <p:nvPr/>
        </p:nvSpPr>
        <p:spPr>
          <a:xfrm>
            <a:off x="7603135" y="3965745"/>
            <a:ext cx="39984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3100"/>
              <a:buFont typeface="Spline Sans"/>
              <a:buNone/>
            </a:pPr>
            <a:r>
              <a:rPr b="1" i="0" lang="en-US" sz="31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36</a:t>
            </a:r>
            <a:endParaRPr b="0" i="0" sz="3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4"/>
          <p:cNvSpPr/>
          <p:nvPr/>
        </p:nvSpPr>
        <p:spPr>
          <a:xfrm>
            <a:off x="8811192" y="4477316"/>
            <a:ext cx="158220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00"/>
              <a:buFont typeface="Spline Sans"/>
              <a:buNone/>
            </a:pPr>
            <a:r>
              <a:rPr b="1" i="0" lang="en-US" sz="10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Historical disaster events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6526638" y="4689545"/>
            <a:ext cx="6151500" cy="1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00"/>
              <a:buFont typeface="Barlow"/>
              <a:buNone/>
            </a:pPr>
            <a:r>
              <a:rPr b="0" i="0" lang="en-US" sz="900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Across 5 continents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7603135" y="5061715"/>
            <a:ext cx="3998400" cy="39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3100"/>
              <a:buFont typeface="Spline Sans"/>
              <a:buNone/>
            </a:pPr>
            <a:r>
              <a:rPr b="1" i="0" lang="en-US" sz="31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10</a:t>
            </a:r>
            <a:endParaRPr b="0" i="0" sz="3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4"/>
          <p:cNvSpPr/>
          <p:nvPr/>
        </p:nvSpPr>
        <p:spPr>
          <a:xfrm>
            <a:off x="8939479" y="5573287"/>
            <a:ext cx="1325700" cy="16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00"/>
              <a:buFont typeface="Spline Sans"/>
              <a:buNone/>
            </a:pPr>
            <a:r>
              <a:rPr b="1" i="0" lang="en-US" sz="1000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Disaster types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6526638" y="5785516"/>
            <a:ext cx="6151500" cy="1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00"/>
              <a:buFont typeface="Barlow"/>
              <a:buNone/>
            </a:pPr>
            <a:r>
              <a:rPr b="0" i="0" lang="en-US" sz="900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Multi-hazard coverage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90" name="Google Shape;90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4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93" name="Google Shape;93;p14"/>
          <p:cNvSpPr/>
          <p:nvPr/>
        </p:nvSpPr>
        <p:spPr>
          <a:xfrm>
            <a:off x="762000" y="1970604"/>
            <a:ext cx="2123400" cy="314400"/>
          </a:xfrm>
          <a:prstGeom prst="roundRect">
            <a:avLst>
              <a:gd fmla="val 72557" name="adj"/>
            </a:avLst>
          </a:prstGeom>
          <a:solidFill>
            <a:srgbClr val="004D36"/>
          </a:solidFill>
          <a:ln>
            <a:noFill/>
          </a:ln>
        </p:spPr>
        <p:txBody>
          <a:bodyPr anchorCtr="0" anchor="ctr" bIns="145575" lIns="145575" spcFirstLastPara="1" rIns="145575" wrap="square" tIns="145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4"/>
          <p:cNvSpPr/>
          <p:nvPr/>
        </p:nvSpPr>
        <p:spPr>
          <a:xfrm>
            <a:off x="875906" y="2027478"/>
            <a:ext cx="2866200" cy="20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4"/>
              <a:buFont typeface="Barlow"/>
              <a:buNone/>
            </a:pPr>
            <a:r>
              <a:rPr b="0" i="0" lang="en-US" sz="1194" cap="none" strike="noStrike">
                <a:solidFill>
                  <a:schemeClr val="dk1"/>
                </a:solidFill>
                <a:uFill>
                  <a:noFill/>
                </a:uFill>
                <a:latin typeface="Barlow"/>
                <a:ea typeface="Barlow"/>
                <a:cs typeface="Barlow"/>
                <a:sym typeface="Barlow"/>
                <a:hlinkClick r:id="rId9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WANG ET AL., NEURIPS 2025</a:t>
            </a:r>
            <a:endParaRPr b="0" i="0" sz="1194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9" name="Google Shape;9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371475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762000" y="971550"/>
            <a:ext cx="11401500" cy="4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DisasterM3: 9-TASK TAXONOMY</a:t>
            </a:r>
            <a:endParaRPr sz="1200"/>
          </a:p>
        </p:txBody>
      </p:sp>
      <p:sp>
        <p:nvSpPr>
          <p:cNvPr id="102" name="Google Shape;102;p15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571500" y="6410325"/>
            <a:ext cx="485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105" name="Google Shape;105;p15"/>
          <p:cNvSpPr/>
          <p:nvPr/>
        </p:nvSpPr>
        <p:spPr>
          <a:xfrm>
            <a:off x="787743" y="1415206"/>
            <a:ext cx="4026900" cy="1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rPr i="0" lang="en-US" sz="1000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From Simple Recognition to Complex Reasoning</a:t>
            </a:r>
            <a:endParaRPr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5"/>
          <p:cNvSpPr/>
          <p:nvPr/>
        </p:nvSpPr>
        <p:spPr>
          <a:xfrm>
            <a:off x="783478" y="1731418"/>
            <a:ext cx="11332800" cy="19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50"/>
              <a:buFont typeface="Barlow"/>
              <a:buNone/>
            </a:pPr>
            <a:r>
              <a:rPr b="0" i="0" lang="en-US" sz="1250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DisasterM3 defines nine tasks across five functional categories, progressing from basic identification to actionable reporting.</a:t>
            </a:r>
            <a:endParaRPr b="0" i="0" sz="12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7" name="Google Shape;107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2049450"/>
            <a:ext cx="10527048" cy="7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5"/>
          <p:cNvSpPr/>
          <p:nvPr/>
        </p:nvSpPr>
        <p:spPr>
          <a:xfrm>
            <a:off x="1377957" y="2192850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Recognition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1377957" y="2424545"/>
            <a:ext cx="9056700" cy="1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61"/>
              <a:buFont typeface="Barlow"/>
              <a:buNone/>
            </a:pP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Disaster Scene Recognition, Disaster Type Recognition, Bearing Body Recognition — identifying </a:t>
            </a:r>
            <a:r>
              <a:rPr b="0" i="1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what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happened and </a:t>
            </a:r>
            <a:r>
              <a:rPr b="0" i="1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what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is affected.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0" name="Google Shape;110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2900111"/>
            <a:ext cx="10527048" cy="7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5"/>
          <p:cNvSpPr/>
          <p:nvPr/>
        </p:nvSpPr>
        <p:spPr>
          <a:xfrm>
            <a:off x="1377957" y="3043516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Quantification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5"/>
          <p:cNvSpPr/>
          <p:nvPr/>
        </p:nvSpPr>
        <p:spPr>
          <a:xfrm>
            <a:off x="1377957" y="3275210"/>
            <a:ext cx="9056700" cy="1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61"/>
              <a:buFont typeface="Barlow"/>
              <a:buNone/>
            </a:pP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Damaged Building Counting, Damaged Road Area Estimation — measuring the </a:t>
            </a:r>
            <a:r>
              <a:rPr b="0" i="1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extent</a:t>
            </a: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of destruction using polygon masks.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3" name="Google Shape;113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2000" y="3750772"/>
            <a:ext cx="10527048" cy="7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/>
          <p:nvPr/>
        </p:nvSpPr>
        <p:spPr>
          <a:xfrm>
            <a:off x="1377957" y="3894181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Localization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1377957" y="4125875"/>
            <a:ext cx="9056700" cy="1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61"/>
              <a:buFont typeface="Barlow"/>
              <a:buNone/>
            </a:pP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Referring Segmentation — outputting precise bounding boxes/masks for specific damaged objects.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6" name="Google Shape;116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5452099"/>
            <a:ext cx="10527049" cy="727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/>
          <p:nvPr/>
        </p:nvSpPr>
        <p:spPr>
          <a:xfrm>
            <a:off x="1377957" y="5595512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Reporting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5"/>
          <p:cNvSpPr/>
          <p:nvPr/>
        </p:nvSpPr>
        <p:spPr>
          <a:xfrm>
            <a:off x="1377949" y="5827200"/>
            <a:ext cx="9911100" cy="35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61"/>
              <a:buFont typeface="Barlow"/>
              <a:buNone/>
            </a:pP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Disaster Caption + Restoration Advice — generating comprehensive damage summaries and actionable Immediate/Long-term recovery plans aligned with UNITAR/FEMA guidelines.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19" name="Google Shape;119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2000" y="4601437"/>
            <a:ext cx="10527048" cy="756201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5"/>
          <p:cNvSpPr/>
          <p:nvPr/>
        </p:nvSpPr>
        <p:spPr>
          <a:xfrm>
            <a:off x="1365130" y="4775410"/>
            <a:ext cx="1400400" cy="17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098"/>
              <a:buFont typeface="Spline Sans"/>
              <a:buNone/>
            </a:pPr>
            <a:r>
              <a:rPr b="1" i="0" lang="en-US" sz="1098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Reasoning</a:t>
            </a:r>
            <a:endParaRPr b="0" i="0" sz="10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5"/>
          <p:cNvSpPr/>
          <p:nvPr/>
        </p:nvSpPr>
        <p:spPr>
          <a:xfrm>
            <a:off x="1365130" y="5007104"/>
            <a:ext cx="9056700" cy="17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961"/>
              <a:buFont typeface="Barlow"/>
              <a:buNone/>
            </a:pPr>
            <a:r>
              <a:rPr b="0" i="0" lang="en-US" sz="96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Object Relational Reasoning — describing spatial/causal relationships between damaged structures (e.g., "collapsed building adjacent to blocked road").</a:t>
            </a:r>
            <a:endParaRPr b="0" i="0" sz="96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2" name="Google Shape;122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58286" y="2339969"/>
            <a:ext cx="189001" cy="1890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3" name="Google Shape;123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58286" y="3190634"/>
            <a:ext cx="189001" cy="1890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4" name="Google Shape;124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58286" y="4041300"/>
            <a:ext cx="189001" cy="1890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5" name="Google Shape;125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58299" y="5713278"/>
            <a:ext cx="189001" cy="18900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26" name="Google Shape;126;p1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58297" y="4885027"/>
            <a:ext cx="189001" cy="1890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1" name="Google Shape;13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371475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62000" y="971550"/>
            <a:ext cx="11401500" cy="45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DisasterM3: METHODOLOGY &amp; RESULTS</a:t>
            </a:r>
            <a:endParaRPr sz="2850"/>
          </a:p>
        </p:txBody>
      </p:sp>
      <p:sp>
        <p:nvSpPr>
          <p:cNvPr id="134" name="Google Shape;134;p16"/>
          <p:cNvSpPr/>
          <p:nvPr/>
        </p:nvSpPr>
        <p:spPr>
          <a:xfrm>
            <a:off x="571500" y="971550"/>
            <a:ext cx="57300" cy="485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787743" y="1415206"/>
            <a:ext cx="4026900" cy="1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rPr lang="en-US" sz="1000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How They Built It, What They Found</a:t>
            </a:r>
            <a:endParaRPr sz="1000">
              <a:solidFill>
                <a:srgbClr val="F0FCFF"/>
              </a:solidFill>
              <a:latin typeface="Spline Sans"/>
              <a:ea typeface="Spline Sans"/>
              <a:cs typeface="Spline Sans"/>
              <a:sym typeface="Spline Sans"/>
            </a:endParaRPr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t/>
            </a:r>
            <a:endParaRPr sz="1000">
              <a:solidFill>
                <a:srgbClr val="F0FCFF"/>
              </a:solidFill>
              <a:latin typeface="Spline Sans"/>
              <a:ea typeface="Spline Sans"/>
              <a:cs typeface="Spline Sans"/>
              <a:sym typeface="Spline Sans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692700" y="1737775"/>
            <a:ext cx="5529900" cy="4208100"/>
          </a:xfrm>
          <a:prstGeom prst="roundRect">
            <a:avLst>
              <a:gd fmla="val 8832" name="adj"/>
            </a:avLst>
          </a:prstGeom>
          <a:solidFill>
            <a:srgbClr val="091231">
              <a:alpha val="74900"/>
            </a:srgbClr>
          </a:solidFill>
          <a:ln>
            <a:noFill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6"/>
          <p:cNvSpPr/>
          <p:nvPr/>
        </p:nvSpPr>
        <p:spPr>
          <a:xfrm>
            <a:off x="978901" y="1905424"/>
            <a:ext cx="2686200" cy="2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557"/>
              <a:buFont typeface="Spline Sans"/>
              <a:buNone/>
            </a:pPr>
            <a:r>
              <a:rPr b="1" i="0" lang="en-US" sz="1557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Ground Truth Pipeline</a:t>
            </a:r>
            <a:endParaRPr b="0" i="0" sz="15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978901" y="2328712"/>
            <a:ext cx="5243700" cy="84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401"/>
              <a:buFont typeface="Barlow"/>
              <a:buNone/>
            </a:pPr>
            <a:r>
              <a:rPr b="0" i="0" lang="en-US" sz="140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GPT-4o generated question prompts → Human disaster experts annotated correct answers and drafted FEMA-aligned reports → GPT-4o polished drafts → Multi-round human verification.</a:t>
            </a:r>
            <a:endParaRPr b="0" i="0" sz="140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978901" y="3347796"/>
            <a:ext cx="2644200" cy="2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557"/>
              <a:buFont typeface="Spline Sans"/>
              <a:buNone/>
            </a:pPr>
            <a:r>
              <a:rPr b="1" i="0" lang="en-US" sz="1557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Fine-Tuning</a:t>
            </a:r>
            <a:endParaRPr b="0" i="0" sz="15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978901" y="3771084"/>
            <a:ext cx="52437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401"/>
              <a:buFont typeface="Barlow"/>
              <a:buNone/>
            </a:pPr>
            <a:r>
              <a:rPr b="0" i="0" lang="en-US" sz="140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Trained Qwen2.5-VL-7B, InternVL3-8B, LISA, and PSALM on the 92K-pair Instruct Set.</a:t>
            </a:r>
            <a:endParaRPr b="0" i="0" sz="140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978901" y="4507771"/>
            <a:ext cx="2644200" cy="25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557"/>
              <a:buFont typeface="Spline Sans"/>
              <a:buNone/>
            </a:pPr>
            <a:r>
              <a:rPr b="1" i="0" lang="en-US" sz="1557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Evaluation</a:t>
            </a:r>
            <a:endParaRPr b="0" i="0" sz="15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978901" y="4931059"/>
            <a:ext cx="5243700" cy="84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401"/>
              <a:buFont typeface="Barlow"/>
              <a:buNone/>
            </a:pPr>
            <a:r>
              <a:rPr b="0" i="0" lang="en-US" sz="1401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LLM-as-a-Judge (GPT-4.1) scored open-ended outputs on a 1–5 rubric: Damage Assessment Precision, Factual Correctness, Action Priority Precision.</a:t>
            </a:r>
            <a:endParaRPr b="0" i="0" sz="1401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6660999" y="1884834"/>
            <a:ext cx="2262000" cy="2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332"/>
              <a:buFont typeface="Spline Sans"/>
              <a:buNone/>
            </a:pPr>
            <a:r>
              <a:rPr b="1" i="0" lang="en-US" sz="1332" u="none" cap="none" strike="noStrike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Headline Results</a:t>
            </a:r>
            <a:endParaRPr b="0" i="0" sz="133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6660999" y="2265347"/>
            <a:ext cx="2212500" cy="1188600"/>
          </a:xfrm>
          <a:prstGeom prst="roundRect">
            <a:avLst>
              <a:gd fmla="val 19542" name="adj"/>
            </a:avLst>
          </a:prstGeom>
          <a:solidFill>
            <a:srgbClr val="0A081B"/>
          </a:solidFill>
          <a:ln cap="flat" cmpd="sng" w="16925">
            <a:solidFill>
              <a:srgbClr val="16FFB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6832706" y="2437059"/>
            <a:ext cx="1720500" cy="2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332"/>
              <a:buFont typeface="Spline Sans"/>
              <a:buNone/>
            </a:pPr>
            <a:r>
              <a:rPr b="1" i="0" lang="en-US" sz="1332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+10.4%</a:t>
            </a:r>
            <a:endParaRPr b="0" i="0" sz="133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6832706" y="2799160"/>
            <a:ext cx="1869000" cy="4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0" i="0" lang="en-US" sz="1199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QA accuracy gain from fine-tuning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9020500" y="2265347"/>
            <a:ext cx="2212500" cy="1188600"/>
          </a:xfrm>
          <a:prstGeom prst="roundRect">
            <a:avLst>
              <a:gd fmla="val 19542" name="adj"/>
            </a:avLst>
          </a:prstGeom>
          <a:solidFill>
            <a:srgbClr val="0A081B"/>
          </a:solidFill>
          <a:ln cap="flat" cmpd="sng" w="16925">
            <a:solidFill>
              <a:srgbClr val="29DDD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16"/>
          <p:cNvSpPr/>
          <p:nvPr/>
        </p:nvSpPr>
        <p:spPr>
          <a:xfrm>
            <a:off x="9192208" y="2437059"/>
            <a:ext cx="1720500" cy="2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332"/>
              <a:buFont typeface="Spline Sans"/>
              <a:buNone/>
            </a:pPr>
            <a:r>
              <a:rPr b="1" i="0" lang="en-US" sz="1332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+2.1</a:t>
            </a:r>
            <a:endParaRPr b="0" i="0" sz="133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/>
          <p:nvPr/>
        </p:nvSpPr>
        <p:spPr>
          <a:xfrm>
            <a:off x="9192208" y="2799160"/>
            <a:ext cx="1869300" cy="2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0" i="0" lang="en-US" sz="1199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Report score improvement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6"/>
          <p:cNvSpPr/>
          <p:nvPr/>
        </p:nvSpPr>
        <p:spPr>
          <a:xfrm>
            <a:off x="6660999" y="3601067"/>
            <a:ext cx="4572000" cy="9471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692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6"/>
          <p:cNvSpPr/>
          <p:nvPr/>
        </p:nvSpPr>
        <p:spPr>
          <a:xfrm>
            <a:off x="6832706" y="3772778"/>
            <a:ext cx="1720500" cy="21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332"/>
              <a:buFont typeface="Spline Sans"/>
              <a:buNone/>
            </a:pPr>
            <a:r>
              <a:rPr b="1" i="0" lang="en-US" sz="1332" u="none" cap="none" strike="noStrike">
                <a:solidFill>
                  <a:srgbClr val="E0E4E6"/>
                </a:solidFill>
                <a:latin typeface="Spline Sans"/>
                <a:ea typeface="Spline Sans"/>
                <a:cs typeface="Spline Sans"/>
                <a:sym typeface="Spline Sans"/>
              </a:rPr>
              <a:t>+40.8%</a:t>
            </a:r>
            <a:endParaRPr b="0" i="0" sz="133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6"/>
          <p:cNvSpPr/>
          <p:nvPr/>
        </p:nvSpPr>
        <p:spPr>
          <a:xfrm>
            <a:off x="6832706" y="4134879"/>
            <a:ext cx="4228800" cy="2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0" i="0" lang="en-US" sz="1199" u="none" cap="none" strike="noStrike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Referring Segmentation mIoU boost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6"/>
          <p:cNvSpPr/>
          <p:nvPr/>
        </p:nvSpPr>
        <p:spPr>
          <a:xfrm>
            <a:off x="6660999" y="4713623"/>
            <a:ext cx="4572000" cy="1066500"/>
          </a:xfrm>
          <a:prstGeom prst="roundRect">
            <a:avLst>
              <a:gd fmla="val 21775" name="adj"/>
            </a:avLst>
          </a:prstGeom>
          <a:solidFill>
            <a:srgbClr val="00805A"/>
          </a:solidFill>
          <a:ln>
            <a:noFill/>
          </a:ln>
        </p:spPr>
        <p:txBody>
          <a:bodyPr anchorCtr="0" anchor="ctr" bIns="81175" lIns="81175" spcFirstLastPara="1" rIns="81175" wrap="square" tIns="811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6" name="Google Shape;15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15791" y="4952028"/>
            <a:ext cx="193556" cy="15479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/>
          <p:nvPr/>
        </p:nvSpPr>
        <p:spPr>
          <a:xfrm>
            <a:off x="7164139" y="4884630"/>
            <a:ext cx="3914100" cy="7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99"/>
              <a:buFont typeface="Barlow"/>
              <a:buNone/>
            </a:pPr>
            <a:r>
              <a:rPr b="1" i="0" lang="en-US" sz="1199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Key conclusion:</a:t>
            </a:r>
            <a:r>
              <a:rPr b="0" i="0" lang="en-US" sz="1199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Domain-specific instruction tuning is </a:t>
            </a:r>
            <a:r>
              <a:rPr b="1" i="0" lang="en-US" sz="1199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mandatory</a:t>
            </a:r>
            <a:r>
              <a:rPr b="0" i="0" lang="en-US" sz="1199" u="none" cap="none" strike="noStrike">
                <a:solidFill>
                  <a:srgbClr val="FFFFFF"/>
                </a:solidFill>
                <a:latin typeface="Barlow"/>
                <a:ea typeface="Barlow"/>
                <a:cs typeface="Barlow"/>
                <a:sym typeface="Barlow"/>
              </a:rPr>
              <a:t> — generic VLMs cannot achieve these results without targeted fine-tuning on disaster data.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2" name="Google Shape;16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371475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762000" y="971550"/>
            <a:ext cx="103137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5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DisasterM3: Limitations, Gaps &amp; Relevance to Our Project</a:t>
            </a:r>
            <a:endParaRPr sz="2950">
              <a:solidFill>
                <a:srgbClr val="4ADE8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50">
              <a:solidFill>
                <a:srgbClr val="4ADE8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571500" y="971550"/>
            <a:ext cx="57300" cy="485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sp>
        <p:nvSpPr>
          <p:cNvPr id="168" name="Google Shape;168;p17"/>
          <p:cNvSpPr/>
          <p:nvPr/>
        </p:nvSpPr>
        <p:spPr>
          <a:xfrm>
            <a:off x="787743" y="1415206"/>
            <a:ext cx="4026900" cy="19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rPr lang="en-US" sz="1000">
                <a:solidFill>
                  <a:srgbClr val="F0FCFF"/>
                </a:solidFill>
                <a:latin typeface="Spline Sans"/>
                <a:ea typeface="Spline Sans"/>
                <a:cs typeface="Spline Sans"/>
                <a:sym typeface="Spline Sans"/>
              </a:rPr>
              <a:t>What Remains Unsolved &amp; Why It Matters for our project</a:t>
            </a:r>
            <a:endParaRPr sz="1000">
              <a:solidFill>
                <a:srgbClr val="F0FCFF"/>
              </a:solidFill>
              <a:latin typeface="Spline Sans"/>
              <a:ea typeface="Spline Sans"/>
              <a:cs typeface="Spline Sans"/>
              <a:sym typeface="Spline Sans"/>
            </a:endParaRPr>
          </a:p>
          <a:p>
            <a:pPr indent="0" lvl="0" marL="0" marR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F0FCFF"/>
              </a:buClr>
              <a:buSzPts val="1200"/>
              <a:buFont typeface="Spline Sans"/>
              <a:buNone/>
            </a:pPr>
            <a:r>
              <a:t/>
            </a:r>
            <a:endParaRPr sz="1000">
              <a:solidFill>
                <a:srgbClr val="F0FCFF"/>
              </a:solidFill>
              <a:latin typeface="Spline Sans"/>
              <a:ea typeface="Spline Sans"/>
              <a:cs typeface="Spline Sans"/>
              <a:sym typeface="Spline Sans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5663816" y="3939970"/>
            <a:ext cx="6122700" cy="9999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787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700" lIns="85700" spcFirstLastPara="1" rIns="85700" wrap="square" tIns="8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7"/>
          <p:cNvSpPr/>
          <p:nvPr/>
        </p:nvSpPr>
        <p:spPr>
          <a:xfrm>
            <a:off x="5676767" y="1611325"/>
            <a:ext cx="6122700" cy="9999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787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700" lIns="85700" spcFirstLastPara="1" rIns="85700" wrap="square" tIns="8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7"/>
          <p:cNvSpPr/>
          <p:nvPr/>
        </p:nvSpPr>
        <p:spPr>
          <a:xfrm>
            <a:off x="5676775" y="2775650"/>
            <a:ext cx="6122700" cy="9999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787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700" lIns="85700" spcFirstLastPara="1" rIns="85700" wrap="square" tIns="8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Overfitting Risk: Fine-tuned counting models overfit on low-density scenes and degraded on high-density ones — a direct warning for our own pipeline.</a:t>
            </a:r>
            <a:endParaRPr/>
          </a:p>
        </p:txBody>
      </p:sp>
      <p:sp>
        <p:nvSpPr>
          <p:cNvPr id="172" name="Google Shape;172;p17"/>
          <p:cNvSpPr/>
          <p:nvPr/>
        </p:nvSpPr>
        <p:spPr>
          <a:xfrm>
            <a:off x="5663826" y="5104273"/>
            <a:ext cx="6122700" cy="999900"/>
          </a:xfrm>
          <a:prstGeom prst="roundRect">
            <a:avLst>
              <a:gd fmla="val 24526" name="adj"/>
            </a:avLst>
          </a:prstGeom>
          <a:solidFill>
            <a:srgbClr val="0A081B"/>
          </a:solidFill>
          <a:ln cap="flat" cmpd="sng" w="17875">
            <a:solidFill>
              <a:srgbClr val="37A7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5700" lIns="85700" spcFirstLastPara="1" rIns="85700" wrap="square" tIns="8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17"/>
          <p:cNvSpPr/>
          <p:nvPr/>
        </p:nvSpPr>
        <p:spPr>
          <a:xfrm>
            <a:off x="5894157" y="5260125"/>
            <a:ext cx="6021600" cy="6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1" i="1"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Relevance to Us: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Their GPT-4.1-as-judge rubric scoring for reports directly justifies our planned RAR evaluation metric. Their use of Qwen2.5-VL + LoRA on xBD-derived data is architecturally identical to our own 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project’s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 QLoRA pipeline on AIDER and xBD.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4" name="Google Shape;174;p17" title="Screenshot 2026-07-07 010313.png"/>
          <p:cNvPicPr preferRelativeResize="0"/>
          <p:nvPr/>
        </p:nvPicPr>
        <p:blipFill rotWithShape="1">
          <a:blip r:embed="rId5">
            <a:alphaModFix/>
          </a:blip>
          <a:srcRect b="12111" l="0" r="0" t="7793"/>
          <a:stretch/>
        </p:blipFill>
        <p:spPr>
          <a:xfrm>
            <a:off x="628550" y="1907050"/>
            <a:ext cx="4534200" cy="3623700"/>
          </a:xfrm>
          <a:prstGeom prst="flowChartAlternateProcess">
            <a:avLst/>
          </a:prstGeom>
          <a:noFill/>
          <a:ln>
            <a:noFill/>
          </a:ln>
        </p:spPr>
      </p:pic>
      <p:sp>
        <p:nvSpPr>
          <p:cNvPr id="175" name="Google Shape;175;p17"/>
          <p:cNvSpPr txBox="1"/>
          <p:nvPr/>
        </p:nvSpPr>
        <p:spPr>
          <a:xfrm>
            <a:off x="619125" y="5530500"/>
            <a:ext cx="4228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4748B"/>
                </a:solidFill>
                <a:latin typeface="Spline Sans"/>
                <a:ea typeface="Spline Sans"/>
                <a:cs typeface="Spline Sans"/>
                <a:sym typeface="Spline Sans"/>
              </a:rPr>
              <a:t>snapshot of an pre-disaster image from xBD dataset</a:t>
            </a:r>
            <a:endParaRPr sz="1000">
              <a:solidFill>
                <a:srgbClr val="64748B"/>
              </a:solidFill>
              <a:latin typeface="Spline Sans"/>
              <a:ea typeface="Spline Sans"/>
              <a:cs typeface="Spline Sans"/>
              <a:sym typeface="Spline Sans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5900225" y="4196698"/>
            <a:ext cx="5461200" cy="4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1" i="1"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Research Gap: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No existing benchmark combines multi-hazard, multi-sensor, and multi-task reasoning in one unified framework — DisasterM3 is the first attempt.</a:t>
            </a:r>
            <a:endParaRPr b="0" i="0" sz="11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5916575" y="3048925"/>
            <a:ext cx="5703900" cy="6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1" i="1"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Overfitting Risk: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Fine-tuned counting models overfit on low-density scenes and degraded on high-density ones — a direct warning for our own pipeline.</a:t>
            </a:r>
            <a:endParaRPr sz="1199">
              <a:solidFill>
                <a:srgbClr val="E0E4E6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5887564" y="1891184"/>
            <a:ext cx="6021600" cy="67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E0E4E6"/>
              </a:buClr>
              <a:buSzPts val="1199"/>
              <a:buFont typeface="Barlow"/>
              <a:buNone/>
            </a:pPr>
            <a:r>
              <a:rPr b="1" i="1"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Unresolved Limitation:</a:t>
            </a:r>
            <a:r>
              <a:rPr lang="en-US" sz="1199">
                <a:solidFill>
                  <a:srgbClr val="E0E4E6"/>
                </a:solidFill>
                <a:latin typeface="Barlow"/>
                <a:ea typeface="Barlow"/>
                <a:cs typeface="Barlow"/>
                <a:sym typeface="Barlow"/>
              </a:rPr>
              <a:t> The Optical-vs-SAR cross-sensor performance gap remains significant even after fine-tuning — SAR imagery lacks the rich semantics of optical data.</a:t>
            </a:r>
            <a:endParaRPr sz="1199">
              <a:solidFill>
                <a:srgbClr val="E0E4E6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3" name="Google Shape;18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2062162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28289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8"/>
          <p:cNvSpPr txBox="1"/>
          <p:nvPr/>
        </p:nvSpPr>
        <p:spPr>
          <a:xfrm>
            <a:off x="762000" y="971550"/>
            <a:ext cx="114015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From Pixels to Semantics: A Multi-Stage AI Framework for Structural Damage Detection in Satellite Imagery </a:t>
            </a:r>
            <a:endParaRPr sz="3150">
              <a:solidFill>
                <a:srgbClr val="4ADE8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7" name="Google Shape;187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43650" y="2071687"/>
            <a:ext cx="10191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8"/>
          <p:cNvSpPr txBox="1"/>
          <p:nvPr/>
        </p:nvSpPr>
        <p:spPr>
          <a:xfrm>
            <a:off x="904875" y="27098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highlight>
                <a:schemeClr val="lt1"/>
              </a:highlight>
            </a:endParaRPr>
          </a:p>
        </p:txBody>
      </p:sp>
      <p:sp>
        <p:nvSpPr>
          <p:cNvPr id="189" name="Google Shape;189;p18"/>
          <p:cNvSpPr txBox="1"/>
          <p:nvPr/>
        </p:nvSpPr>
        <p:spPr>
          <a:xfrm>
            <a:off x="904875" y="3374490"/>
            <a:ext cx="49530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Bijay Shakya, Catherine Hoier, Khandaker Mamun Ahmed </a:t>
            </a:r>
            <a:endParaRPr sz="13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Beacom College of Computer &amp; Cyber Sciences</a:t>
            </a:r>
            <a:r>
              <a:rPr lang="en-US" sz="13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endParaRPr sz="13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3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Dakota State University, </a:t>
            </a:r>
            <a:r>
              <a:rPr i="1" lang="en-US" sz="11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USA</a:t>
            </a:r>
            <a:r>
              <a:rPr lang="en-US" sz="1100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190" name="Google Shape;190;p18"/>
          <p:cNvSpPr txBox="1"/>
          <p:nvPr/>
        </p:nvSpPr>
        <p:spPr>
          <a:xfrm>
            <a:off x="904875" y="421481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904875" y="4967287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192" name="Google Shape;19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01197" y="1941150"/>
            <a:ext cx="5710954" cy="43167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8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0" name="Google Shape;200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8289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762000" y="97155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The Three-Stage Pipeline </a:t>
            </a:r>
            <a:endParaRPr/>
          </a:p>
        </p:txBody>
      </p:sp>
      <p:sp>
        <p:nvSpPr>
          <p:cNvPr id="202" name="Google Shape;202;p19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349275" y="2328200"/>
            <a:ext cx="3503100" cy="27624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9525">
            <a:solidFill>
              <a:srgbClr val="4ADE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4232250" y="2354602"/>
            <a:ext cx="3566700" cy="27096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9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rPr>
              <a:t>2. Building Detection </a:t>
            </a:r>
            <a:r>
              <a:rPr b="1" lang="en-US" sz="19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endParaRPr b="1" sz="19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Deploys a fine-tuned YOLOv11 object detector on pre-disaster images to identify building footprints. It automatically crops each structure with a custom 30% safety padding to completely avoid cutting off edges.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205" name="Google Shape;205;p19"/>
          <p:cNvSpPr/>
          <p:nvPr/>
        </p:nvSpPr>
        <p:spPr>
          <a:xfrm>
            <a:off x="8242300" y="2375900"/>
            <a:ext cx="3706200" cy="2667000"/>
          </a:xfrm>
          <a:prstGeom prst="roundRect">
            <a:avLst>
              <a:gd fmla="val 16667" name="adj"/>
            </a:avLst>
          </a:prstGeom>
          <a:solidFill>
            <a:srgbClr val="4ADE8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9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rPr>
              <a:t>3. Multimodal Analysis </a:t>
            </a:r>
            <a:endParaRPr b="1" sz="19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Feeds pairs of cropped pre- and post-disaster crops to highly capable Vision-Language Models (VLMs). The AI classifies structural damage across 4 severity levels and instantly produces emergency safety recommendations.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338625" y="2709325"/>
            <a:ext cx="3566700" cy="25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900"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rPr>
              <a:t>1. AI Super-Resolution </a:t>
            </a:r>
            <a:endParaRPr b="1" sz="1900"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Enhances raw post-disaster satellite imagery from 1024 X 1024 px up to a razor-sharp 4096 X 4096 px using a specialized Video Restoration Transformer (VRT). This exposes tiny structural cracks and fine rubble details.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pic>
        <p:nvPicPr>
          <p:cNvPr descr="image.png" id="207" name="Google Shape;20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209" name="Google Shape;209;p19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4" name="Google Shape;21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8289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0"/>
          <p:cNvSpPr txBox="1"/>
          <p:nvPr/>
        </p:nvSpPr>
        <p:spPr>
          <a:xfrm>
            <a:off x="762000" y="97155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Key Findings &amp; Validation </a:t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571500" y="2211150"/>
            <a:ext cx="5376300" cy="38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➤ Eliminating AI Bias with a Jury</a:t>
            </a:r>
            <a:r>
              <a:rPr b="1" lang="en-US" sz="17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 </a:t>
            </a:r>
            <a:endParaRPr b="1" sz="1700">
              <a:solidFill>
                <a:srgbClr val="4ADE80"/>
              </a:solidFill>
              <a:highlight>
                <a:schemeClr val="lt1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Instead of relying on a single AI's guess, the framework introduces a robust VLM-as-a-Jury panel to grade visual reports.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Models evaluated include variants of Qwen3-VL (reasoning capabilities) and Gemma3 (non-thinking capabilities).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Qwen3-VL 32B dominated the evaluation, achieving 87.1% accuracy and 0.87 F1-score on damage classification.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18" name="Google Shape;21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27834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9" name="Google Shape;21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35253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0" name="Google Shape;22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4330712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0"/>
          <p:cNvSpPr txBox="1"/>
          <p:nvPr/>
        </p:nvSpPr>
        <p:spPr>
          <a:xfrm>
            <a:off x="6354225" y="2120138"/>
            <a:ext cx="5715000" cy="38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➤ Why Super-Resolution Matters </a:t>
            </a:r>
            <a:endParaRPr b="1" sz="1700">
              <a:solidFill>
                <a:srgbClr val="4ADE80"/>
              </a:solidFill>
              <a:highlight>
                <a:schemeClr val="lt1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Upscaling images with VRT directly boosted semantic alignment, yielding a solid +2.35 point increase in CLIPScore on Moore Tornado imagery.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framework is tested on actual real-world disasters from the xBD dataset, including the Moore Tornado and Hurricane Matthew.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Provides direct, actionable insights to first responders, allowing them to instantly isolate highly compromised, unstable structures. 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pic>
        <p:nvPicPr>
          <p:cNvPr descr="image.png" id="222" name="Google Shape;222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10800" y="26924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3" name="Google Shape;22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725" y="37571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4" name="Google Shape;22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725" y="46101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5" name="Google Shape;22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0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2" name="Google Shape;23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8289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21"/>
          <p:cNvSpPr txBox="1"/>
          <p:nvPr/>
        </p:nvSpPr>
        <p:spPr>
          <a:xfrm>
            <a:off x="762000" y="97155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LIMITATIONS &amp; RESEARCH GAPS </a:t>
            </a:r>
            <a:endParaRPr/>
          </a:p>
        </p:txBody>
      </p:sp>
      <p:sp>
        <p:nvSpPr>
          <p:cNvPr id="234" name="Google Shape;234;p21"/>
          <p:cNvSpPr/>
          <p:nvPr/>
        </p:nvSpPr>
        <p:spPr>
          <a:xfrm>
            <a:off x="571500" y="971550"/>
            <a:ext cx="57300" cy="4857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 txBox="1"/>
          <p:nvPr/>
        </p:nvSpPr>
        <p:spPr>
          <a:xfrm>
            <a:off x="571500" y="2211150"/>
            <a:ext cx="5376300" cy="38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➤ WHAT THEY HAVE YET TO ACHIEVE </a:t>
            </a:r>
            <a:endParaRPr b="1" sz="1700">
              <a:solidFill>
                <a:srgbClr val="4ADE80"/>
              </a:solidFill>
              <a:highlight>
                <a:schemeClr val="lt1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Fine-Grain Degradation:</a:t>
            </a:r>
            <a:r>
              <a:rPr lang="en-US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VLMs struggle to maintain high assessment accuracy when evaluating small, highly localized building crop patches.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Visual Quality Collapse:</a:t>
            </a:r>
            <a:r>
              <a:rPr lang="en-US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Performance degraded consistently across all tested VLMs on cropped subsets due to low-quality, pixel-diluted visual features.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Hallucination Risks: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The framework has yet to fully resolve baseline model hallucination risks natively without relying on resource-heavy consensus.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pic>
        <p:nvPicPr>
          <p:cNvPr descr="image.png" id="236" name="Google Shape;23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27834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36840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8" name="Google Shape;23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28075" y="4584687"/>
            <a:ext cx="190500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1"/>
          <p:cNvSpPr txBox="1"/>
          <p:nvPr/>
        </p:nvSpPr>
        <p:spPr>
          <a:xfrm>
            <a:off x="6354225" y="2120138"/>
            <a:ext cx="5715000" cy="38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4ADE80"/>
                </a:solidFill>
                <a:highlight>
                  <a:schemeClr val="lt1"/>
                </a:highlight>
                <a:latin typeface="Urbanist"/>
                <a:ea typeface="Urbanist"/>
                <a:cs typeface="Urbanist"/>
                <a:sym typeface="Urbanist"/>
              </a:rPr>
              <a:t>➤ RESEARCH GAP IDENTIFIED </a:t>
            </a:r>
            <a:endParaRPr b="1" sz="1700">
              <a:solidFill>
                <a:srgbClr val="4ADE80"/>
              </a:solidFill>
              <a:highlight>
                <a:schemeClr val="lt1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Heavy Foundation Reliance:</a:t>
            </a:r>
            <a:r>
              <a:rPr lang="en-US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Current architecture relies on massive, computationally expensive foundation models operating in a zero-shot setup.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Excessive Jury Overhead: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Requires a complex, costly "jury" of multiple concurrent models just to verify and double-check output accuracy.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4ADE80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Lack of Lightweight Alternatives:</a:t>
            </a:r>
            <a:r>
              <a:rPr lang="en-US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 </a:t>
            </a:r>
            <a:r>
              <a:rPr lang="en-US">
                <a:solidFill>
                  <a:schemeClr val="dk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Clear research gap for a locally fine-tuned, smaller model (e.g., a 7B parameter backbone using QLoRA) to natively output structured data.</a:t>
            </a:r>
            <a:endParaRPr>
              <a:solidFill>
                <a:schemeClr val="dk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  <p:pic>
        <p:nvPicPr>
          <p:cNvPr descr="image.png" id="240" name="Google Shape;240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10800" y="26924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1" name="Google Shape;24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725" y="35666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2" name="Google Shape;24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163725" y="42396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3" name="Google Shape;243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1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245" name="Google Shape;245;p21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0" name="Google Shape;250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9051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2"/>
          <p:cNvSpPr txBox="1"/>
          <p:nvPr/>
        </p:nvSpPr>
        <p:spPr>
          <a:xfrm>
            <a:off x="762000" y="971550"/>
            <a:ext cx="114015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>
                <a:solidFill>
                  <a:srgbClr val="4ADE8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Satellite remote sensing and AI-driven analysis of post-disaster cultural landscape recovery 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571500" y="971550"/>
            <a:ext cx="57300" cy="8652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426850" y="2188775"/>
            <a:ext cx="5361000" cy="48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9050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The Problem : </a:t>
            </a:r>
            <a:r>
              <a:rPr lang="en-US" sz="16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Traditional cultural heritage management lacks rapid assessment capabilities in post-disaster scenarios where accessibility is restricted and time-sensitive interventions are critical.</a:t>
            </a:r>
            <a:endParaRPr sz="16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Research Objective: </a:t>
            </a:r>
            <a:r>
              <a:rPr lang="en-US" sz="16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To investigate the application of satellite remote sensing and AI in assessing, monitoring, and tracing the long-term recovery of 95 heritage sites globally (2018–2023).</a:t>
            </a:r>
            <a:endParaRPr sz="16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Methodology: </a:t>
            </a:r>
            <a:r>
              <a:rPr lang="en-US" sz="16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Integrated satellite-AI monitoring framework analyzing impact from earthquakes, floods, and wildfires across five global regions.</a:t>
            </a:r>
            <a:endParaRPr sz="16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254" name="Google Shape;254;p22"/>
          <p:cNvSpPr txBox="1"/>
          <p:nvPr/>
        </p:nvSpPr>
        <p:spPr>
          <a:xfrm>
            <a:off x="6667500" y="330993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Focuses on urban flooding, building damage, and road traversability.</a:t>
            </a:r>
            <a:endParaRPr/>
          </a:p>
        </p:txBody>
      </p:sp>
      <p:sp>
        <p:nvSpPr>
          <p:cNvPr id="255" name="Google Shape;255;p22"/>
          <p:cNvSpPr txBox="1"/>
          <p:nvPr/>
        </p:nvSpPr>
        <p:spPr>
          <a:xfrm>
            <a:off x="6667500" y="40624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Supports three core tasks: Classification, Semantic Segmentation, and Visual Question Answering.</a:t>
            </a:r>
            <a:endParaRPr/>
          </a:p>
        </p:txBody>
      </p:sp>
      <p:sp>
        <p:nvSpPr>
          <p:cNvPr id="256" name="Google Shape;256;p22"/>
          <p:cNvSpPr txBox="1"/>
          <p:nvPr/>
        </p:nvSpPr>
        <p:spPr>
          <a:xfrm>
            <a:off x="6667500" y="48148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Critical for identifying flooded roads and natural vs. flooded water distinctions.</a:t>
            </a:r>
            <a:endParaRPr/>
          </a:p>
        </p:txBody>
      </p:sp>
      <p:pic>
        <p:nvPicPr>
          <p:cNvPr descr="image.png" id="257" name="Google Shape;25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5574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8" name="Google Shape;258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309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4062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48148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22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C78D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</a:t>
            </a: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5</a:t>
            </a:r>
            <a:endParaRPr/>
          </a:p>
        </p:txBody>
      </p:sp>
      <p:sp>
        <p:nvSpPr>
          <p:cNvPr id="263" name="Google Shape;263;p22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C78D8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>
              <a:solidFill>
                <a:srgbClr val="3C78D8"/>
              </a:solidFill>
            </a:endParaRPr>
          </a:p>
        </p:txBody>
      </p:sp>
      <p:sp>
        <p:nvSpPr>
          <p:cNvPr id="264" name="Google Shape;264;p22"/>
          <p:cNvSpPr txBox="1"/>
          <p:nvPr/>
        </p:nvSpPr>
        <p:spPr>
          <a:xfrm>
            <a:off x="6667500" y="2477350"/>
            <a:ext cx="50262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Dataset of high-resolution UAV imagery captured after Hurricane Harvey.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9" name="Google Shape;26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4125" y="2062162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0" name="Google Shape;27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66700"/>
            <a:ext cx="29051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3"/>
          <p:cNvSpPr txBox="1"/>
          <p:nvPr/>
        </p:nvSpPr>
        <p:spPr>
          <a:xfrm>
            <a:off x="762000" y="971550"/>
            <a:ext cx="11401425" cy="4857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3150" u="none" cap="none" strike="noStrike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FLOOD SCENE UNDERSTANDING</a:t>
            </a:r>
            <a:endParaRPr/>
          </a:p>
        </p:txBody>
      </p:sp>
      <p:sp>
        <p:nvSpPr>
          <p:cNvPr id="272" name="Google Shape;272;p23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73" name="Google Shape;273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43650" y="2071687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3"/>
          <p:cNvSpPr txBox="1"/>
          <p:nvPr/>
        </p:nvSpPr>
        <p:spPr>
          <a:xfrm>
            <a:off x="904875" y="255746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Provides clarity in scenes where satellite imagery fails due to cloud cover or smoke.</a:t>
            </a:r>
            <a:endParaRPr/>
          </a:p>
        </p:txBody>
      </p:sp>
      <p:sp>
        <p:nvSpPr>
          <p:cNvPr id="275" name="Google Shape;275;p23"/>
          <p:cNvSpPr txBox="1"/>
          <p:nvPr/>
        </p:nvSpPr>
        <p:spPr>
          <a:xfrm>
            <a:off x="904875" y="330993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Pixel-level annotations allow deep learning models to make precise damage assessment.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904875" y="4062412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Enables rapid evaluation of flooded buildings to prioritize water rescue teams.</a:t>
            </a:r>
            <a:endParaRPr/>
          </a:p>
        </p:txBody>
      </p:sp>
      <p:sp>
        <p:nvSpPr>
          <p:cNvPr id="277" name="Google Shape;277;p23"/>
          <p:cNvSpPr txBox="1"/>
          <p:nvPr/>
        </p:nvSpPr>
        <p:spPr>
          <a:xfrm>
            <a:off x="904875" y="481488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UAVs offer lower altitude shots, capturing survivor signals more effectively.</a:t>
            </a:r>
            <a:endParaRPr/>
          </a:p>
        </p:txBody>
      </p:sp>
      <p:pic>
        <p:nvPicPr>
          <p:cNvPr descr="image.png" id="278" name="Google Shape;278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55746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309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62412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81488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3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"/>
          <p:cNvSpPr txBox="1"/>
          <p:nvPr/>
        </p:nvSpPr>
        <p:spPr>
          <a:xfrm>
            <a:off x="436300" y="245875"/>
            <a:ext cx="11426100" cy="58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350">
              <a:solidFill>
                <a:srgbClr val="F5F5F5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rtl="0" algn="l">
              <a:lnSpc>
                <a:spcPct val="110000"/>
              </a:lnSpc>
              <a:spcBef>
                <a:spcPts val="3000"/>
              </a:spcBef>
              <a:spcAft>
                <a:spcPts val="0"/>
              </a:spcAft>
              <a:buNone/>
            </a:pPr>
            <a:r>
              <a:rPr lang="en-US" sz="4450">
                <a:solidFill>
                  <a:srgbClr val="F5F5F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Landscape </a:t>
            </a:r>
            <a:r>
              <a:rPr lang="en-US" sz="445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Scene Understanding</a:t>
            </a:r>
            <a:endParaRPr sz="4450">
              <a:solidFill>
                <a:srgbClr val="DEFF9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300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Findings &amp; Performance Milestones</a:t>
            </a:r>
            <a:endParaRPr sz="1900">
              <a:solidFill>
                <a:srgbClr val="DEFF9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15000"/>
              </a:lnSpc>
              <a:spcBef>
                <a:spcPts val="30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DEFF9A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Accuracy Optimization</a:t>
            </a:r>
            <a:endParaRPr b="1" sz="1750">
              <a:solidFill>
                <a:srgbClr val="DEFF9A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5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AI classification accuracy for landscape damage and recovery tracking surged from </a:t>
            </a:r>
            <a:r>
              <a:rPr b="1"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75% to 95%</a:t>
            </a: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during the study period.</a:t>
            </a:r>
            <a:endParaRPr sz="1600">
              <a:solidFill>
                <a:srgbClr val="DAFFDE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DEFF9A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Global Initiatives</a:t>
            </a:r>
            <a:endParaRPr b="1" sz="1750">
              <a:solidFill>
                <a:srgbClr val="DEFF9A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500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 significant increase in satellite remote sensing projects was observed, jumping from </a:t>
            </a:r>
            <a:r>
              <a:rPr b="1"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4 to 33 active projects</a:t>
            </a: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globally.</a:t>
            </a:r>
            <a:endParaRPr sz="1600">
              <a:solidFill>
                <a:srgbClr val="DAFFDE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15000"/>
              </a:lnSpc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750">
                <a:solidFill>
                  <a:srgbClr val="DEFF9A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Regional Focus</a:t>
            </a:r>
            <a:endParaRPr b="1" sz="1750">
              <a:solidFill>
                <a:srgbClr val="DEFF9A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330200" marR="330200" rtl="0" algn="l">
              <a:lnSpc>
                <a:spcPct val="150000"/>
              </a:lnSpc>
              <a:spcBef>
                <a:spcPts val="1500"/>
              </a:spcBef>
              <a:spcAft>
                <a:spcPts val="900"/>
              </a:spcAft>
              <a:buNone/>
            </a:pP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Analysis revealed the highest project concentration in </a:t>
            </a:r>
            <a:r>
              <a:rPr b="1"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Asia (30)</a:t>
            </a: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and </a:t>
            </a:r>
            <a:r>
              <a:rPr b="1"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Europe (25)</a:t>
            </a:r>
            <a:r>
              <a:rPr lang="en-US" sz="1600">
                <a:solidFill>
                  <a:srgbClr val="DAFFDE"/>
                </a:solidFill>
                <a:highlight>
                  <a:srgbClr val="1A1A1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, aiding preservation decision-making.</a:t>
            </a:r>
            <a:endParaRPr sz="1600">
              <a:solidFill>
                <a:srgbClr val="DAFFDE"/>
              </a:solidFill>
              <a:highlight>
                <a:srgbClr val="1A1A1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image.png" id="290" name="Google Shape;29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66700"/>
            <a:ext cx="29051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24"/>
          <p:cNvSpPr txBox="1"/>
          <p:nvPr/>
        </p:nvSpPr>
        <p:spPr>
          <a:xfrm>
            <a:off x="180800" y="6327675"/>
            <a:ext cx="30000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3C78D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>
              <a:solidFill>
                <a:srgbClr val="3C78D8"/>
              </a:solidFill>
            </a:endParaRPr>
          </a:p>
        </p:txBody>
      </p:sp>
      <p:sp>
        <p:nvSpPr>
          <p:cNvPr id="292" name="Google Shape;292;p24"/>
          <p:cNvSpPr txBox="1"/>
          <p:nvPr/>
        </p:nvSpPr>
        <p:spPr>
          <a:xfrm>
            <a:off x="5194900" y="6255375"/>
            <a:ext cx="66675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C78D8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 b="1">
              <a:solidFill>
                <a:srgbClr val="3C78D8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7" name="Google Shape;2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90512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5"/>
          <p:cNvSpPr txBox="1"/>
          <p:nvPr/>
        </p:nvSpPr>
        <p:spPr>
          <a:xfrm>
            <a:off x="677375" y="828675"/>
            <a:ext cx="5514000" cy="522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350">
                <a:solidFill>
                  <a:srgbClr val="F5F5F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Limitations &amp; </a:t>
            </a:r>
            <a:r>
              <a:rPr lang="en-US" sz="435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Relevance</a:t>
            </a:r>
            <a:endParaRPr sz="4350">
              <a:solidFill>
                <a:srgbClr val="DEFF9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30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EFF9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 they yet to achieve: </a:t>
            </a:r>
            <a:endParaRPr sz="2000">
              <a:solidFill>
                <a:srgbClr val="DEFF9A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DAFFD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Real-time interactive processing for immediate triage.Dynamic conversational querying for rescue coordinators.Direct generation of tactical, rescue-actionable text.</a:t>
            </a:r>
            <a:endParaRPr sz="1700">
              <a:solidFill>
                <a:srgbClr val="DAFFDE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marR="0" rtl="0" algn="l"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 sz="3150">
              <a:solidFill>
                <a:srgbClr val="4ADE8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299" name="Google Shape;299;p25"/>
          <p:cNvSpPr/>
          <p:nvPr/>
        </p:nvSpPr>
        <p:spPr>
          <a:xfrm>
            <a:off x="571500" y="1005200"/>
            <a:ext cx="57300" cy="100650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5"/>
          <p:cNvSpPr txBox="1"/>
          <p:nvPr/>
        </p:nvSpPr>
        <p:spPr>
          <a:xfrm>
            <a:off x="6667500" y="1342675"/>
            <a:ext cx="4953000" cy="51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1905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DEFF9A"/>
              </a:solidFill>
              <a:highlight>
                <a:srgbClr val="000000"/>
              </a:highlight>
              <a:latin typeface="Urbanist"/>
              <a:ea typeface="Urbanist"/>
              <a:cs typeface="Urbanist"/>
              <a:sym typeface="Urbanist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DEFF9A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Research Gap : </a:t>
            </a:r>
            <a:r>
              <a:rPr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Existing literature remains </a:t>
            </a:r>
            <a:r>
              <a:rPr b="1"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retrospective and passive</a:t>
            </a:r>
            <a:r>
              <a:rPr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, focusing on quantification rather than providing situational directives during a crisis window.</a:t>
            </a:r>
            <a:endParaRPr sz="17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190500" rtl="0" algn="just">
              <a:lnSpc>
                <a:spcPct val="115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DEFF9A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Relevance to Group 5: </a:t>
            </a:r>
            <a:r>
              <a:rPr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Our project bridges this gap by utilizing </a:t>
            </a:r>
            <a:r>
              <a:rPr b="1"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Fine-Tuned VLMs (Qwen2-VL-7B)</a:t>
            </a:r>
            <a:r>
              <a:rPr lang="en-US" sz="1700">
                <a:solidFill>
                  <a:srgbClr val="DAFFDE"/>
                </a:solidFill>
                <a:highlight>
                  <a:srgbClr val="000000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to transform these high-accuracy visual patterns into active, text-based guidance for ground responders.</a:t>
            </a:r>
            <a:endParaRPr sz="1700">
              <a:solidFill>
                <a:srgbClr val="DAFFDE"/>
              </a:solidFill>
              <a:highlight>
                <a:srgbClr val="000000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3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301" name="Google Shape;301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5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AA84F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</a:t>
            </a: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5</a:t>
            </a:r>
            <a:endParaRPr/>
          </a:p>
        </p:txBody>
      </p:sp>
      <p:sp>
        <p:nvSpPr>
          <p:cNvPr id="303" name="Google Shape;303;p25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AA84F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>
              <a:solidFill>
                <a:srgbClr val="6AA84F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8" name="Google Shape;30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27647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6"/>
          <p:cNvSpPr txBox="1"/>
          <p:nvPr/>
        </p:nvSpPr>
        <p:spPr>
          <a:xfrm>
            <a:off x="762000" y="971550"/>
            <a:ext cx="9657600" cy="23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rgbClr val="4ADE80"/>
                </a:solidFill>
              </a:rPr>
              <a:t>The Potential of Copernicus Satellites for Disaster Response: Retrieving Building Damage from Sentinel-1 and Sentinel-2</a:t>
            </a:r>
            <a:endParaRPr b="1" sz="2300">
              <a:solidFill>
                <a:srgbClr val="4ADE8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700">
                <a:solidFill>
                  <a:srgbClr val="4ADE80"/>
                </a:solidFill>
              </a:rPr>
              <a:t>Dietrich et al., 2026</a:t>
            </a:r>
            <a:endParaRPr b="1" sz="1700">
              <a:solidFill>
                <a:srgbClr val="4ADE8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4ADE80"/>
                </a:solidFill>
              </a:rPr>
              <a:t>Using Sentinel-1 &amp; Sentinel-2 for disaster response</a:t>
            </a:r>
            <a:endParaRPr sz="1100">
              <a:solidFill>
                <a:srgbClr val="4ADE80"/>
              </a:solidFill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3150">
              <a:solidFill>
                <a:schemeClr val="lt1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310" name="Google Shape;310;p26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6"/>
          <p:cNvSpPr txBox="1"/>
          <p:nvPr/>
        </p:nvSpPr>
        <p:spPr>
          <a:xfrm>
            <a:off x="-507950" y="20305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6"/>
          <p:cNvSpPr txBox="1"/>
          <p:nvPr/>
        </p:nvSpPr>
        <p:spPr>
          <a:xfrm>
            <a:off x="904875" y="3309937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26"/>
          <p:cNvSpPr txBox="1"/>
          <p:nvPr/>
        </p:nvSpPr>
        <p:spPr>
          <a:xfrm>
            <a:off x="904875" y="4814887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4" name="Google Shape;314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01800" y="3061075"/>
            <a:ext cx="6877625" cy="2933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5" name="Google Shape;315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6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17" name="Google Shape;317;p26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2" name="Google Shape;32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27647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7"/>
          <p:cNvSpPr txBox="1"/>
          <p:nvPr/>
        </p:nvSpPr>
        <p:spPr>
          <a:xfrm>
            <a:off x="762000" y="971550"/>
            <a:ext cx="11401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7"/>
          <p:cNvSpPr txBox="1"/>
          <p:nvPr/>
        </p:nvSpPr>
        <p:spPr>
          <a:xfrm>
            <a:off x="6186750" y="2071676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27"/>
          <p:cNvSpPr txBox="1"/>
          <p:nvPr/>
        </p:nvSpPr>
        <p:spPr>
          <a:xfrm>
            <a:off x="6850500" y="1507300"/>
            <a:ext cx="4587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26" name="Google Shape;326;p27"/>
          <p:cNvSpPr txBox="1"/>
          <p:nvPr/>
        </p:nvSpPr>
        <p:spPr>
          <a:xfrm>
            <a:off x="6667500" y="406241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27"/>
          <p:cNvSpPr/>
          <p:nvPr/>
        </p:nvSpPr>
        <p:spPr>
          <a:xfrm>
            <a:off x="762000" y="2155251"/>
            <a:ext cx="3247500" cy="2470800"/>
          </a:xfrm>
          <a:prstGeom prst="rect">
            <a:avLst/>
          </a:prstGeom>
          <a:solidFill>
            <a:srgbClr val="6FA8DC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lt1"/>
                </a:solidFill>
              </a:rPr>
              <a:t>             </a:t>
            </a:r>
            <a:r>
              <a:rPr b="1" lang="en-US" sz="1100">
                <a:solidFill>
                  <a:schemeClr val="dk1"/>
                </a:solidFill>
              </a:rPr>
              <a:t>       </a:t>
            </a:r>
            <a:r>
              <a:rPr b="1" lang="en-US" sz="1100">
                <a:solidFill>
                  <a:schemeClr val="dk1"/>
                </a:solidFill>
              </a:rPr>
              <a:t>Objective &amp; Approach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Test whether medium-resolution Copernicus satellite data (Sentinel-1 SAR, Sentinel-2 optical) can assess building damage during disasters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Created xBD-S12 dataset by aligning Sentinel imagery with existing damage labels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Trained multiple architectures including geospatial foundation models (Prithvi-EO-2.0, DOFA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7"/>
          <p:cNvSpPr/>
          <p:nvPr/>
        </p:nvSpPr>
        <p:spPr>
          <a:xfrm>
            <a:off x="4927200" y="2259450"/>
            <a:ext cx="3247500" cy="2339100"/>
          </a:xfrm>
          <a:prstGeom prst="rect">
            <a:avLst/>
          </a:prstGeom>
          <a:solidFill>
            <a:srgbClr val="6FA8DC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                  </a:t>
            </a:r>
            <a:r>
              <a:rPr lang="en-US" sz="1100">
                <a:solidFill>
                  <a:schemeClr val="dk1"/>
                </a:solidFill>
              </a:rPr>
              <a:t>    </a:t>
            </a:r>
            <a:r>
              <a:rPr b="1" lang="en-US" sz="1100">
                <a:solidFill>
                  <a:schemeClr val="dk1"/>
                </a:solidFill>
              </a:rPr>
              <a:t> </a:t>
            </a:r>
            <a:r>
              <a:rPr b="1" lang="en-US" sz="1100">
                <a:solidFill>
                  <a:schemeClr val="dk1"/>
                </a:solidFill>
              </a:rPr>
              <a:t>Key Methods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Corrected geolocation errors using building footprints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Compared early vs. late fusion strategies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Applied morphological buffers to handle coregistration errors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Used ensemble methods and biased sampling for class imbalance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29" name="Google Shape;329;p27"/>
          <p:cNvSpPr/>
          <p:nvPr/>
        </p:nvSpPr>
        <p:spPr>
          <a:xfrm>
            <a:off x="8680275" y="2259450"/>
            <a:ext cx="3247500" cy="2424600"/>
          </a:xfrm>
          <a:prstGeom prst="rect">
            <a:avLst/>
          </a:prstGeom>
          <a:solidFill>
            <a:srgbClr val="6FA8DC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                    </a:t>
            </a:r>
            <a:r>
              <a:rPr b="1" lang="en-US" sz="1100">
                <a:solidFill>
                  <a:schemeClr val="dk1"/>
                </a:solidFill>
              </a:rPr>
              <a:t>        </a:t>
            </a:r>
            <a:r>
              <a:rPr b="1" lang="en-US" sz="1100">
                <a:solidFill>
                  <a:schemeClr val="dk1"/>
                </a:solidFill>
              </a:rPr>
              <a:t>Results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Evaluated using F1 scores for building localization and damage classification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Tested on both random splits and geographically separated events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Validated with real-world case studies (Mexico earthquake, Palisades fire)</a:t>
            </a:r>
            <a:endParaRPr b="1" sz="1100">
              <a:solidFill>
                <a:schemeClr val="dk1"/>
              </a:solidFill>
            </a:endParaRPr>
          </a:p>
        </p:txBody>
      </p:sp>
      <p:sp>
        <p:nvSpPr>
          <p:cNvPr id="330" name="Google Shape;330;p27"/>
          <p:cNvSpPr txBox="1"/>
          <p:nvPr/>
        </p:nvSpPr>
        <p:spPr>
          <a:xfrm>
            <a:off x="3875400" y="1089050"/>
            <a:ext cx="50625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chemeClr val="dk1"/>
                </a:solidFill>
              </a:rPr>
              <a:t>              Research Overview</a:t>
            </a:r>
            <a:endParaRPr b="1" sz="2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1" name="Google Shape;33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27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33" name="Google Shape;333;p27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20617"/>
        </a:solidFill>
      </p:bgPr>
    </p:bg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8" name="Google Shape;33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2276475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8"/>
          <p:cNvSpPr txBox="1"/>
          <p:nvPr/>
        </p:nvSpPr>
        <p:spPr>
          <a:xfrm>
            <a:off x="762000" y="971550"/>
            <a:ext cx="11401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8"/>
          <p:cNvSpPr txBox="1"/>
          <p:nvPr/>
        </p:nvSpPr>
        <p:spPr>
          <a:xfrm>
            <a:off x="904875" y="25574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28"/>
          <p:cNvSpPr txBox="1"/>
          <p:nvPr/>
        </p:nvSpPr>
        <p:spPr>
          <a:xfrm>
            <a:off x="904875" y="3309937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8"/>
          <p:cNvSpPr txBox="1"/>
          <p:nvPr/>
        </p:nvSpPr>
        <p:spPr>
          <a:xfrm>
            <a:off x="904875" y="406241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28"/>
          <p:cNvSpPr txBox="1"/>
          <p:nvPr/>
        </p:nvSpPr>
        <p:spPr>
          <a:xfrm>
            <a:off x="904875" y="4814887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28"/>
          <p:cNvSpPr/>
          <p:nvPr/>
        </p:nvSpPr>
        <p:spPr>
          <a:xfrm>
            <a:off x="8660650" y="1685925"/>
            <a:ext cx="3247500" cy="2424600"/>
          </a:xfrm>
          <a:prstGeom prst="rect">
            <a:avLst/>
          </a:prstGeom>
          <a:solidFill>
            <a:srgbClr val="6FA8DC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1100">
                <a:solidFill>
                  <a:schemeClr val="dk1"/>
                </a:solidFill>
              </a:rPr>
              <a:t>              Relevance to Your Project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Validates use of pre- and post-disaster satellite comparisons for identifying damaged areas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Justifies incorporating multi-source remote sensing (optical + radar) for better disaster understanding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Supports generating rescue-oriented image-response pairs from disaster imagery</a:t>
            </a:r>
            <a:endParaRPr sz="1100">
              <a:solidFill>
                <a:schemeClr val="dk1"/>
              </a:solidFill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t/>
            </a:r>
            <a:endParaRPr b="1" sz="1100">
              <a:solidFill>
                <a:schemeClr val="lt1"/>
              </a:solidFill>
            </a:endParaRPr>
          </a:p>
        </p:txBody>
      </p:sp>
      <p:sp>
        <p:nvSpPr>
          <p:cNvPr id="345" name="Google Shape;345;p28"/>
          <p:cNvSpPr/>
          <p:nvPr/>
        </p:nvSpPr>
        <p:spPr>
          <a:xfrm>
            <a:off x="4417650" y="1685825"/>
            <a:ext cx="3247500" cy="2424600"/>
          </a:xfrm>
          <a:prstGeom prst="rect">
            <a:avLst/>
          </a:prstGeom>
          <a:solidFill>
            <a:srgbClr val="6FA8DC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                   </a:t>
            </a:r>
            <a:r>
              <a:rPr b="1" lang="en-US" sz="1100">
                <a:solidFill>
                  <a:schemeClr val="dk1"/>
                </a:solidFill>
              </a:rPr>
              <a:t>Research Gaps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Need for richer temporal information (longer Sentinel-1 time series)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Incorporation of InSAR coherence or damage-proxy maps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Further development of geospatial foundation models for fine-grained damage mapping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</a:t>
            </a:r>
            <a:endParaRPr b="1" sz="1100">
              <a:solidFill>
                <a:schemeClr val="lt1"/>
              </a:solidFill>
            </a:endParaRPr>
          </a:p>
        </p:txBody>
      </p:sp>
      <p:sp>
        <p:nvSpPr>
          <p:cNvPr id="346" name="Google Shape;346;p28"/>
          <p:cNvSpPr/>
          <p:nvPr/>
        </p:nvSpPr>
        <p:spPr>
          <a:xfrm>
            <a:off x="571500" y="1609475"/>
            <a:ext cx="3247500" cy="2424600"/>
          </a:xfrm>
          <a:prstGeom prst="rect">
            <a:avLst/>
          </a:prstGeom>
          <a:solidFill>
            <a:srgbClr val="6FA8DC"/>
          </a:solidFill>
          <a:ln cap="flat" cmpd="sng" w="952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chemeClr val="lt1"/>
                </a:solidFill>
              </a:rPr>
              <a:t>                   </a:t>
            </a:r>
            <a:r>
              <a:rPr b="1" lang="en-US" sz="1100">
                <a:solidFill>
                  <a:schemeClr val="dk1"/>
                </a:solidFill>
              </a:rPr>
              <a:t>Current Limitations</a:t>
            </a:r>
            <a:endParaRPr b="1"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Cannot detect sparse, low-intensity damage in dense urban areas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Building localization remains weak at 10 m GSD</a:t>
            </a:r>
            <a:endParaRPr sz="1100"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>
                <a:solidFill>
                  <a:schemeClr val="dk1"/>
                </a:solidFill>
              </a:rPr>
              <a:t>No quantitative ground truth for real-world validation</a:t>
            </a:r>
            <a:endParaRPr sz="11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t/>
            </a:r>
            <a:endParaRPr b="1" sz="1100">
              <a:solidFill>
                <a:schemeClr val="lt1"/>
              </a:solidFill>
            </a:endParaRPr>
          </a:p>
        </p:txBody>
      </p:sp>
      <p:pic>
        <p:nvPicPr>
          <p:cNvPr descr="image.png" id="347" name="Google Shape;347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28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49" name="Google Shape;349;p28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9"/>
          <p:cNvSpPr txBox="1"/>
          <p:nvPr/>
        </p:nvSpPr>
        <p:spPr>
          <a:xfrm>
            <a:off x="859350" y="1036425"/>
            <a:ext cx="74253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FF00"/>
                </a:solidFill>
              </a:rPr>
              <a:t>Integrating Large Vision-Language Models for Post-Disaster Damage Assessment</a:t>
            </a:r>
            <a:endParaRPr sz="24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6AA84F"/>
                </a:solidFill>
              </a:rPr>
              <a:t>Chen et al., 2026 — DisasTeller: A Multi-Agent LVLM Framework | Nature Communications</a:t>
            </a:r>
            <a:endParaRPr sz="24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6AA84F"/>
                </a:solidFill>
              </a:rPr>
              <a:t>Related Work — how autonomous LVLM agents are reshaping emergency response</a:t>
            </a:r>
            <a:endParaRPr sz="24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2"/>
              </a:solidFill>
            </a:endParaRPr>
          </a:p>
        </p:txBody>
      </p:sp>
      <p:sp>
        <p:nvSpPr>
          <p:cNvPr id="355" name="Google Shape;355;p29"/>
          <p:cNvSpPr txBox="1"/>
          <p:nvPr/>
        </p:nvSpPr>
        <p:spPr>
          <a:xfrm>
            <a:off x="3380025" y="5870550"/>
            <a:ext cx="6187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100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 sz="11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2"/>
              </a:solidFill>
            </a:endParaRPr>
          </a:p>
        </p:txBody>
      </p:sp>
      <p:sp>
        <p:nvSpPr>
          <p:cNvPr id="356" name="Google Shape;356;p29"/>
          <p:cNvSpPr txBox="1"/>
          <p:nvPr/>
        </p:nvSpPr>
        <p:spPr>
          <a:xfrm>
            <a:off x="1098300" y="5870550"/>
            <a:ext cx="1044300" cy="37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FF00"/>
                </a:solidFill>
              </a:rPr>
              <a:t>Group 5</a:t>
            </a:r>
            <a:endParaRPr sz="240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1" name="Google Shape;361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05525"/>
            <a:ext cx="259080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30"/>
          <p:cNvSpPr txBox="1"/>
          <p:nvPr/>
        </p:nvSpPr>
        <p:spPr>
          <a:xfrm>
            <a:off x="571450" y="983675"/>
            <a:ext cx="4000500" cy="46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The Paper &amp; Its Contribution </a:t>
            </a:r>
            <a:endParaRPr sz="1800">
              <a:solidFill>
                <a:srgbClr val="00FF00"/>
              </a:solidFill>
              <a:latin typeface="Urbanist SemiBold"/>
              <a:ea typeface="Urbanist SemiBold"/>
              <a:cs typeface="Urbanist SemiBold"/>
              <a:sym typeface="Urbanist SemiBold"/>
            </a:endParaRPr>
          </a:p>
        </p:txBody>
      </p:sp>
      <p:sp>
        <p:nvSpPr>
          <p:cNvPr id="363" name="Google Shape;363;p30"/>
          <p:cNvSpPr txBox="1"/>
          <p:nvPr/>
        </p:nvSpPr>
        <p:spPr>
          <a:xfrm flipH="1">
            <a:off x="571450" y="1577850"/>
            <a:ext cx="11049000" cy="4531200"/>
          </a:xfrm>
          <a:prstGeom prst="rect">
            <a:avLst/>
          </a:prstGeom>
          <a:noFill/>
          <a:ln cap="flat" cmpd="sng" w="19050">
            <a:solidFill>
              <a:srgbClr val="93C47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0FF00"/>
                </a:solidFill>
              </a:rPr>
              <a:t>Objective:</a:t>
            </a:r>
            <a:endParaRPr b="1">
              <a:solidFill>
                <a:srgbClr val="00FF00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AA84F"/>
                </a:solidFill>
              </a:rPr>
              <a:t>I</a:t>
            </a:r>
            <a:r>
              <a:rPr b="1" lang="en-US" sz="1800">
                <a:solidFill>
                  <a:srgbClr val="6AA84F"/>
                </a:solidFill>
              </a:rPr>
              <a:t>ntroduce a multi-LVLM-powered framework that automates post-disaster management — on-site assessment, emergency alerts, resource allocation, and recovery planning.</a:t>
            </a:r>
            <a:endParaRPr b="1" sz="1800">
              <a:solidFill>
                <a:srgbClr val="6AA84F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0FF00"/>
                </a:solidFill>
              </a:rPr>
              <a:t>Core Idea:</a:t>
            </a:r>
            <a:endParaRPr b="1">
              <a:solidFill>
                <a:srgbClr val="00FF00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6AA84F"/>
                </a:solidFill>
              </a:rPr>
              <a:t>Four specialised LVLM agents (Expert, Alerts, Emergency, Assignment) — coordinated with GPT-4o as core — simulate real disaster-response teamwork.</a:t>
            </a:r>
            <a:endParaRPr b="1" sz="1800">
              <a:solidFill>
                <a:srgbClr val="6AA84F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00FF00"/>
                </a:solidFill>
              </a:rPr>
              <a:t>4  Agents:</a:t>
            </a:r>
            <a:endParaRPr b="1">
              <a:solidFill>
                <a:srgbClr val="00FF00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AA84F"/>
                </a:solidFill>
              </a:rPr>
              <a:t>- </a:t>
            </a:r>
            <a:r>
              <a:rPr b="1" lang="en-US" sz="1800">
                <a:solidFill>
                  <a:srgbClr val="6AA84F"/>
                </a:solidFill>
              </a:rPr>
              <a:t>Expert Team – On-site damage grading</a:t>
            </a:r>
            <a:endParaRPr b="1" sz="1800">
              <a:solidFill>
                <a:srgbClr val="6AA84F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6AA84F"/>
                </a:solidFill>
              </a:rPr>
              <a:t>- Alerts Team – Danger-zone alerts</a:t>
            </a:r>
            <a:endParaRPr b="1" sz="1800">
              <a:solidFill>
                <a:srgbClr val="6AA84F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6AA84F"/>
                </a:solidFill>
              </a:rPr>
              <a:t>- Emergency Team – Shelters &amp; recovery</a:t>
            </a:r>
            <a:endParaRPr b="1" sz="1800">
              <a:solidFill>
                <a:srgbClr val="6AA84F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6AA84F"/>
                </a:solidFill>
              </a:rPr>
              <a:t>- Assignment Team – Resource allocation</a:t>
            </a:r>
            <a:endParaRPr b="1" sz="1800">
              <a:solidFill>
                <a:srgbClr val="6AA84F"/>
              </a:solidFill>
            </a:endParaRPr>
          </a:p>
          <a:p>
            <a:pPr indent="0" lvl="0" marL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solidFill>
                <a:srgbClr val="6AA84F"/>
              </a:solidFill>
            </a:endParaRPr>
          </a:p>
        </p:txBody>
      </p:sp>
      <p:pic>
        <p:nvPicPr>
          <p:cNvPr descr="image.png" id="364" name="Google Shape;364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65" name="Google Shape;365;p30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0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>
              <a:solidFill>
                <a:srgbClr val="00FF00"/>
              </a:solidFill>
            </a:endParaRPr>
          </a:p>
        </p:txBody>
      </p:sp>
      <p:sp>
        <p:nvSpPr>
          <p:cNvPr id="366" name="Google Shape;366;p30"/>
          <p:cNvSpPr txBox="1"/>
          <p:nvPr/>
        </p:nvSpPr>
        <p:spPr>
          <a:xfrm>
            <a:off x="5063350" y="6410313"/>
            <a:ext cx="70485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</a:t>
            </a:r>
            <a:r>
              <a:rPr b="0" i="0" lang="en-US" sz="1100" u="none" cap="none" strike="noStrike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Alam</a:t>
            </a:r>
            <a:endParaRPr sz="110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31"/>
          <p:cNvSpPr txBox="1"/>
          <p:nvPr/>
        </p:nvSpPr>
        <p:spPr>
          <a:xfrm>
            <a:off x="904875" y="25574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372" name="Google Shape;372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p31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94A3B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/>
          </a:p>
        </p:txBody>
      </p:sp>
      <p:sp>
        <p:nvSpPr>
          <p:cNvPr id="374" name="Google Shape;374;p31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/>
          </a:p>
        </p:txBody>
      </p:sp>
      <p:pic>
        <p:nvPicPr>
          <p:cNvPr descr="image.png" id="375" name="Google Shape;375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24025" y="257100"/>
            <a:ext cx="259080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31"/>
          <p:cNvSpPr txBox="1"/>
          <p:nvPr/>
        </p:nvSpPr>
        <p:spPr>
          <a:xfrm>
            <a:off x="904875" y="2557462"/>
            <a:ext cx="4953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377" name="Google Shape;37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1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>
              <a:solidFill>
                <a:srgbClr val="00FF00"/>
              </a:solidFill>
            </a:endParaRPr>
          </a:p>
        </p:txBody>
      </p:sp>
      <p:sp>
        <p:nvSpPr>
          <p:cNvPr id="379" name="Google Shape;379;p31"/>
          <p:cNvSpPr txBox="1"/>
          <p:nvPr/>
        </p:nvSpPr>
        <p:spPr>
          <a:xfrm>
            <a:off x="1196325" y="1711050"/>
            <a:ext cx="62289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No GIS Integration — spatial logic not linked to systems like QGIS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Ungrounded Web Retrieval — depends fully on open web search, no curated knowledge base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No Structured Validation — no formal ground-truth benchmark, only human-in-the-loop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Limited to Zero-Shot Reasoning — no fine-tuning explored for disaster-specific tasks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AA84F"/>
              </a:solidFill>
            </a:endParaRPr>
          </a:p>
        </p:txBody>
      </p:sp>
      <p:sp>
        <p:nvSpPr>
          <p:cNvPr id="380" name="Google Shape;380;p31"/>
          <p:cNvSpPr txBox="1"/>
          <p:nvPr/>
        </p:nvSpPr>
        <p:spPr>
          <a:xfrm>
            <a:off x="1196325" y="783100"/>
            <a:ext cx="4370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00FF00"/>
                </a:solidFill>
              </a:rPr>
              <a:t>Research Gap:</a:t>
            </a:r>
            <a:endParaRPr sz="240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1A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85" name="Google Shape;385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2062162"/>
            <a:ext cx="5286375" cy="4000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6" name="Google Shape;386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6250"/>
            <a:ext cx="2590800" cy="352425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32"/>
          <p:cNvSpPr txBox="1"/>
          <p:nvPr/>
        </p:nvSpPr>
        <p:spPr>
          <a:xfrm>
            <a:off x="762000" y="971550"/>
            <a:ext cx="11401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>
                <a:solidFill>
                  <a:srgbClr val="4ADE8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Relevance to Our Project </a:t>
            </a:r>
            <a:endParaRPr/>
          </a:p>
        </p:txBody>
      </p:sp>
      <p:sp>
        <p:nvSpPr>
          <p:cNvPr id="388" name="Google Shape;388;p32"/>
          <p:cNvSpPr/>
          <p:nvPr/>
        </p:nvSpPr>
        <p:spPr>
          <a:xfrm>
            <a:off x="571500" y="971550"/>
            <a:ext cx="57150" cy="485775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89" name="Google Shape;389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2071687"/>
            <a:ext cx="5267325" cy="398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90" name="Google Shape;390;p32"/>
          <p:cNvSpPr txBox="1"/>
          <p:nvPr/>
        </p:nvSpPr>
        <p:spPr>
          <a:xfrm>
            <a:off x="6783225" y="1645475"/>
            <a:ext cx="4837200" cy="461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DisasTeller shows LVLMs can ingest multi-source disaster imagery (local + map view) and output actionable reports without full fine-tuning.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DisasTeller: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Zero-shot, prompt-based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Crisis image dataset (ASONAM 17)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RAG grounded in open web search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No GIS-linked spatial reasoning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Our Project: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Multi-agent LVLM ingestion of local + map-view images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Zero-shot &amp; Chain-of-Thought prompting with RAG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Extends toward rescue-oriented reporting</a:t>
            </a:r>
            <a:endParaRPr sz="1800">
              <a:solidFill>
                <a:srgbClr val="6AA84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6AA84F"/>
                </a:solidFill>
              </a:rPr>
              <a:t>- Targets the spatial-reasoning gap DisasTeller leaves open</a:t>
            </a:r>
            <a:endParaRPr sz="1500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CBD5E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pic>
        <p:nvPicPr>
          <p:cNvPr descr="image.png" id="391" name="Google Shape;391;p3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6257925"/>
            <a:ext cx="11049000" cy="314325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32"/>
          <p:cNvSpPr txBox="1"/>
          <p:nvPr/>
        </p:nvSpPr>
        <p:spPr>
          <a:xfrm>
            <a:off x="571500" y="6410325"/>
            <a:ext cx="485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0FF00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Group 5</a:t>
            </a:r>
            <a:endParaRPr>
              <a:solidFill>
                <a:srgbClr val="00FF00"/>
              </a:solidFill>
            </a:endParaRPr>
          </a:p>
        </p:txBody>
      </p:sp>
      <p:sp>
        <p:nvSpPr>
          <p:cNvPr id="393" name="Google Shape;393;p32"/>
          <p:cNvSpPr txBox="1"/>
          <p:nvPr/>
        </p:nvSpPr>
        <p:spPr>
          <a:xfrm>
            <a:off x="5114925" y="6410438"/>
            <a:ext cx="70485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0FF00"/>
                </a:solidFill>
                <a:latin typeface="Urbanist"/>
                <a:ea typeface="Urbanist"/>
                <a:cs typeface="Urbanist"/>
                <a:sym typeface="Urbanist"/>
              </a:rPr>
              <a:t>Abdullah Al Noman · Tamanna Akter Mou · Aryan Sami · Ridita Afrin Riya · Abrar Mohammed Tanzim Alam</a:t>
            </a:r>
            <a:endParaRPr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