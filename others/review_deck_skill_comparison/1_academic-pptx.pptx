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IoU</c:v>
                </c:pt>
              </c:strCache>
            </c:strRef>
          </c:tx>
          <c:spPr>
            <a:solidFill>
              <a:srgbClr val="2E75B6"/>
            </a:solidFill>
            <a:effectLst/>
          </c:spPr>
          <c:invertIfNegative val="0"/>
          <c:dLbls>
            <c:numFmt formatCode="0.0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dPt>
            <c:idx val="0"/>
            <c:invertIfNegative val="0"/>
            <c:bubble3D val="0"/>
            <c:spPr>
              <a:solidFill>
                <a:srgbClr val="2E75B6"/>
              </a:solidFill>
              <a:effectLst/>
            </c:spPr>
          </c:dPt>
          <c:dPt>
            <c:idx val="1"/>
            <c:invertIfNegative val="0"/>
            <c:bubble3D val="0"/>
            <c:spPr>
              <a:solidFill>
                <a:srgbClr val="2E75B6"/>
              </a:solidFill>
              <a:effectLst/>
            </c:spPr>
          </c:dPt>
          <c:dPt>
            <c:idx val="2"/>
            <c:invertIfNegative val="0"/>
            <c:bubble3D val="0"/>
            <c:spPr>
              <a:solidFill>
                <a:srgbClr val="2E75B6"/>
              </a:solidFill>
              <a:effectLst/>
            </c:spPr>
          </c:dPt>
          <c:dPt>
            <c:idx val="3"/>
            <c:invertIfNegative val="0"/>
            <c:bubble3D val="0"/>
            <c:spPr>
              <a:solidFill>
                <a:srgbClr val="C55A11"/>
              </a:solidFill>
              <a:effectLst/>
            </c:spPr>
          </c:dPt>
          <c:cat>
            <c:multiLvlStrRef>
              <c:f>Sheet1!$A$2:$A$5</c:f>
              <c:multiLvlStrCache>
                <c:ptCount val="4"/>
                <c:lvl>
                  <c:pt idx="0">
                    <c:v>Background</c:v>
                  </c:pt>
                  <c:pt idx="1">
                    <c:v>Intact</c:v>
                  </c:pt>
                  <c:pt idx="2">
                    <c:v>Damaged</c:v>
                  </c:pt>
                  <c:pt idx="3">
                    <c:v>Destroyed</c:v>
                  </c:pt>
                </c:lvl>
              </c:multiLvlStrCache>
            </c:multiLvlStrRef>
          </c:cat>
          <c:val>
            <c:numRef>
              <c:f>Sheet1!$B$2:$B$5</c:f>
              <c:numCache>
                <c:formatCode>General</c:formatCode>
                <c:ptCount val="4"/>
                <c:pt idx="0">
                  <c:v>0.9255</c:v>
                </c:pt>
                <c:pt idx="1">
                  <c:v>0.4926</c:v>
                </c:pt>
                <c:pt idx="2">
                  <c:v>0.2636</c:v>
                </c:pt>
                <c:pt idx="3">
                  <c:v>0.1658</c:v>
                </c:pt>
              </c:numCache>
            </c:numRef>
          </c:val>
        </c:ser>
        <c:dLbls>
          <c:numFmt formatCode="0.0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D2D2D"/>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2E8F0"/>
              </a:solidFill>
              <a:prstDash val="solid"/>
              <a:round/>
            </a:ln>
          </c:spPr>
        </c:majorGridlines>
        <c:title>
          <c:tx>
            <c:rich>
              <a:bodyPr/>
              <a:lstStyle/>
              <a:p>
                <a:pPr>
                  <a:defRPr sz="1100" b="0" i="0" u="none" strike="noStrike">
                    <a:solidFill>
                      <a:srgbClr val="666666"/>
                    </a:solidFill>
                    <a:latin typeface="Arial"/>
                  </a:defRPr>
                </a:pPr>
                <a:r>
                  <a:rPr sz="1100" b="0" i="0" u="none" strike="noStrike">
                    <a:solidFill>
                      <a:srgbClr val="666666"/>
                    </a:solidFill>
                    <a:latin typeface="Arial"/>
                  </a:rPr>
                  <a:t>Baseline U-Net IoU (645 val images)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mIoU</c:v>
                </c:pt>
              </c:strCache>
            </c:strRef>
          </c:tx>
          <c:spPr>
            <a:solidFill>
              <a:srgbClr val="1F4E79"/>
            </a:solidFill>
            <a:effectLst/>
          </c:spPr>
          <c:invertIfNegative val="0"/>
          <c:dLbls>
            <c:numFmt formatCode="0.0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cat>
            <c:multiLvlStrRef>
              <c:f>Sheet1!$A$2:$A$4</c:f>
              <c:multiLvlStrCache>
                <c:ptCount val="3"/>
                <c:lvl>
                  <c:pt idx="0">
                    <c:v>Uniform shuffle</c:v>
                  </c:pt>
                  <c:pt idx="1">
                    <c:v>Weighted sampler</c:v>
                  </c:pt>
                  <c:pt idx="2">
                    <c:v>Copy-paste, leak-free</c:v>
                  </c:pt>
                </c:lvl>
              </c:multiLvlStrCache>
            </c:multiLvlStrRef>
          </c:cat>
          <c:val>
            <c:numRef>
              <c:f>Sheet1!$B$2:$B$4</c:f>
              <c:numCache>
                <c:formatCode>General</c:formatCode>
                <c:ptCount val="3"/>
                <c:pt idx="0">
                  <c:v>0.3978</c:v>
                </c:pt>
                <c:pt idx="1">
                  <c:v>0.4051</c:v>
                </c:pt>
                <c:pt idx="2">
                  <c:v>0.4017</c:v>
                </c:pt>
              </c:numCache>
            </c:numRef>
          </c:val>
        </c:ser>
        <c:ser>
          <c:idx val="1"/>
          <c:order val="1"/>
          <c:tx>
            <c:strRef>
              <c:f>Sheet1!$C$1</c:f>
              <c:strCache>
                <c:ptCount val="1"/>
                <c:pt idx="0">
                  <c:v>Destroyed IoU</c:v>
                </c:pt>
              </c:strCache>
            </c:strRef>
          </c:tx>
          <c:spPr>
            <a:solidFill>
              <a:srgbClr val="C55A11"/>
            </a:solidFill>
            <a:effectLst/>
          </c:spPr>
          <c:invertIfNegative val="0"/>
          <c:dLbls>
            <c:numFmt formatCode="0.0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cat>
            <c:multiLvlStrRef>
              <c:f>Sheet1!$A$2:$A$4</c:f>
              <c:multiLvlStrCache>
                <c:ptCount val="3"/>
                <c:lvl>
                  <c:pt idx="0">
                    <c:v>Uniform shuffle</c:v>
                  </c:pt>
                  <c:pt idx="1">
                    <c:v>Weighted sampler</c:v>
                  </c:pt>
                  <c:pt idx="2">
                    <c:v>Copy-paste, leak-free</c:v>
                  </c:pt>
                </c:lvl>
              </c:multiLvlStrCache>
            </c:multiLvlStrRef>
          </c:cat>
          <c:val>
            <c:numRef>
              <c:f>Sheet1!$C$2:$C$4</c:f>
              <c:numCache>
                <c:formatCode>General</c:formatCode>
                <c:ptCount val="3"/>
                <c:pt idx="0">
                  <c:v>0.0898</c:v>
                </c:pt>
                <c:pt idx="1">
                  <c:v>0.1017</c:v>
                </c:pt>
                <c:pt idx="2">
                  <c:v>0.0949</c:v>
                </c:pt>
              </c:numCache>
            </c:numRef>
          </c:val>
        </c:ser>
        <c:dLbls>
          <c:numFmt formatCode="0.0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D2D2D"/>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mIoU</c:v>
                </c:pt>
              </c:strCache>
            </c:strRef>
          </c:tx>
          <c:spPr>
            <a:solidFill>
              <a:srgbClr val="1F4E79"/>
            </a:solidFill>
            <a:effectLst/>
          </c:spPr>
          <c:invertIfNegative val="0"/>
          <c:dLbls>
            <c:numFmt formatCode="0.0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cat>
            <c:multiLvlStrRef>
              <c:f>Sheet1!$A$2:$A$4</c:f>
              <c:multiLvlStrCache>
                <c:ptCount val="3"/>
                <c:lvl>
                  <c:pt idx="0">
                    <c:v>Random crop 512</c:v>
                  </c:pt>
                  <c:pt idx="1">
                    <c:v>Random crop 768</c:v>
                  </c:pt>
                  <c:pt idx="2">
                    <c:v>768 + 8-view TTA</c:v>
                  </c:pt>
                </c:lvl>
              </c:multiLvlStrCache>
            </c:multiLvlStrRef>
          </c:cat>
          <c:val>
            <c:numRef>
              <c:f>Sheet1!$B$2:$B$4</c:f>
              <c:numCache>
                <c:formatCode>General</c:formatCode>
                <c:ptCount val="3"/>
                <c:pt idx="0">
                  <c:v>0.4452</c:v>
                </c:pt>
                <c:pt idx="1">
                  <c:v>0.4757</c:v>
                </c:pt>
                <c:pt idx="2">
                  <c:v>0.4902</c:v>
                </c:pt>
              </c:numCache>
            </c:numRef>
          </c:val>
        </c:ser>
        <c:ser>
          <c:idx val="1"/>
          <c:order val="1"/>
          <c:tx>
            <c:strRef>
              <c:f>Sheet1!$C$1</c:f>
              <c:strCache>
                <c:ptCount val="1"/>
                <c:pt idx="0">
                  <c:v>Destroyed IoU</c:v>
                </c:pt>
              </c:strCache>
            </c:strRef>
          </c:tx>
          <c:spPr>
            <a:solidFill>
              <a:srgbClr val="C55A11"/>
            </a:solidFill>
            <a:effectLst/>
          </c:spPr>
          <c:invertIfNegative val="0"/>
          <c:dLbls>
            <c:numFmt formatCode="0.0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cat>
            <c:multiLvlStrRef>
              <c:f>Sheet1!$A$2:$A$4</c:f>
              <c:multiLvlStrCache>
                <c:ptCount val="3"/>
                <c:lvl>
                  <c:pt idx="0">
                    <c:v>Random crop 512</c:v>
                  </c:pt>
                  <c:pt idx="1">
                    <c:v>Random crop 768</c:v>
                  </c:pt>
                  <c:pt idx="2">
                    <c:v>768 + 8-view TTA</c:v>
                  </c:pt>
                </c:lvl>
              </c:multiLvlStrCache>
            </c:multiLvlStrRef>
          </c:cat>
          <c:val>
            <c:numRef>
              <c:f>Sheet1!$C$2:$C$4</c:f>
              <c:numCache>
                <c:formatCode>General</c:formatCode>
                <c:ptCount val="3"/>
                <c:pt idx="0">
                  <c:v>0.107</c:v>
                </c:pt>
                <c:pt idx="1">
                  <c:v>0.1768</c:v>
                </c:pt>
                <c:pt idx="2">
                  <c:v>0.1953</c:v>
                </c:pt>
              </c:numCache>
            </c:numRef>
          </c:val>
        </c:ser>
        <c:dLbls>
          <c:numFmt formatCode="0.000" sourceLinked="0"/>
          <c:txPr>
            <a:bodyPr/>
            <a:lstStyle/>
            <a:p>
              <a:pPr>
                <a:defRPr b="0" i="0" strike="noStrike" sz="1100" u="none">
                  <a:solidFill>
                    <a:srgbClr val="2D2D2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D2D2D"/>
                </a:solidFill>
                <a:latin typeface="Arial"/>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mIoU</c:v>
                </c:pt>
              </c:strCache>
            </c:strRef>
          </c:tx>
          <c:spPr>
            <a:solidFill>
              <a:srgbClr val="1F4E79"/>
            </a:solidFill>
            <a:effectLst/>
          </c:spPr>
          <c:invertIfNegative val="0"/>
          <c:dLbls>
            <c:numFmt formatCode="0.000" sourceLinked="0"/>
            <c:txPr>
              <a:bodyPr/>
              <a:lstStyle/>
              <a:p>
                <a:pPr>
                  <a:defRPr b="0" i="0" strike="noStrike" sz="900" u="none">
                    <a:solidFill>
                      <a:srgbClr val="2D2D2D"/>
                    </a:solidFill>
                    <a:latin typeface="Arial"/>
                  </a:defRPr>
                </a:pPr>
              </a:p>
            </c:txPr>
            <c:showLegendKey val="0"/>
            <c:showVal val="1"/>
            <c:showCatName val="0"/>
            <c:showSerName val="0"/>
            <c:showPercent val="0"/>
            <c:showBubbleSize val="0"/>
            <c:showLeaderLines val="0"/>
          </c:dLbls>
          <c:cat>
            <c:multiLvlStrRef>
              <c:f>Sheet1!$A$2:$A$7</c:f>
              <c:multiLvlStrCache>
                <c:ptCount val="6"/>
                <c:lvl>
                  <c:pt idx="0">
                    <c:v>B1 U-Net</c:v>
                  </c:pt>
                  <c:pt idx="1">
                    <c:v>B2 U-Net++</c:v>
                  </c:pt>
                  <c:pt idx="2">
                    <c:v>B4 DeepLabV3+</c:v>
                  </c:pt>
                  <c:pt idx="3">
                    <c:v>C2 Focal Tversky</c:v>
                  </c:pt>
                  <c:pt idx="4">
                    <c:v>C4 + Lovász</c:v>
                  </c:pt>
                  <c:pt idx="5">
                    <c:v>C5 + ResNet-50</c:v>
                  </c:pt>
                </c:lvl>
              </c:multiLvlStrCache>
            </c:multiLvlStrRef>
          </c:cat>
          <c:val>
            <c:numRef>
              <c:f>Sheet1!$B$2:$B$7</c:f>
              <c:numCache>
                <c:formatCode>General</c:formatCode>
                <c:ptCount val="6"/>
                <c:pt idx="0">
                  <c:v>0.4619</c:v>
                </c:pt>
                <c:pt idx="1">
                  <c:v>0.4405</c:v>
                </c:pt>
                <c:pt idx="2">
                  <c:v>0.4052</c:v>
                </c:pt>
                <c:pt idx="3">
                  <c:v>0.5181</c:v>
                </c:pt>
                <c:pt idx="4">
                  <c:v>0.5233</c:v>
                </c:pt>
                <c:pt idx="5">
                  <c:v>0.5296</c:v>
                </c:pt>
              </c:numCache>
            </c:numRef>
          </c:val>
        </c:ser>
        <c:ser>
          <c:idx val="1"/>
          <c:order val="1"/>
          <c:tx>
            <c:strRef>
              <c:f>Sheet1!$C$1</c:f>
              <c:strCache>
                <c:ptCount val="1"/>
                <c:pt idx="0">
                  <c:v>Destroyed IoU</c:v>
                </c:pt>
              </c:strCache>
            </c:strRef>
          </c:tx>
          <c:spPr>
            <a:solidFill>
              <a:srgbClr val="C55A11"/>
            </a:solidFill>
            <a:effectLst/>
          </c:spPr>
          <c:invertIfNegative val="0"/>
          <c:dLbls>
            <c:numFmt formatCode="0.000" sourceLinked="0"/>
            <c:txPr>
              <a:bodyPr/>
              <a:lstStyle/>
              <a:p>
                <a:pPr>
                  <a:defRPr b="0" i="0" strike="noStrike" sz="900" u="none">
                    <a:solidFill>
                      <a:srgbClr val="2D2D2D"/>
                    </a:solidFill>
                    <a:latin typeface="Arial"/>
                  </a:defRPr>
                </a:pPr>
              </a:p>
            </c:txPr>
            <c:showLegendKey val="0"/>
            <c:showVal val="1"/>
            <c:showCatName val="0"/>
            <c:showSerName val="0"/>
            <c:showPercent val="0"/>
            <c:showBubbleSize val="0"/>
            <c:showLeaderLines val="0"/>
          </c:dLbls>
          <c:cat>
            <c:multiLvlStrRef>
              <c:f>Sheet1!$A$2:$A$7</c:f>
              <c:multiLvlStrCache>
                <c:ptCount val="6"/>
                <c:lvl>
                  <c:pt idx="0">
                    <c:v>B1 U-Net</c:v>
                  </c:pt>
                  <c:pt idx="1">
                    <c:v>B2 U-Net++</c:v>
                  </c:pt>
                  <c:pt idx="2">
                    <c:v>B4 DeepLabV3+</c:v>
                  </c:pt>
                  <c:pt idx="3">
                    <c:v>C2 Focal Tversky</c:v>
                  </c:pt>
                  <c:pt idx="4">
                    <c:v>C4 + Lovász</c:v>
                  </c:pt>
                  <c:pt idx="5">
                    <c:v>C5 + ResNet-50</c:v>
                  </c:pt>
                </c:lvl>
              </c:multiLvlStrCache>
            </c:multiLvlStrRef>
          </c:cat>
          <c:val>
            <c:numRef>
              <c:f>Sheet1!$C$2:$C$7</c:f>
              <c:numCache>
                <c:formatCode>General</c:formatCode>
                <c:ptCount val="6"/>
                <c:pt idx="0">
                  <c:v>0.1658</c:v>
                </c:pt>
                <c:pt idx="1">
                  <c:v>0.1307</c:v>
                </c:pt>
                <c:pt idx="2">
                  <c:v>0.0923</c:v>
                </c:pt>
                <c:pt idx="3">
                  <c:v>0.2568</c:v>
                </c:pt>
                <c:pt idx="4">
                  <c:v>0.2722</c:v>
                </c:pt>
                <c:pt idx="5">
                  <c:v>0.279</c:v>
                </c:pt>
              </c:numCache>
            </c:numRef>
          </c:val>
        </c:ser>
        <c:dLbls>
          <c:numFmt formatCode="0.000" sourceLinked="0"/>
          <c:txPr>
            <a:bodyPr/>
            <a:lstStyle/>
            <a:p>
              <a:pPr>
                <a:defRPr b="0" i="0" strike="noStrike" sz="900" u="none">
                  <a:solidFill>
                    <a:srgbClr val="2D2D2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D2D2D"/>
                </a:solidFill>
                <a:latin typeface="Arial"/>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project. In CSE499A we reproduced the DisasterM3 benchmark on free hardware and built a hybrid pipeline in which a U-Net counts buildings and a fine-tuned vision-language model reasons about the scene. This review covers a short recap of 499A, the segmentation ablation sprint run in 499B so far, and the future work: the champion-model runs (R1 to R8 and E0) and the roadmap carried over from the 499A final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Describing a disaster scene is no longer the hard part; giving responders building-level locations and counts they can trust, offline, on small GPUs is. 499A exposed both halves: the fine-tuned VLM alone became worse at counting than the untuned model, and our U-Net flagged destroyed buildings with many false alarms (Destroyed precision 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Follows the four-phase architecture figure in the 499A final report. We reproduced the DisasterM3 (NeurIPS 2025) fine-tuning recipe on a single free T4 using QLoRA, then merged and evaluated the model with vLLM. The hybrid phase routes counting questions to a U-Net and gives the VLM zoomed collages for spatial questions. Supporting modules: DisasTeller (Ridita), DisasterVQA evaluation (Abrar and Tamanna), VRT study (Noman).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499A results, all from the final report. Fine-tuning helped the classification tasks (largest gain: Bearing Body Recognition, +11.69 points from a near-random 4.7%) but hurt counting, because the 512-token image cap hides small structures. The DisasterVQA result shows the model generalises to a different benchmark. The segmentation baseline is the weak link that 499B starts from: Destroyed IoU 0.1658. Total compute cost was $0, on one free 16 GB T4 instead of the paper's 4× H100 (320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gaps come straight from the 499A limitations section. Gap 1 is Deviation D4, the resolution cap. Gap 2 is the extreme class imbalance. Gap 3 matters because disaster zones often have no network. Gap 4 is why the 499A roadmap includes 7B-to-3B distillation. We start with gap 2, because counts, collages and heatmaps all depend on the segmentation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objective per gap, each with a measurable key result. KR1 reuses the Phase Gate from our sprint plan. KR2's bar is the untuned base model's 34.2% on building counting, which the fine-tuned VLM alone fell below in 499A. O3 and O4 come from the 499A future-work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sprint ran in September from the plan in Essential_task_delegation/team_task_assignments.md. Starting point: U-Net with ResNet-34, CE + Dice loss, images resized to 512. The golden rule was one variable per experiment, so a gain can be traced to its cause. Each member owned one track on their own Kaggle account; the 40-epoch runs took about 2 to 8 GPU-hours each. Afterwards every number was checked against the saved notebook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notebook-verified. Track A ran 10-epoch screens, so its numbers are lower across the board. The summary CSV's copy-paste score (0.4077) came from a run whose cut-out bank included validation images; the leak-free run gave 0.4017, roughly neutral. It also had a scale bug: cut-outs taken at 1024 were pasted onto images resized to 512.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D: 768 crops keep small rubble that 512 crops lose. TTA (8 views) added 0.004 to 0.015 mIoU with no retraining. These scores came from random crops, so they are not comparable with tracks B and C; the D4 notebook now scores whole native images. The sliding-window run actually ran on 768 crops, not native 1024, and changed nothing (-0.0005), so it is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bar on this chart was scored the same way (resized 512 images), so these rows can be compared. Phasing in Lovász-Softmax for the last 8 epochs added about +0.003, and the ResNet-50 encoder about +0.006 more. Decoder changes did not help under CE + Dice, but those runs also used a higher learning rate and a smaller batch, so R4 re-tests U-Net++ fairly. MA-Net collapsed to all-background. C5 clears the mIoU half of the Phase Gate but not the Destroyed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plan was to stack each track's winner on day 9. Before doing that, we audited every result. The left column explains why the old numbers cannot simply be stacked; the right column is the fix, built into Essential_task_delegation/Champion_Task/D4_champion_model.ipynb. Using the last epoch instead of the best validation epoch removes an optimistic bias, and the repeated-seed run tells us how big a difference has to be before we believe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are mIoU / Destroyed IoU, standard evaluation without TTA. E0 re-scores the old sprint checkpoints and reproduced B1 exactly, so old and new numbers share one scale. R1 is the sprint's best recipe trained on native 768 crops; every other run is judged against it. R6 repeats R1 with seed 7: gains below the R1–R6 difference are chance, as several sprint gains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to R5 and R8 each test an idea the sprint left unproven. R7, the champion, keeps each change whose mIoU beats R1 by more than 0.0028 without lowering Destroyed IoU, then adds 8-view TTA. Every count, heatmap and report downstream will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items from the future-work slide of the 499A final presentation, all on the VLM side. Resolution unlocking is cheap because evaluation stores no gradients. Textual bridge prompting feeds the champion U-Net's counts into the prompt, so a better segmentation stage directly improves the VLM's answers. Distillation targets field deployment: the notebooks are written but have not been run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System-side items from the 499A roadmap, drawn as the target pipeline. The counts reach the VLM as text, the mask feeds a survivability heatmap and, as a research item, physics-informed reverse simulation of collapse. DisasTeller's agents run on our own model instead of Gemini, so the chain works offline. Unified deployment packages it as one service fed by drone imagery.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timeline for the rest of the Fall 2026 semester. The sprint and the audit are done; the champion runs are in progress and take about 10 GPU-hours each. Phase 2 only happens if R7 misses the Destroyed gate. Resolution unlocking does not depend on the champion; the textual bridge and heatmaps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and third risks have already happened. GPU quota limits how many champion runs we can do per week, so the runs are ordered by priority. Kaggle's switch to Python 3.13 broke our pinned torch version and made the first R6 run fail; the notebook now pins only the libraries whose API it depends on and stops immediately if an install fails. The last row carries over the 499A ethics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deliverables map one to one onto the objectives: O1 is the champion checkpoint and results table, O2 the re-scored benchmark, O3 the offline DisasTeller system, O4 the distilled 3B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Conclusions stay on screen during Q&amp;A. The deliverables map one to one onto the objectives. Likely questions and answers are in Essential_task_delegation/Ablation_Study_Reference_and_QA_Prep.md,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18888"/>
            <a:ext cx="7589520" cy="256032"/>
          </a:xfrm>
          <a:prstGeom prst="rect">
            <a:avLst/>
          </a:prstGeom>
          <a:noFill/>
          <a:ln/>
        </p:spPr>
        <p:txBody>
          <a:bodyPr wrap="square" rtlCol="0" anchor="ctr"/>
          <a:lstStyle/>
          <a:p>
            <a:pPr indent="0" marL="0">
              <a:buNone/>
            </a:pPr>
            <a:r>
              <a:rPr lang="en-US" sz="1000" dirty="0">
                <a:solidFill>
                  <a:srgbClr val="666666"/>
                </a:solidFill>
                <a:latin typeface="Arial" pitchFamily="34" charset="0"/>
                <a:ea typeface="Arial" pitchFamily="34" charset="-122"/>
                <a:cs typeface="Arial" pitchFamily="34" charset="-120"/>
              </a:rPr>
              <a:t>Group 5 · Abdullah Al Noman · Tamanna Akter Mou · Aryan Sami · Ridita Afrin Riya · Abrar Mohammed Tanzim Alam</a:t>
            </a:r>
            <a:endParaRPr lang="en-US" sz="10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457200" y="4818888"/>
            <a:ext cx="7589520" cy="256032"/>
          </a:xfrm>
          <a:prstGeom prst="rect">
            <a:avLst/>
          </a:prstGeom>
          <a:noFill/>
          <a:ln/>
        </p:spPr>
        <p:txBody>
          <a:bodyPr wrap="square" rtlCol="0" anchor="ctr"/>
          <a:lstStyle/>
          <a:p>
            <a:pPr indent="0" marL="0">
              <a:buNone/>
            </a:pPr>
            <a:r>
              <a:rPr lang="en-US" sz="1000" dirty="0">
                <a:solidFill>
                  <a:srgbClr val="A0BBDD"/>
                </a:solidFill>
                <a:latin typeface="Arial" pitchFamily="34" charset="0"/>
                <a:ea typeface="Arial" pitchFamily="34" charset="-122"/>
                <a:cs typeface="Arial" pitchFamily="34" charset="-120"/>
              </a:rPr>
              <a:t>Group 5 · Abdullah Al Noman · Tamanna Akter Mou · Aryan Sami · Ridita Afrin Riya · Abrar Mohammed Tanzim Alam</a:t>
            </a:r>
            <a:endParaRPr lang="en-US" sz="10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0BBDD"/>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502920"/>
            <a:ext cx="7863840" cy="320040"/>
          </a:xfrm>
          <a:prstGeom prst="rect">
            <a:avLst/>
          </a:prstGeom>
          <a:noFill/>
          <a:ln/>
        </p:spPr>
        <p:txBody>
          <a:bodyPr wrap="square" lIns="0" tIns="0" rIns="0" bIns="0" rtlCol="0" anchor="ctr"/>
          <a:lstStyle/>
          <a:p>
            <a:pPr indent="0" marL="0">
              <a:buNone/>
            </a:pPr>
            <a:r>
              <a:rPr lang="en-US" sz="1400" dirty="0">
                <a:solidFill>
                  <a:srgbClr val="A0BBDD"/>
                </a:solidFill>
                <a:latin typeface="Arial" pitchFamily="34" charset="0"/>
                <a:ea typeface="Arial" pitchFamily="34" charset="-122"/>
                <a:cs typeface="Arial" pitchFamily="34" charset="-120"/>
              </a:rPr>
              <a:t>CSE499B · Senior Design II · Review presentation</a:t>
            </a:r>
            <a:endParaRPr lang="en-US" sz="1400" dirty="0"/>
          </a:p>
        </p:txBody>
      </p:sp>
      <p:sp>
        <p:nvSpPr>
          <p:cNvPr id="3" name="Text 1"/>
          <p:cNvSpPr/>
          <p:nvPr/>
        </p:nvSpPr>
        <p:spPr>
          <a:xfrm>
            <a:off x="640080" y="868680"/>
            <a:ext cx="7863840" cy="12344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Resource-efficient neural architectures for post-disaster damage assessment and rescue guidance</a:t>
            </a:r>
            <a:endParaRPr lang="en-US" sz="2600" dirty="0"/>
          </a:p>
        </p:txBody>
      </p:sp>
      <p:sp>
        <p:nvSpPr>
          <p:cNvPr id="4" name="Text 2"/>
          <p:cNvSpPr/>
          <p:nvPr/>
        </p:nvSpPr>
        <p:spPr>
          <a:xfrm>
            <a:off x="640080" y="2240280"/>
            <a:ext cx="7863840" cy="685800"/>
          </a:xfrm>
          <a:prstGeom prst="rect">
            <a:avLst/>
          </a:prstGeom>
          <a:noFill/>
          <a:ln/>
        </p:spPr>
        <p:txBody>
          <a:bodyPr wrap="square" lIns="0" tIns="0" rIns="0" bIns="0" rtlCol="0" anchor="t"/>
          <a:lstStyle/>
          <a:p>
            <a:pPr indent="0" marL="0">
              <a:buNone/>
            </a:pPr>
            <a:r>
              <a:rPr lang="en-US" sz="1600" dirty="0">
                <a:solidFill>
                  <a:srgbClr val="CADCFC"/>
                </a:solidFill>
                <a:latin typeface="Arial" pitchFamily="34" charset="0"/>
                <a:ea typeface="Arial" pitchFamily="34" charset="-122"/>
                <a:cs typeface="Arial" pitchFamily="34" charset="-120"/>
              </a:rPr>
              <a:t>From 499A's reproduced VLM and hybrid pipeline to a stronger damage-segmentation stage and an offline, end-to-end triage system</a:t>
            </a:r>
            <a:endParaRPr lang="en-US" sz="1600" dirty="0"/>
          </a:p>
        </p:txBody>
      </p:sp>
      <p:sp>
        <p:nvSpPr>
          <p:cNvPr id="5" name="Text 3"/>
          <p:cNvSpPr/>
          <p:nvPr/>
        </p:nvSpPr>
        <p:spPr>
          <a:xfrm>
            <a:off x="640080" y="3154680"/>
            <a:ext cx="7863840" cy="59436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Abdullah Al Noman (2022095042) · Tamanna Akter Mou (2211951042) · Aryan Sami (2231407042)</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Ridita Afrin Riya (2211622042) · Abrar Mohammed Tanzim Alam (2222864042)</a:t>
            </a:r>
            <a:endParaRPr lang="en-US" sz="1300" dirty="0"/>
          </a:p>
        </p:txBody>
      </p:sp>
      <p:sp>
        <p:nvSpPr>
          <p:cNvPr id="6" name="Text 4"/>
          <p:cNvSpPr/>
          <p:nvPr/>
        </p:nvSpPr>
        <p:spPr>
          <a:xfrm>
            <a:off x="640080" y="3886200"/>
            <a:ext cx="7863840" cy="320040"/>
          </a:xfrm>
          <a:prstGeom prst="rect">
            <a:avLst/>
          </a:prstGeom>
          <a:noFill/>
          <a:ln/>
        </p:spPr>
        <p:txBody>
          <a:bodyPr wrap="square" lIns="0" tIns="0" rIns="0" bIns="0" rtlCol="0" anchor="ctr"/>
          <a:lstStyle/>
          <a:p>
            <a:pPr indent="0" marL="0">
              <a:buNone/>
            </a:pPr>
            <a:r>
              <a:rPr lang="en-US" sz="1200" dirty="0">
                <a:solidFill>
                  <a:srgbClr val="A0BBDD"/>
                </a:solidFill>
                <a:latin typeface="Arial" pitchFamily="34" charset="0"/>
                <a:ea typeface="Arial" pitchFamily="34" charset="-122"/>
                <a:cs typeface="Arial" pitchFamily="34" charset="-120"/>
              </a:rPr>
              <a:t>Section 15 · Group 5 · Department of Electrical and Computer Engineering, North South University · October 2026</a:t>
            </a:r>
            <a:endParaRPr lang="en-US" sz="12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0BBDD"/>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Review</a:t>
            </a:r>
            <a:endParaRPr lang="en-US" sz="1000" dirty="0"/>
          </a:p>
        </p:txBody>
      </p:sp>
      <p:sp>
        <p:nvSpPr>
          <p:cNvPr id="4" name="Shape 2"/>
          <p:cNvSpPr/>
          <p:nvPr/>
        </p:nvSpPr>
        <p:spPr>
          <a:xfrm>
            <a:off x="342900" y="219456"/>
            <a:ext cx="1600200" cy="36576"/>
          </a:xfrm>
          <a:prstGeom prst="rect">
            <a:avLst/>
          </a:prstGeom>
          <a:solidFill>
            <a:srgbClr val="2E75B6"/>
          </a:solidFill>
          <a:ln w="12700">
            <a:solidFill>
              <a:srgbClr val="2E75B6"/>
            </a:solidFill>
            <a:prstDash val="solid"/>
          </a:ln>
        </p:spPr>
      </p:sp>
      <p:sp>
        <p:nvSpPr>
          <p:cNvPr id="5" name="Text 3"/>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6" name="Text 4"/>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Responders need to know where buildings collapsed, and how many, within hours on modest hardware</a:t>
            </a:r>
            <a:endParaRPr lang="en-US" sz="2200" dirty="0"/>
          </a:p>
        </p:txBody>
      </p:sp>
      <p:sp>
        <p:nvSpPr>
          <p:cNvPr id="10" name="Shape 7"/>
          <p:cNvSpPr/>
          <p:nvPr/>
        </p:nvSpPr>
        <p:spPr>
          <a:xfrm>
            <a:off x="1097280" y="1261872"/>
            <a:ext cx="6949440" cy="777240"/>
          </a:xfrm>
          <a:prstGeom prst="roundRect">
            <a:avLst>
              <a:gd name="adj" fmla="val 9412"/>
            </a:avLst>
          </a:prstGeom>
          <a:solidFill>
            <a:srgbClr val="EBF3FA"/>
          </a:solidFill>
          <a:ln w="19050">
            <a:solidFill>
              <a:srgbClr val="2E75B6"/>
            </a:solidFill>
            <a:prstDash val="solid"/>
          </a:ln>
        </p:spPr>
      </p:sp>
      <p:sp>
        <p:nvSpPr>
          <p:cNvPr id="11" name="Text 8"/>
          <p:cNvSpPr/>
          <p:nvPr/>
        </p:nvSpPr>
        <p:spPr>
          <a:xfrm>
            <a:off x="1234440" y="1261872"/>
            <a:ext cx="6675120" cy="777240"/>
          </a:xfrm>
          <a:prstGeom prst="rect">
            <a:avLst/>
          </a:prstGeom>
          <a:noFill/>
          <a:ln/>
        </p:spPr>
        <p:txBody>
          <a:bodyPr wrap="square" lIns="0" tIns="0" rIns="0" bIns="0" rtlCol="0" anchor="ctr"/>
          <a:lstStyle/>
          <a:p>
            <a:pPr algn="ctr" indent="0" marL="0">
              <a:buNone/>
            </a:pPr>
            <a:r>
              <a:rPr lang="en-US" sz="1800" dirty="0">
                <a:solidFill>
                  <a:srgbClr val="1F4E79"/>
                </a:solidFill>
                <a:latin typeface="Arial" pitchFamily="34" charset="0"/>
                <a:ea typeface="Arial" pitchFamily="34" charset="-122"/>
                <a:cs typeface="Arial" pitchFamily="34" charset="-120"/>
              </a:rPr>
              <a:t>499B goal: a hybrid system that counts from pixels, reasons in language, and runs offline on free or small GPUs</a:t>
            </a:r>
            <a:endParaRPr lang="en-US" sz="1800" dirty="0"/>
          </a:p>
        </p:txBody>
      </p:sp>
      <p:sp>
        <p:nvSpPr>
          <p:cNvPr id="12" name="Text 9"/>
          <p:cNvSpPr/>
          <p:nvPr/>
        </p:nvSpPr>
        <p:spPr>
          <a:xfrm>
            <a:off x="457200" y="2194560"/>
            <a:ext cx="8229600" cy="2240280"/>
          </a:xfrm>
          <a:prstGeom prst="rect">
            <a:avLst/>
          </a:prstGeom>
          <a:noFill/>
          <a:ln/>
        </p:spPr>
        <p:txBody>
          <a:bodyPr wrap="square" lIns="0" tIns="0" rIns="0" bIns="0" rtlCol="0" anchor="t"/>
          <a:lstStyle/>
          <a:p>
            <a:pPr marL="342900" indent="-342900">
              <a:spcAft>
                <a:spcPts val="800"/>
              </a:spcAft>
              <a:buSzPct val="100000"/>
              <a:buChar char="•"/>
            </a:pPr>
            <a:r>
              <a:rPr lang="en-US" sz="1800" b="1" dirty="0">
                <a:solidFill>
                  <a:srgbClr val="2D2D2D"/>
                </a:solidFill>
                <a:latin typeface="Arial" pitchFamily="34" charset="0"/>
                <a:ea typeface="Arial" pitchFamily="34" charset="-122"/>
                <a:cs typeface="Arial" pitchFamily="34" charset="-120"/>
              </a:rPr>
              <a:t>Count, don't guess: </a:t>
            </a:r>
            <a:pPr indent="0" marL="0">
              <a:spcAft>
                <a:spcPts val="800"/>
              </a:spcAft>
              <a:buNone/>
            </a:pPr>
            <a:r>
              <a:rPr lang="en-US" sz="1800" dirty="0">
                <a:solidFill>
                  <a:srgbClr val="2D2D2D"/>
                </a:solidFill>
                <a:latin typeface="Arial" pitchFamily="34" charset="0"/>
                <a:ea typeface="Arial" pitchFamily="34" charset="-122"/>
                <a:cs typeface="Arial" pitchFamily="34" charset="-120"/>
              </a:rPr>
              <a:t>VLM-only building counting fell 10.62 points below the untuned base model</a:t>
            </a:r>
            <a:endParaRPr lang="en-US" sz="1800" dirty="0"/>
          </a:p>
          <a:p>
            <a:pPr marL="342900" indent="-342900">
              <a:spcAft>
                <a:spcPts val="800"/>
              </a:spcAft>
              <a:buSzPct val="100000"/>
              <a:buChar char="•"/>
            </a:pPr>
            <a:r>
              <a:rPr lang="en-US" sz="1800" b="1" dirty="0">
                <a:solidFill>
                  <a:srgbClr val="2D2D2D"/>
                </a:solidFill>
                <a:latin typeface="Arial" pitchFamily="34" charset="0"/>
                <a:ea typeface="Arial" pitchFamily="34" charset="-122"/>
                <a:cs typeface="Arial" pitchFamily="34" charset="-120"/>
              </a:rPr>
              <a:t>Find the rare class: </a:t>
            </a:r>
            <a:pPr indent="0" marL="0">
              <a:spcAft>
                <a:spcPts val="800"/>
              </a:spcAft>
              <a:buNone/>
            </a:pPr>
            <a:r>
              <a:rPr lang="en-US" sz="1800" dirty="0">
                <a:solidFill>
                  <a:srgbClr val="2D2D2D"/>
                </a:solidFill>
                <a:latin typeface="Arial" pitchFamily="34" charset="0"/>
                <a:ea typeface="Arial" pitchFamily="34" charset="-122"/>
                <a:cs typeface="Arial" pitchFamily="34" charset="-120"/>
              </a:rPr>
              <a:t>destroyed = 0.33% of pixels; U-Net Destroyed IoU 0.17, about 4 of 5 "destroyed" pixels false alarms</a:t>
            </a:r>
            <a:endParaRPr lang="en-US" sz="1800" dirty="0"/>
          </a:p>
          <a:p>
            <a:pPr marL="342900" indent="-342900">
              <a:spcAft>
                <a:spcPts val="800"/>
              </a:spcAft>
              <a:buSzPct val="100000"/>
              <a:buChar char="•"/>
            </a:pPr>
            <a:r>
              <a:rPr lang="en-US" sz="1800" b="1" dirty="0">
                <a:solidFill>
                  <a:srgbClr val="2D2D2D"/>
                </a:solidFill>
                <a:latin typeface="Arial" pitchFamily="34" charset="0"/>
                <a:ea typeface="Arial" pitchFamily="34" charset="-122"/>
                <a:cs typeface="Arial" pitchFamily="34" charset="-120"/>
              </a:rPr>
              <a:t>Run where responders are: </a:t>
            </a:r>
            <a:pPr indent="0" marL="0">
              <a:spcAft>
                <a:spcPts val="800"/>
              </a:spcAft>
              <a:buNone/>
            </a:pPr>
            <a:r>
              <a:rPr lang="en-US" sz="1800" dirty="0">
                <a:solidFill>
                  <a:srgbClr val="2D2D2D"/>
                </a:solidFill>
                <a:latin typeface="Arial" pitchFamily="34" charset="0"/>
                <a:ea typeface="Arial" pitchFamily="34" charset="-122"/>
                <a:cs typeface="Arial" pitchFamily="34" charset="-120"/>
              </a:rPr>
              <a:t>no paid API or internet; the report generator calls Gemini, and the merged 7B model is about 15 GB in FP16</a:t>
            </a:r>
            <a:endParaRPr lang="en-US" sz="1800" dirty="0"/>
          </a:p>
        </p:txBody>
      </p:sp>
      <p:sp>
        <p:nvSpPr>
          <p:cNvPr id="13" name="Text 10"/>
          <p:cNvSpPr/>
          <p:nvPr/>
        </p:nvSpPr>
        <p:spPr>
          <a:xfrm>
            <a:off x="457200" y="4526280"/>
            <a:ext cx="8229600" cy="256032"/>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Benchmark: DisasterM3 (Wang et al., 2025). Results: CSE499A final report (Group 5, 2026).</a:t>
            </a:r>
            <a:endParaRPr lang="en-US" sz="11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Review</a:t>
            </a:r>
            <a:endParaRPr lang="en-US" sz="1000" dirty="0"/>
          </a:p>
        </p:txBody>
      </p:sp>
      <p:sp>
        <p:nvSpPr>
          <p:cNvPr id="4" name="Shape 2"/>
          <p:cNvSpPr/>
          <p:nvPr/>
        </p:nvSpPr>
        <p:spPr>
          <a:xfrm>
            <a:off x="342900" y="219456"/>
            <a:ext cx="1600200" cy="36576"/>
          </a:xfrm>
          <a:prstGeom prst="rect">
            <a:avLst/>
          </a:prstGeom>
          <a:solidFill>
            <a:srgbClr val="2E75B6"/>
          </a:solidFill>
          <a:ln w="12700">
            <a:solidFill>
              <a:srgbClr val="2E75B6"/>
            </a:solidFill>
            <a:prstDash val="solid"/>
          </a:ln>
        </p:spPr>
      </p:sp>
      <p:sp>
        <p:nvSpPr>
          <p:cNvPr id="5" name="Text 3"/>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6" name="Text 4"/>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499A reproduced DisasterM3 fine-tuning on one free T4 and routed building counting to a U-Net</a:t>
            </a:r>
            <a:endParaRPr lang="en-US" sz="2200" dirty="0"/>
          </a:p>
        </p:txBody>
      </p:sp>
      <p:sp>
        <p:nvSpPr>
          <p:cNvPr id="10" name="Shape 7"/>
          <p:cNvSpPr/>
          <p:nvPr/>
        </p:nvSpPr>
        <p:spPr>
          <a:xfrm>
            <a:off x="457200" y="1234440"/>
            <a:ext cx="1828800" cy="1600200"/>
          </a:xfrm>
          <a:prstGeom prst="rect">
            <a:avLst/>
          </a:prstGeom>
          <a:solidFill>
            <a:srgbClr val="FFFFFF"/>
          </a:solidFill>
          <a:ln w="15875">
            <a:solidFill>
              <a:srgbClr val="2E75B6"/>
            </a:solidFill>
            <a:prstDash val="solid"/>
          </a:ln>
        </p:spPr>
      </p:sp>
      <p:sp>
        <p:nvSpPr>
          <p:cNvPr id="11" name="Text 8"/>
          <p:cNvSpPr/>
          <p:nvPr/>
        </p:nvSpPr>
        <p:spPr>
          <a:xfrm>
            <a:off x="548640" y="1307592"/>
            <a:ext cx="1645920" cy="457200"/>
          </a:xfrm>
          <a:prstGeom prst="rect">
            <a:avLst/>
          </a:prstGeom>
          <a:noFill/>
          <a:ln/>
        </p:spPr>
        <p:txBody>
          <a:bodyPr wrap="square" lIns="0" tIns="0" rIns="0" bIns="0" rtlCol="0" anchor="ctr"/>
          <a:lstStyle/>
          <a:p>
            <a:pPr indent="0" marL="0">
              <a:buNone/>
            </a:pPr>
            <a:r>
              <a:rPr lang="en-US" sz="1300" b="1" dirty="0">
                <a:solidFill>
                  <a:srgbClr val="2E75B6"/>
                </a:solidFill>
                <a:latin typeface="Arial" pitchFamily="34" charset="0"/>
                <a:ea typeface="Arial" pitchFamily="34" charset="-122"/>
                <a:cs typeface="Arial" pitchFamily="34" charset="-120"/>
              </a:rPr>
              <a:t>1 · Data preparation</a:t>
            </a:r>
            <a:endParaRPr lang="en-US" sz="1300" dirty="0"/>
          </a:p>
        </p:txBody>
      </p:sp>
      <p:sp>
        <p:nvSpPr>
          <p:cNvPr id="12" name="Text 9"/>
          <p:cNvSpPr/>
          <p:nvPr/>
        </p:nvSpPr>
        <p:spPr>
          <a:xfrm>
            <a:off x="548640" y="1810512"/>
            <a:ext cx="1645920" cy="978408"/>
          </a:xfrm>
          <a:prstGeom prst="rect">
            <a:avLst/>
          </a:prstGeom>
          <a:noFill/>
          <a:ln/>
        </p:spPr>
        <p:txBody>
          <a:bodyPr wrap="square" lIns="0" tIns="0" rIns="0" bIns="0" rtlCol="0" anchor="t"/>
          <a:lstStyle/>
          <a:p>
            <a:pPr indent="0" marL="0">
              <a:buNone/>
            </a:pPr>
            <a:r>
              <a:rPr lang="en-US" sz="1300" dirty="0">
                <a:solidFill>
                  <a:srgbClr val="2D2D2D"/>
                </a:solidFill>
                <a:latin typeface="Arial" pitchFamily="34" charset="0"/>
                <a:ea typeface="Arial" pitchFamily="34" charset="-122"/>
                <a:cs typeface="Arial" pitchFamily="34" charset="-120"/>
              </a:rPr>
              <a:t>DisasterM3: 92,968 entries; 55,764 text-task samples kept for training</a:t>
            </a:r>
            <a:endParaRPr lang="en-US" sz="1300" dirty="0"/>
          </a:p>
        </p:txBody>
      </p:sp>
      <p:sp>
        <p:nvSpPr>
          <p:cNvPr id="13" name="Shape 10"/>
          <p:cNvSpPr/>
          <p:nvPr/>
        </p:nvSpPr>
        <p:spPr>
          <a:xfrm>
            <a:off x="2313432" y="2029968"/>
            <a:ext cx="246888" cy="0"/>
          </a:xfrm>
          <a:prstGeom prst="line">
            <a:avLst/>
          </a:prstGeom>
          <a:noFill/>
          <a:ln w="19050">
            <a:solidFill>
              <a:srgbClr val="666666"/>
            </a:solidFill>
            <a:prstDash val="solid"/>
            <a:tailEnd type="triangle"/>
          </a:ln>
        </p:spPr>
      </p:sp>
      <p:sp>
        <p:nvSpPr>
          <p:cNvPr id="14" name="Shape 11"/>
          <p:cNvSpPr/>
          <p:nvPr/>
        </p:nvSpPr>
        <p:spPr>
          <a:xfrm>
            <a:off x="2587752" y="1234440"/>
            <a:ext cx="1828800" cy="1600200"/>
          </a:xfrm>
          <a:prstGeom prst="rect">
            <a:avLst/>
          </a:prstGeom>
          <a:solidFill>
            <a:srgbClr val="FFFFFF"/>
          </a:solidFill>
          <a:ln w="15875">
            <a:solidFill>
              <a:srgbClr val="2E75B6"/>
            </a:solidFill>
            <a:prstDash val="solid"/>
          </a:ln>
        </p:spPr>
      </p:sp>
      <p:sp>
        <p:nvSpPr>
          <p:cNvPr id="15" name="Text 12"/>
          <p:cNvSpPr/>
          <p:nvPr/>
        </p:nvSpPr>
        <p:spPr>
          <a:xfrm>
            <a:off x="2679192" y="1307592"/>
            <a:ext cx="1645920" cy="457200"/>
          </a:xfrm>
          <a:prstGeom prst="rect">
            <a:avLst/>
          </a:prstGeom>
          <a:noFill/>
          <a:ln/>
        </p:spPr>
        <p:txBody>
          <a:bodyPr wrap="square" lIns="0" tIns="0" rIns="0" bIns="0" rtlCol="0" anchor="ctr"/>
          <a:lstStyle/>
          <a:p>
            <a:pPr indent="0" marL="0">
              <a:buNone/>
            </a:pPr>
            <a:r>
              <a:rPr lang="en-US" sz="1300" b="1" dirty="0">
                <a:solidFill>
                  <a:srgbClr val="2E75B6"/>
                </a:solidFill>
                <a:latin typeface="Arial" pitchFamily="34" charset="0"/>
                <a:ea typeface="Arial" pitchFamily="34" charset="-122"/>
                <a:cs typeface="Arial" pitchFamily="34" charset="-120"/>
              </a:rPr>
              <a:t>2 · QLoRA fine-tuning</a:t>
            </a:r>
            <a:endParaRPr lang="en-US" sz="1300" dirty="0"/>
          </a:p>
        </p:txBody>
      </p:sp>
      <p:sp>
        <p:nvSpPr>
          <p:cNvPr id="16" name="Text 13"/>
          <p:cNvSpPr/>
          <p:nvPr/>
        </p:nvSpPr>
        <p:spPr>
          <a:xfrm>
            <a:off x="2679192" y="1810512"/>
            <a:ext cx="1645920" cy="978408"/>
          </a:xfrm>
          <a:prstGeom prst="rect">
            <a:avLst/>
          </a:prstGeom>
          <a:noFill/>
          <a:ln/>
        </p:spPr>
        <p:txBody>
          <a:bodyPr wrap="square" lIns="0" tIns="0" rIns="0" bIns="0" rtlCol="0" anchor="t"/>
          <a:lstStyle/>
          <a:p>
            <a:pPr indent="0" marL="0">
              <a:buNone/>
            </a:pPr>
            <a:r>
              <a:rPr lang="en-US" sz="1300" dirty="0">
                <a:solidFill>
                  <a:srgbClr val="2D2D2D"/>
                </a:solidFill>
                <a:latin typeface="Arial" pitchFamily="34" charset="0"/>
                <a:ea typeface="Arial" pitchFamily="34" charset="-122"/>
                <a:cs typeface="Arial" pitchFamily="34" charset="-120"/>
              </a:rPr>
              <a:t>Qwen2.5-VL-7B in 4-bit on one T4: 217 steps over 11 Kaggle sessions</a:t>
            </a:r>
            <a:endParaRPr lang="en-US" sz="1300" dirty="0"/>
          </a:p>
        </p:txBody>
      </p:sp>
      <p:sp>
        <p:nvSpPr>
          <p:cNvPr id="17" name="Shape 14"/>
          <p:cNvSpPr/>
          <p:nvPr/>
        </p:nvSpPr>
        <p:spPr>
          <a:xfrm>
            <a:off x="4443984" y="2029968"/>
            <a:ext cx="246888" cy="0"/>
          </a:xfrm>
          <a:prstGeom prst="line">
            <a:avLst/>
          </a:prstGeom>
          <a:noFill/>
          <a:ln w="19050">
            <a:solidFill>
              <a:srgbClr val="666666"/>
            </a:solidFill>
            <a:prstDash val="solid"/>
            <a:tailEnd type="triangle"/>
          </a:ln>
        </p:spPr>
      </p:sp>
      <p:sp>
        <p:nvSpPr>
          <p:cNvPr id="18" name="Shape 15"/>
          <p:cNvSpPr/>
          <p:nvPr/>
        </p:nvSpPr>
        <p:spPr>
          <a:xfrm>
            <a:off x="4718304" y="1234440"/>
            <a:ext cx="1828800" cy="1600200"/>
          </a:xfrm>
          <a:prstGeom prst="rect">
            <a:avLst/>
          </a:prstGeom>
          <a:solidFill>
            <a:srgbClr val="FFFFFF"/>
          </a:solidFill>
          <a:ln w="15875">
            <a:solidFill>
              <a:srgbClr val="2E75B6"/>
            </a:solidFill>
            <a:prstDash val="solid"/>
          </a:ln>
        </p:spPr>
      </p:sp>
      <p:sp>
        <p:nvSpPr>
          <p:cNvPr id="19" name="Text 16"/>
          <p:cNvSpPr/>
          <p:nvPr/>
        </p:nvSpPr>
        <p:spPr>
          <a:xfrm>
            <a:off x="4809744" y="1307592"/>
            <a:ext cx="1645920" cy="457200"/>
          </a:xfrm>
          <a:prstGeom prst="rect">
            <a:avLst/>
          </a:prstGeom>
          <a:noFill/>
          <a:ln/>
        </p:spPr>
        <p:txBody>
          <a:bodyPr wrap="square" lIns="0" tIns="0" rIns="0" bIns="0" rtlCol="0" anchor="ctr"/>
          <a:lstStyle/>
          <a:p>
            <a:pPr indent="0" marL="0">
              <a:buNone/>
            </a:pPr>
            <a:r>
              <a:rPr lang="en-US" sz="1300" b="1" dirty="0">
                <a:solidFill>
                  <a:srgbClr val="2E75B6"/>
                </a:solidFill>
                <a:latin typeface="Arial" pitchFamily="34" charset="0"/>
                <a:ea typeface="Arial" pitchFamily="34" charset="-122"/>
                <a:cs typeface="Arial" pitchFamily="34" charset="-120"/>
              </a:rPr>
              <a:t>3 · vLLM evaluation</a:t>
            </a:r>
            <a:endParaRPr lang="en-US" sz="1300" dirty="0"/>
          </a:p>
        </p:txBody>
      </p:sp>
      <p:sp>
        <p:nvSpPr>
          <p:cNvPr id="20" name="Text 17"/>
          <p:cNvSpPr/>
          <p:nvPr/>
        </p:nvSpPr>
        <p:spPr>
          <a:xfrm>
            <a:off x="4809744" y="1810512"/>
            <a:ext cx="1645920" cy="978408"/>
          </a:xfrm>
          <a:prstGeom prst="rect">
            <a:avLst/>
          </a:prstGeom>
          <a:noFill/>
          <a:ln/>
        </p:spPr>
        <p:txBody>
          <a:bodyPr wrap="square" lIns="0" tIns="0" rIns="0" bIns="0" rtlCol="0" anchor="t"/>
          <a:lstStyle/>
          <a:p>
            <a:pPr indent="0" marL="0">
              <a:buNone/>
            </a:pPr>
            <a:r>
              <a:rPr lang="en-US" sz="1300" dirty="0">
                <a:solidFill>
                  <a:srgbClr val="2D2D2D"/>
                </a:solidFill>
                <a:latin typeface="Arial" pitchFamily="34" charset="0"/>
                <a:ea typeface="Arial" pitchFamily="34" charset="-122"/>
                <a:cs typeface="Arial" pitchFamily="34" charset="-120"/>
              </a:rPr>
              <a:t>Merged FP16 model on 2× T4; six multiple-choice tasks, about 13,000 items</a:t>
            </a:r>
            <a:endParaRPr lang="en-US" sz="1300" dirty="0"/>
          </a:p>
        </p:txBody>
      </p:sp>
      <p:sp>
        <p:nvSpPr>
          <p:cNvPr id="21" name="Shape 18"/>
          <p:cNvSpPr/>
          <p:nvPr/>
        </p:nvSpPr>
        <p:spPr>
          <a:xfrm>
            <a:off x="6574536" y="2029968"/>
            <a:ext cx="246888" cy="0"/>
          </a:xfrm>
          <a:prstGeom prst="line">
            <a:avLst/>
          </a:prstGeom>
          <a:noFill/>
          <a:ln w="19050">
            <a:solidFill>
              <a:srgbClr val="666666"/>
            </a:solidFill>
            <a:prstDash val="solid"/>
            <a:tailEnd type="triangle"/>
          </a:ln>
        </p:spPr>
      </p:sp>
      <p:sp>
        <p:nvSpPr>
          <p:cNvPr id="22" name="Shape 19"/>
          <p:cNvSpPr/>
          <p:nvPr/>
        </p:nvSpPr>
        <p:spPr>
          <a:xfrm>
            <a:off x="6848856" y="1234440"/>
            <a:ext cx="1828800" cy="1600200"/>
          </a:xfrm>
          <a:prstGeom prst="rect">
            <a:avLst/>
          </a:prstGeom>
          <a:solidFill>
            <a:srgbClr val="FFFFFF"/>
          </a:solidFill>
          <a:ln w="15875">
            <a:solidFill>
              <a:srgbClr val="2E75B6"/>
            </a:solidFill>
            <a:prstDash val="solid"/>
          </a:ln>
        </p:spPr>
      </p:sp>
      <p:sp>
        <p:nvSpPr>
          <p:cNvPr id="23" name="Text 20"/>
          <p:cNvSpPr/>
          <p:nvPr/>
        </p:nvSpPr>
        <p:spPr>
          <a:xfrm>
            <a:off x="6940296" y="1307592"/>
            <a:ext cx="1645920" cy="457200"/>
          </a:xfrm>
          <a:prstGeom prst="rect">
            <a:avLst/>
          </a:prstGeom>
          <a:noFill/>
          <a:ln/>
        </p:spPr>
        <p:txBody>
          <a:bodyPr wrap="square" lIns="0" tIns="0" rIns="0" bIns="0" rtlCol="0" anchor="ctr"/>
          <a:lstStyle/>
          <a:p>
            <a:pPr indent="0" marL="0">
              <a:buNone/>
            </a:pPr>
            <a:r>
              <a:rPr lang="en-US" sz="1300" b="1" dirty="0">
                <a:solidFill>
                  <a:srgbClr val="2E75B6"/>
                </a:solidFill>
                <a:latin typeface="Arial" pitchFamily="34" charset="0"/>
                <a:ea typeface="Arial" pitchFamily="34" charset="-122"/>
                <a:cs typeface="Arial" pitchFamily="34" charset="-120"/>
              </a:rPr>
              <a:t>4 · Hybrid triage</a:t>
            </a:r>
            <a:endParaRPr lang="en-US" sz="1300" dirty="0"/>
          </a:p>
        </p:txBody>
      </p:sp>
      <p:sp>
        <p:nvSpPr>
          <p:cNvPr id="24" name="Text 21"/>
          <p:cNvSpPr/>
          <p:nvPr/>
        </p:nvSpPr>
        <p:spPr>
          <a:xfrm>
            <a:off x="6940296" y="1810512"/>
            <a:ext cx="1645920" cy="978408"/>
          </a:xfrm>
          <a:prstGeom prst="rect">
            <a:avLst/>
          </a:prstGeom>
          <a:noFill/>
          <a:ln/>
        </p:spPr>
        <p:txBody>
          <a:bodyPr wrap="square" lIns="0" tIns="0" rIns="0" bIns="0" rtlCol="0" anchor="t"/>
          <a:lstStyle/>
          <a:p>
            <a:pPr indent="0" marL="0">
              <a:buNone/>
            </a:pPr>
            <a:r>
              <a:rPr lang="en-US" sz="1300" dirty="0">
                <a:solidFill>
                  <a:srgbClr val="2D2D2D"/>
                </a:solidFill>
                <a:latin typeface="Arial" pitchFamily="34" charset="0"/>
                <a:ea typeface="Arial" pitchFamily="34" charset="-122"/>
                <a:cs typeface="Arial" pitchFamily="34" charset="-120"/>
              </a:rPr>
              <a:t>A U-Net counts buildings; U-Net crops give the VLM zoomed views</a:t>
            </a:r>
            <a:endParaRPr lang="en-US" sz="1300" dirty="0"/>
          </a:p>
        </p:txBody>
      </p:sp>
      <p:sp>
        <p:nvSpPr>
          <p:cNvPr id="25" name="Text 22"/>
          <p:cNvSpPr/>
          <p:nvPr/>
        </p:nvSpPr>
        <p:spPr>
          <a:xfrm>
            <a:off x="457200" y="3063240"/>
            <a:ext cx="8229600" cy="320040"/>
          </a:xfrm>
          <a:prstGeom prst="rect">
            <a:avLst/>
          </a:prstGeom>
          <a:noFill/>
          <a:ln/>
        </p:spPr>
        <p:txBody>
          <a:bodyPr wrap="square" lIns="0" tIns="0" rIns="0" bIns="0" rtlCol="0" anchor="ctr"/>
          <a:lstStyle/>
          <a:p>
            <a:pPr indent="0" marL="0">
              <a:buNone/>
            </a:pPr>
            <a:r>
              <a:rPr lang="en-US" sz="1800" b="1" dirty="0">
                <a:solidFill>
                  <a:srgbClr val="2E75B6"/>
                </a:solidFill>
                <a:latin typeface="Arial" pitchFamily="34" charset="0"/>
                <a:ea typeface="Arial" pitchFamily="34" charset="-122"/>
                <a:cs typeface="Arial" pitchFamily="34" charset="-120"/>
              </a:rPr>
              <a:t>Supporting modules</a:t>
            </a:r>
            <a:endParaRPr lang="en-US" sz="1800" dirty="0"/>
          </a:p>
        </p:txBody>
      </p:sp>
      <p:sp>
        <p:nvSpPr>
          <p:cNvPr id="26" name="Text 23"/>
          <p:cNvSpPr/>
          <p:nvPr/>
        </p:nvSpPr>
        <p:spPr>
          <a:xfrm>
            <a:off x="457200" y="3401568"/>
            <a:ext cx="8229600" cy="1051560"/>
          </a:xfrm>
          <a:prstGeom prst="rect">
            <a:avLst/>
          </a:prstGeom>
          <a:noFill/>
          <a:ln/>
        </p:spPr>
        <p:txBody>
          <a:bodyPr wrap="square" lIns="0" tIns="0" rIns="0" bIns="0" rtlCol="0" anchor="t"/>
          <a:lstStyle/>
          <a:p>
            <a:pPr indent="0" marL="0">
              <a:spcAft>
                <a:spcPts val="400"/>
              </a:spcAft>
              <a:buNone/>
            </a:pPr>
            <a:r>
              <a:rPr lang="en-US" sz="1400" b="1" dirty="0">
                <a:solidFill>
                  <a:srgbClr val="2D2D2D"/>
                </a:solidFill>
                <a:latin typeface="Arial" pitchFamily="34" charset="0"/>
                <a:ea typeface="Arial" pitchFamily="34" charset="-122"/>
                <a:cs typeface="Arial" pitchFamily="34" charset="-120"/>
              </a:rPr>
              <a:t>DisasTeller: </a:t>
            </a:r>
            <a:pPr indent="0" marL="0">
              <a:spcAft>
                <a:spcPts val="400"/>
              </a:spcAft>
              <a:buNone/>
            </a:pPr>
            <a:r>
              <a:rPr lang="en-US" sz="1400" dirty="0">
                <a:solidFill>
                  <a:srgbClr val="2D2D2D"/>
                </a:solidFill>
                <a:latin typeface="Arial" pitchFamily="34" charset="0"/>
                <a:ea typeface="Arial" pitchFamily="34" charset="-122"/>
                <a:cs typeface="Arial" pitchFamily="34" charset="-120"/>
              </a:rPr>
              <a:t>four CrewAI agents with EMS-98 retrieval; vision runs on Gemini</a:t>
            </a:r>
            <a:endParaRPr lang="en-US" sz="1400" dirty="0"/>
          </a:p>
          <a:p>
            <a:pPr indent="0" marL="0">
              <a:spcAft>
                <a:spcPts val="400"/>
              </a:spcAft>
              <a:buNone/>
            </a:pPr>
            <a:r>
              <a:rPr lang="en-US" sz="1400" b="1" dirty="0">
                <a:solidFill>
                  <a:srgbClr val="2D2D2D"/>
                </a:solidFill>
                <a:latin typeface="Arial" pitchFamily="34" charset="0"/>
                <a:ea typeface="Arial" pitchFamily="34" charset="-122"/>
                <a:cs typeface="Arial" pitchFamily="34" charset="-120"/>
              </a:rPr>
              <a:t>DisasterVQA: </a:t>
            </a:r>
            <a:pPr indent="0" marL="0">
              <a:spcAft>
                <a:spcPts val="400"/>
              </a:spcAft>
              <a:buNone/>
            </a:pPr>
            <a:r>
              <a:rPr lang="en-US" sz="1400" dirty="0">
                <a:solidFill>
                  <a:srgbClr val="2D2D2D"/>
                </a:solidFill>
                <a:latin typeface="Arial" pitchFamily="34" charset="0"/>
                <a:ea typeface="Arial" pitchFamily="34" charset="-122"/>
                <a:cs typeface="Arial" pitchFamily="34" charset="-120"/>
              </a:rPr>
              <a:t>cross-benchmark, zero-shot test of our model on 500 questions</a:t>
            </a:r>
            <a:endParaRPr lang="en-US" sz="1400" dirty="0"/>
          </a:p>
          <a:p>
            <a:pPr indent="0" marL="0">
              <a:spcAft>
                <a:spcPts val="400"/>
              </a:spcAft>
              <a:buNone/>
            </a:pPr>
            <a:r>
              <a:rPr lang="en-US" sz="1400" b="1" dirty="0">
                <a:solidFill>
                  <a:srgbClr val="2D2D2D"/>
                </a:solidFill>
                <a:latin typeface="Arial" pitchFamily="34" charset="0"/>
                <a:ea typeface="Arial" pitchFamily="34" charset="-122"/>
                <a:cs typeface="Arial" pitchFamily="34" charset="-120"/>
              </a:rPr>
              <a:t>VRT super-resolution: </a:t>
            </a:r>
            <a:pPr indent="0" marL="0">
              <a:spcAft>
                <a:spcPts val="400"/>
              </a:spcAft>
              <a:buNone/>
            </a:pPr>
            <a:r>
              <a:rPr lang="en-US" sz="1400" dirty="0">
                <a:solidFill>
                  <a:srgbClr val="2D2D2D"/>
                </a:solidFill>
                <a:latin typeface="Arial" pitchFamily="34" charset="0"/>
                <a:ea typeface="Arial" pitchFamily="34" charset="-122"/>
                <a:cs typeface="Arial" pitchFamily="34" charset="-120"/>
              </a:rPr>
              <a:t>4× upscaling study, shown on 3 sample images</a:t>
            </a:r>
            <a:endParaRPr lang="en-US" sz="1400" dirty="0"/>
          </a:p>
        </p:txBody>
      </p:sp>
      <p:sp>
        <p:nvSpPr>
          <p:cNvPr id="27" name="Text 24"/>
          <p:cNvSpPr/>
          <p:nvPr/>
        </p:nvSpPr>
        <p:spPr>
          <a:xfrm>
            <a:off x="457200" y="4526280"/>
            <a:ext cx="8229600" cy="256032"/>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Wang et al. (2025); Bai et al. (2025); Dettmers et al. (2023).</a:t>
            </a:r>
            <a:endParaRPr lang="en-US" sz="11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Review</a:t>
            </a:r>
            <a:endParaRPr lang="en-US" sz="1000" dirty="0"/>
          </a:p>
        </p:txBody>
      </p:sp>
      <p:sp>
        <p:nvSpPr>
          <p:cNvPr id="4" name="Shape 2"/>
          <p:cNvSpPr/>
          <p:nvPr/>
        </p:nvSpPr>
        <p:spPr>
          <a:xfrm>
            <a:off x="342900" y="219456"/>
            <a:ext cx="1600200" cy="36576"/>
          </a:xfrm>
          <a:prstGeom prst="rect">
            <a:avLst/>
          </a:prstGeom>
          <a:solidFill>
            <a:srgbClr val="2E75B6"/>
          </a:solidFill>
          <a:ln w="12700">
            <a:solidFill>
              <a:srgbClr val="2E75B6"/>
            </a:solidFill>
            <a:prstDash val="solid"/>
          </a:ln>
        </p:spPr>
      </p:sp>
      <p:sp>
        <p:nvSpPr>
          <p:cNvPr id="5" name="Text 3"/>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6" name="Text 4"/>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499A tied GPT-4.1-mini on DisasterVQA, but the VLM could not count and Destroyed IoU stayed at 0.17</a:t>
            </a:r>
            <a:endParaRPr lang="en-US" sz="2200" dirty="0"/>
          </a:p>
        </p:txBody>
      </p:sp>
      <p:graphicFrame>
        <p:nvGraphicFramePr>
          <p:cNvPr id="10" name="Chart 0" descr=""/>
          <p:cNvGraphicFramePr/>
          <p:nvPr/>
        </p:nvGraphicFramePr>
        <p:xfrm>
          <a:off x="457200" y="118872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11" name="Shape 7"/>
          <p:cNvSpPr/>
          <p:nvPr/>
        </p:nvSpPr>
        <p:spPr>
          <a:xfrm>
            <a:off x="2880360" y="1325880"/>
            <a:ext cx="2011680" cy="411480"/>
          </a:xfrm>
          <a:prstGeom prst="roundRect">
            <a:avLst>
              <a:gd name="adj" fmla="val 13333"/>
            </a:avLst>
          </a:prstGeom>
          <a:solidFill>
            <a:srgbClr val="FFF2CC"/>
          </a:solidFill>
          <a:ln w="12700">
            <a:solidFill>
              <a:srgbClr val="E6C800"/>
            </a:solidFill>
            <a:prstDash val="solid"/>
          </a:ln>
        </p:spPr>
      </p:sp>
      <p:sp>
        <p:nvSpPr>
          <p:cNvPr id="12" name="Text 8"/>
          <p:cNvSpPr/>
          <p:nvPr/>
        </p:nvSpPr>
        <p:spPr>
          <a:xfrm>
            <a:off x="2880360" y="1325880"/>
            <a:ext cx="2011680" cy="411480"/>
          </a:xfrm>
          <a:prstGeom prst="rect">
            <a:avLst/>
          </a:prstGeom>
          <a:noFill/>
          <a:ln/>
        </p:spPr>
        <p:txBody>
          <a:bodyPr wrap="square" lIns="381" tIns="381" rIns="381" bIns="381" rtlCol="0" anchor="ctr"/>
          <a:lstStyle/>
          <a:p>
            <a:pPr algn="ctr" indent="0" marL="0">
              <a:buNone/>
            </a:pPr>
            <a:r>
              <a:rPr lang="en-US" sz="1200" b="1" dirty="0">
                <a:solidFill>
                  <a:srgbClr val="7A5200"/>
                </a:solidFill>
                <a:latin typeface="Arial" pitchFamily="34" charset="0"/>
                <a:ea typeface="Arial" pitchFamily="34" charset="-122"/>
                <a:cs typeface="Arial" pitchFamily="34" charset="-120"/>
              </a:rPr>
              <a:t>Destroyed: 0.1658, the weakest class</a:t>
            </a:r>
            <a:endParaRPr lang="en-US" sz="1200" dirty="0"/>
          </a:p>
        </p:txBody>
      </p:sp>
      <p:sp>
        <p:nvSpPr>
          <p:cNvPr id="13" name="Text 9"/>
          <p:cNvSpPr/>
          <p:nvPr/>
        </p:nvSpPr>
        <p:spPr>
          <a:xfrm>
            <a:off x="5303520" y="1188720"/>
            <a:ext cx="3383280" cy="320040"/>
          </a:xfrm>
          <a:prstGeom prst="rect">
            <a:avLst/>
          </a:prstGeom>
          <a:noFill/>
          <a:ln/>
        </p:spPr>
        <p:txBody>
          <a:bodyPr wrap="square" lIns="0" tIns="0" rIns="0" bIns="0" rtlCol="0" anchor="ctr"/>
          <a:lstStyle/>
          <a:p>
            <a:pPr indent="0" marL="0">
              <a:buNone/>
            </a:pPr>
            <a:r>
              <a:rPr lang="en-US" sz="1800" b="1" dirty="0">
                <a:solidFill>
                  <a:srgbClr val="2E75B6"/>
                </a:solidFill>
                <a:latin typeface="Arial" pitchFamily="34" charset="0"/>
                <a:ea typeface="Arial" pitchFamily="34" charset="-122"/>
                <a:cs typeface="Arial" pitchFamily="34" charset="-120"/>
              </a:rPr>
              <a:t>Headline 499A results</a:t>
            </a:r>
            <a:endParaRPr lang="en-US" sz="1800" dirty="0"/>
          </a:p>
        </p:txBody>
      </p:sp>
      <p:sp>
        <p:nvSpPr>
          <p:cNvPr id="14" name="Text 10"/>
          <p:cNvSpPr/>
          <p:nvPr/>
        </p:nvSpPr>
        <p:spPr>
          <a:xfrm>
            <a:off x="5303520" y="1554480"/>
            <a:ext cx="3383280" cy="288036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2D2D2D"/>
                </a:solidFill>
                <a:latin typeface="Arial" pitchFamily="34" charset="0"/>
                <a:ea typeface="Arial" pitchFamily="34" charset="-122"/>
                <a:cs typeface="Arial" pitchFamily="34" charset="-120"/>
              </a:rPr>
              <a:t>31.39% </a:t>
            </a:r>
            <a:pPr indent="0" marL="0">
              <a:spcAft>
                <a:spcPts val="600"/>
              </a:spcAft>
              <a:buNone/>
            </a:pPr>
            <a:r>
              <a:rPr lang="en-US" sz="1400" dirty="0">
                <a:solidFill>
                  <a:srgbClr val="2D2D2D"/>
                </a:solidFill>
                <a:latin typeface="Arial" pitchFamily="34" charset="0"/>
                <a:ea typeface="Arial" pitchFamily="34" charset="-122"/>
                <a:cs typeface="Arial" pitchFamily="34" charset="-120"/>
              </a:rPr>
              <a:t>DisasterM3 six-task average (base 31.2%; paper's 4× H100 model 40.4%)</a:t>
            </a:r>
            <a:endParaRPr lang="en-US" sz="1400" dirty="0"/>
          </a:p>
          <a:p>
            <a:pPr marL="342900" indent="-342900">
              <a:spcAft>
                <a:spcPts val="600"/>
              </a:spcAft>
              <a:buSzPct val="100000"/>
              <a:buChar char="•"/>
            </a:pPr>
            <a:r>
              <a:rPr lang="en-US" sz="1400" b="1" dirty="0">
                <a:solidFill>
                  <a:srgbClr val="2D2D2D"/>
                </a:solidFill>
                <a:latin typeface="Arial" pitchFamily="34" charset="0"/>
                <a:ea typeface="Arial" pitchFamily="34" charset="-122"/>
                <a:cs typeface="Arial" pitchFamily="34" charset="-120"/>
              </a:rPr>
              <a:t>+11.69 pts </a:t>
            </a:r>
            <a:pPr indent="0" marL="0">
              <a:spcAft>
                <a:spcPts val="600"/>
              </a:spcAft>
              <a:buNone/>
            </a:pPr>
            <a:r>
              <a:rPr lang="en-US" sz="1400" dirty="0">
                <a:solidFill>
                  <a:srgbClr val="2D2D2D"/>
                </a:solidFill>
                <a:latin typeface="Arial" pitchFamily="34" charset="0"/>
                <a:ea typeface="Arial" pitchFamily="34" charset="-122"/>
                <a:cs typeface="Arial" pitchFamily="34" charset="-120"/>
              </a:rPr>
              <a:t>Bearing Body Recognition over the base model</a:t>
            </a:r>
            <a:endParaRPr lang="en-US" sz="1400" dirty="0"/>
          </a:p>
          <a:p>
            <a:pPr marL="342900" indent="-342900">
              <a:spcAft>
                <a:spcPts val="600"/>
              </a:spcAft>
              <a:buSzPct val="100000"/>
              <a:buChar char="•"/>
            </a:pPr>
            <a:r>
              <a:rPr lang="en-US" sz="1400" b="1" dirty="0">
                <a:solidFill>
                  <a:srgbClr val="2D2D2D"/>
                </a:solidFill>
                <a:latin typeface="Arial" pitchFamily="34" charset="0"/>
                <a:ea typeface="Arial" pitchFamily="34" charset="-122"/>
                <a:cs typeface="Arial" pitchFamily="34" charset="-120"/>
              </a:rPr>
              <a:t>−10.62 pts </a:t>
            </a:r>
            <a:pPr indent="0" marL="0">
              <a:spcAft>
                <a:spcPts val="600"/>
              </a:spcAft>
              <a:buNone/>
            </a:pPr>
            <a:r>
              <a:rPr lang="en-US" sz="1400" dirty="0">
                <a:solidFill>
                  <a:srgbClr val="2D2D2D"/>
                </a:solidFill>
                <a:latin typeface="Arial" pitchFamily="34" charset="0"/>
                <a:ea typeface="Arial" pitchFamily="34" charset="-122"/>
                <a:cs typeface="Arial" pitchFamily="34" charset="-120"/>
              </a:rPr>
              <a:t>Building Damage Counting: the VLM alone cannot count</a:t>
            </a:r>
            <a:endParaRPr lang="en-US" sz="1400" dirty="0"/>
          </a:p>
          <a:p>
            <a:pPr marL="342900" indent="-342900">
              <a:spcAft>
                <a:spcPts val="600"/>
              </a:spcAft>
              <a:buSzPct val="100000"/>
              <a:buChar char="•"/>
            </a:pPr>
            <a:r>
              <a:rPr lang="en-US" sz="1400" b="1" dirty="0">
                <a:solidFill>
                  <a:srgbClr val="2D2D2D"/>
                </a:solidFill>
                <a:latin typeface="Arial" pitchFamily="34" charset="0"/>
                <a:ea typeface="Arial" pitchFamily="34" charset="-122"/>
                <a:cs typeface="Arial" pitchFamily="34" charset="-120"/>
              </a:rPr>
              <a:t>91.18% </a:t>
            </a:r>
            <a:pPr indent="0" marL="0">
              <a:spcAft>
                <a:spcPts val="600"/>
              </a:spcAft>
              <a:buNone/>
            </a:pPr>
            <a:r>
              <a:rPr lang="en-US" sz="1400" dirty="0">
                <a:solidFill>
                  <a:srgbClr val="2D2D2D"/>
                </a:solidFill>
                <a:latin typeface="Arial" pitchFamily="34" charset="0"/>
                <a:ea typeface="Arial" pitchFamily="34" charset="-122"/>
                <a:cs typeface="Arial" pitchFamily="34" charset="-120"/>
              </a:rPr>
              <a:t>DisasterVQA binary accuracy, tying GPT-4.1-mini</a:t>
            </a:r>
            <a:endParaRPr lang="en-US" sz="1400" dirty="0"/>
          </a:p>
          <a:p>
            <a:pPr marL="342900" indent="-342900">
              <a:spcAft>
                <a:spcPts val="600"/>
              </a:spcAft>
              <a:buSzPct val="100000"/>
              <a:buChar char="•"/>
            </a:pPr>
            <a:r>
              <a:rPr lang="en-US" sz="1400" b="1" dirty="0">
                <a:solidFill>
                  <a:srgbClr val="2D2D2D"/>
                </a:solidFill>
                <a:latin typeface="Arial" pitchFamily="34" charset="0"/>
                <a:ea typeface="Arial" pitchFamily="34" charset="-122"/>
                <a:cs typeface="Arial" pitchFamily="34" charset="-120"/>
              </a:rPr>
              <a:t>$0 </a:t>
            </a:r>
            <a:pPr indent="0" marL="0">
              <a:spcAft>
                <a:spcPts val="600"/>
              </a:spcAft>
              <a:buNone/>
            </a:pPr>
            <a:r>
              <a:rPr lang="en-US" sz="1400" dirty="0">
                <a:solidFill>
                  <a:srgbClr val="2D2D2D"/>
                </a:solidFill>
                <a:latin typeface="Arial" pitchFamily="34" charset="0"/>
                <a:ea typeface="Arial" pitchFamily="34" charset="-122"/>
                <a:cs typeface="Arial" pitchFamily="34" charset="-120"/>
              </a:rPr>
              <a:t>compute: one free 16 GB T4</a:t>
            </a:r>
            <a:endParaRPr lang="en-US" sz="1400" dirty="0"/>
          </a:p>
        </p:txBody>
      </p:sp>
      <p:sp>
        <p:nvSpPr>
          <p:cNvPr id="15" name="Text 11"/>
          <p:cNvSpPr/>
          <p:nvPr/>
        </p:nvSpPr>
        <p:spPr>
          <a:xfrm>
            <a:off x="457200" y="4526280"/>
            <a:ext cx="8229600" cy="256032"/>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Segmentation: U-Net, ResNet-34, CE + Dice, resized to 512. DisasterVQA: Al-Mohannadi et al. (2026).</a:t>
            </a:r>
            <a:endParaRPr lang="en-US" sz="11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Review</a:t>
            </a:r>
            <a:endParaRPr lang="en-US" sz="1000" dirty="0"/>
          </a:p>
        </p:txBody>
      </p:sp>
      <p:sp>
        <p:nvSpPr>
          <p:cNvPr id="4" name="Shape 2"/>
          <p:cNvSpPr/>
          <p:nvPr/>
        </p:nvSpPr>
        <p:spPr>
          <a:xfrm>
            <a:off x="342900" y="219456"/>
            <a:ext cx="1600200" cy="36576"/>
          </a:xfrm>
          <a:prstGeom prst="rect">
            <a:avLst/>
          </a:prstGeom>
          <a:solidFill>
            <a:srgbClr val="2E75B6"/>
          </a:solidFill>
          <a:ln w="12700">
            <a:solidFill>
              <a:srgbClr val="2E75B6"/>
            </a:solidFill>
            <a:prstDash val="solid"/>
          </a:ln>
        </p:spPr>
      </p:sp>
      <p:sp>
        <p:nvSpPr>
          <p:cNvPr id="5" name="Text 3"/>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6" name="Text 4"/>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Four gaps remain, and the segmentation stage comes first because every count and heatmap inherits its errors</a:t>
            </a:r>
            <a:endParaRPr lang="en-US" sz="2200" dirty="0"/>
          </a:p>
        </p:txBody>
      </p:sp>
      <p:sp>
        <p:nvSpPr>
          <p:cNvPr id="10" name="Shape 7"/>
          <p:cNvSpPr/>
          <p:nvPr/>
        </p:nvSpPr>
        <p:spPr>
          <a:xfrm>
            <a:off x="457200" y="1234440"/>
            <a:ext cx="4023360" cy="1417320"/>
          </a:xfrm>
          <a:prstGeom prst="rect">
            <a:avLst/>
          </a:prstGeom>
          <a:solidFill>
            <a:srgbClr val="FFFFFF"/>
          </a:solidFill>
          <a:ln w="12700">
            <a:solidFill>
              <a:srgbClr val="CCCCCC"/>
            </a:solidFill>
            <a:prstDash val="solid"/>
          </a:ln>
        </p:spPr>
      </p:sp>
      <p:sp>
        <p:nvSpPr>
          <p:cNvPr id="11" name="Text 8"/>
          <p:cNvSpPr/>
          <p:nvPr/>
        </p:nvSpPr>
        <p:spPr>
          <a:xfrm>
            <a:off x="594360" y="1325880"/>
            <a:ext cx="3749040" cy="32004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1 · Spatial blindness</a:t>
            </a:r>
            <a:endParaRPr lang="en-US" sz="1600" dirty="0"/>
          </a:p>
        </p:txBody>
      </p:sp>
      <p:sp>
        <p:nvSpPr>
          <p:cNvPr id="12" name="Text 9"/>
          <p:cNvSpPr/>
          <p:nvPr/>
        </p:nvSpPr>
        <p:spPr>
          <a:xfrm>
            <a:off x="594360" y="1691640"/>
            <a:ext cx="3749040" cy="86868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At most 512 vision tokens per image on a T4; building counting fell to 23.58%, below the base model's 34.2%</a:t>
            </a:r>
            <a:endParaRPr lang="en-US" sz="1400" dirty="0"/>
          </a:p>
        </p:txBody>
      </p:sp>
      <p:sp>
        <p:nvSpPr>
          <p:cNvPr id="13" name="Shape 10"/>
          <p:cNvSpPr/>
          <p:nvPr/>
        </p:nvSpPr>
        <p:spPr>
          <a:xfrm>
            <a:off x="4663440" y="1234440"/>
            <a:ext cx="4023360" cy="1417320"/>
          </a:xfrm>
          <a:prstGeom prst="rect">
            <a:avLst/>
          </a:prstGeom>
          <a:solidFill>
            <a:srgbClr val="FFF2CC"/>
          </a:solidFill>
          <a:ln w="25400">
            <a:solidFill>
              <a:srgbClr val="C55A11"/>
            </a:solidFill>
            <a:prstDash val="solid"/>
          </a:ln>
        </p:spPr>
      </p:sp>
      <p:sp>
        <p:nvSpPr>
          <p:cNvPr id="14" name="Text 11"/>
          <p:cNvSpPr/>
          <p:nvPr/>
        </p:nvSpPr>
        <p:spPr>
          <a:xfrm>
            <a:off x="4800600" y="1325880"/>
            <a:ext cx="3749040" cy="320040"/>
          </a:xfrm>
          <a:prstGeom prst="rect">
            <a:avLst/>
          </a:prstGeom>
          <a:noFill/>
          <a:ln/>
        </p:spPr>
        <p:txBody>
          <a:bodyPr wrap="square" lIns="0" tIns="0" rIns="0" bIns="0" rtlCol="0" anchor="ctr"/>
          <a:lstStyle/>
          <a:p>
            <a:pPr indent="0" marL="0">
              <a:buNone/>
            </a:pPr>
            <a:r>
              <a:rPr lang="en-US" sz="1600" b="1" dirty="0">
                <a:solidFill>
                  <a:srgbClr val="C55A11"/>
                </a:solidFill>
                <a:latin typeface="Arial" pitchFamily="34" charset="0"/>
                <a:ea typeface="Arial" pitchFamily="34" charset="-122"/>
                <a:cs typeface="Arial" pitchFamily="34" charset="-120"/>
              </a:rPr>
              <a:t>2 · A weak spatial stage (fix first)</a:t>
            </a:r>
            <a:endParaRPr lang="en-US" sz="1600" dirty="0"/>
          </a:p>
        </p:txBody>
      </p:sp>
      <p:sp>
        <p:nvSpPr>
          <p:cNvPr id="15" name="Text 12"/>
          <p:cNvSpPr/>
          <p:nvPr/>
        </p:nvSpPr>
        <p:spPr>
          <a:xfrm>
            <a:off x="4800600" y="1691640"/>
            <a:ext cx="3749040" cy="86868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Destroyed = 0.33% of pixels, absent from 63% of images; Destroyed IoU 0.166 at 0.18 precision</a:t>
            </a:r>
            <a:endParaRPr lang="en-US" sz="1400" dirty="0"/>
          </a:p>
        </p:txBody>
      </p:sp>
      <p:sp>
        <p:nvSpPr>
          <p:cNvPr id="16" name="Shape 13"/>
          <p:cNvSpPr/>
          <p:nvPr/>
        </p:nvSpPr>
        <p:spPr>
          <a:xfrm>
            <a:off x="457200" y="2834640"/>
            <a:ext cx="4023360" cy="1417320"/>
          </a:xfrm>
          <a:prstGeom prst="rect">
            <a:avLst/>
          </a:prstGeom>
          <a:solidFill>
            <a:srgbClr val="FFFFFF"/>
          </a:solidFill>
          <a:ln w="12700">
            <a:solidFill>
              <a:srgbClr val="CCCCCC"/>
            </a:solidFill>
            <a:prstDash val="solid"/>
          </a:ln>
        </p:spPr>
      </p:sp>
      <p:sp>
        <p:nvSpPr>
          <p:cNvPr id="17" name="Text 14"/>
          <p:cNvSpPr/>
          <p:nvPr/>
        </p:nvSpPr>
        <p:spPr>
          <a:xfrm>
            <a:off x="594360" y="2926080"/>
            <a:ext cx="3749040" cy="32004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3 · Cloud dependency</a:t>
            </a:r>
            <a:endParaRPr lang="en-US" sz="1600" dirty="0"/>
          </a:p>
        </p:txBody>
      </p:sp>
      <p:sp>
        <p:nvSpPr>
          <p:cNvPr id="18" name="Text 15"/>
          <p:cNvSpPr/>
          <p:nvPr/>
        </p:nvSpPr>
        <p:spPr>
          <a:xfrm>
            <a:off x="594360" y="3291840"/>
            <a:ext cx="3749040" cy="86868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DisasTeller's vision agent calls the Gemini API, so reports stop where the network is down</a:t>
            </a:r>
            <a:endParaRPr lang="en-US" sz="1400" dirty="0"/>
          </a:p>
        </p:txBody>
      </p:sp>
      <p:sp>
        <p:nvSpPr>
          <p:cNvPr id="19" name="Shape 16"/>
          <p:cNvSpPr/>
          <p:nvPr/>
        </p:nvSpPr>
        <p:spPr>
          <a:xfrm>
            <a:off x="4663440" y="2834640"/>
            <a:ext cx="4023360" cy="1417320"/>
          </a:xfrm>
          <a:prstGeom prst="rect">
            <a:avLst/>
          </a:prstGeom>
          <a:solidFill>
            <a:srgbClr val="FFFFFF"/>
          </a:solidFill>
          <a:ln w="12700">
            <a:solidFill>
              <a:srgbClr val="CCCCCC"/>
            </a:solidFill>
            <a:prstDash val="solid"/>
          </a:ln>
        </p:spPr>
      </p:sp>
      <p:sp>
        <p:nvSpPr>
          <p:cNvPr id="20" name="Text 17"/>
          <p:cNvSpPr/>
          <p:nvPr/>
        </p:nvSpPr>
        <p:spPr>
          <a:xfrm>
            <a:off x="4800600" y="2926080"/>
            <a:ext cx="3749040" cy="32004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4 · Too big for the field</a:t>
            </a:r>
            <a:endParaRPr lang="en-US" sz="1600" dirty="0"/>
          </a:p>
        </p:txBody>
      </p:sp>
      <p:sp>
        <p:nvSpPr>
          <p:cNvPr id="21" name="Text 18"/>
          <p:cNvSpPr/>
          <p:nvPr/>
        </p:nvSpPr>
        <p:spPr>
          <a:xfrm>
            <a:off x="4800600" y="3291840"/>
            <a:ext cx="3749040" cy="86868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Merged 7B model is about 15 GB in FP16; field laptops need roughly 6 GB</a:t>
            </a:r>
            <a:endParaRPr lang="en-US" sz="14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Review</a:t>
            </a:r>
            <a:endParaRPr lang="en-US" sz="1000" dirty="0"/>
          </a:p>
        </p:txBody>
      </p:sp>
      <p:sp>
        <p:nvSpPr>
          <p:cNvPr id="4" name="Shape 2"/>
          <p:cNvSpPr/>
          <p:nvPr/>
        </p:nvSpPr>
        <p:spPr>
          <a:xfrm>
            <a:off x="342900" y="219456"/>
            <a:ext cx="1600200" cy="36576"/>
          </a:xfrm>
          <a:prstGeom prst="rect">
            <a:avLst/>
          </a:prstGeom>
          <a:solidFill>
            <a:srgbClr val="2E75B6"/>
          </a:solidFill>
          <a:ln w="12700">
            <a:solidFill>
              <a:srgbClr val="2E75B6"/>
            </a:solidFill>
            <a:prstDash val="solid"/>
          </a:ln>
        </p:spPr>
      </p:sp>
      <p:sp>
        <p:nvSpPr>
          <p:cNvPr id="5" name="Text 3"/>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6" name="Text 4"/>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499B sets one measurable key result for each gap</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103120"/>
                <a:gridCol w="4572000"/>
                <a:gridCol w="1554480"/>
              </a:tblGrid>
              <a:tr h="320040">
                <a:tc>
                  <a:txBody>
                    <a:bodyPr/>
                    <a:lstStyle/>
                    <a:p>
                      <a:pPr indent="0" marL="0">
                        <a:buNone/>
                      </a:pPr>
                      <a:r>
                        <a:rPr lang="en-US" sz="1300" b="1" dirty="0">
                          <a:solidFill>
                            <a:srgbClr val="FFFFFF"/>
                          </a:solidFill>
                          <a:latin typeface="Arial" pitchFamily="34" charset="0"/>
                          <a:ea typeface="Arial" pitchFamily="34" charset="-122"/>
                          <a:cs typeface="Arial" pitchFamily="34" charset="-120"/>
                        </a:rPr>
                        <a:t>Objective</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Key result (how we will know)</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Status</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r>
              <a:tr h="713232">
                <a:tc>
                  <a:txBody>
                    <a:bodyPr/>
                    <a:lstStyle/>
                    <a:p>
                      <a:pPr indent="0" marL="0">
                        <a:buNone/>
                      </a:pPr>
                      <a:r>
                        <a:rPr lang="en-US" sz="1300" b="1" dirty="0">
                          <a:solidFill>
                            <a:srgbClr val="2D2D2D"/>
                          </a:solidFill>
                          <a:latin typeface="Arial" pitchFamily="34" charset="0"/>
                          <a:ea typeface="Arial" pitchFamily="34" charset="-122"/>
                          <a:cs typeface="Arial" pitchFamily="34" charset="-120"/>
                        </a:rPr>
                        <a:t>O1 Strengthen the spatial stage</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Champion U-Net passes the Phase Gate on full-resolution validation images: mIoU above 0.52 and Destroyed IoU above 0.30</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Sprint done; champion runs under way</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713232">
                <a:tc>
                  <a:txBody>
                    <a:bodyPr/>
                    <a:lstStyle/>
                    <a:p>
                      <a:pPr indent="0" marL="0">
                        <a:buNone/>
                      </a:pPr>
                      <a:r>
                        <a:rPr lang="en-US" sz="1300" b="1" dirty="0">
                          <a:solidFill>
                            <a:srgbClr val="2D2D2D"/>
                          </a:solidFill>
                          <a:latin typeface="Arial" pitchFamily="34" charset="0"/>
                          <a:ea typeface="Arial" pitchFamily="34" charset="-122"/>
                          <a:cs typeface="Arial" pitchFamily="34" charset="-120"/>
                        </a:rPr>
                        <a:t>O2 Ground the VLM spatially</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Hybrid counting (champion U-Net plus a higher-resolution VLM) beats the base model's 34.2%; all six tasks re-scored</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Planned</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713232">
                <a:tc>
                  <a:txBody>
                    <a:bodyPr/>
                    <a:lstStyle/>
                    <a:p>
                      <a:pPr indent="0" marL="0">
                        <a:buNone/>
                      </a:pPr>
                      <a:r>
                        <a:rPr lang="en-US" sz="1300" b="1" dirty="0">
                          <a:solidFill>
                            <a:srgbClr val="2D2D2D"/>
                          </a:solidFill>
                          <a:latin typeface="Arial" pitchFamily="34" charset="0"/>
                          <a:ea typeface="Arial" pitchFamily="34" charset="-122"/>
                          <a:cs typeface="Arial" pitchFamily="34" charset="-120"/>
                        </a:rPr>
                        <a:t>O3 One offline triage system</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DisasTeller runs on our fine-tuned Qwen2.5-VL with no Gemini calls; returns report, damage map, counts and survivability heatmap</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Planned</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640080">
                <a:tc>
                  <a:txBody>
                    <a:bodyPr/>
                    <a:lstStyle/>
                    <a:p>
                      <a:pPr indent="0" marL="0">
                        <a:buNone/>
                      </a:pPr>
                      <a:r>
                        <a:rPr lang="en-US" sz="1300" b="1" dirty="0">
                          <a:solidFill>
                            <a:srgbClr val="2D2D2D"/>
                          </a:solidFill>
                          <a:latin typeface="Arial" pitchFamily="34" charset="0"/>
                          <a:ea typeface="Arial" pitchFamily="34" charset="-122"/>
                          <a:cs typeface="Arial" pitchFamily="34" charset="-120"/>
                        </a:rPr>
                        <a:t>O4 An edge-sized model</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Distilled Qwen2.5-VL-3B student fits in about 6 GB; per-task accuracy reported against the 7B teacher</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2D2D2D"/>
                          </a:solidFill>
                          <a:latin typeface="Arial" pitchFamily="34" charset="0"/>
                          <a:ea typeface="Arial" pitchFamily="34" charset="-122"/>
                          <a:cs typeface="Arial" pitchFamily="34" charset="-120"/>
                        </a:rPr>
                        <a:t>Notebooks prepared</a:t>
                      </a:r>
                      <a:endParaRPr lang="en-US" sz="13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499B so far</a:t>
            </a:r>
            <a:endParaRPr lang="en-US" sz="1000" dirty="0"/>
          </a:p>
        </p:txBody>
      </p:sp>
      <p:sp>
        <p:nvSpPr>
          <p:cNvPr id="5" name="Shape 3"/>
          <p:cNvSpPr/>
          <p:nvPr/>
        </p:nvSpPr>
        <p:spPr>
          <a:xfrm>
            <a:off x="2628900" y="219456"/>
            <a:ext cx="1600200" cy="36576"/>
          </a:xfrm>
          <a:prstGeom prst="rect">
            <a:avLst/>
          </a:prstGeom>
          <a:solidFill>
            <a:srgbClr val="2E75B6"/>
          </a:solidFill>
          <a:ln w="12700">
            <a:solidFill>
              <a:srgbClr val="2E75B6"/>
            </a:solidFill>
            <a:prstDash val="solid"/>
          </a:ln>
        </p:spPr>
      </p:sp>
      <p:sp>
        <p:nvSpPr>
          <p:cNvPr id="6" name="Text 4"/>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A 15-day sprint changed one variable per track, starting from a 0.4619 mIoU baseline</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103120"/>
                <a:gridCol w="1737360"/>
                <a:gridCol w="4389120"/>
              </a:tblGrid>
              <a:tr h="3200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Track</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Owner</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What changed</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r>
              <a:tr h="621792">
                <a:tc>
                  <a:txBody>
                    <a:bodyPr/>
                    <a:lstStyle/>
                    <a:p>
                      <a:pPr indent="0" marL="0">
                        <a:buNone/>
                      </a:pPr>
                      <a:r>
                        <a:rPr lang="en-US" sz="1200" b="1" dirty="0">
                          <a:solidFill>
                            <a:srgbClr val="2D2D2D"/>
                          </a:solidFill>
                          <a:latin typeface="Arial" pitchFamily="34" charset="0"/>
                          <a:ea typeface="Arial" pitchFamily="34" charset="-122"/>
                          <a:cs typeface="Arial" pitchFamily="34" charset="-120"/>
                        </a:rPr>
                        <a:t>A · Data imbalance</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Aryan Sami</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Weighted sampler (10× / 5× / 1× by rarest class) and copy-paste of damaged and destroyed cut-outs, in 10-epoch screens</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621792">
                <a:tc>
                  <a:txBody>
                    <a:bodyPr/>
                    <a:lstStyle/>
                    <a:p>
                      <a:pPr indent="0" marL="0">
                        <a:buNone/>
                      </a:pPr>
                      <a:r>
                        <a:rPr lang="en-US" sz="1200" b="1" dirty="0">
                          <a:solidFill>
                            <a:srgbClr val="2D2D2D"/>
                          </a:solidFill>
                          <a:latin typeface="Arial" pitchFamily="34" charset="0"/>
                          <a:ea typeface="Arial" pitchFamily="34" charset="-122"/>
                          <a:cs typeface="Arial" pitchFamily="34" charset="-120"/>
                        </a:rPr>
                        <a:t>B · Architecture</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Tamanna Akter Mou</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U-Net++, U-Net++ with scSE attention, DeepLabV3+ and MA-Net against the U-Net, all with CE + Dice</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621792">
                <a:tc>
                  <a:txBody>
                    <a:bodyPr/>
                    <a:lstStyle/>
                    <a:p>
                      <a:pPr indent="0" marL="0">
                        <a:buNone/>
                      </a:pPr>
                      <a:r>
                        <a:rPr lang="en-US" sz="1200" b="1" dirty="0">
                          <a:solidFill>
                            <a:srgbClr val="2D2D2D"/>
                          </a:solidFill>
                          <a:latin typeface="Arial" pitchFamily="34" charset="0"/>
                          <a:ea typeface="Arial" pitchFamily="34" charset="-122"/>
                          <a:cs typeface="Arial" pitchFamily="34" charset="-120"/>
                        </a:rPr>
                        <a:t>C · Loss and backbone</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Abdullah Al Noman</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Focal Tversky (two settings), phased Focal Tversky → Lovász-Softmax, then ResNet-50 and EfficientNet-B4 encoders</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621792">
                <a:tc>
                  <a:txBody>
                    <a:bodyPr/>
                    <a:lstStyle/>
                    <a:p>
                      <a:pPr indent="0" marL="0">
                        <a:buNone/>
                      </a:pPr>
                      <a:r>
                        <a:rPr lang="en-US" sz="1200" b="1" dirty="0">
                          <a:solidFill>
                            <a:srgbClr val="2D2D2D"/>
                          </a:solidFill>
                          <a:latin typeface="Arial" pitchFamily="34" charset="0"/>
                          <a:ea typeface="Arial" pitchFamily="34" charset="-122"/>
                          <a:cs typeface="Arial" pitchFamily="34" charset="-120"/>
                        </a:rPr>
                        <a:t>D · Resolution and inference</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Ridita Afrin Riya</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Native 512 and 768 random crops instead of resizing, 8-view test-time augmentation and a sliding window</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11" name="Text 7"/>
          <p:cNvSpPr/>
          <p:nvPr/>
        </p:nvSpPr>
        <p:spPr>
          <a:xfrm>
            <a:off x="457200" y="4224528"/>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Arial" pitchFamily="34" charset="0"/>
                <a:ea typeface="Arial" pitchFamily="34" charset="-122"/>
                <a:cs typeface="Arial" pitchFamily="34" charset="-120"/>
              </a:rPr>
              <a:t>Lead, Abrar Mohammed Tanzim Alam: sprint plan, results audit and the shared champion protocol (D4).</a:t>
            </a:r>
            <a:endParaRPr lang="en-US" sz="12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499B so far</a:t>
            </a:r>
            <a:endParaRPr lang="en-US" sz="1000" dirty="0"/>
          </a:p>
        </p:txBody>
      </p:sp>
      <p:sp>
        <p:nvSpPr>
          <p:cNvPr id="5" name="Shape 3"/>
          <p:cNvSpPr/>
          <p:nvPr/>
        </p:nvSpPr>
        <p:spPr>
          <a:xfrm>
            <a:off x="2628900" y="219456"/>
            <a:ext cx="1600200" cy="36576"/>
          </a:xfrm>
          <a:prstGeom prst="rect">
            <a:avLst/>
          </a:prstGeom>
          <a:solidFill>
            <a:srgbClr val="2E75B6"/>
          </a:solidFill>
          <a:ln w="12700">
            <a:solidFill>
              <a:srgbClr val="2E75B6"/>
            </a:solidFill>
            <a:prstDash val="solid"/>
          </a:ln>
        </p:spPr>
      </p:sp>
      <p:sp>
        <p:nvSpPr>
          <p:cNvPr id="6" name="Text 4"/>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Track A: the weighted sampler gave the clearest Destroyed gain, while leak-free copy-paste was neutral</a:t>
            </a:r>
            <a:endParaRPr lang="en-US" sz="2200" dirty="0"/>
          </a:p>
        </p:txBody>
      </p:sp>
      <p:graphicFrame>
        <p:nvGraphicFramePr>
          <p:cNvPr id="10" name="Chart 0" descr=""/>
          <p:cNvGraphicFramePr/>
          <p:nvPr/>
        </p:nvGraphicFramePr>
        <p:xfrm>
          <a:off x="457200" y="1188720"/>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11" name="Shape 7"/>
          <p:cNvSpPr/>
          <p:nvPr/>
        </p:nvSpPr>
        <p:spPr>
          <a:xfrm>
            <a:off x="3383280" y="1572768"/>
            <a:ext cx="1691640" cy="384048"/>
          </a:xfrm>
          <a:prstGeom prst="roundRect">
            <a:avLst>
              <a:gd name="adj" fmla="val 14286"/>
            </a:avLst>
          </a:prstGeom>
          <a:solidFill>
            <a:srgbClr val="FFF2CC"/>
          </a:solidFill>
          <a:ln w="12700">
            <a:solidFill>
              <a:srgbClr val="E6C800"/>
            </a:solidFill>
            <a:prstDash val="solid"/>
          </a:ln>
        </p:spPr>
      </p:sp>
      <p:sp>
        <p:nvSpPr>
          <p:cNvPr id="12" name="Text 8"/>
          <p:cNvSpPr/>
          <p:nvPr/>
        </p:nvSpPr>
        <p:spPr>
          <a:xfrm>
            <a:off x="3383280" y="1572768"/>
            <a:ext cx="1691640" cy="384048"/>
          </a:xfrm>
          <a:prstGeom prst="rect">
            <a:avLst/>
          </a:prstGeom>
          <a:noFill/>
          <a:ln/>
        </p:spPr>
        <p:txBody>
          <a:bodyPr wrap="square" lIns="381" tIns="381" rIns="381" bIns="381" rtlCol="0" anchor="ctr"/>
          <a:lstStyle/>
          <a:p>
            <a:pPr algn="ctr" indent="0" marL="0">
              <a:buNone/>
            </a:pPr>
            <a:r>
              <a:rPr lang="en-US" sz="1200" b="1" dirty="0">
                <a:solidFill>
                  <a:srgbClr val="7A5200"/>
                </a:solidFill>
                <a:latin typeface="Arial" pitchFamily="34" charset="0"/>
                <a:ea typeface="Arial" pitchFamily="34" charset="-122"/>
                <a:cs typeface="Arial" pitchFamily="34" charset="-120"/>
              </a:rPr>
              <a:t>Sampler: Destroyed +0.012</a:t>
            </a:r>
            <a:endParaRPr lang="en-US" sz="1200" dirty="0"/>
          </a:p>
        </p:txBody>
      </p:sp>
      <p:sp>
        <p:nvSpPr>
          <p:cNvPr id="13" name="Text 9"/>
          <p:cNvSpPr/>
          <p:nvPr/>
        </p:nvSpPr>
        <p:spPr>
          <a:xfrm>
            <a:off x="5486400" y="1188720"/>
            <a:ext cx="3200400" cy="320040"/>
          </a:xfrm>
          <a:prstGeom prst="rect">
            <a:avLst/>
          </a:prstGeom>
          <a:noFill/>
          <a:ln/>
        </p:spPr>
        <p:txBody>
          <a:bodyPr wrap="square" lIns="0" tIns="0" rIns="0" bIns="0" rtlCol="0" anchor="ctr"/>
          <a:lstStyle/>
          <a:p>
            <a:pPr indent="0" marL="0">
              <a:buNone/>
            </a:pPr>
            <a:r>
              <a:rPr lang="en-US" sz="1800" b="1" dirty="0">
                <a:solidFill>
                  <a:srgbClr val="2E75B6"/>
                </a:solidFill>
                <a:latin typeface="Arial" pitchFamily="34" charset="0"/>
                <a:ea typeface="Arial" pitchFamily="34" charset="-122"/>
                <a:cs typeface="Arial" pitchFamily="34" charset="-120"/>
              </a:rPr>
              <a:t>What to take away</a:t>
            </a:r>
            <a:endParaRPr lang="en-US" sz="1800" dirty="0"/>
          </a:p>
        </p:txBody>
      </p:sp>
      <p:sp>
        <p:nvSpPr>
          <p:cNvPr id="14" name="Text 10"/>
          <p:cNvSpPr/>
          <p:nvPr/>
        </p:nvSpPr>
        <p:spPr>
          <a:xfrm>
            <a:off x="5486400" y="1572768"/>
            <a:ext cx="3200400" cy="28346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10-epoch screens, so lower than the 40-epoch runs</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Copy-paste was neutral once a validation leak was removed</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It also pasted buildings at 2× scale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R2 re-tests copy-paste with both fixed</a:t>
            </a:r>
            <a:endParaRPr lang="en-US" sz="1600" dirty="0"/>
          </a:p>
        </p:txBody>
      </p:sp>
      <p:sp>
        <p:nvSpPr>
          <p:cNvPr id="15" name="Text 11"/>
          <p:cNvSpPr/>
          <p:nvPr/>
        </p:nvSpPr>
        <p:spPr>
          <a:xfrm>
            <a:off x="457200" y="4526280"/>
            <a:ext cx="8229600" cy="256032"/>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Copy-paste augmentation: Ghiasi et al. (2021).</a:t>
            </a:r>
            <a:endParaRPr lang="en-US" sz="11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499B so far</a:t>
            </a:r>
            <a:endParaRPr lang="en-US" sz="1000" dirty="0"/>
          </a:p>
        </p:txBody>
      </p:sp>
      <p:sp>
        <p:nvSpPr>
          <p:cNvPr id="5" name="Shape 3"/>
          <p:cNvSpPr/>
          <p:nvPr/>
        </p:nvSpPr>
        <p:spPr>
          <a:xfrm>
            <a:off x="2628900" y="219456"/>
            <a:ext cx="1600200" cy="36576"/>
          </a:xfrm>
          <a:prstGeom prst="rect">
            <a:avLst/>
          </a:prstGeom>
          <a:solidFill>
            <a:srgbClr val="2E75B6"/>
          </a:solidFill>
          <a:ln w="12700">
            <a:solidFill>
              <a:srgbClr val="2E75B6"/>
            </a:solidFill>
            <a:prstDash val="solid"/>
          </a:ln>
        </p:spPr>
      </p:sp>
      <p:sp>
        <p:nvSpPr>
          <p:cNvPr id="6" name="Text 4"/>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Track D: native 768 crops lifted Destroyed IoU 65% over 512 crops, and test-time augmentation added a little more</a:t>
            </a:r>
            <a:endParaRPr lang="en-US" sz="2200" dirty="0"/>
          </a:p>
        </p:txBody>
      </p:sp>
      <p:graphicFrame>
        <p:nvGraphicFramePr>
          <p:cNvPr id="10" name="Chart 0" descr=""/>
          <p:cNvGraphicFramePr/>
          <p:nvPr/>
        </p:nvGraphicFramePr>
        <p:xfrm>
          <a:off x="457200" y="1188720"/>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11" name="Shape 7"/>
          <p:cNvSpPr/>
          <p:nvPr/>
        </p:nvSpPr>
        <p:spPr>
          <a:xfrm>
            <a:off x="2971800" y="1572768"/>
            <a:ext cx="2103120" cy="384048"/>
          </a:xfrm>
          <a:prstGeom prst="roundRect">
            <a:avLst>
              <a:gd name="adj" fmla="val 14286"/>
            </a:avLst>
          </a:prstGeom>
          <a:solidFill>
            <a:srgbClr val="FFF2CC"/>
          </a:solidFill>
          <a:ln w="12700">
            <a:solidFill>
              <a:srgbClr val="E6C800"/>
            </a:solidFill>
            <a:prstDash val="solid"/>
          </a:ln>
        </p:spPr>
      </p:sp>
      <p:sp>
        <p:nvSpPr>
          <p:cNvPr id="12" name="Text 8"/>
          <p:cNvSpPr/>
          <p:nvPr/>
        </p:nvSpPr>
        <p:spPr>
          <a:xfrm>
            <a:off x="2971800" y="1572768"/>
            <a:ext cx="2103120" cy="384048"/>
          </a:xfrm>
          <a:prstGeom prst="rect">
            <a:avLst/>
          </a:prstGeom>
          <a:noFill/>
          <a:ln/>
        </p:spPr>
        <p:txBody>
          <a:bodyPr wrap="square" lIns="381" tIns="381" rIns="381" bIns="381" rtlCol="0" anchor="ctr"/>
          <a:lstStyle/>
          <a:p>
            <a:pPr algn="ctr" indent="0" marL="0">
              <a:buNone/>
            </a:pPr>
            <a:r>
              <a:rPr lang="en-US" sz="1200" b="1" dirty="0">
                <a:solidFill>
                  <a:srgbClr val="7A5200"/>
                </a:solidFill>
                <a:latin typeface="Arial" pitchFamily="34" charset="0"/>
                <a:ea typeface="Arial" pitchFamily="34" charset="-122"/>
                <a:cs typeface="Arial" pitchFamily="34" charset="-120"/>
              </a:rPr>
              <a:t>768 vs 512: +65% Destroyed IoU</a:t>
            </a:r>
            <a:endParaRPr lang="en-US" sz="1200" dirty="0"/>
          </a:p>
        </p:txBody>
      </p:sp>
      <p:sp>
        <p:nvSpPr>
          <p:cNvPr id="13" name="Text 9"/>
          <p:cNvSpPr/>
          <p:nvPr/>
        </p:nvSpPr>
        <p:spPr>
          <a:xfrm>
            <a:off x="5486400" y="1188720"/>
            <a:ext cx="3200400" cy="320040"/>
          </a:xfrm>
          <a:prstGeom prst="rect">
            <a:avLst/>
          </a:prstGeom>
          <a:noFill/>
          <a:ln/>
        </p:spPr>
        <p:txBody>
          <a:bodyPr wrap="square" lIns="0" tIns="0" rIns="0" bIns="0" rtlCol="0" anchor="ctr"/>
          <a:lstStyle/>
          <a:p>
            <a:pPr indent="0" marL="0">
              <a:buNone/>
            </a:pPr>
            <a:r>
              <a:rPr lang="en-US" sz="1800" b="1" dirty="0">
                <a:solidFill>
                  <a:srgbClr val="2E75B6"/>
                </a:solidFill>
                <a:latin typeface="Arial" pitchFamily="34" charset="0"/>
                <a:ea typeface="Arial" pitchFamily="34" charset="-122"/>
                <a:cs typeface="Arial" pitchFamily="34" charset="-120"/>
              </a:rPr>
              <a:t>What to take away</a:t>
            </a:r>
            <a:endParaRPr lang="en-US" sz="1800" dirty="0"/>
          </a:p>
        </p:txBody>
      </p:sp>
      <p:sp>
        <p:nvSpPr>
          <p:cNvPr id="14" name="Text 10"/>
          <p:cNvSpPr/>
          <p:nvPr/>
        </p:nvSpPr>
        <p:spPr>
          <a:xfrm>
            <a:off x="5486400" y="1572768"/>
            <a:ext cx="3200400" cy="28346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40 epochs, CE + Dice, ResNet-34</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TTA added 0.004–0.015 mIoU for free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Scored on random crops, so not comparable with tracks B and C</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D4 now scores whole native images</a:t>
            </a:r>
            <a:endParaRPr lang="en-US" sz="16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499B so far</a:t>
            </a:r>
            <a:endParaRPr lang="en-US" sz="1000" dirty="0"/>
          </a:p>
        </p:txBody>
      </p:sp>
      <p:sp>
        <p:nvSpPr>
          <p:cNvPr id="5" name="Shape 3"/>
          <p:cNvSpPr/>
          <p:nvPr/>
        </p:nvSpPr>
        <p:spPr>
          <a:xfrm>
            <a:off x="2628900" y="219456"/>
            <a:ext cx="1600200" cy="36576"/>
          </a:xfrm>
          <a:prstGeom prst="rect">
            <a:avLst/>
          </a:prstGeom>
          <a:solidFill>
            <a:srgbClr val="2E75B6"/>
          </a:solidFill>
          <a:ln w="12700">
            <a:solidFill>
              <a:srgbClr val="2E75B6"/>
            </a:solidFill>
            <a:prstDash val="solid"/>
          </a:ln>
        </p:spPr>
      </p:sp>
      <p:sp>
        <p:nvSpPr>
          <p:cNvPr id="6" name="Text 4"/>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Switching to a Focal Tversky loss was the sprint's biggest single gain, +0.056 mIoU</a:t>
            </a:r>
            <a:endParaRPr lang="en-US" sz="2200" dirty="0"/>
          </a:p>
        </p:txBody>
      </p:sp>
      <p:graphicFrame>
        <p:nvGraphicFramePr>
          <p:cNvPr id="10" name="Chart 0" descr=""/>
          <p:cNvGraphicFramePr/>
          <p:nvPr/>
        </p:nvGraphicFramePr>
        <p:xfrm>
          <a:off x="457200" y="1188720"/>
          <a:ext cx="5486400" cy="3246120"/>
        </p:xfrm>
        <a:graphic xmlns:a="http://schemas.openxmlformats.org/drawingml/2006/main">
          <a:graphicData uri="http://schemas.openxmlformats.org/drawingml/2006/chart">
            <c:chart xmlns:c="http://schemas.openxmlformats.org/drawingml/2006/chart" r:id="rId1"/>
          </a:graphicData>
        </a:graphic>
      </p:graphicFrame>
      <p:sp>
        <p:nvSpPr>
          <p:cNvPr id="11" name="Shape 7"/>
          <p:cNvSpPr/>
          <p:nvPr/>
        </p:nvSpPr>
        <p:spPr>
          <a:xfrm>
            <a:off x="2194560" y="1261872"/>
            <a:ext cx="2377440" cy="365760"/>
          </a:xfrm>
          <a:prstGeom prst="roundRect">
            <a:avLst>
              <a:gd name="adj" fmla="val 15000"/>
            </a:avLst>
          </a:prstGeom>
          <a:solidFill>
            <a:srgbClr val="FFF2CC"/>
          </a:solidFill>
          <a:ln w="12700">
            <a:solidFill>
              <a:srgbClr val="E6C800"/>
            </a:solidFill>
            <a:prstDash val="solid"/>
          </a:ln>
        </p:spPr>
      </p:sp>
      <p:sp>
        <p:nvSpPr>
          <p:cNvPr id="12" name="Text 8"/>
          <p:cNvSpPr/>
          <p:nvPr/>
        </p:nvSpPr>
        <p:spPr>
          <a:xfrm>
            <a:off x="2194560" y="1261872"/>
            <a:ext cx="2377440" cy="365760"/>
          </a:xfrm>
          <a:prstGeom prst="rect">
            <a:avLst/>
          </a:prstGeom>
          <a:noFill/>
          <a:ln/>
        </p:spPr>
        <p:txBody>
          <a:bodyPr wrap="square" lIns="381" tIns="381" rIns="381" bIns="381" rtlCol="0" anchor="ctr"/>
          <a:lstStyle/>
          <a:p>
            <a:pPr algn="ctr" indent="0" marL="0">
              <a:buNone/>
            </a:pPr>
            <a:r>
              <a:rPr lang="en-US" sz="1200" b="1" dirty="0">
                <a:solidFill>
                  <a:srgbClr val="7A5200"/>
                </a:solidFill>
                <a:latin typeface="Arial" pitchFamily="34" charset="0"/>
                <a:ea typeface="Arial" pitchFamily="34" charset="-122"/>
                <a:cs typeface="Arial" pitchFamily="34" charset="-120"/>
              </a:rPr>
              <a:t>Gates: mIoU 0.52 · Destroyed 0.30</a:t>
            </a:r>
            <a:endParaRPr lang="en-US" sz="1200" dirty="0"/>
          </a:p>
        </p:txBody>
      </p:sp>
      <p:sp>
        <p:nvSpPr>
          <p:cNvPr id="13" name="Text 9"/>
          <p:cNvSpPr/>
          <p:nvPr/>
        </p:nvSpPr>
        <p:spPr>
          <a:xfrm>
            <a:off x="6172200" y="1188720"/>
            <a:ext cx="2514600" cy="320040"/>
          </a:xfrm>
          <a:prstGeom prst="rect">
            <a:avLst/>
          </a:prstGeom>
          <a:noFill/>
          <a:ln/>
        </p:spPr>
        <p:txBody>
          <a:bodyPr wrap="square" lIns="0" tIns="0" rIns="0" bIns="0" rtlCol="0" anchor="ctr"/>
          <a:lstStyle/>
          <a:p>
            <a:pPr indent="0" marL="0">
              <a:buNone/>
            </a:pPr>
            <a:r>
              <a:rPr lang="en-US" sz="1800" b="1" dirty="0">
                <a:solidFill>
                  <a:srgbClr val="2E75B6"/>
                </a:solidFill>
                <a:latin typeface="Arial" pitchFamily="34" charset="0"/>
                <a:ea typeface="Arial" pitchFamily="34" charset="-122"/>
                <a:cs typeface="Arial" pitchFamily="34" charset="-120"/>
              </a:rPr>
              <a:t>What to take away</a:t>
            </a:r>
            <a:endParaRPr lang="en-US" sz="1800" dirty="0"/>
          </a:p>
        </p:txBody>
      </p:sp>
      <p:sp>
        <p:nvSpPr>
          <p:cNvPr id="14" name="Text 10"/>
          <p:cNvSpPr/>
          <p:nvPr/>
        </p:nvSpPr>
        <p:spPr>
          <a:xfrm>
            <a:off x="6172200" y="1572768"/>
            <a:ext cx="251460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Focal Tversky alone: +0.056 mIoU and +55% Destroyed IoU</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Decoder swaps under CE + Dice did not help; MA-Net collapsed</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Best run C5: passes the mIoU gate (0.5296), misses the Destroyed gate (0.279)</a:t>
            </a:r>
            <a:endParaRPr lang="en-US" sz="1400" dirty="0"/>
          </a:p>
        </p:txBody>
      </p:sp>
      <p:sp>
        <p:nvSpPr>
          <p:cNvPr id="15" name="Text 11"/>
          <p:cNvSpPr/>
          <p:nvPr/>
        </p:nvSpPr>
        <p:spPr>
          <a:xfrm>
            <a:off x="457200" y="4526280"/>
            <a:ext cx="8229600" cy="256032"/>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40 epochs, resized to 512, ResNet-34 unless noted. Abraham &amp; Khan (2019); Berman et al. (2018); Zhou et al. (2018); Chen et al. (2018).</a:t>
            </a:r>
            <a:endParaRPr lang="en-US" sz="11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499B so far</a:t>
            </a:r>
            <a:endParaRPr lang="en-US" sz="1000" dirty="0"/>
          </a:p>
        </p:txBody>
      </p:sp>
      <p:sp>
        <p:nvSpPr>
          <p:cNvPr id="5" name="Shape 3"/>
          <p:cNvSpPr/>
          <p:nvPr/>
        </p:nvSpPr>
        <p:spPr>
          <a:xfrm>
            <a:off x="2628900" y="219456"/>
            <a:ext cx="1600200" cy="36576"/>
          </a:xfrm>
          <a:prstGeom prst="rect">
            <a:avLst/>
          </a:prstGeom>
          <a:solidFill>
            <a:srgbClr val="2E75B6"/>
          </a:solidFill>
          <a:ln w="12700">
            <a:solidFill>
              <a:srgbClr val="2E75B6"/>
            </a:solidFill>
            <a:prstDash val="solid"/>
          </a:ln>
        </p:spPr>
      </p:sp>
      <p:sp>
        <p:nvSpPr>
          <p:cNvPr id="6" name="Text 4"/>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An audit showed the sprint's numbers could not be stacked, so every champion run uses one protocol</a:t>
            </a:r>
            <a:endParaRPr lang="en-US" sz="2200" dirty="0"/>
          </a:p>
        </p:txBody>
      </p:sp>
      <p:sp>
        <p:nvSpPr>
          <p:cNvPr id="10" name="Text 7"/>
          <p:cNvSpPr/>
          <p:nvPr/>
        </p:nvSpPr>
        <p:spPr>
          <a:xfrm>
            <a:off x="457200" y="1188720"/>
            <a:ext cx="3931920" cy="320040"/>
          </a:xfrm>
          <a:prstGeom prst="rect">
            <a:avLst/>
          </a:prstGeom>
          <a:noFill/>
          <a:ln/>
        </p:spPr>
        <p:txBody>
          <a:bodyPr wrap="square" lIns="0" tIns="0" rIns="0" bIns="0" rtlCol="0" anchor="ctr"/>
          <a:lstStyle/>
          <a:p>
            <a:pPr indent="0" marL="0">
              <a:buNone/>
            </a:pPr>
            <a:r>
              <a:rPr lang="en-US" sz="1800" b="1" dirty="0">
                <a:solidFill>
                  <a:srgbClr val="C55A11"/>
                </a:solidFill>
                <a:latin typeface="Arial" pitchFamily="34" charset="0"/>
                <a:ea typeface="Arial" pitchFamily="34" charset="-122"/>
                <a:cs typeface="Arial" pitchFamily="34" charset="-120"/>
              </a:rPr>
              <a:t>What the audit found</a:t>
            </a:r>
            <a:endParaRPr lang="en-US" sz="1800" dirty="0"/>
          </a:p>
        </p:txBody>
      </p:sp>
      <p:sp>
        <p:nvSpPr>
          <p:cNvPr id="11" name="Text 8"/>
          <p:cNvSpPr/>
          <p:nvPr/>
        </p:nvSpPr>
        <p:spPr>
          <a:xfrm>
            <a:off x="457200" y="1572768"/>
            <a:ext cx="393192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Three evaluation setups: resized 512 (A–C), random crops (D), 10-epoch screens (A)</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One copy-paste run drew cut-outs from validation images</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Architecture runs also changed batch size and learning rate</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Checkpoints picked on the reporting validation set</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One seed per run: a +0.002 gain cannot be told from noise</a:t>
            </a:r>
            <a:endParaRPr lang="en-US" sz="1400" dirty="0"/>
          </a:p>
        </p:txBody>
      </p:sp>
      <p:sp>
        <p:nvSpPr>
          <p:cNvPr id="12" name="Text 9"/>
          <p:cNvSpPr/>
          <p:nvPr/>
        </p:nvSpPr>
        <p:spPr>
          <a:xfrm>
            <a:off x="4754880" y="1188720"/>
            <a:ext cx="3931920" cy="320040"/>
          </a:xfrm>
          <a:prstGeom prst="rect">
            <a:avLst/>
          </a:prstGeom>
          <a:noFill/>
          <a:ln/>
        </p:spPr>
        <p:txBody>
          <a:bodyPr wrap="square" lIns="0" tIns="0" rIns="0" bIns="0" rtlCol="0" anchor="ctr"/>
          <a:lstStyle/>
          <a:p>
            <a:pPr indent="0" marL="0">
              <a:buNone/>
            </a:pPr>
            <a:r>
              <a:rPr lang="en-US" sz="1800" b="1" dirty="0">
                <a:solidFill>
                  <a:srgbClr val="2E75B6"/>
                </a:solidFill>
                <a:latin typeface="Arial" pitchFamily="34" charset="0"/>
                <a:ea typeface="Arial" pitchFamily="34" charset="-122"/>
                <a:cs typeface="Arial" pitchFamily="34" charset="-120"/>
              </a:rPr>
              <a:t>The fix: one E-protocol</a:t>
            </a:r>
            <a:endParaRPr lang="en-US" sz="1800" dirty="0"/>
          </a:p>
        </p:txBody>
      </p:sp>
      <p:sp>
        <p:nvSpPr>
          <p:cNvPr id="13" name="Text 10"/>
          <p:cNvSpPr/>
          <p:nvPr/>
        </p:nvSpPr>
        <p:spPr>
          <a:xfrm>
            <a:off x="4754880" y="1572768"/>
            <a:ext cx="393192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Same 645 validation images, full native resolution, deterministic</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One dataset-level confusion matrix: per-class IoU, precision, recall, F1, F2</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Last epoch reported; validation never picks the checkpoint</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Seed-noise bar from a repeated run (R1 vs R6)</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Old checkpoints re-scored the same way (E0)</a:t>
            </a:r>
            <a:endParaRPr lang="en-US" sz="1400" dirty="0"/>
          </a:p>
        </p:txBody>
      </p:sp>
      <p:sp>
        <p:nvSpPr>
          <p:cNvPr id="14" name="Text 11"/>
          <p:cNvSpPr/>
          <p:nvPr/>
        </p:nvSpPr>
        <p:spPr>
          <a:xfrm>
            <a:off x="457200" y="4526280"/>
            <a:ext cx="8229600" cy="256032"/>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Summary table rebuilt from the notebooks' saved outputs.</a:t>
            </a:r>
            <a:endParaRPr lang="en-US" sz="11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5" name="Text 3"/>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Future work</a:t>
            </a:r>
            <a:endParaRPr lang="en-US" sz="1000" dirty="0"/>
          </a:p>
        </p:txBody>
      </p:sp>
      <p:sp>
        <p:nvSpPr>
          <p:cNvPr id="6" name="Shape 4"/>
          <p:cNvSpPr/>
          <p:nvPr/>
        </p:nvSpPr>
        <p:spPr>
          <a:xfrm>
            <a:off x="4914900" y="219456"/>
            <a:ext cx="1600200" cy="36576"/>
          </a:xfrm>
          <a:prstGeom prst="rect">
            <a:avLst/>
          </a:prstGeom>
          <a:solidFill>
            <a:srgbClr val="2E75B6"/>
          </a:solidFill>
          <a:ln w="12700">
            <a:solidFill>
              <a:srgbClr val="2E75B6"/>
            </a:solidFill>
            <a:prstDash val="solid"/>
          </a:ln>
        </p:spPr>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E0, R1 and R6 are done: R1 sets the reference and R6 sets a seed-noise bar of 0.0028 mIoU</a:t>
            </a:r>
            <a:endParaRPr lang="en-US" sz="2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731520"/>
                <a:gridCol w="2926080"/>
                <a:gridCol w="2926080"/>
                <a:gridCol w="1645920"/>
              </a:tblGrid>
              <a:tr h="347472">
                <a:tc>
                  <a:txBody>
                    <a:bodyPr/>
                    <a:lstStyle/>
                    <a:p>
                      <a:pPr indent="0" marL="0">
                        <a:buNone/>
                      </a:pPr>
                      <a:r>
                        <a:rPr lang="en-US" sz="1400" b="1" dirty="0">
                          <a:solidFill>
                            <a:srgbClr val="FFFFFF"/>
                          </a:solidFill>
                          <a:latin typeface="Arial" pitchFamily="34" charset="0"/>
                          <a:ea typeface="Arial" pitchFamily="34" charset="-122"/>
                          <a:cs typeface="Arial" pitchFamily="34" charset="-120"/>
                        </a:rPr>
                        <a:t>Run</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What it does</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Why it matters</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Result</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r>
              <a:tr h="566928">
                <a:tc>
                  <a:txBody>
                    <a:bodyPr/>
                    <a:lstStyle/>
                    <a:p>
                      <a:pPr indent="0" marL="0">
                        <a:buNone/>
                      </a:pPr>
                      <a:r>
                        <a:rPr lang="en-US" sz="1400" b="1" dirty="0">
                          <a:solidFill>
                            <a:srgbClr val="2D2D2D"/>
                          </a:solidFill>
                          <a:latin typeface="Arial" pitchFamily="34" charset="0"/>
                          <a:ea typeface="Arial" pitchFamily="34" charset="-122"/>
                          <a:cs typeface="Arial" pitchFamily="34" charset="-120"/>
                        </a:rPr>
                        <a:t>E0</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Re-scores B1–B5 with the new protocol, no training</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Old and new numbers become comparable</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Done, B1 reproduced</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566928">
                <a:tc>
                  <a:txBody>
                    <a:bodyPr/>
                    <a:lstStyle/>
                    <a:p>
                      <a:pPr indent="0" marL="0">
                        <a:buNone/>
                      </a:pPr>
                      <a:r>
                        <a:rPr lang="en-US" sz="1400" b="1" dirty="0">
                          <a:solidFill>
                            <a:srgbClr val="2D2D2D"/>
                          </a:solidFill>
                          <a:latin typeface="Arial" pitchFamily="34" charset="0"/>
                          <a:ea typeface="Arial" pitchFamily="34" charset="-122"/>
                          <a:cs typeface="Arial" pitchFamily="34" charset="-120"/>
                        </a:rPr>
                        <a:t>R1</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The sprint's best recipe on native 768 crops</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Every other run is judged against it</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b="1" dirty="0">
                          <a:solidFill>
                            <a:srgbClr val="2D2D2D"/>
                          </a:solidFill>
                          <a:latin typeface="Arial" pitchFamily="34" charset="0"/>
                          <a:ea typeface="Arial" pitchFamily="34" charset="-122"/>
                          <a:cs typeface="Arial" pitchFamily="34" charset="-120"/>
                        </a:rPr>
                        <a:t>0.5374 / 0.2686</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566928">
                <a:tc>
                  <a:txBody>
                    <a:bodyPr/>
                    <a:lstStyle/>
                    <a:p>
                      <a:pPr indent="0" marL="0">
                        <a:buNone/>
                      </a:pPr>
                      <a:r>
                        <a:rPr lang="en-US" sz="1400" b="1" dirty="0">
                          <a:solidFill>
                            <a:srgbClr val="2D2D2D"/>
                          </a:solidFill>
                          <a:latin typeface="Arial" pitchFamily="34" charset="0"/>
                          <a:ea typeface="Arial" pitchFamily="34" charset="-122"/>
                          <a:cs typeface="Arial" pitchFamily="34" charset="-120"/>
                        </a:rPr>
                        <a:t>R6</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R1 with seed 7 (seed-noise check)</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Arial" pitchFamily="34" charset="0"/>
                          <a:ea typeface="Arial" pitchFamily="34" charset="-122"/>
                          <a:cs typeface="Arial" pitchFamily="34" charset="-120"/>
                        </a:rPr>
                        <a:t>Gains below |R1 − R6| = 0.0028 mIoU are chance</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b="1" dirty="0">
                          <a:solidFill>
                            <a:srgbClr val="2D2D2D"/>
                          </a:solidFill>
                          <a:latin typeface="Arial" pitchFamily="34" charset="0"/>
                          <a:ea typeface="Arial" pitchFamily="34" charset="-122"/>
                          <a:cs typeface="Arial" pitchFamily="34" charset="-120"/>
                        </a:rPr>
                        <a:t>0.5402 / 0.2815</a:t>
                      </a:r>
                      <a:endParaRPr lang="en-US" sz="14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11" name="Shape 7"/>
          <p:cNvSpPr/>
          <p:nvPr/>
        </p:nvSpPr>
        <p:spPr>
          <a:xfrm>
            <a:off x="457200" y="3520440"/>
            <a:ext cx="8229600" cy="685800"/>
          </a:xfrm>
          <a:prstGeom prst="roundRect">
            <a:avLst>
              <a:gd name="adj" fmla="val 8000"/>
            </a:avLst>
          </a:prstGeom>
          <a:solidFill>
            <a:srgbClr val="FFF2CC"/>
          </a:solidFill>
          <a:ln w="12700">
            <a:solidFill>
              <a:srgbClr val="E6C800"/>
            </a:solidFill>
            <a:prstDash val="solid"/>
          </a:ln>
        </p:spPr>
      </p:sp>
      <p:sp>
        <p:nvSpPr>
          <p:cNvPr id="12" name="Text 8"/>
          <p:cNvSpPr/>
          <p:nvPr/>
        </p:nvSpPr>
        <p:spPr>
          <a:xfrm>
            <a:off x="594360" y="3520440"/>
            <a:ext cx="7955280" cy="685800"/>
          </a:xfrm>
          <a:prstGeom prst="rect">
            <a:avLst/>
          </a:prstGeom>
          <a:noFill/>
          <a:ln/>
        </p:spPr>
        <p:txBody>
          <a:bodyPr wrap="square" lIns="0" tIns="0" rIns="0" bIns="0" rtlCol="0" anchor="ctr"/>
          <a:lstStyle/>
          <a:p>
            <a:pPr indent="0" marL="0">
              <a:buNone/>
            </a:pPr>
            <a:r>
              <a:rPr lang="en-US" sz="1600" b="1" dirty="0">
                <a:solidFill>
                  <a:srgbClr val="7A5200"/>
                </a:solidFill>
                <a:latin typeface="Arial" pitchFamily="34" charset="0"/>
                <a:ea typeface="Arial" pitchFamily="34" charset="-122"/>
                <a:cs typeface="Arial" pitchFamily="34" charset="-120"/>
              </a:rPr>
              <a:t>Gate so far: mIoU passes (0.544 with TTA); Destroyed IoU misses (0.284, needs 0.30)</a:t>
            </a:r>
            <a:endParaRPr lang="en-US" sz="1600" dirty="0"/>
          </a:p>
        </p:txBody>
      </p:sp>
      <p:sp>
        <p:nvSpPr>
          <p:cNvPr id="13" name="Text 9"/>
          <p:cNvSpPr/>
          <p:nvPr/>
        </p:nvSpPr>
        <p:spPr>
          <a:xfrm>
            <a:off x="457200" y="4526280"/>
            <a:ext cx="8229600" cy="256032"/>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Scores: mIoU / Destroyed IoU, standard evaluation without TTA.</a:t>
            </a:r>
            <a:endParaRPr lang="en-US" sz="11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5" name="Text 3"/>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Future work</a:t>
            </a:r>
            <a:endParaRPr lang="en-US" sz="1000" dirty="0"/>
          </a:p>
        </p:txBody>
      </p:sp>
      <p:sp>
        <p:nvSpPr>
          <p:cNvPr id="6" name="Shape 4"/>
          <p:cNvSpPr/>
          <p:nvPr/>
        </p:nvSpPr>
        <p:spPr>
          <a:xfrm>
            <a:off x="4914900" y="219456"/>
            <a:ext cx="1600200" cy="36576"/>
          </a:xfrm>
          <a:prstGeom prst="rect">
            <a:avLst/>
          </a:prstGeom>
          <a:solidFill>
            <a:srgbClr val="2E75B6"/>
          </a:solidFill>
          <a:ln w="12700">
            <a:solidFill>
              <a:srgbClr val="2E75B6"/>
            </a:solidFill>
            <a:prstDash val="solid"/>
          </a:ln>
        </p:spPr>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Five single-change runs are under way, and R7 will keep only the changes that clear the noise bar</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640080"/>
                <a:gridCol w="3474720"/>
                <a:gridCol w="3017520"/>
                <a:gridCol w="1097280"/>
              </a:tblGrid>
              <a:tr h="310896">
                <a:tc>
                  <a:txBody>
                    <a:bodyPr/>
                    <a:lstStyle/>
                    <a:p>
                      <a:pPr indent="0" marL="0">
                        <a:buNone/>
                      </a:pPr>
                      <a:r>
                        <a:rPr lang="en-US" sz="1200" b="1" dirty="0">
                          <a:solidFill>
                            <a:srgbClr val="FFFFFF"/>
                          </a:solidFill>
                          <a:latin typeface="Arial" pitchFamily="34" charset="0"/>
                          <a:ea typeface="Arial" pitchFamily="34" charset="-122"/>
                          <a:cs typeface="Arial" pitchFamily="34" charset="-120"/>
                        </a:rPr>
                        <a:t>Run</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Change against R1</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Why it matters</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r>
              <a:tr h="429768">
                <a:tc>
                  <a:txBody>
                    <a:bodyPr/>
                    <a:lstStyle/>
                    <a:p>
                      <a:pPr indent="0" marL="0">
                        <a:buNone/>
                      </a:pPr>
                      <a:r>
                        <a:rPr lang="en-US" sz="1200" b="1" dirty="0">
                          <a:solidFill>
                            <a:srgbClr val="2D2D2D"/>
                          </a:solidFill>
                          <a:latin typeface="Arial" pitchFamily="34" charset="0"/>
                          <a:ea typeface="Arial" pitchFamily="34" charset="-122"/>
                          <a:cs typeface="Arial" pitchFamily="34" charset="-120"/>
                        </a:rPr>
                        <a:t>R2</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Copy-paste, fixed: pastes rare-class buildings into crops</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Targets Destroyed directly; the sprint test was flawed</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Running</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29768">
                <a:tc>
                  <a:txBody>
                    <a:bodyPr/>
                    <a:lstStyle/>
                    <a:p>
                      <a:pPr indent="0" marL="0">
                        <a:buNone/>
                      </a:pPr>
                      <a:r>
                        <a:rPr lang="en-US" sz="1200" b="1" dirty="0">
                          <a:solidFill>
                            <a:srgbClr val="2D2D2D"/>
                          </a:solidFill>
                          <a:latin typeface="Arial" pitchFamily="34" charset="0"/>
                          <a:ea typeface="Arial" pitchFamily="34" charset="-122"/>
                          <a:cs typeface="Arial" pitchFamily="34" charset="-120"/>
                        </a:rPr>
                        <a:t>R3</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Recall-heavier loss (Focal Tversky 0.25 / 0.75 / 1.33)</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A missed destroyed building costs more than a false alarm</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Running</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29768">
                <a:tc>
                  <a:txBody>
                    <a:bodyPr/>
                    <a:lstStyle/>
                    <a:p>
                      <a:pPr indent="0" marL="0">
                        <a:buNone/>
                      </a:pPr>
                      <a:r>
                        <a:rPr lang="en-US" sz="1200" b="1" dirty="0">
                          <a:solidFill>
                            <a:srgbClr val="2D2D2D"/>
                          </a:solidFill>
                          <a:latin typeface="Arial" pitchFamily="34" charset="0"/>
                          <a:ea typeface="Arial" pitchFamily="34" charset="-122"/>
                          <a:cs typeface="Arial" pitchFamily="34" charset="-120"/>
                        </a:rPr>
                        <a:t>R4</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U-Net++ decoder with the better loss and same settings</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The sprint test changed three things at once</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Running</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29768">
                <a:tc>
                  <a:txBody>
                    <a:bodyPr/>
                    <a:lstStyle/>
                    <a:p>
                      <a:pPr indent="0" marL="0">
                        <a:buNone/>
                      </a:pPr>
                      <a:r>
                        <a:rPr lang="en-US" sz="1200" b="1" dirty="0">
                          <a:solidFill>
                            <a:srgbClr val="2D2D2D"/>
                          </a:solidFill>
                          <a:latin typeface="Arial" pitchFamily="34" charset="0"/>
                          <a:ea typeface="Arial" pitchFamily="34" charset="-122"/>
                          <a:cs typeface="Arial" pitchFamily="34" charset="-120"/>
                        </a:rPr>
                        <a:t>R5</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Weighted sampler: rare-class images 10× / 5× as often</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63% of images contain no destroyed pixel</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Running</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29768">
                <a:tc>
                  <a:txBody>
                    <a:bodyPr/>
                    <a:lstStyle/>
                    <a:p>
                      <a:pPr indent="0" marL="0">
                        <a:buNone/>
                      </a:pPr>
                      <a:r>
                        <a:rPr lang="en-US" sz="1200" b="1" dirty="0">
                          <a:solidFill>
                            <a:srgbClr val="2D2D2D"/>
                          </a:solidFill>
                          <a:latin typeface="Arial" pitchFamily="34" charset="0"/>
                          <a:ea typeface="Arial" pitchFamily="34" charset="-122"/>
                          <a:cs typeface="Arial" pitchFamily="34" charset="-120"/>
                        </a:rPr>
                        <a:t>R8</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Enhanced augmentation: lighting, contrast, warping</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Planned but never run; imagery varies across events</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Running</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530352">
                <a:tc>
                  <a:txBody>
                    <a:bodyPr/>
                    <a:lstStyle/>
                    <a:p>
                      <a:pPr indent="0" marL="0">
                        <a:buNone/>
                      </a:pPr>
                      <a:r>
                        <a:rPr lang="en-US" sz="1200" b="1" dirty="0">
                          <a:solidFill>
                            <a:srgbClr val="C55A11"/>
                          </a:solidFill>
                          <a:latin typeface="Arial" pitchFamily="34" charset="0"/>
                          <a:ea typeface="Arial" pitchFamily="34" charset="-122"/>
                          <a:cs typeface="Arial" pitchFamily="34" charset="-120"/>
                        </a:rPr>
                        <a:t>R7</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Champion: changes that beat R1 by over 0.0028 mIoU without lowering Destroyed IoU, plus TTA</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Every count, heatmap and report uses it</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After R2–R8</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5" name="Text 3"/>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Future work</a:t>
            </a:r>
            <a:endParaRPr lang="en-US" sz="1000" dirty="0"/>
          </a:p>
        </p:txBody>
      </p:sp>
      <p:sp>
        <p:nvSpPr>
          <p:cNvPr id="6" name="Shape 4"/>
          <p:cNvSpPr/>
          <p:nvPr/>
        </p:nvSpPr>
        <p:spPr>
          <a:xfrm>
            <a:off x="4914900" y="219456"/>
            <a:ext cx="1600200" cy="36576"/>
          </a:xfrm>
          <a:prstGeom prst="rect">
            <a:avLst/>
          </a:prstGeom>
          <a:solidFill>
            <a:srgbClr val="2E75B6"/>
          </a:solidFill>
          <a:ln w="12700">
            <a:solidFill>
              <a:srgbClr val="2E75B6"/>
            </a:solidFill>
            <a:prstDash val="solid"/>
          </a:ln>
        </p:spPr>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Three roadmap items ground the VLM in pixel-level evidence and shrink it for the field</a:t>
            </a:r>
            <a:endParaRPr lang="en-US" sz="2200" dirty="0"/>
          </a:p>
        </p:txBody>
      </p:sp>
      <p:sp>
        <p:nvSpPr>
          <p:cNvPr id="10" name="Text 7"/>
          <p:cNvSpPr/>
          <p:nvPr/>
        </p:nvSpPr>
        <p:spPr>
          <a:xfrm>
            <a:off x="457200" y="1188720"/>
            <a:ext cx="2651760" cy="548640"/>
          </a:xfrm>
          <a:prstGeom prst="rect">
            <a:avLst/>
          </a:prstGeom>
          <a:noFill/>
          <a:ln/>
        </p:spPr>
        <p:txBody>
          <a:bodyPr wrap="square" lIns="0" tIns="0" rIns="0" bIns="0" rtlCol="0" anchor="t"/>
          <a:lstStyle/>
          <a:p>
            <a:pPr indent="0" marL="0">
              <a:buNone/>
            </a:pPr>
            <a:r>
              <a:rPr lang="en-US" sz="1600" b="1" dirty="0">
                <a:solidFill>
                  <a:srgbClr val="2E75B6"/>
                </a:solidFill>
                <a:latin typeface="Arial" pitchFamily="34" charset="0"/>
                <a:ea typeface="Arial" pitchFamily="34" charset="-122"/>
                <a:cs typeface="Arial" pitchFamily="34" charset="-120"/>
              </a:rPr>
              <a:t>Resolution unlocking</a:t>
            </a:r>
            <a:endParaRPr lang="en-US" sz="1600" dirty="0"/>
          </a:p>
        </p:txBody>
      </p:sp>
      <p:sp>
        <p:nvSpPr>
          <p:cNvPr id="11" name="Text 8"/>
          <p:cNvSpPr/>
          <p:nvPr/>
        </p:nvSpPr>
        <p:spPr>
          <a:xfrm>
            <a:off x="457200" y="1783080"/>
            <a:ext cx="2606040" cy="28803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2D2D2D"/>
                </a:solidFill>
                <a:latin typeface="Arial" pitchFamily="34" charset="0"/>
                <a:ea typeface="Arial" pitchFamily="34" charset="-122"/>
                <a:cs typeface="Arial" pitchFamily="34" charset="-120"/>
              </a:rPr>
              <a:t>What: </a:t>
            </a:r>
            <a:pPr indent="0" marL="0">
              <a:spcAft>
                <a:spcPts val="800"/>
              </a:spcAft>
              <a:buNone/>
            </a:pPr>
            <a:r>
              <a:rPr lang="en-US" sz="1400" dirty="0">
                <a:solidFill>
                  <a:srgbClr val="2D2D2D"/>
                </a:solidFill>
                <a:latin typeface="Arial" pitchFamily="34" charset="0"/>
                <a:ea typeface="Arial" pitchFamily="34" charset="-122"/>
                <a:cs typeface="Arial" pitchFamily="34" charset="-120"/>
              </a:rPr>
              <a:t>lift the 512-token image cap at inference only</a:t>
            </a:r>
            <a:endParaRPr lang="en-US" sz="1400" dirty="0"/>
          </a:p>
          <a:p>
            <a:pPr marL="342900" indent="-342900">
              <a:spcAft>
                <a:spcPts val="800"/>
              </a:spcAft>
              <a:buSzPct val="100000"/>
              <a:buChar char="•"/>
            </a:pPr>
            <a:r>
              <a:rPr lang="en-US" sz="1400" b="1" dirty="0">
                <a:solidFill>
                  <a:srgbClr val="2D2D2D"/>
                </a:solidFill>
                <a:latin typeface="Arial" pitchFamily="34" charset="0"/>
                <a:ea typeface="Arial" pitchFamily="34" charset="-122"/>
                <a:cs typeface="Arial" pitchFamily="34" charset="-120"/>
              </a:rPr>
              <a:t>Why: </a:t>
            </a:r>
            <a:pPr indent="0" marL="0">
              <a:spcAft>
                <a:spcPts val="800"/>
              </a:spcAft>
              <a:buNone/>
            </a:pPr>
            <a:r>
              <a:rPr lang="en-US" sz="1400" dirty="0">
                <a:solidFill>
                  <a:srgbClr val="2D2D2D"/>
                </a:solidFill>
                <a:latin typeface="Arial" pitchFamily="34" charset="0"/>
                <a:ea typeface="Arial" pitchFamily="34" charset="-122"/>
                <a:cs typeface="Arial" pitchFamily="34" charset="-120"/>
              </a:rPr>
              <a:t>Deviation D4 drove the counting (−10.62), road-damage (−3.06) and relational (−1.40) regressions</a:t>
            </a:r>
            <a:endParaRPr lang="en-US" sz="1400" dirty="0"/>
          </a:p>
          <a:p>
            <a:pPr marL="342900" indent="-342900">
              <a:spcAft>
                <a:spcPts val="800"/>
              </a:spcAft>
              <a:buSzPct val="100000"/>
              <a:buChar char="•"/>
            </a:pPr>
            <a:r>
              <a:rPr lang="en-US" sz="1400" b="1" dirty="0">
                <a:solidFill>
                  <a:srgbClr val="2D2D2D"/>
                </a:solidFill>
                <a:latin typeface="Arial" pitchFamily="34" charset="0"/>
                <a:ea typeface="Arial" pitchFamily="34" charset="-122"/>
                <a:cs typeface="Arial" pitchFamily="34" charset="-120"/>
              </a:rPr>
              <a:t>Measure: </a:t>
            </a:r>
            <a:pPr indent="0" marL="0">
              <a:spcAft>
                <a:spcPts val="800"/>
              </a:spcAft>
              <a:buNone/>
            </a:pPr>
            <a:r>
              <a:rPr lang="en-US" sz="1400" dirty="0">
                <a:solidFill>
                  <a:srgbClr val="2D2D2D"/>
                </a:solidFill>
                <a:latin typeface="Arial" pitchFamily="34" charset="0"/>
                <a:ea typeface="Arial" pitchFamily="34" charset="-122"/>
                <a:cs typeface="Arial" pitchFamily="34" charset="-120"/>
              </a:rPr>
              <a:t>re-score the six tasks on larger free GPUs (P100, L4)</a:t>
            </a:r>
            <a:endParaRPr lang="en-US" sz="1400" dirty="0"/>
          </a:p>
        </p:txBody>
      </p:sp>
      <p:sp>
        <p:nvSpPr>
          <p:cNvPr id="12" name="Text 9"/>
          <p:cNvSpPr/>
          <p:nvPr/>
        </p:nvSpPr>
        <p:spPr>
          <a:xfrm>
            <a:off x="3264408" y="1188720"/>
            <a:ext cx="2651760" cy="548640"/>
          </a:xfrm>
          <a:prstGeom prst="rect">
            <a:avLst/>
          </a:prstGeom>
          <a:noFill/>
          <a:ln/>
        </p:spPr>
        <p:txBody>
          <a:bodyPr wrap="square" lIns="0" tIns="0" rIns="0" bIns="0" rtlCol="0" anchor="t"/>
          <a:lstStyle/>
          <a:p>
            <a:pPr indent="0" marL="0">
              <a:buNone/>
            </a:pPr>
            <a:r>
              <a:rPr lang="en-US" sz="1600" b="1" dirty="0">
                <a:solidFill>
                  <a:srgbClr val="2E75B6"/>
                </a:solidFill>
                <a:latin typeface="Arial" pitchFamily="34" charset="0"/>
                <a:ea typeface="Arial" pitchFamily="34" charset="-122"/>
                <a:cs typeface="Arial" pitchFamily="34" charset="-120"/>
              </a:rPr>
              <a:t>Textual bridge prompting</a:t>
            </a:r>
            <a:endParaRPr lang="en-US" sz="1600" dirty="0"/>
          </a:p>
        </p:txBody>
      </p:sp>
      <p:sp>
        <p:nvSpPr>
          <p:cNvPr id="13" name="Text 10"/>
          <p:cNvSpPr/>
          <p:nvPr/>
        </p:nvSpPr>
        <p:spPr>
          <a:xfrm>
            <a:off x="3264408" y="1783080"/>
            <a:ext cx="2606040" cy="28803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2D2D2D"/>
                </a:solidFill>
                <a:latin typeface="Arial" pitchFamily="34" charset="0"/>
                <a:ea typeface="Arial" pitchFamily="34" charset="-122"/>
                <a:cs typeface="Arial" pitchFamily="34" charset="-120"/>
              </a:rPr>
              <a:t>What: </a:t>
            </a:r>
            <a:pPr indent="0" marL="0">
              <a:spcAft>
                <a:spcPts val="800"/>
              </a:spcAft>
              <a:buNone/>
            </a:pPr>
            <a:r>
              <a:rPr lang="en-US" sz="1400" dirty="0">
                <a:solidFill>
                  <a:srgbClr val="2D2D2D"/>
                </a:solidFill>
                <a:latin typeface="Arial" pitchFamily="34" charset="0"/>
                <a:ea typeface="Arial" pitchFamily="34" charset="-122"/>
                <a:cs typeface="Arial" pitchFamily="34" charset="-120"/>
              </a:rPr>
              <a:t>give the VLM the U-Net's counts, damaged share and quadrant locations as text</a:t>
            </a:r>
            <a:endParaRPr lang="en-US" sz="1400" dirty="0"/>
          </a:p>
          <a:p>
            <a:pPr marL="342900" indent="-342900">
              <a:spcAft>
                <a:spcPts val="800"/>
              </a:spcAft>
              <a:buSzPct val="100000"/>
              <a:buChar char="•"/>
            </a:pPr>
            <a:r>
              <a:rPr lang="en-US" sz="1400" b="1" dirty="0">
                <a:solidFill>
                  <a:srgbClr val="2D2D2D"/>
                </a:solidFill>
                <a:latin typeface="Arial" pitchFamily="34" charset="0"/>
                <a:ea typeface="Arial" pitchFamily="34" charset="-122"/>
                <a:cs typeface="Arial" pitchFamily="34" charset="-120"/>
              </a:rPr>
              <a:t>Why: </a:t>
            </a:r>
            <a:pPr indent="0" marL="0">
              <a:spcAft>
                <a:spcPts val="800"/>
              </a:spcAft>
              <a:buNone/>
            </a:pPr>
            <a:r>
              <a:rPr lang="en-US" sz="1400" dirty="0">
                <a:solidFill>
                  <a:srgbClr val="2D2D2D"/>
                </a:solidFill>
                <a:latin typeface="Arial" pitchFamily="34" charset="0"/>
                <a:ea typeface="Arial" pitchFamily="34" charset="-122"/>
                <a:cs typeface="Arial" pitchFamily="34" charset="-120"/>
              </a:rPr>
              <a:t>it reasons over exact numbers</a:t>
            </a:r>
            <a:endParaRPr lang="en-US" sz="1400" dirty="0"/>
          </a:p>
          <a:p>
            <a:pPr marL="342900" indent="-342900">
              <a:spcAft>
                <a:spcPts val="800"/>
              </a:spcAft>
              <a:buSzPct val="100000"/>
              <a:buChar char="•"/>
            </a:pPr>
            <a:r>
              <a:rPr lang="en-US" sz="1400" b="1" dirty="0">
                <a:solidFill>
                  <a:srgbClr val="2D2D2D"/>
                </a:solidFill>
                <a:latin typeface="Arial" pitchFamily="34" charset="0"/>
                <a:ea typeface="Arial" pitchFamily="34" charset="-122"/>
                <a:cs typeface="Arial" pitchFamily="34" charset="-120"/>
              </a:rPr>
              <a:t>Measure: </a:t>
            </a:r>
            <a:pPr indent="0" marL="0">
              <a:spcAft>
                <a:spcPts val="800"/>
              </a:spcAft>
              <a:buNone/>
            </a:pPr>
            <a:r>
              <a:rPr lang="en-US" sz="1400" dirty="0">
                <a:solidFill>
                  <a:srgbClr val="2D2D2D"/>
                </a:solidFill>
                <a:latin typeface="Arial" pitchFamily="34" charset="0"/>
                <a:ea typeface="Arial" pitchFamily="34" charset="-122"/>
                <a:cs typeface="Arial" pitchFamily="34" charset="-120"/>
              </a:rPr>
              <a:t>counting accuracy vs the base model's 34.2%</a:t>
            </a:r>
            <a:endParaRPr lang="en-US" sz="1400" dirty="0"/>
          </a:p>
        </p:txBody>
      </p:sp>
      <p:sp>
        <p:nvSpPr>
          <p:cNvPr id="14" name="Text 11"/>
          <p:cNvSpPr/>
          <p:nvPr/>
        </p:nvSpPr>
        <p:spPr>
          <a:xfrm>
            <a:off x="6071616" y="1188720"/>
            <a:ext cx="2651760" cy="548640"/>
          </a:xfrm>
          <a:prstGeom prst="rect">
            <a:avLst/>
          </a:prstGeom>
          <a:noFill/>
          <a:ln/>
        </p:spPr>
        <p:txBody>
          <a:bodyPr wrap="square" lIns="0" tIns="0" rIns="0" bIns="0" rtlCol="0" anchor="t"/>
          <a:lstStyle/>
          <a:p>
            <a:pPr indent="0" marL="0">
              <a:buNone/>
            </a:pPr>
            <a:r>
              <a:rPr lang="en-US" sz="1600" b="1" dirty="0">
                <a:solidFill>
                  <a:srgbClr val="2E75B6"/>
                </a:solidFill>
                <a:latin typeface="Arial" pitchFamily="34" charset="0"/>
                <a:ea typeface="Arial" pitchFamily="34" charset="-122"/>
                <a:cs typeface="Arial" pitchFamily="34" charset="-120"/>
              </a:rPr>
              <a:t>7B → 3B distillation</a:t>
            </a:r>
            <a:endParaRPr lang="en-US" sz="1600" dirty="0"/>
          </a:p>
        </p:txBody>
      </p:sp>
      <p:sp>
        <p:nvSpPr>
          <p:cNvPr id="15" name="Text 12"/>
          <p:cNvSpPr/>
          <p:nvPr/>
        </p:nvSpPr>
        <p:spPr>
          <a:xfrm>
            <a:off x="6071616" y="1783080"/>
            <a:ext cx="2606040" cy="28803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2D2D2D"/>
                </a:solidFill>
                <a:latin typeface="Arial" pitchFamily="34" charset="0"/>
                <a:ea typeface="Arial" pitchFamily="34" charset="-122"/>
                <a:cs typeface="Arial" pitchFamily="34" charset="-120"/>
              </a:rPr>
              <a:t>What: </a:t>
            </a:r>
            <a:pPr indent="0" marL="0">
              <a:spcAft>
                <a:spcPts val="800"/>
              </a:spcAft>
              <a:buNone/>
            </a:pPr>
            <a:r>
              <a:rPr lang="en-US" sz="1400" dirty="0">
                <a:solidFill>
                  <a:srgbClr val="2D2D2D"/>
                </a:solidFill>
                <a:latin typeface="Arial" pitchFamily="34" charset="0"/>
                <a:ea typeface="Arial" pitchFamily="34" charset="-122"/>
                <a:cs typeface="Arial" pitchFamily="34" charset="-120"/>
              </a:rPr>
              <a:t>the 7B teacher writes rationales; a Qwen2.5-VL-3B student learns from them</a:t>
            </a:r>
            <a:endParaRPr lang="en-US" sz="1400" dirty="0"/>
          </a:p>
          <a:p>
            <a:pPr marL="342900" indent="-342900">
              <a:spcAft>
                <a:spcPts val="800"/>
              </a:spcAft>
              <a:buSzPct val="100000"/>
              <a:buChar char="•"/>
            </a:pPr>
            <a:r>
              <a:rPr lang="en-US" sz="1400" b="1" dirty="0">
                <a:solidFill>
                  <a:srgbClr val="2D2D2D"/>
                </a:solidFill>
                <a:latin typeface="Arial" pitchFamily="34" charset="0"/>
                <a:ea typeface="Arial" pitchFamily="34" charset="-122"/>
                <a:cs typeface="Arial" pitchFamily="34" charset="-120"/>
              </a:rPr>
              <a:t>Why: </a:t>
            </a:r>
            <a:pPr indent="0" marL="0">
              <a:spcAft>
                <a:spcPts val="800"/>
              </a:spcAft>
              <a:buNone/>
            </a:pPr>
            <a:r>
              <a:rPr lang="en-US" sz="1400" dirty="0">
                <a:solidFill>
                  <a:srgbClr val="2D2D2D"/>
                </a:solidFill>
                <a:latin typeface="Arial" pitchFamily="34" charset="0"/>
                <a:ea typeface="Arial" pitchFamily="34" charset="-122"/>
                <a:cs typeface="Arial" pitchFamily="34" charset="-120"/>
              </a:rPr>
              <a:t>fits rescue laptops, about 6 GB</a:t>
            </a:r>
            <a:endParaRPr lang="en-US" sz="1400" dirty="0"/>
          </a:p>
          <a:p>
            <a:pPr marL="342900" indent="-342900">
              <a:spcAft>
                <a:spcPts val="800"/>
              </a:spcAft>
              <a:buSzPct val="100000"/>
              <a:buChar char="•"/>
            </a:pPr>
            <a:r>
              <a:rPr lang="en-US" sz="1400" b="1" dirty="0">
                <a:solidFill>
                  <a:srgbClr val="2D2D2D"/>
                </a:solidFill>
                <a:latin typeface="Arial" pitchFamily="34" charset="0"/>
                <a:ea typeface="Arial" pitchFamily="34" charset="-122"/>
                <a:cs typeface="Arial" pitchFamily="34" charset="-120"/>
              </a:rPr>
              <a:t>Status: </a:t>
            </a:r>
            <a:pPr indent="0" marL="0">
              <a:spcAft>
                <a:spcPts val="800"/>
              </a:spcAft>
              <a:buNone/>
            </a:pPr>
            <a:r>
              <a:rPr lang="en-US" sz="1400" dirty="0">
                <a:solidFill>
                  <a:srgbClr val="2D2D2D"/>
                </a:solidFill>
                <a:latin typeface="Arial" pitchFamily="34" charset="0"/>
                <a:ea typeface="Arial" pitchFamily="34" charset="-122"/>
                <a:cs typeface="Arial" pitchFamily="34" charset="-120"/>
              </a:rPr>
              <a:t>notebooks written; runs pending</a:t>
            </a:r>
            <a:endParaRPr lang="en-US" sz="1400" dirty="0"/>
          </a:p>
        </p:txBody>
      </p:sp>
      <p:sp>
        <p:nvSpPr>
          <p:cNvPr id="16" name="Text 13"/>
          <p:cNvSpPr/>
          <p:nvPr/>
        </p:nvSpPr>
        <p:spPr>
          <a:xfrm>
            <a:off x="457200" y="4526280"/>
            <a:ext cx="8229600" cy="256032"/>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Qwen2.5-VL: Bai et al. (2025). Sequence-level distillation: Kim &amp; Rush (2016).</a:t>
            </a:r>
            <a:endParaRPr lang="en-US" sz="11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5" name="Text 3"/>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Future work</a:t>
            </a:r>
            <a:endParaRPr lang="en-US" sz="1000" dirty="0"/>
          </a:p>
        </p:txBody>
      </p:sp>
      <p:sp>
        <p:nvSpPr>
          <p:cNvPr id="6" name="Shape 4"/>
          <p:cNvSpPr/>
          <p:nvPr/>
        </p:nvSpPr>
        <p:spPr>
          <a:xfrm>
            <a:off x="4914900" y="219456"/>
            <a:ext cx="1600200" cy="36576"/>
          </a:xfrm>
          <a:prstGeom prst="rect">
            <a:avLst/>
          </a:prstGeom>
          <a:solidFill>
            <a:srgbClr val="2E75B6"/>
          </a:solidFill>
          <a:ln w="12700">
            <a:solidFill>
              <a:srgbClr val="2E75B6"/>
            </a:solidFill>
            <a:prstDash val="solid"/>
          </a:ln>
        </p:spPr>
      </p:sp>
      <p:sp>
        <p:nvSpPr>
          <p:cNvPr id="7" name="Text 5"/>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Plan</a:t>
            </a:r>
            <a:endParaRPr lang="en-US" sz="1000" dirty="0"/>
          </a:p>
        </p:txBody>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The target is one offline pipeline in which the champion U-Net feeds the VLM, heatmaps and DisasTeller</a:t>
            </a:r>
            <a:endParaRPr lang="en-US" sz="2200" dirty="0"/>
          </a:p>
        </p:txBody>
      </p:sp>
      <p:sp>
        <p:nvSpPr>
          <p:cNvPr id="10" name="Shape 7"/>
          <p:cNvSpPr/>
          <p:nvPr/>
        </p:nvSpPr>
        <p:spPr>
          <a:xfrm>
            <a:off x="457200" y="2103120"/>
            <a:ext cx="1463040" cy="621792"/>
          </a:xfrm>
          <a:prstGeom prst="rect">
            <a:avLst/>
          </a:prstGeom>
          <a:solidFill>
            <a:srgbClr val="FFFFFF"/>
          </a:solidFill>
          <a:ln w="19050">
            <a:solidFill>
              <a:srgbClr val="1F4E79"/>
            </a:solidFill>
            <a:prstDash val="solid"/>
          </a:ln>
        </p:spPr>
      </p:sp>
      <p:sp>
        <p:nvSpPr>
          <p:cNvPr id="11" name="Text 8"/>
          <p:cNvSpPr/>
          <p:nvPr/>
        </p:nvSpPr>
        <p:spPr>
          <a:xfrm>
            <a:off x="502920" y="2103120"/>
            <a:ext cx="1371600" cy="621792"/>
          </a:xfrm>
          <a:prstGeom prst="rect">
            <a:avLst/>
          </a:prstGeom>
          <a:noFill/>
          <a:ln/>
        </p:spPr>
        <p:txBody>
          <a:bodyPr wrap="square" lIns="0" tIns="0" rIns="0" bIns="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Post-disaster image</a:t>
            </a:r>
            <a:endParaRPr lang="en-US" sz="1100" dirty="0"/>
          </a:p>
        </p:txBody>
      </p:sp>
      <p:sp>
        <p:nvSpPr>
          <p:cNvPr id="12" name="Shape 9"/>
          <p:cNvSpPr/>
          <p:nvPr/>
        </p:nvSpPr>
        <p:spPr>
          <a:xfrm>
            <a:off x="2103120" y="2103120"/>
            <a:ext cx="1463040" cy="621792"/>
          </a:xfrm>
          <a:prstGeom prst="rect">
            <a:avLst/>
          </a:prstGeom>
          <a:solidFill>
            <a:srgbClr val="FFFFFF"/>
          </a:solidFill>
          <a:ln w="19050">
            <a:solidFill>
              <a:srgbClr val="1F4E79"/>
            </a:solidFill>
            <a:prstDash val="solid"/>
          </a:ln>
        </p:spPr>
      </p:sp>
      <p:sp>
        <p:nvSpPr>
          <p:cNvPr id="13" name="Text 10"/>
          <p:cNvSpPr/>
          <p:nvPr/>
        </p:nvSpPr>
        <p:spPr>
          <a:xfrm>
            <a:off x="2148840" y="2103120"/>
            <a:ext cx="1371600" cy="621792"/>
          </a:xfrm>
          <a:prstGeom prst="rect">
            <a:avLst/>
          </a:prstGeom>
          <a:noFill/>
          <a:ln/>
        </p:spPr>
        <p:txBody>
          <a:bodyPr wrap="square" lIns="0" tIns="0" rIns="0" bIns="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VRT 4× super-resolution (optional)</a:t>
            </a:r>
            <a:endParaRPr lang="en-US" sz="1100" dirty="0"/>
          </a:p>
        </p:txBody>
      </p:sp>
      <p:sp>
        <p:nvSpPr>
          <p:cNvPr id="14" name="Shape 11"/>
          <p:cNvSpPr/>
          <p:nvPr/>
        </p:nvSpPr>
        <p:spPr>
          <a:xfrm>
            <a:off x="3749040" y="1234440"/>
            <a:ext cx="1463040" cy="621792"/>
          </a:xfrm>
          <a:prstGeom prst="rect">
            <a:avLst/>
          </a:prstGeom>
          <a:solidFill>
            <a:srgbClr val="FFFFFF"/>
          </a:solidFill>
          <a:ln w="19050">
            <a:solidFill>
              <a:srgbClr val="C55A11"/>
            </a:solidFill>
            <a:prstDash val="dash"/>
          </a:ln>
        </p:spPr>
      </p:sp>
      <p:sp>
        <p:nvSpPr>
          <p:cNvPr id="15" name="Text 12"/>
          <p:cNvSpPr/>
          <p:nvPr/>
        </p:nvSpPr>
        <p:spPr>
          <a:xfrm>
            <a:off x="3794760" y="1234440"/>
            <a:ext cx="1371600" cy="621792"/>
          </a:xfrm>
          <a:prstGeom prst="rect">
            <a:avLst/>
          </a:prstGeom>
          <a:noFill/>
          <a:ln/>
        </p:spPr>
        <p:txBody>
          <a:bodyPr wrap="square" lIns="0" tIns="0" rIns="0" bIns="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Champion U-Net: damage mask + counts</a:t>
            </a:r>
            <a:endParaRPr lang="en-US" sz="1100" dirty="0"/>
          </a:p>
        </p:txBody>
      </p:sp>
      <p:sp>
        <p:nvSpPr>
          <p:cNvPr id="16" name="Shape 13"/>
          <p:cNvSpPr/>
          <p:nvPr/>
        </p:nvSpPr>
        <p:spPr>
          <a:xfrm>
            <a:off x="3749040" y="2971800"/>
            <a:ext cx="1463040" cy="621792"/>
          </a:xfrm>
          <a:prstGeom prst="rect">
            <a:avLst/>
          </a:prstGeom>
          <a:solidFill>
            <a:srgbClr val="FFFFFF"/>
          </a:solidFill>
          <a:ln w="19050">
            <a:solidFill>
              <a:srgbClr val="1F4E79"/>
            </a:solidFill>
            <a:prstDash val="solid"/>
          </a:ln>
        </p:spPr>
      </p:sp>
      <p:sp>
        <p:nvSpPr>
          <p:cNvPr id="17" name="Text 14"/>
          <p:cNvSpPr/>
          <p:nvPr/>
        </p:nvSpPr>
        <p:spPr>
          <a:xfrm>
            <a:off x="3794760" y="2971800"/>
            <a:ext cx="1371600" cy="621792"/>
          </a:xfrm>
          <a:prstGeom prst="rect">
            <a:avLst/>
          </a:prstGeom>
          <a:noFill/>
          <a:ln/>
        </p:spPr>
        <p:txBody>
          <a:bodyPr wrap="square" lIns="0" tIns="0" rIns="0" bIns="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Fine-tuned Qwen2.5-VL (7B, 3B edge)</a:t>
            </a:r>
            <a:endParaRPr lang="en-US" sz="1100" dirty="0"/>
          </a:p>
        </p:txBody>
      </p:sp>
      <p:sp>
        <p:nvSpPr>
          <p:cNvPr id="18" name="Shape 15"/>
          <p:cNvSpPr/>
          <p:nvPr/>
        </p:nvSpPr>
        <p:spPr>
          <a:xfrm>
            <a:off x="5394960" y="1234440"/>
            <a:ext cx="1463040" cy="621792"/>
          </a:xfrm>
          <a:prstGeom prst="rect">
            <a:avLst/>
          </a:prstGeom>
          <a:solidFill>
            <a:srgbClr val="FFFFFF"/>
          </a:solidFill>
          <a:ln w="19050">
            <a:solidFill>
              <a:srgbClr val="C55A11"/>
            </a:solidFill>
            <a:prstDash val="dash"/>
          </a:ln>
        </p:spPr>
      </p:sp>
      <p:sp>
        <p:nvSpPr>
          <p:cNvPr id="19" name="Text 16"/>
          <p:cNvSpPr/>
          <p:nvPr/>
        </p:nvSpPr>
        <p:spPr>
          <a:xfrm>
            <a:off x="5440680" y="1234440"/>
            <a:ext cx="1371600" cy="621792"/>
          </a:xfrm>
          <a:prstGeom prst="rect">
            <a:avLst/>
          </a:prstGeom>
          <a:noFill/>
          <a:ln/>
        </p:spPr>
        <p:txBody>
          <a:bodyPr wrap="square" lIns="0" tIns="0" rIns="0" bIns="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Survivability heatmap</a:t>
            </a:r>
            <a:endParaRPr lang="en-US" sz="1100" dirty="0"/>
          </a:p>
        </p:txBody>
      </p:sp>
      <p:sp>
        <p:nvSpPr>
          <p:cNvPr id="20" name="Shape 17"/>
          <p:cNvSpPr/>
          <p:nvPr/>
        </p:nvSpPr>
        <p:spPr>
          <a:xfrm>
            <a:off x="7040880" y="1234440"/>
            <a:ext cx="1463040" cy="621792"/>
          </a:xfrm>
          <a:prstGeom prst="rect">
            <a:avLst/>
          </a:prstGeom>
          <a:solidFill>
            <a:srgbClr val="FFFFFF"/>
          </a:solidFill>
          <a:ln w="19050">
            <a:solidFill>
              <a:srgbClr val="C55A11"/>
            </a:solidFill>
            <a:prstDash val="dash"/>
          </a:ln>
        </p:spPr>
      </p:sp>
      <p:sp>
        <p:nvSpPr>
          <p:cNvPr id="21" name="Text 18"/>
          <p:cNvSpPr/>
          <p:nvPr/>
        </p:nvSpPr>
        <p:spPr>
          <a:xfrm>
            <a:off x="7086600" y="1234440"/>
            <a:ext cx="1371600" cy="621792"/>
          </a:xfrm>
          <a:prstGeom prst="rect">
            <a:avLst/>
          </a:prstGeom>
          <a:noFill/>
          <a:ln/>
        </p:spPr>
        <p:txBody>
          <a:bodyPr wrap="square" lIns="0" tIns="0" rIns="0" bIns="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PINN reverse simulation (research)</a:t>
            </a:r>
            <a:endParaRPr lang="en-US" sz="1100" dirty="0"/>
          </a:p>
        </p:txBody>
      </p:sp>
      <p:sp>
        <p:nvSpPr>
          <p:cNvPr id="22" name="Shape 19"/>
          <p:cNvSpPr/>
          <p:nvPr/>
        </p:nvSpPr>
        <p:spPr>
          <a:xfrm>
            <a:off x="5394960" y="2971800"/>
            <a:ext cx="1463040" cy="621792"/>
          </a:xfrm>
          <a:prstGeom prst="rect">
            <a:avLst/>
          </a:prstGeom>
          <a:solidFill>
            <a:srgbClr val="FFFFFF"/>
          </a:solidFill>
          <a:ln w="19050">
            <a:solidFill>
              <a:srgbClr val="C55A11"/>
            </a:solidFill>
            <a:prstDash val="dash"/>
          </a:ln>
        </p:spPr>
      </p:sp>
      <p:sp>
        <p:nvSpPr>
          <p:cNvPr id="23" name="Text 20"/>
          <p:cNvSpPr/>
          <p:nvPr/>
        </p:nvSpPr>
        <p:spPr>
          <a:xfrm>
            <a:off x="5440680" y="2971800"/>
            <a:ext cx="1371600" cy="621792"/>
          </a:xfrm>
          <a:prstGeom prst="rect">
            <a:avLst/>
          </a:prstGeom>
          <a:noFill/>
          <a:ln/>
        </p:spPr>
        <p:txBody>
          <a:bodyPr wrap="square" lIns="0" tIns="0" rIns="0" bIns="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DisasTeller agents on Qwen, no Gemini</a:t>
            </a:r>
            <a:endParaRPr lang="en-US" sz="1100" dirty="0"/>
          </a:p>
        </p:txBody>
      </p:sp>
      <p:sp>
        <p:nvSpPr>
          <p:cNvPr id="24" name="Shape 21"/>
          <p:cNvSpPr/>
          <p:nvPr/>
        </p:nvSpPr>
        <p:spPr>
          <a:xfrm>
            <a:off x="7040880" y="2971800"/>
            <a:ext cx="1463040" cy="621792"/>
          </a:xfrm>
          <a:prstGeom prst="rect">
            <a:avLst/>
          </a:prstGeom>
          <a:solidFill>
            <a:srgbClr val="FFFFFF"/>
          </a:solidFill>
          <a:ln w="19050">
            <a:solidFill>
              <a:srgbClr val="1F4E79"/>
            </a:solidFill>
            <a:prstDash val="solid"/>
          </a:ln>
        </p:spPr>
      </p:sp>
      <p:sp>
        <p:nvSpPr>
          <p:cNvPr id="25" name="Text 22"/>
          <p:cNvSpPr/>
          <p:nvPr/>
        </p:nvSpPr>
        <p:spPr>
          <a:xfrm>
            <a:off x="7086600" y="2971800"/>
            <a:ext cx="1371600" cy="621792"/>
          </a:xfrm>
          <a:prstGeom prst="rect">
            <a:avLst/>
          </a:prstGeom>
          <a:noFill/>
          <a:ln/>
        </p:spPr>
        <p:txBody>
          <a:bodyPr wrap="square" lIns="0" tIns="0" rIns="0" bIns="0" rtlCol="0" anchor="ctr"/>
          <a:lstStyle/>
          <a:p>
            <a:pPr algn="ctr" indent="0" marL="0">
              <a:buNone/>
            </a:pPr>
            <a:r>
              <a:rPr lang="en-US" sz="1100" dirty="0">
                <a:solidFill>
                  <a:srgbClr val="2D2D2D"/>
                </a:solidFill>
                <a:latin typeface="Arial" pitchFamily="34" charset="0"/>
                <a:ea typeface="Arial" pitchFamily="34" charset="-122"/>
                <a:cs typeface="Arial" pitchFamily="34" charset="-120"/>
              </a:rPr>
              <a:t>Report, alerts, resource plan</a:t>
            </a:r>
            <a:endParaRPr lang="en-US" sz="1100" dirty="0"/>
          </a:p>
        </p:txBody>
      </p:sp>
      <p:sp>
        <p:nvSpPr>
          <p:cNvPr id="26" name="Shape 23"/>
          <p:cNvSpPr/>
          <p:nvPr/>
        </p:nvSpPr>
        <p:spPr>
          <a:xfrm>
            <a:off x="1920240" y="2414016"/>
            <a:ext cx="182880" cy="0"/>
          </a:xfrm>
          <a:prstGeom prst="line">
            <a:avLst/>
          </a:prstGeom>
          <a:noFill/>
          <a:ln w="15875">
            <a:solidFill>
              <a:srgbClr val="666666"/>
            </a:solidFill>
            <a:prstDash val="solid"/>
            <a:tailEnd type="triangle"/>
          </a:ln>
        </p:spPr>
      </p:sp>
      <p:sp>
        <p:nvSpPr>
          <p:cNvPr id="27" name="Shape 24"/>
          <p:cNvSpPr/>
          <p:nvPr/>
        </p:nvSpPr>
        <p:spPr>
          <a:xfrm>
            <a:off x="2834640" y="1545336"/>
            <a:ext cx="0" cy="557784"/>
          </a:xfrm>
          <a:prstGeom prst="line">
            <a:avLst/>
          </a:prstGeom>
          <a:noFill/>
          <a:ln w="15875">
            <a:solidFill>
              <a:srgbClr val="666666"/>
            </a:solidFill>
            <a:prstDash val="solid"/>
          </a:ln>
        </p:spPr>
      </p:sp>
      <p:sp>
        <p:nvSpPr>
          <p:cNvPr id="28" name="Shape 25"/>
          <p:cNvSpPr/>
          <p:nvPr/>
        </p:nvSpPr>
        <p:spPr>
          <a:xfrm>
            <a:off x="2834640" y="1545336"/>
            <a:ext cx="914400" cy="0"/>
          </a:xfrm>
          <a:prstGeom prst="line">
            <a:avLst/>
          </a:prstGeom>
          <a:noFill/>
          <a:ln w="15875">
            <a:solidFill>
              <a:srgbClr val="666666"/>
            </a:solidFill>
            <a:prstDash val="solid"/>
            <a:tailEnd type="triangle"/>
          </a:ln>
        </p:spPr>
      </p:sp>
      <p:sp>
        <p:nvSpPr>
          <p:cNvPr id="29" name="Shape 26"/>
          <p:cNvSpPr/>
          <p:nvPr/>
        </p:nvSpPr>
        <p:spPr>
          <a:xfrm>
            <a:off x="2834640" y="2724912"/>
            <a:ext cx="0" cy="557784"/>
          </a:xfrm>
          <a:prstGeom prst="line">
            <a:avLst/>
          </a:prstGeom>
          <a:noFill/>
          <a:ln w="15875">
            <a:solidFill>
              <a:srgbClr val="666666"/>
            </a:solidFill>
            <a:prstDash val="solid"/>
          </a:ln>
        </p:spPr>
      </p:sp>
      <p:sp>
        <p:nvSpPr>
          <p:cNvPr id="30" name="Shape 27"/>
          <p:cNvSpPr/>
          <p:nvPr/>
        </p:nvSpPr>
        <p:spPr>
          <a:xfrm>
            <a:off x="2834640" y="3282696"/>
            <a:ext cx="914400" cy="0"/>
          </a:xfrm>
          <a:prstGeom prst="line">
            <a:avLst/>
          </a:prstGeom>
          <a:noFill/>
          <a:ln w="15875">
            <a:solidFill>
              <a:srgbClr val="666666"/>
            </a:solidFill>
            <a:prstDash val="solid"/>
            <a:tailEnd type="triangle"/>
          </a:ln>
        </p:spPr>
      </p:sp>
      <p:sp>
        <p:nvSpPr>
          <p:cNvPr id="31" name="Shape 28"/>
          <p:cNvSpPr/>
          <p:nvPr/>
        </p:nvSpPr>
        <p:spPr>
          <a:xfrm>
            <a:off x="4480560" y="1856232"/>
            <a:ext cx="0" cy="1115568"/>
          </a:xfrm>
          <a:prstGeom prst="line">
            <a:avLst/>
          </a:prstGeom>
          <a:noFill/>
          <a:ln w="15875">
            <a:solidFill>
              <a:srgbClr val="666666"/>
            </a:solidFill>
            <a:prstDash val="solid"/>
            <a:tailEnd type="triangle"/>
          </a:ln>
        </p:spPr>
      </p:sp>
      <p:sp>
        <p:nvSpPr>
          <p:cNvPr id="32" name="Text 29"/>
          <p:cNvSpPr/>
          <p:nvPr/>
        </p:nvSpPr>
        <p:spPr>
          <a:xfrm>
            <a:off x="4553712" y="2240280"/>
            <a:ext cx="1097280" cy="274320"/>
          </a:xfrm>
          <a:prstGeom prst="rect">
            <a:avLst/>
          </a:prstGeom>
          <a:noFill/>
          <a:ln/>
        </p:spPr>
        <p:txBody>
          <a:bodyPr wrap="square" lIns="0" tIns="0" rIns="0" bIns="0" rtlCol="0" anchor="ctr"/>
          <a:lstStyle/>
          <a:p>
            <a:pPr indent="0" marL="0">
              <a:buNone/>
            </a:pPr>
            <a:r>
              <a:rPr lang="en-US" sz="1000" dirty="0">
                <a:solidFill>
                  <a:srgbClr val="666666"/>
                </a:solidFill>
                <a:latin typeface="Arial" pitchFamily="34" charset="0"/>
                <a:ea typeface="Arial" pitchFamily="34" charset="-122"/>
                <a:cs typeface="Arial" pitchFamily="34" charset="-120"/>
              </a:rPr>
              <a:t>counts as text</a:t>
            </a:r>
            <a:endParaRPr lang="en-US" sz="1000" dirty="0"/>
          </a:p>
        </p:txBody>
      </p:sp>
      <p:sp>
        <p:nvSpPr>
          <p:cNvPr id="33" name="Shape 30"/>
          <p:cNvSpPr/>
          <p:nvPr/>
        </p:nvSpPr>
        <p:spPr>
          <a:xfrm>
            <a:off x="5212080" y="1545336"/>
            <a:ext cx="182880" cy="0"/>
          </a:xfrm>
          <a:prstGeom prst="line">
            <a:avLst/>
          </a:prstGeom>
          <a:noFill/>
          <a:ln w="15875">
            <a:solidFill>
              <a:srgbClr val="666666"/>
            </a:solidFill>
            <a:prstDash val="solid"/>
            <a:tailEnd type="triangle"/>
          </a:ln>
        </p:spPr>
      </p:sp>
      <p:sp>
        <p:nvSpPr>
          <p:cNvPr id="34" name="Shape 31"/>
          <p:cNvSpPr/>
          <p:nvPr/>
        </p:nvSpPr>
        <p:spPr>
          <a:xfrm>
            <a:off x="6858000" y="1545336"/>
            <a:ext cx="182880" cy="0"/>
          </a:xfrm>
          <a:prstGeom prst="line">
            <a:avLst/>
          </a:prstGeom>
          <a:noFill/>
          <a:ln w="15875">
            <a:solidFill>
              <a:srgbClr val="666666"/>
            </a:solidFill>
            <a:prstDash val="solid"/>
            <a:tailEnd type="triangle"/>
          </a:ln>
        </p:spPr>
      </p:sp>
      <p:sp>
        <p:nvSpPr>
          <p:cNvPr id="35" name="Shape 32"/>
          <p:cNvSpPr/>
          <p:nvPr/>
        </p:nvSpPr>
        <p:spPr>
          <a:xfrm>
            <a:off x="6126480" y="1856232"/>
            <a:ext cx="0" cy="1115568"/>
          </a:xfrm>
          <a:prstGeom prst="line">
            <a:avLst/>
          </a:prstGeom>
          <a:noFill/>
          <a:ln w="15875">
            <a:solidFill>
              <a:srgbClr val="666666"/>
            </a:solidFill>
            <a:prstDash val="solid"/>
            <a:tailEnd type="triangle"/>
          </a:ln>
        </p:spPr>
      </p:sp>
      <p:sp>
        <p:nvSpPr>
          <p:cNvPr id="36" name="Shape 33"/>
          <p:cNvSpPr/>
          <p:nvPr/>
        </p:nvSpPr>
        <p:spPr>
          <a:xfrm>
            <a:off x="5212080" y="3282696"/>
            <a:ext cx="182880" cy="0"/>
          </a:xfrm>
          <a:prstGeom prst="line">
            <a:avLst/>
          </a:prstGeom>
          <a:noFill/>
          <a:ln w="15875">
            <a:solidFill>
              <a:srgbClr val="666666"/>
            </a:solidFill>
            <a:prstDash val="solid"/>
            <a:tailEnd type="triangle"/>
          </a:ln>
        </p:spPr>
      </p:sp>
      <p:sp>
        <p:nvSpPr>
          <p:cNvPr id="37" name="Shape 34"/>
          <p:cNvSpPr/>
          <p:nvPr/>
        </p:nvSpPr>
        <p:spPr>
          <a:xfrm>
            <a:off x="6858000" y="3282696"/>
            <a:ext cx="182880" cy="0"/>
          </a:xfrm>
          <a:prstGeom prst="line">
            <a:avLst/>
          </a:prstGeom>
          <a:noFill/>
          <a:ln w="15875">
            <a:solidFill>
              <a:srgbClr val="666666"/>
            </a:solidFill>
            <a:prstDash val="solid"/>
            <a:tailEnd type="triangle"/>
          </a:ln>
        </p:spPr>
      </p:sp>
      <p:sp>
        <p:nvSpPr>
          <p:cNvPr id="38" name="Text 35"/>
          <p:cNvSpPr/>
          <p:nvPr/>
        </p:nvSpPr>
        <p:spPr>
          <a:xfrm>
            <a:off x="457200" y="2743200"/>
            <a:ext cx="1600200" cy="502920"/>
          </a:xfrm>
          <a:prstGeom prst="rect">
            <a:avLst/>
          </a:prstGeom>
          <a:noFill/>
          <a:ln/>
        </p:spPr>
        <p:txBody>
          <a:bodyPr wrap="square" lIns="0" tIns="0" rIns="0" bIns="0" rtlCol="0" anchor="t"/>
          <a:lstStyle/>
          <a:p>
            <a:pPr indent="0" marL="0">
              <a:buNone/>
            </a:pPr>
            <a:r>
              <a:rPr lang="en-US" sz="1000" dirty="0">
                <a:solidFill>
                  <a:srgbClr val="666666"/>
                </a:solidFill>
                <a:latin typeface="Arial" pitchFamily="34" charset="0"/>
                <a:ea typeface="Arial" pitchFamily="34" charset="-122"/>
                <a:cs typeface="Arial" pitchFamily="34" charset="-120"/>
              </a:rPr>
              <a:t>Solid: built in 499A · Dashed: 499B future work</a:t>
            </a:r>
            <a:endParaRPr lang="en-US" sz="1000" dirty="0"/>
          </a:p>
        </p:txBody>
      </p:sp>
      <p:sp>
        <p:nvSpPr>
          <p:cNvPr id="39" name="Text 36"/>
          <p:cNvSpPr/>
          <p:nvPr/>
        </p:nvSpPr>
        <p:spPr>
          <a:xfrm>
            <a:off x="457200" y="3730752"/>
            <a:ext cx="8229600" cy="731520"/>
          </a:xfrm>
          <a:prstGeom prst="rect">
            <a:avLst/>
          </a:prstGeom>
          <a:noFill/>
          <a:ln/>
        </p:spPr>
        <p:txBody>
          <a:bodyPr wrap="square" lIns="0" tIns="0" rIns="0" bIns="0" rtlCol="0" anchor="t"/>
          <a:lstStyle/>
          <a:p>
            <a:pPr indent="0" marL="0">
              <a:buNone/>
            </a:pPr>
            <a:r>
              <a:rPr lang="en-US" sz="1200" dirty="0">
                <a:solidFill>
                  <a:srgbClr val="2D2D2D"/>
                </a:solidFill>
                <a:latin typeface="Arial" pitchFamily="34" charset="0"/>
                <a:ea typeface="Arial" pitchFamily="34" charset="-122"/>
                <a:cs typeface="Arial" pitchFamily="34" charset="-120"/>
              </a:rPr>
              <a:t>DisasTeller backend swap: offline reports · Survivability heatmaps: distance transform over damage masks · PINN reverse simulation: void spaces under rubble, exploratory · Unified deployment: one container fed by drone imagery</a:t>
            </a:r>
            <a:endParaRPr lang="en-US" sz="1200" dirty="0"/>
          </a:p>
        </p:txBody>
      </p:sp>
      <p:sp>
        <p:nvSpPr>
          <p:cNvPr id="40" name="Text 37"/>
          <p:cNvSpPr/>
          <p:nvPr/>
        </p:nvSpPr>
        <p:spPr>
          <a:xfrm>
            <a:off x="457200" y="4526280"/>
            <a:ext cx="8229600" cy="256032"/>
          </a:xfrm>
          <a:prstGeom prst="rect">
            <a:avLst/>
          </a:prstGeom>
          <a:noFill/>
          <a:ln/>
        </p:spPr>
        <p:txBody>
          <a:bodyPr wrap="square" lIns="0" tIns="0" rIns="0" bIns="0" rtlCol="0" anchor="ctr"/>
          <a:lstStyle/>
          <a:p>
            <a:pPr indent="0" marL="0">
              <a:buNone/>
            </a:pPr>
            <a:r>
              <a:rPr lang="en-US" sz="1100" dirty="0">
                <a:solidFill>
                  <a:srgbClr val="666666"/>
                </a:solidFill>
                <a:latin typeface="Arial" pitchFamily="34" charset="0"/>
                <a:ea typeface="Arial" pitchFamily="34" charset="-122"/>
                <a:cs typeface="Arial" pitchFamily="34" charset="-120"/>
              </a:rPr>
              <a:t>PINNs: Raissi et al. (2019).</a:t>
            </a:r>
            <a:endParaRPr lang="en-US" sz="11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5" name="Text 3"/>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6" name="Text 4"/>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Plan</a:t>
            </a:r>
            <a:endParaRPr lang="en-US" sz="1000" dirty="0"/>
          </a:p>
        </p:txBody>
      </p:sp>
      <p:sp>
        <p:nvSpPr>
          <p:cNvPr id="7" name="Shape 5"/>
          <p:cNvSpPr/>
          <p:nvPr/>
        </p:nvSpPr>
        <p:spPr>
          <a:xfrm>
            <a:off x="7200900" y="219456"/>
            <a:ext cx="1600200" cy="36576"/>
          </a:xfrm>
          <a:prstGeom prst="rect">
            <a:avLst/>
          </a:prstGeom>
          <a:solidFill>
            <a:srgbClr val="2E75B6"/>
          </a:solidFill>
          <a:ln w="12700">
            <a:solidFill>
              <a:srgbClr val="2E75B6"/>
            </a:solidFill>
            <a:prstDash val="solid"/>
          </a:ln>
        </p:spPr>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Champion runs finish by mid-November, and integration and distillation fill November and December</a:t>
            </a:r>
            <a:endParaRPr lang="en-US" sz="2200" dirty="0"/>
          </a:p>
        </p:txBody>
      </p:sp>
      <p:sp>
        <p:nvSpPr>
          <p:cNvPr id="10" name="Text 7"/>
          <p:cNvSpPr/>
          <p:nvPr/>
        </p:nvSpPr>
        <p:spPr>
          <a:xfrm>
            <a:off x="3383280" y="1161288"/>
            <a:ext cx="1325880" cy="274320"/>
          </a:xfrm>
          <a:prstGeom prst="rect">
            <a:avLst/>
          </a:prstGeom>
          <a:noFill/>
          <a:ln/>
        </p:spPr>
        <p:txBody>
          <a:bodyPr wrap="square" lIns="0" tIns="0" rIns="0" bIns="0" rtlCol="0" anchor="ctr"/>
          <a:lstStyle/>
          <a:p>
            <a:pPr indent="0" marL="0">
              <a:buNone/>
            </a:pPr>
            <a:r>
              <a:rPr lang="en-US" sz="1200" b="1" dirty="0">
                <a:solidFill>
                  <a:srgbClr val="1F4E79"/>
                </a:solidFill>
                <a:latin typeface="Arial" pitchFamily="34" charset="0"/>
                <a:ea typeface="Arial" pitchFamily="34" charset="-122"/>
                <a:cs typeface="Arial" pitchFamily="34" charset="-120"/>
              </a:rPr>
              <a:t>Sep 2026</a:t>
            </a:r>
            <a:endParaRPr lang="en-US" sz="1200" dirty="0"/>
          </a:p>
        </p:txBody>
      </p:sp>
      <p:sp>
        <p:nvSpPr>
          <p:cNvPr id="11" name="Text 8"/>
          <p:cNvSpPr/>
          <p:nvPr/>
        </p:nvSpPr>
        <p:spPr>
          <a:xfrm>
            <a:off x="4709160" y="1161288"/>
            <a:ext cx="1325880" cy="274320"/>
          </a:xfrm>
          <a:prstGeom prst="rect">
            <a:avLst/>
          </a:prstGeom>
          <a:noFill/>
          <a:ln/>
        </p:spPr>
        <p:txBody>
          <a:bodyPr wrap="square" lIns="0" tIns="0" rIns="0" bIns="0" rtlCol="0" anchor="ctr"/>
          <a:lstStyle/>
          <a:p>
            <a:pPr indent="0" marL="0">
              <a:buNone/>
            </a:pPr>
            <a:r>
              <a:rPr lang="en-US" sz="1200" b="1" dirty="0">
                <a:solidFill>
                  <a:srgbClr val="1F4E79"/>
                </a:solidFill>
                <a:latin typeface="Arial" pitchFamily="34" charset="0"/>
                <a:ea typeface="Arial" pitchFamily="34" charset="-122"/>
                <a:cs typeface="Arial" pitchFamily="34" charset="-120"/>
              </a:rPr>
              <a:t>Oct</a:t>
            </a:r>
            <a:endParaRPr lang="en-US" sz="1200" dirty="0"/>
          </a:p>
        </p:txBody>
      </p:sp>
      <p:sp>
        <p:nvSpPr>
          <p:cNvPr id="12" name="Text 9"/>
          <p:cNvSpPr/>
          <p:nvPr/>
        </p:nvSpPr>
        <p:spPr>
          <a:xfrm>
            <a:off x="6035040" y="1161288"/>
            <a:ext cx="1325880" cy="274320"/>
          </a:xfrm>
          <a:prstGeom prst="rect">
            <a:avLst/>
          </a:prstGeom>
          <a:noFill/>
          <a:ln/>
        </p:spPr>
        <p:txBody>
          <a:bodyPr wrap="square" lIns="0" tIns="0" rIns="0" bIns="0" rtlCol="0" anchor="ctr"/>
          <a:lstStyle/>
          <a:p>
            <a:pPr indent="0" marL="0">
              <a:buNone/>
            </a:pPr>
            <a:r>
              <a:rPr lang="en-US" sz="1200" b="1" dirty="0">
                <a:solidFill>
                  <a:srgbClr val="1F4E79"/>
                </a:solidFill>
                <a:latin typeface="Arial" pitchFamily="34" charset="0"/>
                <a:ea typeface="Arial" pitchFamily="34" charset="-122"/>
                <a:cs typeface="Arial" pitchFamily="34" charset="-120"/>
              </a:rPr>
              <a:t>Nov</a:t>
            </a:r>
            <a:endParaRPr lang="en-US" sz="1200" dirty="0"/>
          </a:p>
        </p:txBody>
      </p:sp>
      <p:sp>
        <p:nvSpPr>
          <p:cNvPr id="13" name="Text 10"/>
          <p:cNvSpPr/>
          <p:nvPr/>
        </p:nvSpPr>
        <p:spPr>
          <a:xfrm>
            <a:off x="7360920" y="1161288"/>
            <a:ext cx="1325880" cy="274320"/>
          </a:xfrm>
          <a:prstGeom prst="rect">
            <a:avLst/>
          </a:prstGeom>
          <a:noFill/>
          <a:ln/>
        </p:spPr>
        <p:txBody>
          <a:bodyPr wrap="square" lIns="0" tIns="0" rIns="0" bIns="0" rtlCol="0" anchor="ctr"/>
          <a:lstStyle/>
          <a:p>
            <a:pPr indent="0" marL="0">
              <a:buNone/>
            </a:pPr>
            <a:r>
              <a:rPr lang="en-US" sz="1200" b="1" dirty="0">
                <a:solidFill>
                  <a:srgbClr val="1F4E79"/>
                </a:solidFill>
                <a:latin typeface="Arial" pitchFamily="34" charset="0"/>
                <a:ea typeface="Arial" pitchFamily="34" charset="-122"/>
                <a:cs typeface="Arial" pitchFamily="34" charset="-120"/>
              </a:rPr>
              <a:t>Dec</a:t>
            </a:r>
            <a:endParaRPr lang="en-US" sz="1200" dirty="0"/>
          </a:p>
        </p:txBody>
      </p:sp>
      <p:sp>
        <p:nvSpPr>
          <p:cNvPr id="14" name="Text 11"/>
          <p:cNvSpPr/>
          <p:nvPr/>
        </p:nvSpPr>
        <p:spPr>
          <a:xfrm>
            <a:off x="457200" y="1481328"/>
            <a:ext cx="2834640" cy="301752"/>
          </a:xfrm>
          <a:prstGeom prst="rect">
            <a:avLst/>
          </a:prstGeom>
          <a:noFill/>
          <a:ln/>
        </p:spPr>
        <p:txBody>
          <a:bodyPr wrap="square" lIns="0" tIns="0" rIns="0" bIns="0" rtlCol="0" anchor="ctr"/>
          <a:lstStyle/>
          <a:p>
            <a:pPr indent="0" marL="0">
              <a:buNone/>
            </a:pPr>
            <a:r>
              <a:rPr lang="en-US" sz="1100" dirty="0">
                <a:solidFill>
                  <a:srgbClr val="2D2D2D"/>
                </a:solidFill>
                <a:latin typeface="Arial" pitchFamily="34" charset="0"/>
                <a:ea typeface="Arial" pitchFamily="34" charset="-122"/>
                <a:cs typeface="Arial" pitchFamily="34" charset="-120"/>
              </a:rPr>
              <a:t>Segmentation ablation sprint (A–D)</a:t>
            </a:r>
            <a:endParaRPr lang="en-US" sz="1100" dirty="0"/>
          </a:p>
        </p:txBody>
      </p:sp>
      <p:sp>
        <p:nvSpPr>
          <p:cNvPr id="15" name="Shape 12"/>
          <p:cNvSpPr/>
          <p:nvPr/>
        </p:nvSpPr>
        <p:spPr>
          <a:xfrm>
            <a:off x="3383280" y="1508760"/>
            <a:ext cx="5303520" cy="246888"/>
          </a:xfrm>
          <a:prstGeom prst="rect">
            <a:avLst/>
          </a:prstGeom>
          <a:solidFill>
            <a:srgbClr val="F0F4F8"/>
          </a:solidFill>
          <a:ln w="12700">
            <a:solidFill>
              <a:srgbClr val="F0F4F8"/>
            </a:solidFill>
            <a:prstDash val="solid"/>
          </a:ln>
        </p:spPr>
      </p:sp>
      <p:sp>
        <p:nvSpPr>
          <p:cNvPr id="16" name="Shape 13"/>
          <p:cNvSpPr/>
          <p:nvPr/>
        </p:nvSpPr>
        <p:spPr>
          <a:xfrm>
            <a:off x="3383280" y="1508760"/>
            <a:ext cx="1325880" cy="246888"/>
          </a:xfrm>
          <a:prstGeom prst="rect">
            <a:avLst/>
          </a:prstGeom>
          <a:solidFill>
            <a:srgbClr val="1F4E79"/>
          </a:solidFill>
          <a:ln w="12700">
            <a:solidFill>
              <a:srgbClr val="1F4E79"/>
            </a:solidFill>
            <a:prstDash val="solid"/>
          </a:ln>
        </p:spPr>
      </p:sp>
      <p:sp>
        <p:nvSpPr>
          <p:cNvPr id="17" name="Text 14"/>
          <p:cNvSpPr/>
          <p:nvPr/>
        </p:nvSpPr>
        <p:spPr>
          <a:xfrm>
            <a:off x="3438144" y="1508760"/>
            <a:ext cx="1234440" cy="246888"/>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Done</a:t>
            </a:r>
            <a:endParaRPr lang="en-US" sz="1000" dirty="0"/>
          </a:p>
        </p:txBody>
      </p:sp>
      <p:sp>
        <p:nvSpPr>
          <p:cNvPr id="18" name="Text 15"/>
          <p:cNvSpPr/>
          <p:nvPr/>
        </p:nvSpPr>
        <p:spPr>
          <a:xfrm>
            <a:off x="457200" y="1837944"/>
            <a:ext cx="2834640" cy="301752"/>
          </a:xfrm>
          <a:prstGeom prst="rect">
            <a:avLst/>
          </a:prstGeom>
          <a:noFill/>
          <a:ln/>
        </p:spPr>
        <p:txBody>
          <a:bodyPr wrap="square" lIns="0" tIns="0" rIns="0" bIns="0" rtlCol="0" anchor="ctr"/>
          <a:lstStyle/>
          <a:p>
            <a:pPr indent="0" marL="0">
              <a:buNone/>
            </a:pPr>
            <a:r>
              <a:rPr lang="en-US" sz="1100" dirty="0">
                <a:solidFill>
                  <a:srgbClr val="2D2D2D"/>
                </a:solidFill>
                <a:latin typeface="Arial" pitchFamily="34" charset="0"/>
                <a:ea typeface="Arial" pitchFamily="34" charset="-122"/>
                <a:cs typeface="Arial" pitchFamily="34" charset="-120"/>
              </a:rPr>
              <a:t>Results audit and E-protocol (D4)</a:t>
            </a:r>
            <a:endParaRPr lang="en-US" sz="1100" dirty="0"/>
          </a:p>
        </p:txBody>
      </p:sp>
      <p:sp>
        <p:nvSpPr>
          <p:cNvPr id="19" name="Shape 16"/>
          <p:cNvSpPr/>
          <p:nvPr/>
        </p:nvSpPr>
        <p:spPr>
          <a:xfrm>
            <a:off x="3383280" y="1865376"/>
            <a:ext cx="5303520" cy="246888"/>
          </a:xfrm>
          <a:prstGeom prst="rect">
            <a:avLst/>
          </a:prstGeom>
          <a:solidFill>
            <a:srgbClr val="F0F4F8"/>
          </a:solidFill>
          <a:ln w="12700">
            <a:solidFill>
              <a:srgbClr val="F0F4F8"/>
            </a:solidFill>
            <a:prstDash val="solid"/>
          </a:ln>
        </p:spPr>
      </p:sp>
      <p:sp>
        <p:nvSpPr>
          <p:cNvPr id="20" name="Shape 17"/>
          <p:cNvSpPr/>
          <p:nvPr/>
        </p:nvSpPr>
        <p:spPr>
          <a:xfrm>
            <a:off x="4377690" y="1865376"/>
            <a:ext cx="729234" cy="246888"/>
          </a:xfrm>
          <a:prstGeom prst="rect">
            <a:avLst/>
          </a:prstGeom>
          <a:solidFill>
            <a:srgbClr val="1F4E79"/>
          </a:solidFill>
          <a:ln w="12700">
            <a:solidFill>
              <a:srgbClr val="1F4E79"/>
            </a:solidFill>
            <a:prstDash val="solid"/>
          </a:ln>
        </p:spPr>
      </p:sp>
      <p:sp>
        <p:nvSpPr>
          <p:cNvPr id="21" name="Text 18"/>
          <p:cNvSpPr/>
          <p:nvPr/>
        </p:nvSpPr>
        <p:spPr>
          <a:xfrm>
            <a:off x="4432554" y="1865376"/>
            <a:ext cx="637794" cy="246888"/>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Done</a:t>
            </a:r>
            <a:endParaRPr lang="en-US" sz="1000" dirty="0"/>
          </a:p>
        </p:txBody>
      </p:sp>
      <p:sp>
        <p:nvSpPr>
          <p:cNvPr id="22" name="Text 19"/>
          <p:cNvSpPr/>
          <p:nvPr/>
        </p:nvSpPr>
        <p:spPr>
          <a:xfrm>
            <a:off x="457200" y="2194560"/>
            <a:ext cx="2834640" cy="301752"/>
          </a:xfrm>
          <a:prstGeom prst="rect">
            <a:avLst/>
          </a:prstGeom>
          <a:noFill/>
          <a:ln/>
        </p:spPr>
        <p:txBody>
          <a:bodyPr wrap="square" lIns="0" tIns="0" rIns="0" bIns="0" rtlCol="0" anchor="ctr"/>
          <a:lstStyle/>
          <a:p>
            <a:pPr indent="0" marL="0">
              <a:buNone/>
            </a:pPr>
            <a:r>
              <a:rPr lang="en-US" sz="1100" dirty="0">
                <a:solidFill>
                  <a:srgbClr val="2D2D2D"/>
                </a:solidFill>
                <a:latin typeface="Arial" pitchFamily="34" charset="0"/>
                <a:ea typeface="Arial" pitchFamily="34" charset="-122"/>
                <a:cs typeface="Arial" pitchFamily="34" charset="-120"/>
              </a:rPr>
              <a:t>Champion runs R1–R8, E0 → R7</a:t>
            </a:r>
            <a:endParaRPr lang="en-US" sz="1100" dirty="0"/>
          </a:p>
        </p:txBody>
      </p:sp>
      <p:sp>
        <p:nvSpPr>
          <p:cNvPr id="23" name="Shape 20"/>
          <p:cNvSpPr/>
          <p:nvPr/>
        </p:nvSpPr>
        <p:spPr>
          <a:xfrm>
            <a:off x="3383280" y="2221992"/>
            <a:ext cx="5303520" cy="246888"/>
          </a:xfrm>
          <a:prstGeom prst="rect">
            <a:avLst/>
          </a:prstGeom>
          <a:solidFill>
            <a:srgbClr val="F0F4F8"/>
          </a:solidFill>
          <a:ln w="12700">
            <a:solidFill>
              <a:srgbClr val="F0F4F8"/>
            </a:solidFill>
            <a:prstDash val="solid"/>
          </a:ln>
        </p:spPr>
      </p:sp>
      <p:sp>
        <p:nvSpPr>
          <p:cNvPr id="24" name="Shape 21"/>
          <p:cNvSpPr/>
          <p:nvPr/>
        </p:nvSpPr>
        <p:spPr>
          <a:xfrm>
            <a:off x="4709160" y="2221992"/>
            <a:ext cx="2055114" cy="246888"/>
          </a:xfrm>
          <a:prstGeom prst="rect">
            <a:avLst/>
          </a:prstGeom>
          <a:solidFill>
            <a:srgbClr val="C55A11"/>
          </a:solidFill>
          <a:ln w="12700">
            <a:solidFill>
              <a:srgbClr val="C55A11"/>
            </a:solidFill>
            <a:prstDash val="solid"/>
          </a:ln>
        </p:spPr>
      </p:sp>
      <p:sp>
        <p:nvSpPr>
          <p:cNvPr id="25" name="Text 22"/>
          <p:cNvSpPr/>
          <p:nvPr/>
        </p:nvSpPr>
        <p:spPr>
          <a:xfrm>
            <a:off x="4764024" y="2221992"/>
            <a:ext cx="1963674" cy="246888"/>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In progress</a:t>
            </a:r>
            <a:endParaRPr lang="en-US" sz="1000" dirty="0"/>
          </a:p>
        </p:txBody>
      </p:sp>
      <p:sp>
        <p:nvSpPr>
          <p:cNvPr id="26" name="Text 23"/>
          <p:cNvSpPr/>
          <p:nvPr/>
        </p:nvSpPr>
        <p:spPr>
          <a:xfrm>
            <a:off x="457200" y="2551176"/>
            <a:ext cx="2834640" cy="301752"/>
          </a:xfrm>
          <a:prstGeom prst="rect">
            <a:avLst/>
          </a:prstGeom>
          <a:noFill/>
          <a:ln/>
        </p:spPr>
        <p:txBody>
          <a:bodyPr wrap="square" lIns="0" tIns="0" rIns="0" bIns="0" rtlCol="0" anchor="ctr"/>
          <a:lstStyle/>
          <a:p>
            <a:pPr indent="0" marL="0">
              <a:buNone/>
            </a:pPr>
            <a:r>
              <a:rPr lang="en-US" sz="1100" dirty="0">
                <a:solidFill>
                  <a:srgbClr val="2D2D2D"/>
                </a:solidFill>
                <a:latin typeface="Arial" pitchFamily="34" charset="0"/>
                <a:ea typeface="Arial" pitchFamily="34" charset="-122"/>
                <a:cs typeface="Arial" pitchFamily="34" charset="-120"/>
              </a:rPr>
              <a:t>Phase 2: xBD data (if the gate fails)</a:t>
            </a:r>
            <a:endParaRPr lang="en-US" sz="1100" dirty="0"/>
          </a:p>
        </p:txBody>
      </p:sp>
      <p:sp>
        <p:nvSpPr>
          <p:cNvPr id="27" name="Shape 24"/>
          <p:cNvSpPr/>
          <p:nvPr/>
        </p:nvSpPr>
        <p:spPr>
          <a:xfrm>
            <a:off x="3383280" y="2578608"/>
            <a:ext cx="5303520" cy="246888"/>
          </a:xfrm>
          <a:prstGeom prst="rect">
            <a:avLst/>
          </a:prstGeom>
          <a:solidFill>
            <a:srgbClr val="F0F4F8"/>
          </a:solidFill>
          <a:ln w="12700">
            <a:solidFill>
              <a:srgbClr val="F0F4F8"/>
            </a:solidFill>
            <a:prstDash val="solid"/>
          </a:ln>
        </p:spPr>
      </p:sp>
      <p:sp>
        <p:nvSpPr>
          <p:cNvPr id="28" name="Shape 25"/>
          <p:cNvSpPr/>
          <p:nvPr/>
        </p:nvSpPr>
        <p:spPr>
          <a:xfrm>
            <a:off x="6697980" y="2578608"/>
            <a:ext cx="1458468" cy="246888"/>
          </a:xfrm>
          <a:prstGeom prst="rect">
            <a:avLst/>
          </a:prstGeom>
          <a:solidFill>
            <a:srgbClr val="FFFFFF"/>
          </a:solidFill>
          <a:ln w="12700">
            <a:solidFill>
              <a:srgbClr val="666666"/>
            </a:solidFill>
            <a:prstDash val="dash"/>
          </a:ln>
        </p:spPr>
      </p:sp>
      <p:sp>
        <p:nvSpPr>
          <p:cNvPr id="29" name="Text 26"/>
          <p:cNvSpPr/>
          <p:nvPr/>
        </p:nvSpPr>
        <p:spPr>
          <a:xfrm>
            <a:off x="6752844" y="2578608"/>
            <a:ext cx="1367028" cy="246888"/>
          </a:xfrm>
          <a:prstGeom prst="rect">
            <a:avLst/>
          </a:prstGeom>
          <a:noFill/>
          <a:ln/>
        </p:spPr>
        <p:txBody>
          <a:bodyPr wrap="square" lIns="0" tIns="0" rIns="0" bIns="0" rtlCol="0" anchor="ctr"/>
          <a:lstStyle/>
          <a:p>
            <a:pPr indent="0" marL="0">
              <a:buNone/>
            </a:pPr>
            <a:r>
              <a:rPr lang="en-US" sz="1000" dirty="0">
                <a:solidFill>
                  <a:srgbClr val="2D2D2D"/>
                </a:solidFill>
                <a:latin typeface="Arial" pitchFamily="34" charset="0"/>
                <a:ea typeface="Arial" pitchFamily="34" charset="-122"/>
                <a:cs typeface="Arial" pitchFamily="34" charset="-120"/>
              </a:rPr>
              <a:t>If gate fails</a:t>
            </a:r>
            <a:endParaRPr lang="en-US" sz="1000" dirty="0"/>
          </a:p>
        </p:txBody>
      </p:sp>
      <p:sp>
        <p:nvSpPr>
          <p:cNvPr id="30" name="Text 27"/>
          <p:cNvSpPr/>
          <p:nvPr/>
        </p:nvSpPr>
        <p:spPr>
          <a:xfrm>
            <a:off x="457200" y="2907792"/>
            <a:ext cx="2834640" cy="301752"/>
          </a:xfrm>
          <a:prstGeom prst="rect">
            <a:avLst/>
          </a:prstGeom>
          <a:noFill/>
          <a:ln/>
        </p:spPr>
        <p:txBody>
          <a:bodyPr wrap="square" lIns="0" tIns="0" rIns="0" bIns="0" rtlCol="0" anchor="ctr"/>
          <a:lstStyle/>
          <a:p>
            <a:pPr indent="0" marL="0">
              <a:buNone/>
            </a:pPr>
            <a:r>
              <a:rPr lang="en-US" sz="1100" dirty="0">
                <a:solidFill>
                  <a:srgbClr val="2D2D2D"/>
                </a:solidFill>
                <a:latin typeface="Arial" pitchFamily="34" charset="0"/>
                <a:ea typeface="Arial" pitchFamily="34" charset="-122"/>
                <a:cs typeface="Arial" pitchFamily="34" charset="-120"/>
              </a:rPr>
              <a:t>Resolution unlocking + textual bridge</a:t>
            </a:r>
            <a:endParaRPr lang="en-US" sz="1100" dirty="0"/>
          </a:p>
        </p:txBody>
      </p:sp>
      <p:sp>
        <p:nvSpPr>
          <p:cNvPr id="31" name="Shape 28"/>
          <p:cNvSpPr/>
          <p:nvPr/>
        </p:nvSpPr>
        <p:spPr>
          <a:xfrm>
            <a:off x="3383280" y="2935224"/>
            <a:ext cx="5303520" cy="246888"/>
          </a:xfrm>
          <a:prstGeom prst="rect">
            <a:avLst/>
          </a:prstGeom>
          <a:solidFill>
            <a:srgbClr val="F0F4F8"/>
          </a:solidFill>
          <a:ln w="12700">
            <a:solidFill>
              <a:srgbClr val="F0F4F8"/>
            </a:solidFill>
            <a:prstDash val="solid"/>
          </a:ln>
        </p:spPr>
      </p:sp>
      <p:sp>
        <p:nvSpPr>
          <p:cNvPr id="32" name="Shape 29"/>
          <p:cNvSpPr/>
          <p:nvPr/>
        </p:nvSpPr>
        <p:spPr>
          <a:xfrm>
            <a:off x="5372100" y="2935224"/>
            <a:ext cx="1988820" cy="246888"/>
          </a:xfrm>
          <a:prstGeom prst="rect">
            <a:avLst/>
          </a:prstGeom>
          <a:solidFill>
            <a:srgbClr val="FFFFFF"/>
          </a:solidFill>
          <a:ln w="12700">
            <a:solidFill>
              <a:srgbClr val="666666"/>
            </a:solidFill>
            <a:prstDash val="dash"/>
          </a:ln>
        </p:spPr>
      </p:sp>
      <p:sp>
        <p:nvSpPr>
          <p:cNvPr id="33" name="Text 30"/>
          <p:cNvSpPr/>
          <p:nvPr/>
        </p:nvSpPr>
        <p:spPr>
          <a:xfrm>
            <a:off x="5426964" y="2935224"/>
            <a:ext cx="1897380" cy="246888"/>
          </a:xfrm>
          <a:prstGeom prst="rect">
            <a:avLst/>
          </a:prstGeom>
          <a:noFill/>
          <a:ln/>
        </p:spPr>
        <p:txBody>
          <a:bodyPr wrap="square" lIns="0" tIns="0" rIns="0" bIns="0" rtlCol="0" anchor="ctr"/>
          <a:lstStyle/>
          <a:p>
            <a:pPr indent="0" marL="0">
              <a:buNone/>
            </a:pPr>
            <a:r>
              <a:rPr lang="en-US" sz="1000" dirty="0">
                <a:solidFill>
                  <a:srgbClr val="2D2D2D"/>
                </a:solidFill>
                <a:latin typeface="Arial" pitchFamily="34" charset="0"/>
                <a:ea typeface="Arial" pitchFamily="34" charset="-122"/>
                <a:cs typeface="Arial" pitchFamily="34" charset="-120"/>
              </a:rPr>
              <a:t>Planned</a:t>
            </a:r>
            <a:endParaRPr lang="en-US" sz="1000" dirty="0"/>
          </a:p>
        </p:txBody>
      </p:sp>
      <p:sp>
        <p:nvSpPr>
          <p:cNvPr id="34" name="Text 31"/>
          <p:cNvSpPr/>
          <p:nvPr/>
        </p:nvSpPr>
        <p:spPr>
          <a:xfrm>
            <a:off x="457200" y="3264408"/>
            <a:ext cx="2834640" cy="301752"/>
          </a:xfrm>
          <a:prstGeom prst="rect">
            <a:avLst/>
          </a:prstGeom>
          <a:noFill/>
          <a:ln/>
        </p:spPr>
        <p:txBody>
          <a:bodyPr wrap="square" lIns="0" tIns="0" rIns="0" bIns="0" rtlCol="0" anchor="ctr"/>
          <a:lstStyle/>
          <a:p>
            <a:pPr indent="0" marL="0">
              <a:buNone/>
            </a:pPr>
            <a:r>
              <a:rPr lang="en-US" sz="1100" dirty="0">
                <a:solidFill>
                  <a:srgbClr val="2D2D2D"/>
                </a:solidFill>
                <a:latin typeface="Arial" pitchFamily="34" charset="0"/>
                <a:ea typeface="Arial" pitchFamily="34" charset="-122"/>
                <a:cs typeface="Arial" pitchFamily="34" charset="-120"/>
              </a:rPr>
              <a:t>DisasTeller swap + survivability heatmaps</a:t>
            </a:r>
            <a:endParaRPr lang="en-US" sz="1100" dirty="0"/>
          </a:p>
        </p:txBody>
      </p:sp>
      <p:sp>
        <p:nvSpPr>
          <p:cNvPr id="35" name="Shape 32"/>
          <p:cNvSpPr/>
          <p:nvPr/>
        </p:nvSpPr>
        <p:spPr>
          <a:xfrm>
            <a:off x="3383280" y="3291840"/>
            <a:ext cx="5303520" cy="246888"/>
          </a:xfrm>
          <a:prstGeom prst="rect">
            <a:avLst/>
          </a:prstGeom>
          <a:solidFill>
            <a:srgbClr val="F0F4F8"/>
          </a:solidFill>
          <a:ln w="12700">
            <a:solidFill>
              <a:srgbClr val="F0F4F8"/>
            </a:solidFill>
            <a:prstDash val="solid"/>
          </a:ln>
        </p:spPr>
      </p:sp>
      <p:sp>
        <p:nvSpPr>
          <p:cNvPr id="36" name="Shape 33"/>
          <p:cNvSpPr/>
          <p:nvPr/>
        </p:nvSpPr>
        <p:spPr>
          <a:xfrm>
            <a:off x="6035040" y="3291840"/>
            <a:ext cx="1325880" cy="246888"/>
          </a:xfrm>
          <a:prstGeom prst="rect">
            <a:avLst/>
          </a:prstGeom>
          <a:solidFill>
            <a:srgbClr val="FFFFFF"/>
          </a:solidFill>
          <a:ln w="12700">
            <a:solidFill>
              <a:srgbClr val="666666"/>
            </a:solidFill>
            <a:prstDash val="dash"/>
          </a:ln>
        </p:spPr>
      </p:sp>
      <p:sp>
        <p:nvSpPr>
          <p:cNvPr id="37" name="Text 34"/>
          <p:cNvSpPr/>
          <p:nvPr/>
        </p:nvSpPr>
        <p:spPr>
          <a:xfrm>
            <a:off x="6089904" y="3291840"/>
            <a:ext cx="1234440" cy="246888"/>
          </a:xfrm>
          <a:prstGeom prst="rect">
            <a:avLst/>
          </a:prstGeom>
          <a:noFill/>
          <a:ln/>
        </p:spPr>
        <p:txBody>
          <a:bodyPr wrap="square" lIns="0" tIns="0" rIns="0" bIns="0" rtlCol="0" anchor="ctr"/>
          <a:lstStyle/>
          <a:p>
            <a:pPr indent="0" marL="0">
              <a:buNone/>
            </a:pPr>
            <a:r>
              <a:rPr lang="en-US" sz="1000" dirty="0">
                <a:solidFill>
                  <a:srgbClr val="2D2D2D"/>
                </a:solidFill>
                <a:latin typeface="Arial" pitchFamily="34" charset="0"/>
                <a:ea typeface="Arial" pitchFamily="34" charset="-122"/>
                <a:cs typeface="Arial" pitchFamily="34" charset="-120"/>
              </a:rPr>
              <a:t>Planned</a:t>
            </a:r>
            <a:endParaRPr lang="en-US" sz="1000" dirty="0"/>
          </a:p>
        </p:txBody>
      </p:sp>
      <p:sp>
        <p:nvSpPr>
          <p:cNvPr id="38" name="Text 35"/>
          <p:cNvSpPr/>
          <p:nvPr/>
        </p:nvSpPr>
        <p:spPr>
          <a:xfrm>
            <a:off x="457200" y="3621024"/>
            <a:ext cx="2834640" cy="301752"/>
          </a:xfrm>
          <a:prstGeom prst="rect">
            <a:avLst/>
          </a:prstGeom>
          <a:noFill/>
          <a:ln/>
        </p:spPr>
        <p:txBody>
          <a:bodyPr wrap="square" lIns="0" tIns="0" rIns="0" bIns="0" rtlCol="0" anchor="ctr"/>
          <a:lstStyle/>
          <a:p>
            <a:pPr indent="0" marL="0">
              <a:buNone/>
            </a:pPr>
            <a:r>
              <a:rPr lang="en-US" sz="1100" dirty="0">
                <a:solidFill>
                  <a:srgbClr val="2D2D2D"/>
                </a:solidFill>
                <a:latin typeface="Arial" pitchFamily="34" charset="0"/>
                <a:ea typeface="Arial" pitchFamily="34" charset="-122"/>
                <a:cs typeface="Arial" pitchFamily="34" charset="-120"/>
              </a:rPr>
              <a:t>7B → 3B distillation</a:t>
            </a:r>
            <a:endParaRPr lang="en-US" sz="1100" dirty="0"/>
          </a:p>
        </p:txBody>
      </p:sp>
      <p:sp>
        <p:nvSpPr>
          <p:cNvPr id="39" name="Shape 36"/>
          <p:cNvSpPr/>
          <p:nvPr/>
        </p:nvSpPr>
        <p:spPr>
          <a:xfrm>
            <a:off x="3383280" y="3648456"/>
            <a:ext cx="5303520" cy="246888"/>
          </a:xfrm>
          <a:prstGeom prst="rect">
            <a:avLst/>
          </a:prstGeom>
          <a:solidFill>
            <a:srgbClr val="F0F4F8"/>
          </a:solidFill>
          <a:ln w="12700">
            <a:solidFill>
              <a:srgbClr val="F0F4F8"/>
            </a:solidFill>
            <a:prstDash val="solid"/>
          </a:ln>
        </p:spPr>
      </p:sp>
      <p:sp>
        <p:nvSpPr>
          <p:cNvPr id="40" name="Shape 37"/>
          <p:cNvSpPr/>
          <p:nvPr/>
        </p:nvSpPr>
        <p:spPr>
          <a:xfrm>
            <a:off x="6697980" y="3648456"/>
            <a:ext cx="1988820" cy="246888"/>
          </a:xfrm>
          <a:prstGeom prst="rect">
            <a:avLst/>
          </a:prstGeom>
          <a:solidFill>
            <a:srgbClr val="FFFFFF"/>
          </a:solidFill>
          <a:ln w="12700">
            <a:solidFill>
              <a:srgbClr val="666666"/>
            </a:solidFill>
            <a:prstDash val="dash"/>
          </a:ln>
        </p:spPr>
      </p:sp>
      <p:sp>
        <p:nvSpPr>
          <p:cNvPr id="41" name="Text 38"/>
          <p:cNvSpPr/>
          <p:nvPr/>
        </p:nvSpPr>
        <p:spPr>
          <a:xfrm>
            <a:off x="6752844" y="3648456"/>
            <a:ext cx="1897380" cy="246888"/>
          </a:xfrm>
          <a:prstGeom prst="rect">
            <a:avLst/>
          </a:prstGeom>
          <a:noFill/>
          <a:ln/>
        </p:spPr>
        <p:txBody>
          <a:bodyPr wrap="square" lIns="0" tIns="0" rIns="0" bIns="0" rtlCol="0" anchor="ctr"/>
          <a:lstStyle/>
          <a:p>
            <a:pPr indent="0" marL="0">
              <a:buNone/>
            </a:pPr>
            <a:r>
              <a:rPr lang="en-US" sz="1000" dirty="0">
                <a:solidFill>
                  <a:srgbClr val="2D2D2D"/>
                </a:solidFill>
                <a:latin typeface="Arial" pitchFamily="34" charset="0"/>
                <a:ea typeface="Arial" pitchFamily="34" charset="-122"/>
                <a:cs typeface="Arial" pitchFamily="34" charset="-120"/>
              </a:rPr>
              <a:t>Planned</a:t>
            </a:r>
            <a:endParaRPr lang="en-US" sz="1000" dirty="0"/>
          </a:p>
        </p:txBody>
      </p:sp>
      <p:sp>
        <p:nvSpPr>
          <p:cNvPr id="42" name="Text 39"/>
          <p:cNvSpPr/>
          <p:nvPr/>
        </p:nvSpPr>
        <p:spPr>
          <a:xfrm>
            <a:off x="457200" y="3977640"/>
            <a:ext cx="2834640" cy="301752"/>
          </a:xfrm>
          <a:prstGeom prst="rect">
            <a:avLst/>
          </a:prstGeom>
          <a:noFill/>
          <a:ln/>
        </p:spPr>
        <p:txBody>
          <a:bodyPr wrap="square" lIns="0" tIns="0" rIns="0" bIns="0" rtlCol="0" anchor="ctr"/>
          <a:lstStyle/>
          <a:p>
            <a:pPr indent="0" marL="0">
              <a:buNone/>
            </a:pPr>
            <a:r>
              <a:rPr lang="en-US" sz="1100" dirty="0">
                <a:solidFill>
                  <a:srgbClr val="2D2D2D"/>
                </a:solidFill>
                <a:latin typeface="Arial" pitchFamily="34" charset="0"/>
                <a:ea typeface="Arial" pitchFamily="34" charset="-122"/>
                <a:cs typeface="Arial" pitchFamily="34" charset="-120"/>
              </a:rPr>
              <a:t>Unified system, PINN study, final report</a:t>
            </a:r>
            <a:endParaRPr lang="en-US" sz="1100" dirty="0"/>
          </a:p>
        </p:txBody>
      </p:sp>
      <p:sp>
        <p:nvSpPr>
          <p:cNvPr id="43" name="Shape 40"/>
          <p:cNvSpPr/>
          <p:nvPr/>
        </p:nvSpPr>
        <p:spPr>
          <a:xfrm>
            <a:off x="3383280" y="4005072"/>
            <a:ext cx="5303520" cy="246888"/>
          </a:xfrm>
          <a:prstGeom prst="rect">
            <a:avLst/>
          </a:prstGeom>
          <a:solidFill>
            <a:srgbClr val="F0F4F8"/>
          </a:solidFill>
          <a:ln w="12700">
            <a:solidFill>
              <a:srgbClr val="F0F4F8"/>
            </a:solidFill>
            <a:prstDash val="solid"/>
          </a:ln>
        </p:spPr>
      </p:sp>
      <p:sp>
        <p:nvSpPr>
          <p:cNvPr id="44" name="Shape 41"/>
          <p:cNvSpPr/>
          <p:nvPr/>
        </p:nvSpPr>
        <p:spPr>
          <a:xfrm>
            <a:off x="7360920" y="4005072"/>
            <a:ext cx="1325880" cy="246888"/>
          </a:xfrm>
          <a:prstGeom prst="rect">
            <a:avLst/>
          </a:prstGeom>
          <a:solidFill>
            <a:srgbClr val="FFFFFF"/>
          </a:solidFill>
          <a:ln w="12700">
            <a:solidFill>
              <a:srgbClr val="666666"/>
            </a:solidFill>
            <a:prstDash val="dash"/>
          </a:ln>
        </p:spPr>
      </p:sp>
      <p:sp>
        <p:nvSpPr>
          <p:cNvPr id="45" name="Text 42"/>
          <p:cNvSpPr/>
          <p:nvPr/>
        </p:nvSpPr>
        <p:spPr>
          <a:xfrm>
            <a:off x="7415784" y="4005072"/>
            <a:ext cx="1234440" cy="246888"/>
          </a:xfrm>
          <a:prstGeom prst="rect">
            <a:avLst/>
          </a:prstGeom>
          <a:noFill/>
          <a:ln/>
        </p:spPr>
        <p:txBody>
          <a:bodyPr wrap="square" lIns="0" tIns="0" rIns="0" bIns="0" rtlCol="0" anchor="ctr"/>
          <a:lstStyle/>
          <a:p>
            <a:pPr indent="0" marL="0">
              <a:buNone/>
            </a:pPr>
            <a:r>
              <a:rPr lang="en-US" sz="1000" dirty="0">
                <a:solidFill>
                  <a:srgbClr val="2D2D2D"/>
                </a:solidFill>
                <a:latin typeface="Arial" pitchFamily="34" charset="0"/>
                <a:ea typeface="Arial" pitchFamily="34" charset="-122"/>
                <a:cs typeface="Arial" pitchFamily="34" charset="-120"/>
              </a:rPr>
              <a:t>Planned</a:t>
            </a:r>
            <a:endParaRPr lang="en-US" sz="10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5" name="Text 3"/>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6" name="Text 4"/>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Plan</a:t>
            </a:r>
            <a:endParaRPr lang="en-US" sz="1000" dirty="0"/>
          </a:p>
        </p:txBody>
      </p:sp>
      <p:sp>
        <p:nvSpPr>
          <p:cNvPr id="7" name="Shape 5"/>
          <p:cNvSpPr/>
          <p:nvPr/>
        </p:nvSpPr>
        <p:spPr>
          <a:xfrm>
            <a:off x="7200900" y="219456"/>
            <a:ext cx="1600200" cy="36576"/>
          </a:xfrm>
          <a:prstGeom prst="rect">
            <a:avLst/>
          </a:prstGeom>
          <a:solidFill>
            <a:srgbClr val="2E75B6"/>
          </a:solidFill>
          <a:ln w="12700">
            <a:solidFill>
              <a:srgbClr val="2E75B6"/>
            </a:solidFill>
            <a:prstDash val="solid"/>
          </a:ln>
        </p:spPr>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Two of six risks have already occurred, and each risk has a concrete mitigation</a:t>
            </a:r>
            <a:endParaRPr lang="en-US" sz="2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840480"/>
                <a:gridCol w="4389120"/>
              </a:tblGrid>
              <a:tr h="292608">
                <a:tc>
                  <a:txBody>
                    <a:bodyPr/>
                    <a:lstStyle/>
                    <a:p>
                      <a:pPr indent="0" marL="0">
                        <a:buNone/>
                      </a:pPr>
                      <a:r>
                        <a:rPr lang="en-US" sz="1200" b="1" dirty="0">
                          <a:solidFill>
                            <a:srgbClr val="FFFFFF"/>
                          </a:solidFill>
                          <a:latin typeface="Arial" pitchFamily="34" charset="0"/>
                          <a:ea typeface="Arial" pitchFamily="34" charset="-122"/>
                          <a:cs typeface="Arial" pitchFamily="34" charset="-120"/>
                        </a:rPr>
                        <a:t>Risk</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Mitigation</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4E79"/>
                    </a:solidFill>
                  </a:tcPr>
                </a:tc>
              </a:tr>
              <a:tr h="484632">
                <a:tc>
                  <a:txBody>
                    <a:bodyPr/>
                    <a:lstStyle/>
                    <a:p>
                      <a:pPr indent="0" marL="0">
                        <a:buNone/>
                      </a:pPr>
                      <a:r>
                        <a:rPr lang="en-US" sz="1200" dirty="0">
                          <a:solidFill>
                            <a:srgbClr val="2D2D2D"/>
                          </a:solidFill>
                          <a:latin typeface="Arial" pitchFamily="34" charset="0"/>
                          <a:ea typeface="Arial" pitchFamily="34" charset="-122"/>
                          <a:cs typeface="Arial" pitchFamily="34" charset="-120"/>
                        </a:rPr>
                        <a:t>Kaggle GPU quota: about 30 h per account per week; a champion run takes about 10 h (occurred)</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Run R1, R6 and E0 first; spread runs over the group's accounts; every run resumes from its own checkpoint repo</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11480">
                <a:tc>
                  <a:txBody>
                    <a:bodyPr/>
                    <a:lstStyle/>
                    <a:p>
                      <a:pPr indent="0" marL="0">
                        <a:buNone/>
                      </a:pPr>
                      <a:r>
                        <a:rPr lang="en-US" sz="1200" dirty="0">
                          <a:solidFill>
                            <a:srgbClr val="2D2D2D"/>
                          </a:solidFill>
                          <a:latin typeface="Arial" pitchFamily="34" charset="0"/>
                          <a:ea typeface="Arial" pitchFamily="34" charset="-122"/>
                          <a:cs typeface="Arial" pitchFamily="34" charset="-120"/>
                        </a:rPr>
                        <a:t>The champion misses the Destroyed gate (0.30)</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Phase 2: add xBD images mapped to our four classes, or a two-stage building → damage model</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84632">
                <a:tc>
                  <a:txBody>
                    <a:bodyPr/>
                    <a:lstStyle/>
                    <a:p>
                      <a:pPr indent="0" marL="0">
                        <a:buNone/>
                      </a:pPr>
                      <a:r>
                        <a:rPr lang="en-US" sz="1200" dirty="0">
                          <a:solidFill>
                            <a:srgbClr val="2D2D2D"/>
                          </a:solidFill>
                          <a:latin typeface="Arial" pitchFamily="34" charset="0"/>
                          <a:ea typeface="Arial" pitchFamily="34" charset="-122"/>
                          <a:cs typeface="Arial" pitchFamily="34" charset="-120"/>
                        </a:rPr>
                        <a:t>Platform drift: Kaggle moved to Python 3.13 mid-sprint and broke pinned installs (occurred)</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Pin only API-critical libraries, fail fast on install errors, and smoke-test before long runs</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11480">
                <a:tc>
                  <a:txBody>
                    <a:bodyPr/>
                    <a:lstStyle/>
                    <a:p>
                      <a:pPr indent="0" marL="0">
                        <a:buNone/>
                      </a:pPr>
                      <a:r>
                        <a:rPr lang="en-US" sz="1200" dirty="0">
                          <a:solidFill>
                            <a:srgbClr val="2D2D2D"/>
                          </a:solidFill>
                          <a:latin typeface="Arial" pitchFamily="34" charset="0"/>
                          <a:ea typeface="Arial" pitchFamily="34" charset="-122"/>
                          <a:cs typeface="Arial" pitchFamily="34" charset="-120"/>
                        </a:rPr>
                        <a:t>The VLM runs out of memory at higher resolution</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Unlock resolution at inference only, run single images, use larger free GPUs (P100, L4)</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11480">
                <a:tc>
                  <a:txBody>
                    <a:bodyPr/>
                    <a:lstStyle/>
                    <a:p>
                      <a:pPr indent="0" marL="0">
                        <a:buNone/>
                      </a:pPr>
                      <a:r>
                        <a:rPr lang="en-US" sz="1200" dirty="0">
                          <a:solidFill>
                            <a:srgbClr val="2D2D2D"/>
                          </a:solidFill>
                          <a:latin typeface="Arial" pitchFamily="34" charset="0"/>
                          <a:ea typeface="Arial" pitchFamily="34" charset="-122"/>
                          <a:cs typeface="Arial" pitchFamily="34" charset="-120"/>
                        </a:rPr>
                        <a:t>The 3B student loses too much accuracy</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Report per-task retention against the 7B, and keep the 7B as the server model</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11480">
                <a:tc>
                  <a:txBody>
                    <a:bodyPr/>
                    <a:lstStyle/>
                    <a:p>
                      <a:pPr indent="0" marL="0">
                        <a:buNone/>
                      </a:pPr>
                      <a:r>
                        <a:rPr lang="en-US" sz="1200" dirty="0">
                          <a:solidFill>
                            <a:srgbClr val="2D2D2D"/>
                          </a:solidFill>
                          <a:latin typeface="Arial" pitchFamily="34" charset="0"/>
                          <a:ea typeface="Arial" pitchFamily="34" charset="-122"/>
                          <a:cs typeface="Arial" pitchFamily="34" charset="-120"/>
                        </a:rPr>
                        <a:t>Hallucinated or unsafe guidance</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D2D2D"/>
                          </a:solidFill>
                          <a:latin typeface="Arial" pitchFamily="34" charset="0"/>
                          <a:ea typeface="Arial" pitchFamily="34" charset="-122"/>
                          <a:cs typeface="Arial" pitchFamily="34" charset="-120"/>
                        </a:rPr>
                        <a:t>Decision support only: human review before any field use, and low-confidence answers flagged</a:t>
                      </a:r>
                      <a:endParaRPr lang="en-US" sz="1200" dirty="0">
                        <a:latin typeface="Arial" charset="0"/>
                        <a:ea typeface="Arial" charset="0"/>
                        <a:cs typeface="Arial" charset="0"/>
                      </a:endParaRPr>
                    </a:p>
                  </a:txBody>
                  <a:tcPr marL="45720" marR="4572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256032"/>
          </a:xfrm>
          <a:prstGeom prst="rect">
            <a:avLst/>
          </a:prstGeom>
          <a:solidFill>
            <a:srgbClr val="F0F4F8"/>
          </a:solidFill>
          <a:ln w="12700">
            <a:solidFill>
              <a:srgbClr val="F0F4F8"/>
            </a:solidFill>
            <a:prstDash val="solid"/>
          </a:ln>
        </p:spPr>
      </p:sp>
      <p:sp>
        <p:nvSpPr>
          <p:cNvPr id="3" name="Text 1"/>
          <p:cNvSpPr/>
          <p:nvPr/>
        </p:nvSpPr>
        <p:spPr>
          <a:xfrm>
            <a:off x="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Review</a:t>
            </a:r>
            <a:endParaRPr lang="en-US" sz="1000" dirty="0"/>
          </a:p>
        </p:txBody>
      </p:sp>
      <p:sp>
        <p:nvSpPr>
          <p:cNvPr id="4" name="Text 2"/>
          <p:cNvSpPr/>
          <p:nvPr/>
        </p:nvSpPr>
        <p:spPr>
          <a:xfrm>
            <a:off x="2286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499B so far</a:t>
            </a:r>
            <a:endParaRPr lang="en-US" sz="1000" dirty="0"/>
          </a:p>
        </p:txBody>
      </p:sp>
      <p:sp>
        <p:nvSpPr>
          <p:cNvPr id="5" name="Text 3"/>
          <p:cNvSpPr/>
          <p:nvPr/>
        </p:nvSpPr>
        <p:spPr>
          <a:xfrm>
            <a:off x="4572000" y="0"/>
            <a:ext cx="2286000" cy="256032"/>
          </a:xfrm>
          <a:prstGeom prst="rect">
            <a:avLst/>
          </a:prstGeom>
          <a:noFill/>
          <a:ln/>
        </p:spPr>
        <p:txBody>
          <a:bodyPr wrap="square" lIns="0" tIns="0" rIns="0" bIns="0"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Future work</a:t>
            </a:r>
            <a:endParaRPr lang="en-US" sz="1000" dirty="0"/>
          </a:p>
        </p:txBody>
      </p:sp>
      <p:sp>
        <p:nvSpPr>
          <p:cNvPr id="6" name="Text 4"/>
          <p:cNvSpPr/>
          <p:nvPr/>
        </p:nvSpPr>
        <p:spPr>
          <a:xfrm>
            <a:off x="6858000" y="0"/>
            <a:ext cx="2286000" cy="256032"/>
          </a:xfrm>
          <a:prstGeom prst="rect">
            <a:avLst/>
          </a:prstGeom>
          <a:noFill/>
          <a:ln/>
        </p:spPr>
        <p:txBody>
          <a:bodyPr wrap="square" lIns="0" tIns="0" rIns="0" bIns="0" rtlCol="0" anchor="ctr"/>
          <a:lstStyle/>
          <a:p>
            <a:pPr algn="ctr" indent="0" marL="0">
              <a:buNone/>
            </a:pPr>
            <a:r>
              <a:rPr lang="en-US" sz="1000" b="1" dirty="0">
                <a:solidFill>
                  <a:srgbClr val="2E75B6"/>
                </a:solidFill>
                <a:latin typeface="Arial" pitchFamily="34" charset="0"/>
                <a:ea typeface="Arial" pitchFamily="34" charset="-122"/>
                <a:cs typeface="Arial" pitchFamily="34" charset="-120"/>
              </a:rPr>
              <a:t>Plan</a:t>
            </a:r>
            <a:endParaRPr lang="en-US" sz="1000" dirty="0"/>
          </a:p>
        </p:txBody>
      </p:sp>
      <p:sp>
        <p:nvSpPr>
          <p:cNvPr id="7" name="Shape 5"/>
          <p:cNvSpPr/>
          <p:nvPr/>
        </p:nvSpPr>
        <p:spPr>
          <a:xfrm>
            <a:off x="7200900" y="219456"/>
            <a:ext cx="1600200" cy="36576"/>
          </a:xfrm>
          <a:prstGeom prst="rect">
            <a:avLst/>
          </a:prstGeom>
          <a:solidFill>
            <a:srgbClr val="2E75B6"/>
          </a:solidFill>
          <a:ln w="12700">
            <a:solidFill>
              <a:srgbClr val="2E75B6"/>
            </a:solidFill>
            <a:prstDash val="solid"/>
          </a:ln>
        </p:spPr>
      </p:sp>
      <p:sp>
        <p:nvSpPr>
          <p:cNvPr id="8" name="Text 6"/>
          <p:cNvSpPr/>
          <p:nvPr/>
        </p:nvSpPr>
        <p:spPr>
          <a:xfrm>
            <a:off x="457200" y="329184"/>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499B will hand in five deliverables: one per objective, plus the final report</a:t>
            </a:r>
            <a:endParaRPr lang="en-US" sz="2200" dirty="0"/>
          </a:p>
        </p:txBody>
      </p:sp>
      <p:sp>
        <p:nvSpPr>
          <p:cNvPr id="10" name="Shape 7"/>
          <p:cNvSpPr/>
          <p:nvPr/>
        </p:nvSpPr>
        <p:spPr>
          <a:xfrm>
            <a:off x="457200" y="1234440"/>
            <a:ext cx="685800" cy="457200"/>
          </a:xfrm>
          <a:prstGeom prst="rect">
            <a:avLst/>
          </a:prstGeom>
          <a:solidFill>
            <a:srgbClr val="1F4E79"/>
          </a:solidFill>
          <a:ln w="12700">
            <a:solidFill>
              <a:srgbClr val="1F4E79"/>
            </a:solidFill>
            <a:prstDash val="solid"/>
          </a:ln>
        </p:spPr>
      </p:sp>
      <p:sp>
        <p:nvSpPr>
          <p:cNvPr id="11" name="Text 8"/>
          <p:cNvSpPr/>
          <p:nvPr/>
        </p:nvSpPr>
        <p:spPr>
          <a:xfrm>
            <a:off x="457200" y="1234440"/>
            <a:ext cx="685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O1</a:t>
            </a:r>
            <a:endParaRPr lang="en-US" sz="1400" dirty="0"/>
          </a:p>
        </p:txBody>
      </p:sp>
      <p:sp>
        <p:nvSpPr>
          <p:cNvPr id="12" name="Text 9"/>
          <p:cNvSpPr/>
          <p:nvPr/>
        </p:nvSpPr>
        <p:spPr>
          <a:xfrm>
            <a:off x="1325880" y="1234440"/>
            <a:ext cx="7360920" cy="45720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Champion U-Net checkpoint and a full E-protocol results table</a:t>
            </a:r>
            <a:endParaRPr lang="en-US" sz="1700" dirty="0"/>
          </a:p>
        </p:txBody>
      </p:sp>
      <p:sp>
        <p:nvSpPr>
          <p:cNvPr id="13" name="Shape 10"/>
          <p:cNvSpPr/>
          <p:nvPr/>
        </p:nvSpPr>
        <p:spPr>
          <a:xfrm>
            <a:off x="457200" y="1856232"/>
            <a:ext cx="685800" cy="457200"/>
          </a:xfrm>
          <a:prstGeom prst="rect">
            <a:avLst/>
          </a:prstGeom>
          <a:solidFill>
            <a:srgbClr val="1F4E79"/>
          </a:solidFill>
          <a:ln w="12700">
            <a:solidFill>
              <a:srgbClr val="1F4E79"/>
            </a:solidFill>
            <a:prstDash val="solid"/>
          </a:ln>
        </p:spPr>
      </p:sp>
      <p:sp>
        <p:nvSpPr>
          <p:cNvPr id="14" name="Text 11"/>
          <p:cNvSpPr/>
          <p:nvPr/>
        </p:nvSpPr>
        <p:spPr>
          <a:xfrm>
            <a:off x="457200" y="1856232"/>
            <a:ext cx="685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O2</a:t>
            </a:r>
            <a:endParaRPr lang="en-US" sz="1400" dirty="0"/>
          </a:p>
        </p:txBody>
      </p:sp>
      <p:sp>
        <p:nvSpPr>
          <p:cNvPr id="15" name="Text 12"/>
          <p:cNvSpPr/>
          <p:nvPr/>
        </p:nvSpPr>
        <p:spPr>
          <a:xfrm>
            <a:off x="1325880" y="1856232"/>
            <a:ext cx="7360920" cy="45720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The hybrid DisasterM3 benchmark, re-scored against 499A</a:t>
            </a:r>
            <a:endParaRPr lang="en-US" sz="1700" dirty="0"/>
          </a:p>
        </p:txBody>
      </p:sp>
      <p:sp>
        <p:nvSpPr>
          <p:cNvPr id="16" name="Shape 13"/>
          <p:cNvSpPr/>
          <p:nvPr/>
        </p:nvSpPr>
        <p:spPr>
          <a:xfrm>
            <a:off x="457200" y="2478024"/>
            <a:ext cx="685800" cy="457200"/>
          </a:xfrm>
          <a:prstGeom prst="rect">
            <a:avLst/>
          </a:prstGeom>
          <a:solidFill>
            <a:srgbClr val="1F4E79"/>
          </a:solidFill>
          <a:ln w="12700">
            <a:solidFill>
              <a:srgbClr val="1F4E79"/>
            </a:solidFill>
            <a:prstDash val="solid"/>
          </a:ln>
        </p:spPr>
      </p:sp>
      <p:sp>
        <p:nvSpPr>
          <p:cNvPr id="17" name="Text 14"/>
          <p:cNvSpPr/>
          <p:nvPr/>
        </p:nvSpPr>
        <p:spPr>
          <a:xfrm>
            <a:off x="457200" y="2478024"/>
            <a:ext cx="685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O3</a:t>
            </a:r>
            <a:endParaRPr lang="en-US" sz="1400" dirty="0"/>
          </a:p>
        </p:txBody>
      </p:sp>
      <p:sp>
        <p:nvSpPr>
          <p:cNvPr id="18" name="Text 15"/>
          <p:cNvSpPr/>
          <p:nvPr/>
        </p:nvSpPr>
        <p:spPr>
          <a:xfrm>
            <a:off x="1325880" y="2478024"/>
            <a:ext cx="7360920" cy="45720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Offline DisasTeller on our fine-tuned Qwen2.5-VL, with damage map, counts and survivability heatmap</a:t>
            </a:r>
            <a:endParaRPr lang="en-US" sz="1700" dirty="0"/>
          </a:p>
        </p:txBody>
      </p:sp>
      <p:sp>
        <p:nvSpPr>
          <p:cNvPr id="19" name="Shape 16"/>
          <p:cNvSpPr/>
          <p:nvPr/>
        </p:nvSpPr>
        <p:spPr>
          <a:xfrm>
            <a:off x="457200" y="3099816"/>
            <a:ext cx="685800" cy="457200"/>
          </a:xfrm>
          <a:prstGeom prst="rect">
            <a:avLst/>
          </a:prstGeom>
          <a:solidFill>
            <a:srgbClr val="1F4E79"/>
          </a:solidFill>
          <a:ln w="12700">
            <a:solidFill>
              <a:srgbClr val="1F4E79"/>
            </a:solidFill>
            <a:prstDash val="solid"/>
          </a:ln>
        </p:spPr>
      </p:sp>
      <p:sp>
        <p:nvSpPr>
          <p:cNvPr id="20" name="Text 17"/>
          <p:cNvSpPr/>
          <p:nvPr/>
        </p:nvSpPr>
        <p:spPr>
          <a:xfrm>
            <a:off x="457200" y="3099816"/>
            <a:ext cx="685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O4</a:t>
            </a:r>
            <a:endParaRPr lang="en-US" sz="1400" dirty="0"/>
          </a:p>
        </p:txBody>
      </p:sp>
      <p:sp>
        <p:nvSpPr>
          <p:cNvPr id="21" name="Text 18"/>
          <p:cNvSpPr/>
          <p:nvPr/>
        </p:nvSpPr>
        <p:spPr>
          <a:xfrm>
            <a:off x="1325880" y="3099816"/>
            <a:ext cx="7360920" cy="45720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A distilled Qwen2.5-VL-3B for GPUs with about 6 GB</a:t>
            </a:r>
            <a:endParaRPr lang="en-US" sz="1700" dirty="0"/>
          </a:p>
        </p:txBody>
      </p:sp>
      <p:sp>
        <p:nvSpPr>
          <p:cNvPr id="22" name="Shape 19"/>
          <p:cNvSpPr/>
          <p:nvPr/>
        </p:nvSpPr>
        <p:spPr>
          <a:xfrm>
            <a:off x="457200" y="3721608"/>
            <a:ext cx="685800" cy="457200"/>
          </a:xfrm>
          <a:prstGeom prst="rect">
            <a:avLst/>
          </a:prstGeom>
          <a:solidFill>
            <a:srgbClr val="1F4E79"/>
          </a:solidFill>
          <a:ln w="12700">
            <a:solidFill>
              <a:srgbClr val="1F4E79"/>
            </a:solidFill>
            <a:prstDash val="solid"/>
          </a:ln>
        </p:spPr>
      </p:sp>
      <p:sp>
        <p:nvSpPr>
          <p:cNvPr id="23" name="Text 20"/>
          <p:cNvSpPr/>
          <p:nvPr/>
        </p:nvSpPr>
        <p:spPr>
          <a:xfrm>
            <a:off x="457200" y="3721608"/>
            <a:ext cx="685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All</a:t>
            </a:r>
            <a:endParaRPr lang="en-US" sz="1400" dirty="0"/>
          </a:p>
        </p:txBody>
      </p:sp>
      <p:sp>
        <p:nvSpPr>
          <p:cNvPr id="24" name="Text 21"/>
          <p:cNvSpPr/>
          <p:nvPr/>
        </p:nvSpPr>
        <p:spPr>
          <a:xfrm>
            <a:off x="1325880" y="3721608"/>
            <a:ext cx="7360920" cy="45720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Final IEEE-format report, with code and checkpoints on Hugging Face</a:t>
            </a:r>
            <a:endParaRPr lang="en-US" sz="17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20040"/>
            <a:ext cx="8229600" cy="411480"/>
          </a:xfrm>
          <a:prstGeom prst="rect">
            <a:avLst/>
          </a:prstGeom>
          <a:noFill/>
          <a:ln/>
        </p:spPr>
        <p:txBody>
          <a:bodyPr wrap="square" lIns="0" tIns="0" rIns="0" bIns="0" rtlCol="0" anchor="ctr"/>
          <a:lstStyle/>
          <a:p>
            <a:pPr indent="0" marL="0">
              <a:buNone/>
            </a:pPr>
            <a:r>
              <a:rPr lang="en-US" sz="2000" dirty="0">
                <a:solidFill>
                  <a:srgbClr val="A0BBDD"/>
                </a:solidFill>
                <a:latin typeface="Arial" pitchFamily="34" charset="0"/>
                <a:ea typeface="Arial" pitchFamily="34" charset="-122"/>
                <a:cs typeface="Arial" pitchFamily="34" charset="-120"/>
              </a:rPr>
              <a:t>Conclusions</a:t>
            </a:r>
            <a:endParaRPr lang="en-US" sz="2000" dirty="0"/>
          </a:p>
        </p:txBody>
      </p:sp>
      <p:sp>
        <p:nvSpPr>
          <p:cNvPr id="3" name="Text 1"/>
          <p:cNvSpPr/>
          <p:nvPr/>
        </p:nvSpPr>
        <p:spPr>
          <a:xfrm>
            <a:off x="457200" y="868680"/>
            <a:ext cx="8229600" cy="3200400"/>
          </a:xfrm>
          <a:prstGeom prst="rect">
            <a:avLst/>
          </a:prstGeom>
          <a:noFill/>
          <a:ln/>
        </p:spPr>
        <p:txBody>
          <a:bodyPr wrap="square" lIns="0" tIns="0" rIns="0" bIns="0" rtlCol="0" anchor="t"/>
          <a:lstStyle/>
          <a:p>
            <a:pPr indent="0" marL="0">
              <a:spcAft>
                <a:spcPts val="1400"/>
              </a:spcAft>
              <a:buNone/>
            </a:pPr>
            <a:r>
              <a:rPr lang="en-US" sz="1800" b="1" dirty="0">
                <a:solidFill>
                  <a:srgbClr val="FFFFFF"/>
                </a:solidFill>
                <a:latin typeface="Arial" pitchFamily="34" charset="0"/>
                <a:ea typeface="Arial" pitchFamily="34" charset="-122"/>
                <a:cs typeface="Arial" pitchFamily="34" charset="-120"/>
              </a:rPr>
              <a:t>1. The segmentation stage is the bottleneck: </a:t>
            </a:r>
            <a:pPr indent="0" marL="0">
              <a:spcAft>
                <a:spcPts val="1400"/>
              </a:spcAft>
              <a:buNone/>
            </a:pPr>
            <a:r>
              <a:rPr lang="en-US" sz="1800" dirty="0">
                <a:solidFill>
                  <a:srgbClr val="FFFFFF"/>
                </a:solidFill>
                <a:latin typeface="Arial" pitchFamily="34" charset="0"/>
                <a:ea typeface="Arial" pitchFamily="34" charset="-122"/>
                <a:cs typeface="Arial" pitchFamily="34" charset="-120"/>
              </a:rPr>
              <a:t>every count, collage and heatmap inherits the U-Net's errors.</a:t>
            </a:r>
            <a:endParaRPr lang="en-US" sz="1800" dirty="0"/>
          </a:p>
          <a:p>
            <a:pPr indent="0" marL="0">
              <a:spcAft>
                <a:spcPts val="1400"/>
              </a:spcAft>
              <a:buNone/>
            </a:pPr>
            <a:r>
              <a:rPr lang="en-US" sz="1800" b="1" dirty="0">
                <a:solidFill>
                  <a:srgbClr val="FFFFFF"/>
                </a:solidFill>
                <a:latin typeface="Arial" pitchFamily="34" charset="0"/>
                <a:ea typeface="Arial" pitchFamily="34" charset="-122"/>
                <a:cs typeface="Arial" pitchFamily="34" charset="-120"/>
              </a:rPr>
              <a:t>2. The loss function was the biggest lever: </a:t>
            </a:r>
            <a:pPr indent="0" marL="0">
              <a:spcAft>
                <a:spcPts val="1400"/>
              </a:spcAft>
              <a:buNone/>
            </a:pPr>
            <a:r>
              <a:rPr lang="en-US" sz="1800" dirty="0">
                <a:solidFill>
                  <a:srgbClr val="FFFFFF"/>
                </a:solidFill>
                <a:latin typeface="Arial" pitchFamily="34" charset="0"/>
                <a:ea typeface="Arial" pitchFamily="34" charset="-122"/>
                <a:cs typeface="Arial" pitchFamily="34" charset="-120"/>
              </a:rPr>
              <a:t>Focal Tversky added +0.056 mIoU; the best sprint run reached 0.5296 mIoU and 0.279 Destroyed IoU.</a:t>
            </a:r>
            <a:endParaRPr lang="en-US" sz="1800" dirty="0"/>
          </a:p>
          <a:p>
            <a:pPr indent="0" marL="0">
              <a:spcAft>
                <a:spcPts val="1400"/>
              </a:spcAft>
              <a:buNone/>
            </a:pPr>
            <a:r>
              <a:rPr lang="en-US" sz="1800" b="1" dirty="0">
                <a:solidFill>
                  <a:srgbClr val="FFFFFF"/>
                </a:solidFill>
                <a:latin typeface="Arial" pitchFamily="34" charset="0"/>
                <a:ea typeface="Arial" pitchFamily="34" charset="-122"/>
                <a:cs typeface="Arial" pitchFamily="34" charset="-120"/>
              </a:rPr>
              <a:t>3. Champion runs now use one protocol: </a:t>
            </a:r>
            <a:pPr indent="0" marL="0">
              <a:spcAft>
                <a:spcPts val="1400"/>
              </a:spcAft>
              <a:buNone/>
            </a:pPr>
            <a:r>
              <a:rPr lang="en-US" sz="1800" dirty="0">
                <a:solidFill>
                  <a:srgbClr val="FFFFFF"/>
                </a:solidFill>
                <a:latin typeface="Arial" pitchFamily="34" charset="0"/>
                <a:ea typeface="Arial" pitchFamily="34" charset="-122"/>
                <a:cs typeface="Arial" pitchFamily="34" charset="-120"/>
              </a:rPr>
              <a:t>the gate's mIoU half passes (0.544 with TTA); Destroyed IoU (0.284) still needs 0.30.</a:t>
            </a:r>
            <a:endParaRPr lang="en-US" sz="1800" dirty="0"/>
          </a:p>
          <a:p>
            <a:pPr indent="0" marL="0">
              <a:spcAft>
                <a:spcPts val="1400"/>
              </a:spcAft>
              <a:buNone/>
            </a:pPr>
            <a:r>
              <a:rPr lang="en-US" sz="1800" b="1" dirty="0">
                <a:solidFill>
                  <a:srgbClr val="FFFFFF"/>
                </a:solidFill>
                <a:latin typeface="Arial" pitchFamily="34" charset="0"/>
                <a:ea typeface="Arial" pitchFamily="34" charset="-122"/>
                <a:cs typeface="Arial" pitchFamily="34" charset="-120"/>
              </a:rPr>
              <a:t>4. The goal stays decision support: </a:t>
            </a:r>
            <a:pPr indent="0" marL="0">
              <a:spcAft>
                <a:spcPts val="1400"/>
              </a:spcAft>
              <a:buNone/>
            </a:pPr>
            <a:r>
              <a:rPr lang="en-US" sz="1800" dirty="0">
                <a:solidFill>
                  <a:srgbClr val="FFFFFF"/>
                </a:solidFill>
                <a:latin typeface="Arial" pitchFamily="34" charset="0"/>
                <a:ea typeface="Arial" pitchFamily="34" charset="-122"/>
                <a:cs typeface="Arial" pitchFamily="34" charset="-120"/>
              </a:rPr>
              <a:t>counts from pixels, reasoning in language, offline, for responders, not replacing them.</a:t>
            </a:r>
            <a:endParaRPr lang="en-US" sz="1800" dirty="0"/>
          </a:p>
        </p:txBody>
      </p:sp>
      <p:sp>
        <p:nvSpPr>
          <p:cNvPr id="4" name="Text 2"/>
          <p:cNvSpPr/>
          <p:nvPr/>
        </p:nvSpPr>
        <p:spPr>
          <a:xfrm>
            <a:off x="457200" y="4251960"/>
            <a:ext cx="8229600" cy="320040"/>
          </a:xfrm>
          <a:prstGeom prst="rect">
            <a:avLst/>
          </a:prstGeom>
          <a:noFill/>
          <a:ln/>
        </p:spPr>
        <p:txBody>
          <a:bodyPr wrap="square" lIns="0" tIns="0" rIns="0" bIns="0" rtlCol="0" anchor="ctr"/>
          <a:lstStyle/>
          <a:p>
            <a:pPr indent="0" marL="0">
              <a:buNone/>
            </a:pPr>
            <a:r>
              <a:rPr lang="en-US" sz="1300" dirty="0">
                <a:solidFill>
                  <a:srgbClr val="A0BBDD"/>
                </a:solidFill>
                <a:latin typeface="Arial" pitchFamily="34" charset="0"/>
                <a:ea typeface="Arial" pitchFamily="34" charset="-122"/>
                <a:cs typeface="Arial" pitchFamily="34" charset="-120"/>
              </a:rPr>
              <a:t>Questions and feedback welcome · CSE499B Section 15, Group 5, North South University</a:t>
            </a:r>
            <a:endParaRPr lang="en-US" sz="13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0BBDD"/>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8229600" cy="411480"/>
          </a:xfrm>
          <a:prstGeom prst="rect">
            <a:avLst/>
          </a:prstGeom>
          <a:noFill/>
          <a:ln/>
        </p:spPr>
        <p:txBody>
          <a:bodyPr wrap="square" lIns="0" tIns="0" rIns="0" bIns="0" rtlCol="0" anchor="ctr"/>
          <a:lstStyle/>
          <a:p>
            <a:pPr indent="0" marL="0">
              <a:buNone/>
            </a:pPr>
            <a:r>
              <a:rPr lang="en-US" sz="2200" b="1" dirty="0">
                <a:solidFill>
                  <a:srgbClr val="1F4E79"/>
                </a:solidFill>
                <a:latin typeface="Arial" pitchFamily="34" charset="0"/>
                <a:ea typeface="Arial" pitchFamily="34" charset="-122"/>
                <a:cs typeface="Arial" pitchFamily="34" charset="-120"/>
              </a:rPr>
              <a:t>References</a:t>
            </a:r>
            <a:endParaRPr lang="en-US" sz="2200" dirty="0"/>
          </a:p>
        </p:txBody>
      </p:sp>
      <p:sp>
        <p:nvSpPr>
          <p:cNvPr id="3" name="Text 1"/>
          <p:cNvSpPr/>
          <p:nvPr/>
        </p:nvSpPr>
        <p:spPr>
          <a:xfrm>
            <a:off x="457200" y="777240"/>
            <a:ext cx="8229600" cy="3931920"/>
          </a:xfrm>
          <a:prstGeom prst="rect">
            <a:avLst/>
          </a:prstGeom>
          <a:noFill/>
          <a:ln/>
        </p:spPr>
        <p:txBody>
          <a:bodyPr wrap="square" lIns="0" tIns="0" rIns="0" bIns="0" rtlCol="0" anchor="t"/>
          <a:lstStyle/>
          <a:p>
            <a:pPr indent="0" marL="0">
              <a:spcAft>
                <a:spcPts val="400"/>
              </a:spcAft>
              <a:buNone/>
            </a:pPr>
            <a:r>
              <a:rPr lang="en-US" sz="1000" dirty="0">
                <a:solidFill>
                  <a:srgbClr val="2D2D2D"/>
                </a:solidFill>
                <a:latin typeface="Arial" pitchFamily="34" charset="0"/>
                <a:ea typeface="Arial" pitchFamily="34" charset="-122"/>
                <a:cs typeface="Arial" pitchFamily="34" charset="-120"/>
              </a:rPr>
              <a:t>Abraham, N., &amp; Khan, N. M. (2019). A novel focal Tversky loss function with improved attention U-Net for lesion segmentation. IEEE ISBI.</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Al-Mohannadi, A., Firoz, A., Yang, Y., Imran, M., &amp; Ofli, F. (2026). DisasterVQA: A visual question answering benchmark dataset for disaster scenes. ICWSM.</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Bai, S., et al. (2025). Qwen2.5-VL technical report. arXiv:2502.13923.</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Berman, M., Rannen Triki, A., &amp; Blaschko, M. B. (2018). The Lovász-Softmax loss. CVPR.</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Chen, L.-C., Zhu, Y., Papandreou, G., Schroff, F., &amp; Adam, H. (2018). Encoder-decoder with atrous separable convolution for semantic image segmentation. ECCV.</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Dettmers, T., Pagnoni, A., Holtzman, A., &amp; Zettlemoyer, L. (2023). QLoRA: Efficient finetuning of quantized LLMs. NeurIPS.</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Ghiasi, G., et al. (2021). Simple copy-paste is a strong data augmentation method for instance segmentation. CVPR.</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Group 5 (2026). Resource-efficient neural architectures for post-disaster damage assessment and rescue guidance. CSE499A final report, North South University.</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Kim, Y., &amp; Rush, A. M. (2016). Sequence-level knowledge distillation. EMNLP.</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Raissi, M., Perdikaris, P., &amp; Karniadakis, G. E. (2019). Physics-informed neural networks. Journal of Computational Physics, 378.</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Wang, J., et al. (2025). DisasterM3: A remote sensing vision-language dataset for disaster damage assessment and response. NeurIPS.</a:t>
            </a:r>
            <a:endParaRPr lang="en-US" sz="1000" dirty="0"/>
          </a:p>
          <a:p>
            <a:pPr indent="0" marL="0">
              <a:spcAft>
                <a:spcPts val="400"/>
              </a:spcAft>
              <a:buNone/>
            </a:pPr>
            <a:r>
              <a:rPr lang="en-US" sz="1000" dirty="0">
                <a:solidFill>
                  <a:srgbClr val="2D2D2D"/>
                </a:solidFill>
                <a:latin typeface="Arial" pitchFamily="34" charset="0"/>
                <a:ea typeface="Arial" pitchFamily="34" charset="-122"/>
                <a:cs typeface="Arial" pitchFamily="34" charset="-120"/>
              </a:rPr>
              <a:t>Zhou, Z., Rahman Siddiquee, M. M., Tajbakhsh, N., &amp; Liang, J. (2018). UNet++: A nested U-Net architecture for medical image segmentation. DLMIA, MICCAI.</a:t>
            </a:r>
            <a:endParaRPr lang="en-US" sz="1000" dirty="0"/>
          </a:p>
        </p:txBody>
      </p:sp>
      <p:sp>
        <p:nvSpPr>
          <p:cNvPr id="25" name="Slide Number Placeholder 0"/>
          <p:cNvSpPr>
            <a:spLocks noGrp="1"/>
          </p:cNvSpPr>
          <p:nvPr>
            <p:ph type="sldNum" sz="quarter" idx="4294967295"/>
          </p:nvPr>
        </p:nvSpPr>
        <p:spPr>
          <a:xfrm>
            <a:off x="8229600" y="48188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CSE499B Review Presentation (academic-pptx)</dc:title>
  <dc:subject>PptxGenJS Presentation</dc:subject>
  <dc:creator>Group 5</dc:creator>
  <cp:lastModifiedBy>Group 5</cp:lastModifiedBy>
  <cp:revision>1</cp:revision>
  <dcterms:created xsi:type="dcterms:W3CDTF">2026-10-04T20:48:48Z</dcterms:created>
  <dcterms:modified xsi:type="dcterms:W3CDTF">2026-10-04T20:48:48Z</dcterms:modified>
</cp:coreProperties>
</file>